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2" r:id="rId3"/>
    <p:sldId id="283" r:id="rId4"/>
    <p:sldId id="284" r:id="rId5"/>
    <p:sldId id="285" r:id="rId6"/>
    <p:sldId id="286" r:id="rId7"/>
    <p:sldId id="287" r:id="rId8"/>
    <p:sldId id="288" r:id="rId9"/>
    <p:sldId id="290" r:id="rId10"/>
    <p:sldId id="289"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7" r:id="rId28"/>
    <p:sldId id="308" r:id="rId29"/>
    <p:sldId id="281"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0053A3"/>
    <a:srgbClr val="ECECEC"/>
    <a:srgbClr val="FFFFFF"/>
    <a:srgbClr val="453D3A"/>
    <a:srgbClr val="1A92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98" autoAdjust="0"/>
    <p:restoredTop sz="80961" autoAdjust="0"/>
  </p:normalViewPr>
  <p:slideViewPr>
    <p:cSldViewPr snapToGrid="0" showGuides="1">
      <p:cViewPr varScale="1">
        <p:scale>
          <a:sx n="77" d="100"/>
          <a:sy n="77" d="100"/>
        </p:scale>
        <p:origin x="560" y="68"/>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2025/7/2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extLst>
      <p:ext uri="{BB962C8B-B14F-4D97-AF65-F5344CB8AC3E}">
        <p14:creationId xmlns:p14="http://schemas.microsoft.com/office/powerpoint/2010/main" val="3930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9</a:t>
            </a:fld>
            <a:endParaRPr lang="zh-CN" altLang="en-US"/>
          </a:p>
        </p:txBody>
      </p:sp>
    </p:spTree>
    <p:extLst>
      <p:ext uri="{BB962C8B-B14F-4D97-AF65-F5344CB8AC3E}">
        <p14:creationId xmlns:p14="http://schemas.microsoft.com/office/powerpoint/2010/main" val="3340981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11</a:t>
            </a:fld>
            <a:endParaRPr lang="zh-CN" altLang="en-US"/>
          </a:p>
        </p:txBody>
      </p:sp>
    </p:spTree>
    <p:extLst>
      <p:ext uri="{BB962C8B-B14F-4D97-AF65-F5344CB8AC3E}">
        <p14:creationId xmlns:p14="http://schemas.microsoft.com/office/powerpoint/2010/main" val="287933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6BBEB-AFD8-365A-ED7B-AF4906ABE4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E95457-2DBA-B9DB-CFEC-8A1A308B53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D0A772-1C69-47F3-0E04-EE82CF56B7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AB0E27-DCFE-F743-70FB-D5AA5B97E481}"/>
              </a:ext>
            </a:extLst>
          </p:cNvPr>
          <p:cNvSpPr>
            <a:spLocks noGrp="1"/>
          </p:cNvSpPr>
          <p:nvPr>
            <p:ph type="sldNum" sz="quarter" idx="5"/>
          </p:nvPr>
        </p:nvSpPr>
        <p:spPr/>
        <p:txBody>
          <a:bodyPr/>
          <a:lstStyle/>
          <a:p>
            <a:fld id="{41464DB0-CCE3-4363-801A-A01AADC6398D}" type="slidenum">
              <a:rPr lang="zh-CN" altLang="en-US" smtClean="0"/>
              <a:t>12</a:t>
            </a:fld>
            <a:endParaRPr lang="zh-CN" altLang="en-US"/>
          </a:p>
        </p:txBody>
      </p:sp>
    </p:spTree>
    <p:extLst>
      <p:ext uri="{BB962C8B-B14F-4D97-AF65-F5344CB8AC3E}">
        <p14:creationId xmlns:p14="http://schemas.microsoft.com/office/powerpoint/2010/main" val="964092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2F545-5A1E-DAF8-5B45-C8B09714B8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C4C94E-62D7-2F31-8BDB-5A4F4EEE68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5853E4-893C-2837-776F-1097100BFE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D19BC8-88E1-0FC1-7F1A-EE4C4A5CBB28}"/>
              </a:ext>
            </a:extLst>
          </p:cNvPr>
          <p:cNvSpPr>
            <a:spLocks noGrp="1"/>
          </p:cNvSpPr>
          <p:nvPr>
            <p:ph type="sldNum" sz="quarter" idx="5"/>
          </p:nvPr>
        </p:nvSpPr>
        <p:spPr/>
        <p:txBody>
          <a:bodyPr/>
          <a:lstStyle/>
          <a:p>
            <a:fld id="{41464DB0-CCE3-4363-801A-A01AADC6398D}" type="slidenum">
              <a:rPr lang="zh-CN" altLang="en-US" smtClean="0"/>
              <a:t>13</a:t>
            </a:fld>
            <a:endParaRPr lang="zh-CN" altLang="en-US"/>
          </a:p>
        </p:txBody>
      </p:sp>
    </p:spTree>
    <p:extLst>
      <p:ext uri="{BB962C8B-B14F-4D97-AF65-F5344CB8AC3E}">
        <p14:creationId xmlns:p14="http://schemas.microsoft.com/office/powerpoint/2010/main" val="3845611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A952E-CDB5-A536-7869-2669D08077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401BB1-B58F-119C-AFF6-DC7554D9A8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BF2482-F073-08FF-01E5-CC34A48EC98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6B6EAF7-0884-4495-D49E-9D231E11C268}"/>
              </a:ext>
            </a:extLst>
          </p:cNvPr>
          <p:cNvSpPr>
            <a:spLocks noGrp="1"/>
          </p:cNvSpPr>
          <p:nvPr>
            <p:ph type="sldNum" sz="quarter" idx="5"/>
          </p:nvPr>
        </p:nvSpPr>
        <p:spPr/>
        <p:txBody>
          <a:bodyPr/>
          <a:lstStyle/>
          <a:p>
            <a:fld id="{41464DB0-CCE3-4363-801A-A01AADC6398D}" type="slidenum">
              <a:rPr lang="zh-CN" altLang="en-US" smtClean="0"/>
              <a:t>14</a:t>
            </a:fld>
            <a:endParaRPr lang="zh-CN" altLang="en-US"/>
          </a:p>
        </p:txBody>
      </p:sp>
    </p:spTree>
    <p:extLst>
      <p:ext uri="{BB962C8B-B14F-4D97-AF65-F5344CB8AC3E}">
        <p14:creationId xmlns:p14="http://schemas.microsoft.com/office/powerpoint/2010/main" val="2029995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FF844-FB8D-4CE9-3FA2-7705581D2B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FB7307-BF92-3121-83C8-D961BDE00D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C790E8-C64F-472B-62BD-2D594D956F3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CADF63-FAF4-E80A-E4C3-3A2A8A462407}"/>
              </a:ext>
            </a:extLst>
          </p:cNvPr>
          <p:cNvSpPr>
            <a:spLocks noGrp="1"/>
          </p:cNvSpPr>
          <p:nvPr>
            <p:ph type="sldNum" sz="quarter" idx="5"/>
          </p:nvPr>
        </p:nvSpPr>
        <p:spPr/>
        <p:txBody>
          <a:bodyPr/>
          <a:lstStyle/>
          <a:p>
            <a:fld id="{41464DB0-CCE3-4363-801A-A01AADC6398D}" type="slidenum">
              <a:rPr lang="zh-CN" altLang="en-US" smtClean="0"/>
              <a:t>15</a:t>
            </a:fld>
            <a:endParaRPr lang="zh-CN" altLang="en-US"/>
          </a:p>
        </p:txBody>
      </p:sp>
    </p:spTree>
    <p:extLst>
      <p:ext uri="{BB962C8B-B14F-4D97-AF65-F5344CB8AC3E}">
        <p14:creationId xmlns:p14="http://schemas.microsoft.com/office/powerpoint/2010/main" val="3580541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6D3CD-97AD-0985-A523-68173C737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854865-AF59-047B-537E-1C79022FBE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A2B7DA-F6F4-3FF2-D662-86490152452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0FBF6-FE59-0D89-83D1-A35593ED1373}"/>
              </a:ext>
            </a:extLst>
          </p:cNvPr>
          <p:cNvSpPr>
            <a:spLocks noGrp="1"/>
          </p:cNvSpPr>
          <p:nvPr>
            <p:ph type="sldNum" sz="quarter" idx="5"/>
          </p:nvPr>
        </p:nvSpPr>
        <p:spPr/>
        <p:txBody>
          <a:bodyPr/>
          <a:lstStyle/>
          <a:p>
            <a:fld id="{41464DB0-CCE3-4363-801A-A01AADC6398D}" type="slidenum">
              <a:rPr lang="zh-CN" altLang="en-US" smtClean="0"/>
              <a:t>16</a:t>
            </a:fld>
            <a:endParaRPr lang="zh-CN" altLang="en-US"/>
          </a:p>
        </p:txBody>
      </p:sp>
    </p:spTree>
    <p:extLst>
      <p:ext uri="{BB962C8B-B14F-4D97-AF65-F5344CB8AC3E}">
        <p14:creationId xmlns:p14="http://schemas.microsoft.com/office/powerpoint/2010/main" val="1287177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36A8-09E5-0CE9-B590-A4DE0EA435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BE1A5A-A0B8-C9CF-43BC-02649CC853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BA639-F0F9-5B3A-B7CC-E2B816609A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36FB28-84C8-805B-380B-5380C4846AC1}"/>
              </a:ext>
            </a:extLst>
          </p:cNvPr>
          <p:cNvSpPr>
            <a:spLocks noGrp="1"/>
          </p:cNvSpPr>
          <p:nvPr>
            <p:ph type="sldNum" sz="quarter" idx="5"/>
          </p:nvPr>
        </p:nvSpPr>
        <p:spPr/>
        <p:txBody>
          <a:bodyPr/>
          <a:lstStyle/>
          <a:p>
            <a:fld id="{41464DB0-CCE3-4363-801A-A01AADC6398D}" type="slidenum">
              <a:rPr lang="zh-CN" altLang="en-US" smtClean="0"/>
              <a:t>17</a:t>
            </a:fld>
            <a:endParaRPr lang="zh-CN" altLang="en-US"/>
          </a:p>
        </p:txBody>
      </p:sp>
    </p:spTree>
    <p:extLst>
      <p:ext uri="{BB962C8B-B14F-4D97-AF65-F5344CB8AC3E}">
        <p14:creationId xmlns:p14="http://schemas.microsoft.com/office/powerpoint/2010/main" val="377379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E53C-DAE5-6C26-D05A-6BA6A4D558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594D22-2E00-A7FE-DED5-1445AFBC7E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5C4DE9-7529-2C05-D013-FBC0311AE5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A1BB2B-FC43-11F8-2E7A-6F2422A0DE97}"/>
              </a:ext>
            </a:extLst>
          </p:cNvPr>
          <p:cNvSpPr>
            <a:spLocks noGrp="1"/>
          </p:cNvSpPr>
          <p:nvPr>
            <p:ph type="sldNum" sz="quarter" idx="5"/>
          </p:nvPr>
        </p:nvSpPr>
        <p:spPr/>
        <p:txBody>
          <a:bodyPr/>
          <a:lstStyle/>
          <a:p>
            <a:fld id="{41464DB0-CCE3-4363-801A-A01AADC6398D}" type="slidenum">
              <a:rPr lang="zh-CN" altLang="en-US" smtClean="0"/>
              <a:t>18</a:t>
            </a:fld>
            <a:endParaRPr lang="zh-CN" altLang="en-US"/>
          </a:p>
        </p:txBody>
      </p:sp>
    </p:spTree>
    <p:extLst>
      <p:ext uri="{BB962C8B-B14F-4D97-AF65-F5344CB8AC3E}">
        <p14:creationId xmlns:p14="http://schemas.microsoft.com/office/powerpoint/2010/main" val="3817239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2CE6-2570-4AE9-2B1B-E478F8ED09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DE41E8-5CE7-A998-BE58-C902FE8045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DF31B1-B4D8-8D52-9501-C72E33D27F3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C66470B-86F7-E849-488A-6901E5FD204D}"/>
              </a:ext>
            </a:extLst>
          </p:cNvPr>
          <p:cNvSpPr>
            <a:spLocks noGrp="1"/>
          </p:cNvSpPr>
          <p:nvPr>
            <p:ph type="sldNum" sz="quarter" idx="5"/>
          </p:nvPr>
        </p:nvSpPr>
        <p:spPr/>
        <p:txBody>
          <a:bodyPr/>
          <a:lstStyle/>
          <a:p>
            <a:fld id="{41464DB0-CCE3-4363-801A-A01AADC6398D}" type="slidenum">
              <a:rPr lang="zh-CN" altLang="en-US" smtClean="0"/>
              <a:t>20</a:t>
            </a:fld>
            <a:endParaRPr lang="zh-CN" altLang="en-US"/>
          </a:p>
        </p:txBody>
      </p:sp>
    </p:spTree>
    <p:extLst>
      <p:ext uri="{BB962C8B-B14F-4D97-AF65-F5344CB8AC3E}">
        <p14:creationId xmlns:p14="http://schemas.microsoft.com/office/powerpoint/2010/main" val="333974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A111D-3A0E-4FC1-49F1-93820F1832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0BC2B8-04F6-C2B6-2F08-21EFAF846F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DA057E-A36C-60C0-3470-ED5C27126B12}"/>
              </a:ext>
            </a:extLst>
          </p:cNvPr>
          <p:cNvSpPr>
            <a:spLocks noGrp="1"/>
          </p:cNvSpPr>
          <p:nvPr>
            <p:ph type="body" idx="1"/>
          </p:nvPr>
        </p:nvSpPr>
        <p:spPr/>
        <p:txBody>
          <a:bodyPr/>
          <a:lstStyle/>
          <a:p>
            <a:r>
              <a:rPr lang="zh-CN" altLang="en-US" dirty="0"/>
              <a:t>具体而言，首先收集相应领域的外部原始语料库（例如，编程能力对应的 </a:t>
            </a:r>
            <a:r>
              <a:rPr lang="en-US" altLang="zh-CN" dirty="0"/>
              <a:t>GitHub </a:t>
            </a:r>
            <a:r>
              <a:rPr lang="zh-CN" altLang="en-US" dirty="0"/>
              <a:t>代码），并评估各种 </a:t>
            </a:r>
            <a:r>
              <a:rPr lang="en-US" altLang="zh-CN" dirty="0"/>
              <a:t>LLMs</a:t>
            </a:r>
            <a:r>
              <a:rPr lang="zh-CN" altLang="en-US" dirty="0"/>
              <a:t>压缩该语料库的效率。随后在一系列下游任务上评估这些模型，使用平均基准分数来衡量其领域特定智能。目标是检验模型下游能力与其压缩效率之间的相关性。 </a:t>
            </a:r>
            <a:br>
              <a:rPr lang="zh-CN" altLang="en-US" dirty="0"/>
            </a:br>
            <a:endParaRPr lang="zh-CN" altLang="en-US" dirty="0"/>
          </a:p>
        </p:txBody>
      </p:sp>
      <p:sp>
        <p:nvSpPr>
          <p:cNvPr id="4" name="灯片编号占位符 3">
            <a:extLst>
              <a:ext uri="{FF2B5EF4-FFF2-40B4-BE49-F238E27FC236}">
                <a16:creationId xmlns:a16="http://schemas.microsoft.com/office/drawing/2014/main" id="{CF521609-0596-0523-7AE4-2B5CDF65496E}"/>
              </a:ext>
            </a:extLst>
          </p:cNvPr>
          <p:cNvSpPr>
            <a:spLocks noGrp="1"/>
          </p:cNvSpPr>
          <p:nvPr>
            <p:ph type="sldNum" sz="quarter" idx="5"/>
          </p:nvPr>
        </p:nvSpPr>
        <p:spPr/>
        <p:txBody>
          <a:bodyPr/>
          <a:lstStyle/>
          <a:p>
            <a:fld id="{41464DB0-CCE3-4363-801A-A01AADC6398D}" type="slidenum">
              <a:rPr lang="zh-CN" altLang="en-US" smtClean="0"/>
              <a:t>21</a:t>
            </a:fld>
            <a:endParaRPr lang="zh-CN" altLang="en-US"/>
          </a:p>
        </p:txBody>
      </p:sp>
    </p:spTree>
    <p:extLst>
      <p:ext uri="{BB962C8B-B14F-4D97-AF65-F5344CB8AC3E}">
        <p14:creationId xmlns:p14="http://schemas.microsoft.com/office/powerpoint/2010/main" val="1380328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F0A55-90E3-C232-AC1B-C54E1E6D37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F2F26D-EF87-13C6-00E1-711079203F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B8F848-FF25-9030-EE16-F95291D55D36}"/>
              </a:ext>
            </a:extLst>
          </p:cNvPr>
          <p:cNvSpPr>
            <a:spLocks noGrp="1"/>
          </p:cNvSpPr>
          <p:nvPr>
            <p:ph type="body" idx="1"/>
          </p:nvPr>
        </p:nvSpPr>
        <p:spPr/>
        <p:txBody>
          <a:bodyPr/>
          <a:lstStyle/>
          <a:p>
            <a:br>
              <a:rPr lang="zh-CN" altLang="en-US" dirty="0"/>
            </a:br>
            <a:endParaRPr lang="zh-CN" altLang="en-US" dirty="0"/>
          </a:p>
        </p:txBody>
      </p:sp>
      <p:sp>
        <p:nvSpPr>
          <p:cNvPr id="4" name="灯片编号占位符 3">
            <a:extLst>
              <a:ext uri="{FF2B5EF4-FFF2-40B4-BE49-F238E27FC236}">
                <a16:creationId xmlns:a16="http://schemas.microsoft.com/office/drawing/2014/main" id="{67E497CD-B2D4-4451-91C1-4B63AC76F7AD}"/>
              </a:ext>
            </a:extLst>
          </p:cNvPr>
          <p:cNvSpPr>
            <a:spLocks noGrp="1"/>
          </p:cNvSpPr>
          <p:nvPr>
            <p:ph type="sldNum" sz="quarter" idx="5"/>
          </p:nvPr>
        </p:nvSpPr>
        <p:spPr/>
        <p:txBody>
          <a:bodyPr/>
          <a:lstStyle/>
          <a:p>
            <a:fld id="{41464DB0-CCE3-4363-801A-A01AADC6398D}" type="slidenum">
              <a:rPr lang="zh-CN" altLang="en-US" smtClean="0"/>
              <a:t>22</a:t>
            </a:fld>
            <a:endParaRPr lang="zh-CN" altLang="en-US"/>
          </a:p>
        </p:txBody>
      </p:sp>
    </p:spTree>
    <p:extLst>
      <p:ext uri="{BB962C8B-B14F-4D97-AF65-F5344CB8AC3E}">
        <p14:creationId xmlns:p14="http://schemas.microsoft.com/office/powerpoint/2010/main" val="3135633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13D03-398C-6B11-0393-E23C42BB1B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8DAC6E-8A63-056C-99AC-BF42889A8A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29BF48-0A2C-7233-0A76-099AEE7D80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D3715D8-B00C-4E34-B164-BF0EDC593E3A}"/>
              </a:ext>
            </a:extLst>
          </p:cNvPr>
          <p:cNvSpPr>
            <a:spLocks noGrp="1"/>
          </p:cNvSpPr>
          <p:nvPr>
            <p:ph type="sldNum" sz="quarter" idx="5"/>
          </p:nvPr>
        </p:nvSpPr>
        <p:spPr/>
        <p:txBody>
          <a:bodyPr/>
          <a:lstStyle/>
          <a:p>
            <a:fld id="{41464DB0-CCE3-4363-801A-A01AADC6398D}" type="slidenum">
              <a:rPr lang="zh-CN" altLang="en-US" smtClean="0"/>
              <a:t>23</a:t>
            </a:fld>
            <a:endParaRPr lang="zh-CN" altLang="en-US"/>
          </a:p>
        </p:txBody>
      </p:sp>
    </p:spTree>
    <p:extLst>
      <p:ext uri="{BB962C8B-B14F-4D97-AF65-F5344CB8AC3E}">
        <p14:creationId xmlns:p14="http://schemas.microsoft.com/office/powerpoint/2010/main" val="687691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A9D8E-B2D3-1F32-26D9-16CF232E70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A3414A-5A14-CA22-DBAF-51DBFF2442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353260-7801-21C2-6072-A6B2A88D445D}"/>
              </a:ext>
            </a:extLst>
          </p:cNvPr>
          <p:cNvSpPr>
            <a:spLocks noGrp="1"/>
          </p:cNvSpPr>
          <p:nvPr>
            <p:ph type="body" idx="1"/>
          </p:nvPr>
        </p:nvSpPr>
        <p:spPr/>
        <p:txBody>
          <a:bodyPr/>
          <a:lstStyle/>
          <a:p>
            <a:br>
              <a:rPr lang="zh-CN" altLang="en-US" dirty="0"/>
            </a:br>
            <a:endParaRPr lang="zh-CN" altLang="en-US" dirty="0"/>
          </a:p>
        </p:txBody>
      </p:sp>
      <p:sp>
        <p:nvSpPr>
          <p:cNvPr id="4" name="灯片编号占位符 3">
            <a:extLst>
              <a:ext uri="{FF2B5EF4-FFF2-40B4-BE49-F238E27FC236}">
                <a16:creationId xmlns:a16="http://schemas.microsoft.com/office/drawing/2014/main" id="{B0621ECB-4BE0-D369-AE39-C95F5C39B345}"/>
              </a:ext>
            </a:extLst>
          </p:cNvPr>
          <p:cNvSpPr>
            <a:spLocks noGrp="1"/>
          </p:cNvSpPr>
          <p:nvPr>
            <p:ph type="sldNum" sz="quarter" idx="5"/>
          </p:nvPr>
        </p:nvSpPr>
        <p:spPr/>
        <p:txBody>
          <a:bodyPr/>
          <a:lstStyle/>
          <a:p>
            <a:fld id="{41464DB0-CCE3-4363-801A-A01AADC6398D}" type="slidenum">
              <a:rPr lang="zh-CN" altLang="en-US" smtClean="0"/>
              <a:t>24</a:t>
            </a:fld>
            <a:endParaRPr lang="zh-CN" altLang="en-US"/>
          </a:p>
        </p:txBody>
      </p:sp>
    </p:spTree>
    <p:extLst>
      <p:ext uri="{BB962C8B-B14F-4D97-AF65-F5344CB8AC3E}">
        <p14:creationId xmlns:p14="http://schemas.microsoft.com/office/powerpoint/2010/main" val="3684101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0D34-AE3D-BC3C-BEA7-304016B3A7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B2621D-D25C-FC14-F4D3-86228E4F54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500190-9A87-8E3A-5770-55E4878C57E3}"/>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据此我们可以观察到： </a:t>
            </a:r>
            <a:r>
              <a:rPr lang="en-US" altLang="zh-CN" sz="1200" b="0" i="0" kern="1200" dirty="0">
                <a:solidFill>
                  <a:schemeClr val="tx1"/>
                </a:solidFill>
                <a:effectLst/>
                <a:latin typeface="+mn-lt"/>
                <a:ea typeface="+mn-ea"/>
                <a:cs typeface="+mn-cs"/>
              </a:rPr>
              <a:t>LLMs </a:t>
            </a:r>
            <a:r>
              <a:rPr lang="zh-CN" altLang="en-US" sz="1200" b="0" i="0" kern="1200" dirty="0">
                <a:solidFill>
                  <a:schemeClr val="tx1"/>
                </a:solidFill>
                <a:effectLst/>
                <a:latin typeface="+mn-lt"/>
                <a:ea typeface="+mn-ea"/>
                <a:cs typeface="+mn-cs"/>
              </a:rPr>
              <a:t>的下游能力与其压缩效率几乎呈线性相关，每个评估的智能领域的皮尔逊相关系数约为</a:t>
            </a:r>
            <a:r>
              <a:rPr lang="en-US" altLang="zh-CN" sz="1200" b="0" i="0" kern="1200" dirty="0">
                <a:solidFill>
                  <a:schemeClr val="tx1"/>
                </a:solidFill>
                <a:effectLst/>
                <a:latin typeface="+mn-lt"/>
                <a:ea typeface="+mn-ea"/>
                <a:cs typeface="+mn-cs"/>
              </a:rPr>
              <a:t>-0.95</a:t>
            </a:r>
            <a:r>
              <a:rPr lang="zh-CN" altLang="en-US" sz="1200" b="0" i="0" kern="1200" dirty="0">
                <a:solidFill>
                  <a:schemeClr val="tx1"/>
                </a:solidFill>
                <a:effectLst/>
                <a:latin typeface="+mn-lt"/>
                <a:ea typeface="+mn-ea"/>
                <a:cs typeface="+mn-cs"/>
              </a:rPr>
              <a:t>。这种线性关系甚至扩展到大多数单个基准测试中。此论文的结果为“更优的压缩能力意味着更高智能”这一观点提供了实证支持。</a:t>
            </a:r>
            <a:r>
              <a:rPr lang="zh-CN" altLang="en-US" dirty="0"/>
              <a:t> </a:t>
            </a:r>
            <a:br>
              <a:rPr lang="zh-CN" altLang="en-US" dirty="0"/>
            </a:br>
            <a:endParaRPr lang="zh-CN" altLang="en-US" dirty="0"/>
          </a:p>
        </p:txBody>
      </p:sp>
      <p:sp>
        <p:nvSpPr>
          <p:cNvPr id="4" name="灯片编号占位符 3">
            <a:extLst>
              <a:ext uri="{FF2B5EF4-FFF2-40B4-BE49-F238E27FC236}">
                <a16:creationId xmlns:a16="http://schemas.microsoft.com/office/drawing/2014/main" id="{24CD8A62-BD47-E2FF-9391-32931D0DC49C}"/>
              </a:ext>
            </a:extLst>
          </p:cNvPr>
          <p:cNvSpPr>
            <a:spLocks noGrp="1"/>
          </p:cNvSpPr>
          <p:nvPr>
            <p:ph type="sldNum" sz="quarter" idx="5"/>
          </p:nvPr>
        </p:nvSpPr>
        <p:spPr/>
        <p:txBody>
          <a:bodyPr/>
          <a:lstStyle/>
          <a:p>
            <a:fld id="{41464DB0-CCE3-4363-801A-A01AADC6398D}" type="slidenum">
              <a:rPr lang="zh-CN" altLang="en-US" smtClean="0"/>
              <a:t>25</a:t>
            </a:fld>
            <a:endParaRPr lang="zh-CN" altLang="en-US"/>
          </a:p>
        </p:txBody>
      </p:sp>
    </p:spTree>
    <p:extLst>
      <p:ext uri="{BB962C8B-B14F-4D97-AF65-F5344CB8AC3E}">
        <p14:creationId xmlns:p14="http://schemas.microsoft.com/office/powerpoint/2010/main" val="2295000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A201-2553-3597-F167-9B1EBC0E8B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09FDB5-BD66-139B-55A8-125A8FF01D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AC00DB-31B1-FD0A-BE3C-8F1358E165B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6009B45-2DC0-6C5B-6725-F872823AEFA9}"/>
              </a:ext>
            </a:extLst>
          </p:cNvPr>
          <p:cNvSpPr>
            <a:spLocks noGrp="1"/>
          </p:cNvSpPr>
          <p:nvPr>
            <p:ph type="sldNum" sz="quarter" idx="5"/>
          </p:nvPr>
        </p:nvSpPr>
        <p:spPr/>
        <p:txBody>
          <a:bodyPr/>
          <a:lstStyle/>
          <a:p>
            <a:fld id="{41464DB0-CCE3-4363-801A-A01AADC6398D}" type="slidenum">
              <a:rPr lang="zh-CN" altLang="en-US" smtClean="0"/>
              <a:t>26</a:t>
            </a:fld>
            <a:endParaRPr lang="zh-CN" altLang="en-US"/>
          </a:p>
        </p:txBody>
      </p:sp>
    </p:spTree>
    <p:extLst>
      <p:ext uri="{BB962C8B-B14F-4D97-AF65-F5344CB8AC3E}">
        <p14:creationId xmlns:p14="http://schemas.microsoft.com/office/powerpoint/2010/main" val="3493619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5876-CD9E-E48A-DAE1-6213C386A6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A7105E-2B4F-B11F-E809-5D9BFD5689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BD3C98-5CB7-8648-7DCC-37689CDA298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压缩比使用原始文本长度与压缩文本长度的比来计算。</a:t>
            </a:r>
          </a:p>
          <a:p>
            <a:r>
              <a:rPr lang="zh-CN" altLang="en-US" sz="1200" b="0" i="0" kern="1200" dirty="0">
                <a:solidFill>
                  <a:schemeClr val="tx1"/>
                </a:solidFill>
                <a:effectLst/>
                <a:latin typeface="+mn-lt"/>
                <a:ea typeface="+mn-ea"/>
                <a:cs typeface="+mn-cs"/>
              </a:rPr>
              <a:t>句子补全任务设计目标：使计算机能基于给定上下文预测缺失部分，从而生成语义连贯的完整句子。</a:t>
            </a:r>
          </a:p>
          <a:p>
            <a:r>
              <a:rPr lang="zh-CN" altLang="en-US" sz="1200" b="0" i="0" kern="1200" dirty="0">
                <a:solidFill>
                  <a:schemeClr val="tx1"/>
                </a:solidFill>
                <a:effectLst/>
                <a:latin typeface="+mn-lt"/>
                <a:ea typeface="+mn-ea"/>
                <a:cs typeface="+mn-cs"/>
              </a:rPr>
              <a:t>问答任务核心目标：通过语义理解与句法分析，使计算机理解用户提出的问题，并生成符合问题要求的答案。</a:t>
            </a:r>
          </a:p>
          <a:p>
            <a:r>
              <a:rPr lang="zh-CN" altLang="en-US" sz="1200" b="0" i="0" kern="1200" dirty="0">
                <a:solidFill>
                  <a:schemeClr val="tx1"/>
                </a:solidFill>
                <a:effectLst/>
                <a:latin typeface="+mn-lt"/>
                <a:ea typeface="+mn-ea"/>
                <a:cs typeface="+mn-cs"/>
              </a:rPr>
              <a:t>指代消解技术定义：识别文本中代词及名词短语所指代的实体。</a:t>
            </a:r>
            <a:r>
              <a:rPr lang="zh-CN" altLang="en-US" dirty="0"/>
              <a:t> </a:t>
            </a:r>
            <a:br>
              <a:rPr lang="zh-CN" altLang="en-US" dirty="0"/>
            </a:br>
            <a:r>
              <a:rPr lang="en-US" altLang="zh-CN" sz="1200" b="0" i="0" kern="1200" dirty="0">
                <a:solidFill>
                  <a:schemeClr val="tx1"/>
                </a:solidFill>
                <a:effectLst/>
                <a:latin typeface="+mn-lt"/>
                <a:ea typeface="+mn-ea"/>
                <a:cs typeface="+mn-cs"/>
              </a:rPr>
              <a:t>Mistral 7B</a:t>
            </a:r>
            <a:r>
              <a:rPr lang="zh-CN" altLang="en-US" sz="1200" b="0" i="0" kern="1200" dirty="0">
                <a:solidFill>
                  <a:schemeClr val="tx1"/>
                </a:solidFill>
                <a:effectLst/>
                <a:latin typeface="+mn-lt"/>
                <a:ea typeface="+mn-ea"/>
                <a:cs typeface="+mn-cs"/>
              </a:rPr>
              <a:t>（压缩比 </a:t>
            </a:r>
            <a:r>
              <a:rPr lang="en-US" altLang="zh-CN" sz="1200" b="0" i="0" kern="1200" dirty="0">
                <a:solidFill>
                  <a:schemeClr val="tx1"/>
                </a:solidFill>
                <a:effectLst/>
                <a:latin typeface="+mn-lt"/>
                <a:ea typeface="+mn-ea"/>
                <a:cs typeface="+mn-cs"/>
              </a:rPr>
              <a:t>9.266</a:t>
            </a:r>
            <a:r>
              <a:rPr lang="zh-CN" altLang="en-US" sz="1200" b="0" i="0" kern="1200" dirty="0">
                <a:solidFill>
                  <a:schemeClr val="tx1"/>
                </a:solidFill>
                <a:effectLst/>
                <a:latin typeface="+mn-lt"/>
                <a:ea typeface="+mn-ea"/>
                <a:cs typeface="+mn-cs"/>
              </a:rPr>
              <a:t>）在句子补全任务中达到最高准确率（</a:t>
            </a:r>
            <a:r>
              <a:rPr lang="en-US" altLang="zh-CN" sz="1200" b="0" i="0" kern="1200" dirty="0">
                <a:solidFill>
                  <a:schemeClr val="tx1"/>
                </a:solidFill>
                <a:effectLst/>
                <a:latin typeface="+mn-lt"/>
                <a:ea typeface="+mn-ea"/>
                <a:cs typeface="+mn-cs"/>
              </a:rPr>
              <a:t>81.3%</a:t>
            </a:r>
            <a:r>
              <a:rPr lang="zh-CN" altLang="en-US" sz="1200" b="0" i="0" kern="1200" dirty="0">
                <a:solidFill>
                  <a:schemeClr val="tx1"/>
                </a:solidFill>
                <a:effectLst/>
                <a:latin typeface="+mn-lt"/>
                <a:ea typeface="+mn-ea"/>
                <a:cs typeface="+mn-cs"/>
              </a:rPr>
              <a:t>），比压缩比</a:t>
            </a:r>
            <a:r>
              <a:rPr lang="en-US" altLang="zh-CN" sz="1200" b="0" i="0" kern="1200" dirty="0">
                <a:solidFill>
                  <a:schemeClr val="tx1"/>
                </a:solidFill>
                <a:effectLst/>
                <a:latin typeface="+mn-lt"/>
                <a:ea typeface="+mn-ea"/>
                <a:cs typeface="+mn-cs"/>
              </a:rPr>
              <a:t>7.095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GPT-2-XL</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50.9%</a:t>
            </a:r>
            <a:r>
              <a:rPr lang="zh-CN" altLang="en-US" sz="1200" b="0" i="0" kern="1200" dirty="0">
                <a:solidFill>
                  <a:schemeClr val="tx1"/>
                </a:solidFill>
                <a:effectLst/>
                <a:latin typeface="+mn-lt"/>
                <a:ea typeface="+mn-ea"/>
                <a:cs typeface="+mn-cs"/>
              </a:rPr>
              <a:t>）高 </a:t>
            </a:r>
            <a:r>
              <a:rPr lang="en-US" altLang="zh-CN" sz="1200" b="0" i="0" kern="1200" dirty="0">
                <a:solidFill>
                  <a:schemeClr val="tx1"/>
                </a:solidFill>
                <a:effectLst/>
                <a:latin typeface="+mn-lt"/>
                <a:ea typeface="+mn-ea"/>
                <a:cs typeface="+mn-cs"/>
              </a:rPr>
              <a:t>30.4 </a:t>
            </a:r>
            <a:r>
              <a:rPr lang="zh-CN" altLang="en-US" sz="1200" b="0" i="0" kern="1200" dirty="0">
                <a:solidFill>
                  <a:schemeClr val="tx1"/>
                </a:solidFill>
                <a:effectLst/>
                <a:latin typeface="+mn-lt"/>
                <a:ea typeface="+mn-ea"/>
                <a:cs typeface="+mn-cs"/>
              </a:rPr>
              <a:t>个百分点。</a:t>
            </a:r>
          </a:p>
          <a:p>
            <a:r>
              <a:rPr lang="en-US" altLang="zh-CN" sz="1200" b="0" i="0" kern="1200" dirty="0" err="1">
                <a:solidFill>
                  <a:schemeClr val="tx1"/>
                </a:solidFill>
                <a:effectLst/>
                <a:latin typeface="+mn-lt"/>
                <a:ea typeface="+mn-ea"/>
                <a:cs typeface="+mn-cs"/>
              </a:rPr>
              <a:t>LLaMA</a:t>
            </a:r>
            <a:r>
              <a:rPr lang="en-US" altLang="zh-CN" sz="1200" b="0" i="0" kern="1200" dirty="0">
                <a:solidFill>
                  <a:schemeClr val="tx1"/>
                </a:solidFill>
                <a:effectLst/>
                <a:latin typeface="+mn-lt"/>
                <a:ea typeface="+mn-ea"/>
                <a:cs typeface="+mn-cs"/>
              </a:rPr>
              <a:t> 2 7B</a:t>
            </a:r>
            <a:r>
              <a:rPr lang="zh-CN" altLang="en-US" sz="1200" b="0" i="0" kern="1200" dirty="0">
                <a:solidFill>
                  <a:schemeClr val="tx1"/>
                </a:solidFill>
                <a:effectLst/>
                <a:latin typeface="+mn-lt"/>
                <a:ea typeface="+mn-ea"/>
                <a:cs typeface="+mn-cs"/>
              </a:rPr>
              <a:t>（压缩比 </a:t>
            </a:r>
            <a:r>
              <a:rPr lang="en-US" altLang="zh-CN" sz="1200" b="0" i="0" kern="1200" dirty="0">
                <a:solidFill>
                  <a:schemeClr val="tx1"/>
                </a:solidFill>
                <a:effectLst/>
                <a:latin typeface="+mn-lt"/>
                <a:ea typeface="+mn-ea"/>
                <a:cs typeface="+mn-cs"/>
              </a:rPr>
              <a:t>8.663</a:t>
            </a:r>
            <a:r>
              <a:rPr lang="zh-CN" altLang="en-US" sz="1200" b="0" i="0" kern="1200" dirty="0">
                <a:solidFill>
                  <a:schemeClr val="tx1"/>
                </a:solidFill>
                <a:effectLst/>
                <a:latin typeface="+mn-lt"/>
                <a:ea typeface="+mn-ea"/>
                <a:cs typeface="+mn-cs"/>
              </a:rPr>
              <a:t>）在问答任务中取得 </a:t>
            </a:r>
            <a:r>
              <a:rPr lang="en-US" altLang="zh-CN" sz="1200" b="0" i="0" kern="1200" dirty="0">
                <a:solidFill>
                  <a:schemeClr val="tx1"/>
                </a:solidFill>
                <a:effectLst/>
                <a:latin typeface="+mn-lt"/>
                <a:ea typeface="+mn-ea"/>
                <a:cs typeface="+mn-cs"/>
              </a:rPr>
              <a:t>77.4% </a:t>
            </a:r>
            <a:r>
              <a:rPr lang="zh-CN" altLang="en-US" sz="1200" b="0" i="0" kern="1200" dirty="0">
                <a:solidFill>
                  <a:schemeClr val="tx1"/>
                </a:solidFill>
                <a:effectLst/>
                <a:latin typeface="+mn-lt"/>
                <a:ea typeface="+mn-ea"/>
                <a:cs typeface="+mn-cs"/>
              </a:rPr>
              <a:t>的准确率，显著优于压缩比</a:t>
            </a:r>
            <a:r>
              <a:rPr lang="en-US" altLang="zh-CN" sz="1200" b="0" i="0" kern="1200" dirty="0">
                <a:solidFill>
                  <a:schemeClr val="tx1"/>
                </a:solidFill>
                <a:effectLst/>
                <a:latin typeface="+mn-lt"/>
                <a:ea typeface="+mn-ea"/>
                <a:cs typeface="+mn-cs"/>
              </a:rPr>
              <a:t>6.938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OPT-IML</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61.5%</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压缩比增长 </a:t>
            </a:r>
            <a:r>
              <a:rPr lang="en-US" altLang="zh-CN" sz="1200" b="0" i="0" kern="1200" dirty="0">
                <a:solidFill>
                  <a:schemeClr val="tx1"/>
                </a:solidFill>
                <a:effectLst/>
                <a:latin typeface="+mn-lt"/>
                <a:ea typeface="+mn-ea"/>
                <a:cs typeface="+mn-cs"/>
              </a:rPr>
              <a:t>1.3 </a:t>
            </a:r>
            <a:r>
              <a:rPr lang="zh-CN" altLang="en-US" sz="1200" b="0" i="0" kern="1200" dirty="0">
                <a:solidFill>
                  <a:schemeClr val="tx1"/>
                </a:solidFill>
                <a:effectLst/>
                <a:latin typeface="+mn-lt"/>
                <a:ea typeface="+mn-ea"/>
                <a:cs typeface="+mn-cs"/>
              </a:rPr>
              <a:t>倍（从 </a:t>
            </a:r>
            <a:r>
              <a:rPr lang="en-US" altLang="zh-CN" sz="1200" b="0" i="0" kern="1200" dirty="0">
                <a:solidFill>
                  <a:schemeClr val="tx1"/>
                </a:solidFill>
                <a:effectLst/>
                <a:latin typeface="+mn-lt"/>
                <a:ea typeface="+mn-ea"/>
                <a:cs typeface="+mn-cs"/>
              </a:rPr>
              <a:t>GPT-2-XL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7.095 </a:t>
            </a:r>
            <a:r>
              <a:rPr lang="zh-CN" altLang="en-US" sz="1200" b="0" i="0" kern="1200" dirty="0">
                <a:solidFill>
                  <a:schemeClr val="tx1"/>
                </a:solidFill>
                <a:effectLst/>
                <a:latin typeface="+mn-lt"/>
                <a:ea typeface="+mn-ea"/>
                <a:cs typeface="+mn-cs"/>
              </a:rPr>
              <a:t>到 </a:t>
            </a:r>
            <a:r>
              <a:rPr lang="en-US" altLang="zh-CN" sz="1200" b="0" i="0" kern="1200" dirty="0">
                <a:solidFill>
                  <a:schemeClr val="tx1"/>
                </a:solidFill>
                <a:effectLst/>
                <a:latin typeface="+mn-lt"/>
                <a:ea typeface="+mn-ea"/>
                <a:cs typeface="+mn-cs"/>
              </a:rPr>
              <a:t>Mistral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9.266</a:t>
            </a:r>
            <a:r>
              <a:rPr lang="zh-CN" altLang="en-US" sz="1200" b="0" i="0" kern="1200" dirty="0">
                <a:solidFill>
                  <a:schemeClr val="tx1"/>
                </a:solidFill>
                <a:effectLst/>
                <a:latin typeface="+mn-lt"/>
                <a:ea typeface="+mn-ea"/>
                <a:cs typeface="+mn-cs"/>
              </a:rPr>
              <a:t>），对应句子补全准确率提升 </a:t>
            </a:r>
            <a:r>
              <a:rPr lang="en-US" altLang="zh-CN" sz="1200" b="0" i="0" kern="1200" dirty="0">
                <a:solidFill>
                  <a:schemeClr val="tx1"/>
                </a:solidFill>
                <a:effectLst/>
                <a:latin typeface="+mn-lt"/>
                <a:ea typeface="+mn-ea"/>
                <a:cs typeface="+mn-cs"/>
              </a:rPr>
              <a:t>59.7%</a:t>
            </a:r>
            <a:r>
              <a:rPr lang="zh-CN" altLang="en-US" sz="1200" b="0" i="0" kern="1200" dirty="0">
                <a:solidFill>
                  <a:schemeClr val="tx1"/>
                </a:solidFill>
                <a:effectLst/>
                <a:latin typeface="+mn-lt"/>
                <a:ea typeface="+mn-ea"/>
                <a:cs typeface="+mn-cs"/>
              </a:rPr>
              <a:t>，验证了压缩效率与任务表现的强正相关。</a:t>
            </a:r>
            <a:r>
              <a:rPr lang="zh-CN" altLang="en-US" dirty="0"/>
              <a:t> </a:t>
            </a:r>
            <a:br>
              <a:rPr lang="zh-CN" altLang="en-US" dirty="0"/>
            </a:br>
            <a:endParaRPr lang="zh-CN" altLang="en-US" dirty="0"/>
          </a:p>
        </p:txBody>
      </p:sp>
      <p:sp>
        <p:nvSpPr>
          <p:cNvPr id="4" name="灯片编号占位符 3">
            <a:extLst>
              <a:ext uri="{FF2B5EF4-FFF2-40B4-BE49-F238E27FC236}">
                <a16:creationId xmlns:a16="http://schemas.microsoft.com/office/drawing/2014/main" id="{DDDC2877-3AF7-5F8D-266A-0160B0FC5019}"/>
              </a:ext>
            </a:extLst>
          </p:cNvPr>
          <p:cNvSpPr>
            <a:spLocks noGrp="1"/>
          </p:cNvSpPr>
          <p:nvPr>
            <p:ph type="sldNum" sz="quarter" idx="5"/>
          </p:nvPr>
        </p:nvSpPr>
        <p:spPr/>
        <p:txBody>
          <a:bodyPr/>
          <a:lstStyle/>
          <a:p>
            <a:fld id="{41464DB0-CCE3-4363-801A-A01AADC6398D}" type="slidenum">
              <a:rPr lang="zh-CN" altLang="en-US" smtClean="0"/>
              <a:t>27</a:t>
            </a:fld>
            <a:endParaRPr lang="zh-CN" altLang="en-US"/>
          </a:p>
        </p:txBody>
      </p:sp>
    </p:spTree>
    <p:extLst>
      <p:ext uri="{BB962C8B-B14F-4D97-AF65-F5344CB8AC3E}">
        <p14:creationId xmlns:p14="http://schemas.microsoft.com/office/powerpoint/2010/main" val="3499312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D6BB6-218B-CE7D-A168-457B720DBE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C669E1-2802-5B53-12BD-08535DCAA4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362985-025F-1FF2-4606-2B261F4D79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1B2240F-8C86-8431-4687-2826F83CFDB0}"/>
              </a:ext>
            </a:extLst>
          </p:cNvPr>
          <p:cNvSpPr>
            <a:spLocks noGrp="1"/>
          </p:cNvSpPr>
          <p:nvPr>
            <p:ph type="sldNum" sz="quarter" idx="5"/>
          </p:nvPr>
        </p:nvSpPr>
        <p:spPr/>
        <p:txBody>
          <a:bodyPr/>
          <a:lstStyle/>
          <a:p>
            <a:fld id="{41464DB0-CCE3-4363-801A-A01AADC6398D}" type="slidenum">
              <a:rPr lang="zh-CN" altLang="en-US" smtClean="0"/>
              <a:t>28</a:t>
            </a:fld>
            <a:endParaRPr lang="zh-CN" altLang="en-US"/>
          </a:p>
        </p:txBody>
      </p:sp>
    </p:spTree>
    <p:extLst>
      <p:ext uri="{BB962C8B-B14F-4D97-AF65-F5344CB8AC3E}">
        <p14:creationId xmlns:p14="http://schemas.microsoft.com/office/powerpoint/2010/main" val="16202221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页">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C1FB384-8418-45A8-4755-5E7E3CE0A31A}"/>
              </a:ext>
            </a:extLst>
          </p:cNvPr>
          <p:cNvSpPr/>
          <p:nvPr userDrawn="1"/>
        </p:nvSpPr>
        <p:spPr>
          <a:xfrm>
            <a:off x="0" y="3667636"/>
            <a:ext cx="12192000" cy="518886"/>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压缩即智能：从压缩编码到智能涌现</a:t>
            </a:r>
            <a:r>
              <a:rPr lang="zh-CN" altLang="en-US" sz="2400" dirty="0"/>
              <a:t> </a:t>
            </a:r>
          </a:p>
        </p:txBody>
      </p:sp>
      <p:sp>
        <p:nvSpPr>
          <p:cNvPr id="5" name="矩形 4">
            <a:extLst>
              <a:ext uri="{FF2B5EF4-FFF2-40B4-BE49-F238E27FC236}">
                <a16:creationId xmlns:a16="http://schemas.microsoft.com/office/drawing/2014/main" id="{BC98717C-B40A-F187-B6B6-FE8BE24A3854}"/>
              </a:ext>
            </a:extLst>
          </p:cNvPr>
          <p:cNvSpPr/>
          <p:nvPr userDrawn="1"/>
        </p:nvSpPr>
        <p:spPr>
          <a:xfrm>
            <a:off x="0" y="2695179"/>
            <a:ext cx="12192000" cy="9724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A88256D4-D329-0A5F-3F6D-C85CB032A249}"/>
              </a:ext>
            </a:extLst>
          </p:cNvPr>
          <p:cNvSpPr txBox="1"/>
          <p:nvPr userDrawn="1"/>
        </p:nvSpPr>
        <p:spPr>
          <a:xfrm>
            <a:off x="3216275" y="2796687"/>
            <a:ext cx="8280399" cy="769441"/>
          </a:xfrm>
          <a:prstGeom prst="rect">
            <a:avLst/>
          </a:prstGeom>
          <a:noFill/>
        </p:spPr>
        <p:txBody>
          <a:bodyPr wrap="square" rtlCol="0">
            <a:spAutoFit/>
          </a:bodyPr>
          <a:lstStyle/>
          <a:p>
            <a:r>
              <a:rPr lang="zh-CN" altLang="en-US" sz="4400" b="1" dirty="0">
                <a:solidFill>
                  <a:schemeClr val="bg1"/>
                </a:solidFill>
              </a:rPr>
              <a:t>信息论</a:t>
            </a:r>
            <a:r>
              <a:rPr lang="en-US" altLang="zh-CN" sz="4400" b="1" dirty="0">
                <a:solidFill>
                  <a:schemeClr val="bg1"/>
                </a:solidFill>
              </a:rPr>
              <a:t>A </a:t>
            </a:r>
            <a:r>
              <a:rPr lang="zh-CN" altLang="en-US" sz="4400" b="1" dirty="0">
                <a:solidFill>
                  <a:schemeClr val="bg1"/>
                </a:solidFill>
              </a:rPr>
              <a:t>课程作业答辩</a:t>
            </a:r>
          </a:p>
        </p:txBody>
      </p:sp>
      <p:sp>
        <p:nvSpPr>
          <p:cNvPr id="7" name="文本框 6">
            <a:extLst>
              <a:ext uri="{FF2B5EF4-FFF2-40B4-BE49-F238E27FC236}">
                <a16:creationId xmlns:a16="http://schemas.microsoft.com/office/drawing/2014/main" id="{044505B1-48A0-A343-466C-6F40B90ABC91}"/>
              </a:ext>
            </a:extLst>
          </p:cNvPr>
          <p:cNvSpPr txBox="1"/>
          <p:nvPr userDrawn="1"/>
        </p:nvSpPr>
        <p:spPr>
          <a:xfrm>
            <a:off x="4150769" y="4445037"/>
            <a:ext cx="3890461" cy="873060"/>
          </a:xfrm>
          <a:prstGeom prst="rect">
            <a:avLst/>
          </a:prstGeom>
          <a:noFill/>
        </p:spPr>
        <p:txBody>
          <a:bodyPr wrap="square" rtlCol="0">
            <a:spAutoFit/>
          </a:bodyPr>
          <a:lstStyle/>
          <a:p>
            <a:pPr algn="ctr">
              <a:lnSpc>
                <a:spcPct val="150000"/>
              </a:lnSpc>
            </a:pPr>
            <a:r>
              <a:rPr lang="zh-CN" altLang="en-US" b="1" dirty="0">
                <a:solidFill>
                  <a:srgbClr val="453D3A"/>
                </a:solidFill>
              </a:rPr>
              <a:t>王旭东 </a:t>
            </a:r>
            <a:r>
              <a:rPr lang="en-US" altLang="zh-CN" b="1" dirty="0">
                <a:solidFill>
                  <a:srgbClr val="453D3A"/>
                </a:solidFill>
              </a:rPr>
              <a:t>PB22051030</a:t>
            </a:r>
          </a:p>
          <a:p>
            <a:pPr algn="ctr">
              <a:lnSpc>
                <a:spcPct val="150000"/>
              </a:lnSpc>
            </a:pPr>
            <a:r>
              <a:rPr lang="zh-CN" altLang="en-US" b="1" dirty="0">
                <a:solidFill>
                  <a:srgbClr val="453D3A"/>
                </a:solidFill>
              </a:rPr>
              <a:t>李   毅 </a:t>
            </a:r>
            <a:r>
              <a:rPr lang="en-US" altLang="zh-CN" b="1" dirty="0">
                <a:solidFill>
                  <a:srgbClr val="453D3A"/>
                </a:solidFill>
              </a:rPr>
              <a:t>PB22051031</a:t>
            </a:r>
            <a:endParaRPr lang="zh-CN" altLang="en-US" b="1" dirty="0">
              <a:solidFill>
                <a:srgbClr val="453D3A"/>
              </a:solidFill>
            </a:endParaRPr>
          </a:p>
        </p:txBody>
      </p:sp>
      <p:sp>
        <p:nvSpPr>
          <p:cNvPr id="8" name="矩形 7">
            <a:extLst>
              <a:ext uri="{FF2B5EF4-FFF2-40B4-BE49-F238E27FC236}">
                <a16:creationId xmlns:a16="http://schemas.microsoft.com/office/drawing/2014/main" id="{7A1CD120-4B4E-ACF6-EA69-538506B333E7}"/>
              </a:ext>
            </a:extLst>
          </p:cNvPr>
          <p:cNvSpPr/>
          <p:nvPr userDrawn="1"/>
        </p:nvSpPr>
        <p:spPr>
          <a:xfrm>
            <a:off x="11172674" y="2260140"/>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26C0E0A-51D7-4A42-A821-42902BB4860E}"/>
              </a:ext>
            </a:extLst>
          </p:cNvPr>
          <p:cNvSpPr/>
          <p:nvPr userDrawn="1"/>
        </p:nvSpPr>
        <p:spPr>
          <a:xfrm>
            <a:off x="10920674" y="2008140"/>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a:extLst>
              <a:ext uri="{FF2B5EF4-FFF2-40B4-BE49-F238E27FC236}">
                <a16:creationId xmlns:a16="http://schemas.microsoft.com/office/drawing/2014/main" id="{D068D222-765D-D8C1-9381-A3799A4C7D91}"/>
              </a:ext>
            </a:extLst>
          </p:cNvPr>
          <p:cNvSpPr>
            <a:spLocks noEditPoints="1"/>
          </p:cNvSpPr>
          <p:nvPr userDrawn="1"/>
        </p:nvSpPr>
        <p:spPr bwMode="auto">
          <a:xfrm>
            <a:off x="10201276" y="2936668"/>
            <a:ext cx="555624" cy="489478"/>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1" name="图形 10">
            <a:extLst>
              <a:ext uri="{FF2B5EF4-FFF2-40B4-BE49-F238E27FC236}">
                <a16:creationId xmlns:a16="http://schemas.microsoft.com/office/drawing/2014/main" id="{04CCA79B-F36E-5B0C-F469-2A675A637B0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80561" b="-400"/>
          <a:stretch/>
        </p:blipFill>
        <p:spPr>
          <a:xfrm>
            <a:off x="470027" y="2260140"/>
            <a:ext cx="2294399" cy="2269220"/>
          </a:xfrm>
          <a:prstGeom prst="rect">
            <a:avLst/>
          </a:prstGeom>
        </p:spPr>
      </p:pic>
    </p:spTree>
    <p:extLst>
      <p:ext uri="{BB962C8B-B14F-4D97-AF65-F5344CB8AC3E}">
        <p14:creationId xmlns:p14="http://schemas.microsoft.com/office/powerpoint/2010/main" val="42866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par>
                                <p:cTn id="11" presetID="22" presetClass="entr" presetSubtype="8" fill="hold" grpId="0" nodeType="withEffect">
                                  <p:stCondLst>
                                    <p:cond delay="1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42" presetClass="entr" presetSubtype="0" fill="hold" grpId="0" nodeType="withEffect">
                                  <p:stCondLst>
                                    <p:cond delay="12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anim calcmode="lin" valueType="num">
                                      <p:cBhvr>
                                        <p:cTn id="17" dur="500" fill="hold"/>
                                        <p:tgtEl>
                                          <p:spTgt spid="10"/>
                                        </p:tgtEl>
                                        <p:attrNameLst>
                                          <p:attrName>ppt_x</p:attrName>
                                        </p:attrNameLst>
                                      </p:cBhvr>
                                      <p:tavLst>
                                        <p:tav tm="0">
                                          <p:val>
                                            <p:strVal val="#ppt_x"/>
                                          </p:val>
                                        </p:tav>
                                        <p:tav tm="100000">
                                          <p:val>
                                            <p:strVal val="#ppt_x"/>
                                          </p:val>
                                        </p:tav>
                                      </p:tavLst>
                                    </p:anim>
                                    <p:anim calcmode="lin" valueType="num">
                                      <p:cBhvr>
                                        <p:cTn id="18" dur="500" fill="hold"/>
                                        <p:tgtEl>
                                          <p:spTgt spid="10"/>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1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16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20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animBg="1"/>
      <p:bldP spid="1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10" name="矩形 9"/>
          <p:cNvSpPr/>
          <p:nvPr userDrawn="1"/>
        </p:nvSpPr>
        <p:spPr>
          <a:xfrm>
            <a:off x="11084978" y="6595300"/>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7" name="矩形 6"/>
          <p:cNvSpPr/>
          <p:nvPr userDrawn="1"/>
        </p:nvSpPr>
        <p:spPr>
          <a:xfrm>
            <a:off x="371325" y="387275"/>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119325" y="135275"/>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05D43691-F600-CBE9-3ACE-E3DF32CDACBB}"/>
              </a:ext>
            </a:extLst>
          </p:cNvPr>
          <p:cNvSpPr>
            <a:spLocks noGrp="1"/>
          </p:cNvSpPr>
          <p:nvPr>
            <p:ph sz="quarter" idx="13"/>
          </p:nvPr>
        </p:nvSpPr>
        <p:spPr>
          <a:xfrm>
            <a:off x="838199" y="954723"/>
            <a:ext cx="10515599" cy="5288915"/>
          </a:xfrm>
        </p:spPr>
        <p:txBody>
          <a:bodyPr>
            <a:normAutofit/>
          </a:bodyPr>
          <a:lstStyle>
            <a:lvl1pPr>
              <a:defRPr sz="2400"/>
            </a:lvl1pPr>
            <a:lvl2pPr>
              <a:defRPr sz="2400"/>
            </a:lvl2pPr>
            <a:lvl3pPr>
              <a:defRPr sz="2400"/>
            </a:lvl3pPr>
            <a:lvl4pPr>
              <a:defRPr sz="2400"/>
            </a:lvl4pPr>
            <a:lvl5pPr>
              <a:defRPr sz="24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标题 3">
            <a:extLst>
              <a:ext uri="{FF2B5EF4-FFF2-40B4-BE49-F238E27FC236}">
                <a16:creationId xmlns:a16="http://schemas.microsoft.com/office/drawing/2014/main" id="{88312D6D-1977-FF99-5790-D575D947EB8F}"/>
              </a:ext>
            </a:extLst>
          </p:cNvPr>
          <p:cNvSpPr>
            <a:spLocks noGrp="1"/>
          </p:cNvSpPr>
          <p:nvPr>
            <p:ph type="title"/>
          </p:nvPr>
        </p:nvSpPr>
        <p:spPr>
          <a:xfrm>
            <a:off x="838198" y="322229"/>
            <a:ext cx="10515600" cy="470694"/>
          </a:xfrm>
        </p:spPr>
        <p:txBody>
          <a:bodyPr>
            <a:noAutofit/>
          </a:bodyPr>
          <a:lstStyle>
            <a:lvl1pPr>
              <a:defRPr sz="2800">
                <a:latin typeface="+mn-ea"/>
                <a:ea typeface="+mn-ea"/>
              </a:defRPr>
            </a:lvl1pPr>
          </a:lstStyle>
          <a:p>
            <a:r>
              <a:rPr lang="zh-CN" altLang="en-US" dirty="0"/>
              <a:t>单击此处编辑母版标题样式</a:t>
            </a:r>
          </a:p>
        </p:txBody>
      </p:sp>
      <p:pic>
        <p:nvPicPr>
          <p:cNvPr id="5" name="图形 4">
            <a:extLst>
              <a:ext uri="{FF2B5EF4-FFF2-40B4-BE49-F238E27FC236}">
                <a16:creationId xmlns:a16="http://schemas.microsoft.com/office/drawing/2014/main" id="{5F2CE316-E3CC-7DAD-7C03-BE5188C64CC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80561" b="-400"/>
          <a:stretch/>
        </p:blipFill>
        <p:spPr>
          <a:xfrm>
            <a:off x="10491122" y="56223"/>
            <a:ext cx="1391938" cy="1376663"/>
          </a:xfrm>
          <a:prstGeom prst="rect">
            <a:avLst/>
          </a:prstGeom>
        </p:spPr>
      </p:pic>
    </p:spTree>
    <p:extLst>
      <p:ext uri="{BB962C8B-B14F-4D97-AF65-F5344CB8AC3E}">
        <p14:creationId xmlns:p14="http://schemas.microsoft.com/office/powerpoint/2010/main" val="25998743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346" userDrawn="1">
          <p15:clr>
            <a:srgbClr val="FBAE40"/>
          </p15:clr>
        </p15:guide>
        <p15:guide id="6" orient="horz" pos="397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9730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4C821-51AF-415E-BF5B-CDCDE3466362}" type="datetime1">
              <a:rPr lang="zh-CN" altLang="en-US" smtClean="0"/>
              <a:t>2025/7/2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extLst>
      <p:ext uri="{BB962C8B-B14F-4D97-AF65-F5344CB8AC3E}">
        <p14:creationId xmlns:p14="http://schemas.microsoft.com/office/powerpoint/2010/main" val="3146066386"/>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3667636"/>
            <a:ext cx="12192000" cy="518886"/>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压缩即智能：从压缩编码到智能涌现</a:t>
            </a:r>
            <a:r>
              <a:rPr lang="zh-CN" altLang="en-US" sz="2400" dirty="0"/>
              <a:t> </a:t>
            </a:r>
          </a:p>
        </p:txBody>
      </p:sp>
      <p:sp>
        <p:nvSpPr>
          <p:cNvPr id="7" name="矩形 6"/>
          <p:cNvSpPr/>
          <p:nvPr/>
        </p:nvSpPr>
        <p:spPr>
          <a:xfrm>
            <a:off x="0" y="2695179"/>
            <a:ext cx="12192000" cy="9724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216275" y="2796687"/>
            <a:ext cx="8280399" cy="769441"/>
          </a:xfrm>
          <a:prstGeom prst="rect">
            <a:avLst/>
          </a:prstGeom>
          <a:noFill/>
        </p:spPr>
        <p:txBody>
          <a:bodyPr wrap="square" rtlCol="0">
            <a:spAutoFit/>
          </a:bodyPr>
          <a:lstStyle/>
          <a:p>
            <a:r>
              <a:rPr lang="zh-CN" altLang="en-US" sz="4400" b="1" dirty="0">
                <a:solidFill>
                  <a:schemeClr val="bg1"/>
                </a:solidFill>
              </a:rPr>
              <a:t>信息论</a:t>
            </a:r>
            <a:r>
              <a:rPr lang="en-US" altLang="zh-CN" sz="4400" b="1" dirty="0">
                <a:solidFill>
                  <a:schemeClr val="bg1"/>
                </a:solidFill>
              </a:rPr>
              <a:t>A </a:t>
            </a:r>
            <a:r>
              <a:rPr lang="zh-CN" altLang="en-US" sz="4400" b="1" dirty="0">
                <a:solidFill>
                  <a:schemeClr val="bg1"/>
                </a:solidFill>
              </a:rPr>
              <a:t>课程作业答辩</a:t>
            </a:r>
          </a:p>
        </p:txBody>
      </p:sp>
      <p:sp>
        <p:nvSpPr>
          <p:cNvPr id="12" name="文本框 11"/>
          <p:cNvSpPr txBox="1"/>
          <p:nvPr/>
        </p:nvSpPr>
        <p:spPr>
          <a:xfrm>
            <a:off x="4150769" y="4445037"/>
            <a:ext cx="3890461" cy="873060"/>
          </a:xfrm>
          <a:prstGeom prst="rect">
            <a:avLst/>
          </a:prstGeom>
          <a:noFill/>
        </p:spPr>
        <p:txBody>
          <a:bodyPr wrap="square" rtlCol="0">
            <a:spAutoFit/>
          </a:bodyPr>
          <a:lstStyle/>
          <a:p>
            <a:pPr algn="ctr">
              <a:lnSpc>
                <a:spcPct val="150000"/>
              </a:lnSpc>
            </a:pPr>
            <a:r>
              <a:rPr lang="zh-CN" altLang="en-US" b="1" dirty="0">
                <a:solidFill>
                  <a:srgbClr val="453D3A"/>
                </a:solidFill>
              </a:rPr>
              <a:t>王旭东 </a:t>
            </a:r>
            <a:r>
              <a:rPr lang="en-US" altLang="zh-CN" b="1" dirty="0">
                <a:solidFill>
                  <a:srgbClr val="453D3A"/>
                </a:solidFill>
              </a:rPr>
              <a:t>PB22051030</a:t>
            </a:r>
          </a:p>
          <a:p>
            <a:pPr algn="ctr">
              <a:lnSpc>
                <a:spcPct val="150000"/>
              </a:lnSpc>
            </a:pPr>
            <a:r>
              <a:rPr lang="zh-CN" altLang="en-US" b="1" dirty="0">
                <a:solidFill>
                  <a:srgbClr val="453D3A"/>
                </a:solidFill>
              </a:rPr>
              <a:t>李   毅 </a:t>
            </a:r>
            <a:r>
              <a:rPr lang="en-US" altLang="zh-CN" b="1" dirty="0">
                <a:solidFill>
                  <a:srgbClr val="453D3A"/>
                </a:solidFill>
              </a:rPr>
              <a:t>PB22051031</a:t>
            </a:r>
            <a:endParaRPr lang="zh-CN" altLang="en-US" b="1" dirty="0">
              <a:solidFill>
                <a:srgbClr val="453D3A"/>
              </a:solidFill>
            </a:endParaRPr>
          </a:p>
        </p:txBody>
      </p:sp>
      <p:sp>
        <p:nvSpPr>
          <p:cNvPr id="15" name="矩形 14"/>
          <p:cNvSpPr/>
          <p:nvPr/>
        </p:nvSpPr>
        <p:spPr>
          <a:xfrm>
            <a:off x="11172674" y="2260140"/>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920674" y="2008140"/>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5"/>
          <p:cNvSpPr>
            <a:spLocks noEditPoints="1"/>
          </p:cNvSpPr>
          <p:nvPr/>
        </p:nvSpPr>
        <p:spPr bwMode="auto">
          <a:xfrm>
            <a:off x="10201276" y="2936668"/>
            <a:ext cx="555624" cy="489478"/>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4" name="图形 13">
            <a:extLst>
              <a:ext uri="{FF2B5EF4-FFF2-40B4-BE49-F238E27FC236}">
                <a16:creationId xmlns:a16="http://schemas.microsoft.com/office/drawing/2014/main" id="{BBC35AD3-E94F-4EFA-B365-70782B8717E4}"/>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80561" b="-400"/>
          <a:stretch/>
        </p:blipFill>
        <p:spPr>
          <a:xfrm>
            <a:off x="470027" y="2260140"/>
            <a:ext cx="2294399" cy="2269220"/>
          </a:xfrm>
          <a:prstGeom prst="rect">
            <a:avLst/>
          </a:prstGeom>
        </p:spPr>
      </p:pic>
    </p:spTree>
    <p:extLst>
      <p:ext uri="{BB962C8B-B14F-4D97-AF65-F5344CB8AC3E}">
        <p14:creationId xmlns:p14="http://schemas.microsoft.com/office/powerpoint/2010/main" val="319451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par>
                                <p:cTn id="11" presetID="22" presetClass="entr" presetSubtype="8" fill="hold" grpId="0" nodeType="withEffect">
                                  <p:stCondLst>
                                    <p:cond delay="120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42" presetClass="entr" presetSubtype="0" fill="hold" grpId="0" nodeType="withEffect">
                                  <p:stCondLst>
                                    <p:cond delay="1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16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16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20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1" grpId="0"/>
      <p:bldP spid="12" grpId="0"/>
      <p:bldP spid="15" grpId="0" animBg="1"/>
      <p:bldP spid="16"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95326" y="2705725"/>
            <a:ext cx="10801350" cy="1446550"/>
          </a:xfrm>
          <a:prstGeom prst="rect">
            <a:avLst/>
          </a:prstGeom>
          <a:noFill/>
        </p:spPr>
        <p:txBody>
          <a:bodyPr wrap="square" rtlCol="0">
            <a:spAutoFit/>
          </a:bodyPr>
          <a:lstStyle/>
          <a:p>
            <a:pPr algn="ctr"/>
            <a:r>
              <a:rPr lang="en-US" altLang="zh-CN" sz="8800" b="1" dirty="0">
                <a:solidFill>
                  <a:schemeClr val="bg1"/>
                </a:solidFill>
              </a:rPr>
              <a:t>PART 1</a:t>
            </a:r>
            <a:endParaRPr lang="zh-CN" altLang="en-US" sz="8800" b="1" dirty="0">
              <a:solidFill>
                <a:schemeClr val="bg1"/>
              </a:solidFill>
            </a:endParaRPr>
          </a:p>
        </p:txBody>
      </p:sp>
      <p:sp>
        <p:nvSpPr>
          <p:cNvPr id="2" name="矩形 1">
            <a:extLst>
              <a:ext uri="{FF2B5EF4-FFF2-40B4-BE49-F238E27FC236}">
                <a16:creationId xmlns:a16="http://schemas.microsoft.com/office/drawing/2014/main" id="{D08DAF5A-ABC0-940D-5A97-A949D4EC8ADC}"/>
              </a:ext>
            </a:extLst>
          </p:cNvPr>
          <p:cNvSpPr/>
          <p:nvPr/>
        </p:nvSpPr>
        <p:spPr>
          <a:xfrm>
            <a:off x="847724" y="701675"/>
            <a:ext cx="10801350" cy="57594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0117C81-094C-F059-D1D5-A2A81CCC40F5}"/>
              </a:ext>
            </a:extLst>
          </p:cNvPr>
          <p:cNvSpPr txBox="1"/>
          <p:nvPr/>
        </p:nvSpPr>
        <p:spPr>
          <a:xfrm>
            <a:off x="847726" y="2858125"/>
            <a:ext cx="10801350" cy="1446550"/>
          </a:xfrm>
          <a:prstGeom prst="rect">
            <a:avLst/>
          </a:prstGeom>
          <a:noFill/>
        </p:spPr>
        <p:txBody>
          <a:bodyPr wrap="square" rtlCol="0">
            <a:spAutoFit/>
          </a:bodyPr>
          <a:lstStyle/>
          <a:p>
            <a:pPr algn="ctr"/>
            <a:r>
              <a:rPr lang="en-US" altLang="zh-CN" sz="8800" b="1" dirty="0">
                <a:solidFill>
                  <a:schemeClr val="bg1"/>
                </a:solidFill>
              </a:rPr>
              <a:t>PART 1</a:t>
            </a:r>
            <a:endParaRPr lang="zh-CN" altLang="en-US" sz="8800" b="1" dirty="0">
              <a:solidFill>
                <a:schemeClr val="bg1"/>
              </a:solidFill>
            </a:endParaRPr>
          </a:p>
        </p:txBody>
      </p:sp>
    </p:spTree>
    <p:extLst>
      <p:ext uri="{BB962C8B-B14F-4D97-AF65-F5344CB8AC3E}">
        <p14:creationId xmlns:p14="http://schemas.microsoft.com/office/powerpoint/2010/main" val="94530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40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6" presetClass="emph" presetSubtype="0" autoRev="1" fill="hold" grpId="1" nodeType="withEffect">
                                  <p:stCondLst>
                                    <p:cond delay="800"/>
                                  </p:stCondLst>
                                  <p:childTnLst>
                                    <p:animScale>
                                      <p:cBhvr>
                                        <p:cTn id="11" dur="250" fill="hold"/>
                                        <p:tgtEl>
                                          <p:spTgt spid="10"/>
                                        </p:tgtEl>
                                      </p:cBhvr>
                                      <p:by x="115000" y="115000"/>
                                    </p:animScale>
                                  </p:childTnLst>
                                </p:cTn>
                              </p:par>
                              <p:par>
                                <p:cTn id="12" presetID="50" presetClass="entr" presetSubtype="0" decel="10000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750" fill="hold"/>
                                        <p:tgtEl>
                                          <p:spTgt spid="2"/>
                                        </p:tgtEl>
                                        <p:attrNameLst>
                                          <p:attrName>ppt_w</p:attrName>
                                        </p:attrNameLst>
                                      </p:cBhvr>
                                      <p:tavLst>
                                        <p:tav tm="0">
                                          <p:val>
                                            <p:strVal val="#ppt_w+.3"/>
                                          </p:val>
                                        </p:tav>
                                        <p:tav tm="100000">
                                          <p:val>
                                            <p:strVal val="#ppt_w"/>
                                          </p:val>
                                        </p:tav>
                                      </p:tavLst>
                                    </p:anim>
                                    <p:anim calcmode="lin" valueType="num">
                                      <p:cBhvr>
                                        <p:cTn id="15" dur="750" fill="hold"/>
                                        <p:tgtEl>
                                          <p:spTgt spid="2"/>
                                        </p:tgtEl>
                                        <p:attrNameLst>
                                          <p:attrName>ppt_h</p:attrName>
                                        </p:attrNameLst>
                                      </p:cBhvr>
                                      <p:tavLst>
                                        <p:tav tm="0">
                                          <p:val>
                                            <p:strVal val="#ppt_h"/>
                                          </p:val>
                                        </p:tav>
                                        <p:tav tm="100000">
                                          <p:val>
                                            <p:strVal val="#ppt_h"/>
                                          </p:val>
                                        </p:tav>
                                      </p:tavLst>
                                    </p:anim>
                                    <p:animEffect transition="in" filter="fade">
                                      <p:cBhvr>
                                        <p:cTn id="16" dur="750"/>
                                        <p:tgtEl>
                                          <p:spTgt spid="2"/>
                                        </p:tgtEl>
                                      </p:cBhvr>
                                    </p:animEffect>
                                  </p:childTnLst>
                                </p:cTn>
                              </p:par>
                              <p:par>
                                <p:cTn id="17" presetID="53" presetClass="entr" presetSubtype="16" fill="hold" grpId="0" nodeType="withEffect">
                                  <p:stCondLst>
                                    <p:cond delay="40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6" presetClass="emph" presetSubtype="0" autoRev="1" fill="hold" grpId="1" nodeType="withEffect">
                                  <p:stCondLst>
                                    <p:cond delay="800"/>
                                  </p:stCondLst>
                                  <p:childTnLst>
                                    <p:animScale>
                                      <p:cBhvr>
                                        <p:cTn id="23" dur="250" fill="hold"/>
                                        <p:tgtEl>
                                          <p:spTgt spid="3"/>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2" grpId="0" animBg="1"/>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9320F0E0-8618-BAE0-D77E-4747D9B304BD}"/>
              </a:ext>
            </a:extLst>
          </p:cNvPr>
          <p:cNvSpPr>
            <a:spLocks noGrp="1"/>
          </p:cNvSpPr>
          <p:nvPr>
            <p:ph sz="quarter" idx="13"/>
          </p:nvPr>
        </p:nvSpPr>
        <p:spPr/>
        <p:txBody>
          <a:bodyPr/>
          <a:lstStyle/>
          <a:p>
            <a:pPr>
              <a:lnSpc>
                <a:spcPct val="100000"/>
              </a:lnSpc>
              <a:buNone/>
            </a:pPr>
            <a:r>
              <a:rPr lang="zh-CN" altLang="en-US" b="1" dirty="0"/>
              <a:t>大语言模型的快速发展</a:t>
            </a:r>
          </a:p>
          <a:p>
            <a:pPr>
              <a:lnSpc>
                <a:spcPct val="100000"/>
              </a:lnSpc>
              <a:buFont typeface="Arial" panose="020B0604020202020204" pitchFamily="34" charset="0"/>
              <a:buChar char="•"/>
            </a:pPr>
            <a:r>
              <a:rPr lang="zh-CN" altLang="en-US" dirty="0"/>
              <a:t>以</a:t>
            </a:r>
            <a:r>
              <a:rPr lang="en-US" altLang="zh-CN" dirty="0"/>
              <a:t>Transformer</a:t>
            </a:r>
            <a:r>
              <a:rPr lang="zh-CN" altLang="en-US" dirty="0"/>
              <a:t>架构为核心的大语言模型展现出惊人的语言理解和生成能力</a:t>
            </a:r>
          </a:p>
          <a:p>
            <a:pPr>
              <a:lnSpc>
                <a:spcPct val="100000"/>
              </a:lnSpc>
              <a:buFont typeface="Arial" panose="020B0604020202020204" pitchFamily="34" charset="0"/>
              <a:buChar char="•"/>
            </a:pPr>
            <a:r>
              <a:rPr lang="zh-CN" altLang="en-US" dirty="0"/>
              <a:t>参数量从百万级跃升至千亿级，遵循扩展法则，在推理、创作、编程等任务上表现出类人智能</a:t>
            </a:r>
            <a:endParaRPr lang="en-US" altLang="zh-CN" dirty="0"/>
          </a:p>
          <a:p>
            <a:pPr>
              <a:lnSpc>
                <a:spcPct val="100000"/>
              </a:lnSpc>
              <a:buFont typeface="Arial" panose="020B0604020202020204" pitchFamily="34" charset="0"/>
              <a:buChar char="•"/>
            </a:pPr>
            <a:endParaRPr lang="zh-CN" altLang="en-US" dirty="0"/>
          </a:p>
          <a:p>
            <a:pPr>
              <a:lnSpc>
                <a:spcPct val="100000"/>
              </a:lnSpc>
              <a:buNone/>
            </a:pPr>
            <a:r>
              <a:rPr lang="zh-CN" altLang="en-US" b="1" dirty="0"/>
              <a:t>当前面临的挑战</a:t>
            </a:r>
          </a:p>
          <a:p>
            <a:pPr>
              <a:lnSpc>
                <a:spcPct val="100000"/>
              </a:lnSpc>
              <a:buFont typeface="Arial" panose="020B0604020202020204" pitchFamily="34" charset="0"/>
              <a:buChar char="•"/>
            </a:pPr>
            <a:r>
              <a:rPr lang="zh-CN" altLang="en-US" b="1" dirty="0"/>
              <a:t>可解释性不足</a:t>
            </a:r>
            <a:r>
              <a:rPr lang="zh-CN" altLang="en-US" dirty="0"/>
              <a:t>：智能涌现的内在机制不明确</a:t>
            </a:r>
          </a:p>
          <a:p>
            <a:pPr>
              <a:lnSpc>
                <a:spcPct val="100000"/>
              </a:lnSpc>
            </a:pPr>
            <a:r>
              <a:rPr lang="zh-CN" altLang="en-US" b="1" dirty="0"/>
              <a:t>评估困难</a:t>
            </a:r>
            <a:r>
              <a:rPr lang="zh-CN" altLang="en-US" dirty="0"/>
              <a:t>：缺乏统一的智能度量标准</a:t>
            </a:r>
          </a:p>
          <a:p>
            <a:pPr>
              <a:lnSpc>
                <a:spcPct val="100000"/>
              </a:lnSpc>
              <a:buFont typeface="Arial" panose="020B0604020202020204" pitchFamily="34" charset="0"/>
              <a:buChar char="•"/>
            </a:pPr>
            <a:r>
              <a:rPr lang="zh-CN" altLang="en-US" b="1" dirty="0"/>
              <a:t>资源消耗巨大</a:t>
            </a:r>
            <a:r>
              <a:rPr lang="zh-CN" altLang="en-US" dirty="0"/>
              <a:t>：对于计算能力和电力的消耗惊人，能力提升受到资源限制</a:t>
            </a:r>
          </a:p>
          <a:p>
            <a:endParaRPr lang="zh-CN" altLang="en-US" dirty="0"/>
          </a:p>
        </p:txBody>
      </p:sp>
      <p:sp>
        <p:nvSpPr>
          <p:cNvPr id="3" name="标题 2">
            <a:extLst>
              <a:ext uri="{FF2B5EF4-FFF2-40B4-BE49-F238E27FC236}">
                <a16:creationId xmlns:a16="http://schemas.microsoft.com/office/drawing/2014/main" id="{265E0441-4A77-4A36-AB44-9DD442DE7ACD}"/>
              </a:ext>
            </a:extLst>
          </p:cNvPr>
          <p:cNvSpPr>
            <a:spLocks noGrp="1"/>
          </p:cNvSpPr>
          <p:nvPr>
            <p:ph type="title"/>
          </p:nvPr>
        </p:nvSpPr>
        <p:spPr/>
        <p:txBody>
          <a:bodyPr/>
          <a:lstStyle/>
          <a:p>
            <a:r>
              <a:rPr lang="zh-CN" altLang="en-US" b="1" dirty="0"/>
              <a:t>研究背景</a:t>
            </a:r>
          </a:p>
        </p:txBody>
      </p:sp>
    </p:spTree>
    <p:extLst>
      <p:ext uri="{BB962C8B-B14F-4D97-AF65-F5344CB8AC3E}">
        <p14:creationId xmlns:p14="http://schemas.microsoft.com/office/powerpoint/2010/main" val="2366353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10665-D8C2-0E9C-5AAC-7124E3CEDA8B}"/>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7E2195CF-2FC1-C0E9-D543-1B4F006F7619}"/>
              </a:ext>
            </a:extLst>
          </p:cNvPr>
          <p:cNvSpPr>
            <a:spLocks noGrp="1"/>
          </p:cNvSpPr>
          <p:nvPr>
            <p:ph sz="quarter" idx="13"/>
          </p:nvPr>
        </p:nvSpPr>
        <p:spPr/>
        <p:txBody>
          <a:bodyPr/>
          <a:lstStyle/>
          <a:p>
            <a:r>
              <a:rPr lang="zh-CN" altLang="en-US" b="1" dirty="0"/>
              <a:t>研究问题：对数据集的信息压缩与模型智能间的联系</a:t>
            </a:r>
            <a:endParaRPr lang="en-US" altLang="zh-CN" b="1" dirty="0"/>
          </a:p>
          <a:p>
            <a:endParaRPr lang="zh-CN" altLang="en-US" dirty="0"/>
          </a:p>
          <a:p>
            <a:r>
              <a:rPr lang="zh-CN" altLang="en-US" b="1" dirty="0"/>
              <a:t>研究动机：</a:t>
            </a:r>
          </a:p>
          <a:p>
            <a:pPr lvl="1"/>
            <a:r>
              <a:rPr lang="zh-CN" altLang="en-US" b="1" dirty="0"/>
              <a:t>理论层面</a:t>
            </a:r>
            <a:r>
              <a:rPr lang="zh-CN" altLang="en-US" dirty="0"/>
              <a:t>：信息论为理解智能提供了数学框架</a:t>
            </a:r>
          </a:p>
          <a:p>
            <a:pPr lvl="1"/>
            <a:r>
              <a:rPr lang="zh-CN" altLang="en-US" b="1" dirty="0"/>
              <a:t>实践层面</a:t>
            </a:r>
            <a:r>
              <a:rPr lang="zh-CN" altLang="en-US" dirty="0"/>
              <a:t>：压缩任务与大模型核心任务（预测、生成）存在内在联系</a:t>
            </a:r>
            <a:endParaRPr lang="en-US" altLang="zh-CN" dirty="0"/>
          </a:p>
          <a:p>
            <a:pPr lvl="1"/>
            <a:endParaRPr lang="zh-CN" altLang="en-US" dirty="0"/>
          </a:p>
          <a:p>
            <a:r>
              <a:rPr lang="zh-CN" altLang="en-US" b="1" dirty="0"/>
              <a:t>核心假设</a:t>
            </a:r>
            <a:r>
              <a:rPr lang="zh-CN" altLang="en-US" dirty="0"/>
              <a:t>：压缩能力与智能水平存在一定的正相关关系</a:t>
            </a:r>
          </a:p>
          <a:p>
            <a:pPr lvl="1"/>
            <a:r>
              <a:rPr lang="zh-CN" altLang="en-US" dirty="0"/>
              <a:t>更好的压缩器能够更准确地捕捉数据的统计规律，因而具有更好的智能</a:t>
            </a:r>
          </a:p>
          <a:p>
            <a:pPr lvl="1"/>
            <a:r>
              <a:rPr lang="zh-CN" altLang="en-US" dirty="0"/>
              <a:t>对训练数据中统计规律的掌握程度直接影响智能任务的表现和泛化能力</a:t>
            </a:r>
          </a:p>
          <a:p>
            <a:endParaRPr lang="zh-CN" altLang="en-US" dirty="0"/>
          </a:p>
        </p:txBody>
      </p:sp>
      <p:sp>
        <p:nvSpPr>
          <p:cNvPr id="3" name="标题 2">
            <a:extLst>
              <a:ext uri="{FF2B5EF4-FFF2-40B4-BE49-F238E27FC236}">
                <a16:creationId xmlns:a16="http://schemas.microsoft.com/office/drawing/2014/main" id="{D57E1C22-4659-10B2-139F-79A6A4D751FB}"/>
              </a:ext>
            </a:extLst>
          </p:cNvPr>
          <p:cNvSpPr>
            <a:spLocks noGrp="1"/>
          </p:cNvSpPr>
          <p:nvPr>
            <p:ph type="title"/>
          </p:nvPr>
        </p:nvSpPr>
        <p:spPr/>
        <p:txBody>
          <a:bodyPr/>
          <a:lstStyle/>
          <a:p>
            <a:r>
              <a:rPr lang="zh-CN" altLang="en-US" b="1" dirty="0"/>
              <a:t>研究动机与问题</a:t>
            </a:r>
          </a:p>
        </p:txBody>
      </p:sp>
    </p:spTree>
    <p:extLst>
      <p:ext uri="{BB962C8B-B14F-4D97-AF65-F5344CB8AC3E}">
        <p14:creationId xmlns:p14="http://schemas.microsoft.com/office/powerpoint/2010/main" val="16612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7935B-D1B1-616F-B612-FB06A5DA1A69}"/>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A21AD24F-4EB6-2536-154E-0B8350B4C771}"/>
              </a:ext>
            </a:extLst>
          </p:cNvPr>
          <p:cNvSpPr>
            <a:spLocks noGrp="1"/>
          </p:cNvSpPr>
          <p:nvPr>
            <p:ph sz="quarter" idx="13"/>
          </p:nvPr>
        </p:nvSpPr>
        <p:spPr/>
        <p:txBody>
          <a:bodyPr/>
          <a:lstStyle/>
          <a:p>
            <a:r>
              <a:rPr lang="zh-CN" altLang="en-US" b="1" dirty="0"/>
              <a:t>香农熵：</a:t>
            </a:r>
            <a:endParaRPr lang="en-US" altLang="zh-CN" b="1" dirty="0"/>
          </a:p>
          <a:p>
            <a:endParaRPr lang="en-US" altLang="zh-CN" b="1" dirty="0"/>
          </a:p>
          <a:p>
            <a:r>
              <a:rPr lang="zh-CN" altLang="en-US" b="1" dirty="0"/>
              <a:t>源编码定理：</a:t>
            </a:r>
            <a:r>
              <a:rPr lang="zh-CN" altLang="en-US" dirty="0"/>
              <a:t>对服从分布 </a:t>
            </a:r>
            <a:r>
              <a:rPr lang="en-US" altLang="zh-CN" dirty="0"/>
              <a:t>p(x) </a:t>
            </a:r>
            <a:r>
              <a:rPr lang="zh-CN" altLang="en-US" dirty="0"/>
              <a:t>的离散信源，无损压缩的期望编码长度下界为信源熵 </a:t>
            </a:r>
            <a:r>
              <a:rPr lang="en-US" altLang="zh-CN" dirty="0"/>
              <a:t>H(X)</a:t>
            </a:r>
            <a:r>
              <a:rPr lang="zh-CN" altLang="en-US" dirty="0"/>
              <a:t>，这一定理确定了压缩的理论极限，任何编码方案无法突破该下界。 </a:t>
            </a:r>
            <a:br>
              <a:rPr lang="zh-CN" altLang="en-US" dirty="0"/>
            </a:br>
            <a:endParaRPr lang="en-US" altLang="zh-CN" dirty="0"/>
          </a:p>
          <a:p>
            <a:pPr marL="0" indent="0">
              <a:buNone/>
            </a:pPr>
            <a:endParaRPr lang="en-US" altLang="zh-CN" dirty="0"/>
          </a:p>
          <a:p>
            <a:r>
              <a:rPr lang="zh-CN" altLang="en-US" b="1" dirty="0"/>
              <a:t>算术编码：</a:t>
            </a:r>
            <a:r>
              <a:rPr lang="en-US" altLang="zh-CN" b="1" dirty="0"/>
              <a:t>	</a:t>
            </a:r>
            <a:r>
              <a:rPr lang="zh-CN" altLang="en-US" dirty="0"/>
              <a:t>无损压缩，需要已知信源符号的概率分布</a:t>
            </a:r>
            <a:endParaRPr lang="en-US" altLang="zh-CN" dirty="0"/>
          </a:p>
          <a:p>
            <a:pPr marL="1371600" lvl="3" indent="0">
              <a:buNone/>
            </a:pPr>
            <a:r>
              <a:rPr lang="en-US" altLang="zh-CN" dirty="0"/>
              <a:t>	</a:t>
            </a:r>
            <a:r>
              <a:rPr lang="zh-CN" altLang="en-US" dirty="0"/>
              <a:t>编码过程：符号序列</a:t>
            </a:r>
            <a:r>
              <a:rPr lang="en-US" altLang="zh-CN" dirty="0"/>
              <a:t>-&gt;</a:t>
            </a:r>
            <a:r>
              <a:rPr lang="zh-CN" altLang="en-US" dirty="0"/>
              <a:t>实数</a:t>
            </a:r>
            <a:r>
              <a:rPr lang="en-US" altLang="zh-CN" dirty="0"/>
              <a:t>-&gt;</a:t>
            </a:r>
            <a:r>
              <a:rPr lang="zh-CN" altLang="en-US" dirty="0"/>
              <a:t>比特流</a:t>
            </a:r>
            <a:endParaRPr lang="en-US" altLang="zh-CN" dirty="0"/>
          </a:p>
          <a:p>
            <a:pPr marL="1371600" lvl="3" indent="0">
              <a:buNone/>
            </a:pPr>
            <a:r>
              <a:rPr lang="en-US" altLang="zh-CN" dirty="0"/>
              <a:t>	</a:t>
            </a:r>
            <a:r>
              <a:rPr lang="zh-CN" altLang="en-US" dirty="0"/>
              <a:t>解码过程：比特流</a:t>
            </a:r>
            <a:r>
              <a:rPr lang="en-US" altLang="zh-CN" dirty="0"/>
              <a:t>-&gt;</a:t>
            </a:r>
            <a:r>
              <a:rPr lang="zh-CN" altLang="en-US" dirty="0"/>
              <a:t>实数</a:t>
            </a:r>
            <a:r>
              <a:rPr lang="en-US" altLang="zh-CN" dirty="0"/>
              <a:t>-&gt;</a:t>
            </a:r>
            <a:r>
              <a:rPr lang="zh-CN" altLang="en-US" dirty="0"/>
              <a:t>符号序列</a:t>
            </a:r>
            <a:br>
              <a:rPr lang="zh-CN" altLang="en-US" dirty="0"/>
            </a:br>
            <a:endParaRPr lang="zh-CN" altLang="en-US" dirty="0"/>
          </a:p>
        </p:txBody>
      </p:sp>
      <p:sp>
        <p:nvSpPr>
          <p:cNvPr id="3" name="标题 2">
            <a:extLst>
              <a:ext uri="{FF2B5EF4-FFF2-40B4-BE49-F238E27FC236}">
                <a16:creationId xmlns:a16="http://schemas.microsoft.com/office/drawing/2014/main" id="{E5AE3B7D-2458-DC44-8585-AEB25EEA4319}"/>
              </a:ext>
            </a:extLst>
          </p:cNvPr>
          <p:cNvSpPr>
            <a:spLocks noGrp="1"/>
          </p:cNvSpPr>
          <p:nvPr>
            <p:ph type="title"/>
          </p:nvPr>
        </p:nvSpPr>
        <p:spPr/>
        <p:txBody>
          <a:bodyPr/>
          <a:lstStyle/>
          <a:p>
            <a:r>
              <a:rPr lang="zh-CN" altLang="en-US" b="1" dirty="0"/>
              <a:t>信息论基础</a:t>
            </a:r>
          </a:p>
        </p:txBody>
      </p:sp>
      <p:pic>
        <p:nvPicPr>
          <p:cNvPr id="5" name="图片 4">
            <a:extLst>
              <a:ext uri="{FF2B5EF4-FFF2-40B4-BE49-F238E27FC236}">
                <a16:creationId xmlns:a16="http://schemas.microsoft.com/office/drawing/2014/main" id="{40A2D83C-FA16-04EA-85CD-DD7D6538CA95}"/>
              </a:ext>
            </a:extLst>
          </p:cNvPr>
          <p:cNvPicPr>
            <a:picLocks noChangeAspect="1"/>
          </p:cNvPicPr>
          <p:nvPr/>
        </p:nvPicPr>
        <p:blipFill>
          <a:blip r:embed="rId2"/>
          <a:stretch>
            <a:fillRect/>
          </a:stretch>
        </p:blipFill>
        <p:spPr>
          <a:xfrm>
            <a:off x="2439284" y="787652"/>
            <a:ext cx="4261320" cy="951929"/>
          </a:xfrm>
          <a:prstGeom prst="rect">
            <a:avLst/>
          </a:prstGeom>
        </p:spPr>
      </p:pic>
      <p:pic>
        <p:nvPicPr>
          <p:cNvPr id="7" name="图片 6">
            <a:extLst>
              <a:ext uri="{FF2B5EF4-FFF2-40B4-BE49-F238E27FC236}">
                <a16:creationId xmlns:a16="http://schemas.microsoft.com/office/drawing/2014/main" id="{F0021255-9BFF-A386-F49B-CB45D8292E51}"/>
              </a:ext>
            </a:extLst>
          </p:cNvPr>
          <p:cNvPicPr>
            <a:picLocks noChangeAspect="1"/>
          </p:cNvPicPr>
          <p:nvPr/>
        </p:nvPicPr>
        <p:blipFill>
          <a:blip r:embed="rId3"/>
          <a:stretch>
            <a:fillRect/>
          </a:stretch>
        </p:blipFill>
        <p:spPr>
          <a:xfrm>
            <a:off x="2439284" y="2763400"/>
            <a:ext cx="5005775" cy="882291"/>
          </a:xfrm>
          <a:prstGeom prst="rect">
            <a:avLst/>
          </a:prstGeom>
        </p:spPr>
      </p:pic>
    </p:spTree>
    <p:extLst>
      <p:ext uri="{BB962C8B-B14F-4D97-AF65-F5344CB8AC3E}">
        <p14:creationId xmlns:p14="http://schemas.microsoft.com/office/powerpoint/2010/main" val="347746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A67B9-BDF5-9E83-38C8-1F53037E8D0C}"/>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354C245B-AAE6-33CD-B83C-58DADBAAF95B}"/>
              </a:ext>
            </a:extLst>
          </p:cNvPr>
          <p:cNvSpPr>
            <a:spLocks noGrp="1"/>
          </p:cNvSpPr>
          <p:nvPr>
            <p:ph sz="quarter" idx="13"/>
          </p:nvPr>
        </p:nvSpPr>
        <p:spPr/>
        <p:txBody>
          <a:bodyPr>
            <a:noAutofit/>
          </a:bodyPr>
          <a:lstStyle/>
          <a:p>
            <a:r>
              <a:rPr lang="zh-CN" altLang="en-US" b="1" dirty="0"/>
              <a:t>交叉熵：</a:t>
            </a:r>
            <a:endParaRPr lang="en-US" altLang="zh-CN" b="1" dirty="0"/>
          </a:p>
          <a:p>
            <a:pPr lvl="1"/>
            <a:r>
              <a:rPr lang="zh-CN" altLang="en-US" dirty="0"/>
              <a:t>用于衡量两个概率分布之间差异的指标。</a:t>
            </a:r>
            <a:endParaRPr lang="en-US" altLang="zh-CN" dirty="0"/>
          </a:p>
          <a:p>
            <a:pPr lvl="1"/>
            <a:r>
              <a:rPr lang="zh-CN" altLang="en-US" dirty="0"/>
              <a:t>含义为用预测分布 </a:t>
            </a:r>
            <a:r>
              <a:rPr lang="en-US" altLang="zh-CN" i="1" dirty="0"/>
              <a:t>q</a:t>
            </a:r>
            <a:r>
              <a:rPr lang="en-US" altLang="zh-CN" dirty="0"/>
              <a:t>(</a:t>
            </a:r>
            <a:r>
              <a:rPr lang="en-US" altLang="zh-CN" i="1" dirty="0"/>
              <a:t>x</a:t>
            </a:r>
            <a:r>
              <a:rPr lang="en-US" altLang="zh-CN" dirty="0"/>
              <a:t>) </a:t>
            </a:r>
            <a:r>
              <a:rPr lang="zh-CN" altLang="en-US" dirty="0"/>
              <a:t>编码真实分布 </a:t>
            </a:r>
            <a:r>
              <a:rPr lang="en-US" altLang="zh-CN" i="1" dirty="0"/>
              <a:t>p</a:t>
            </a:r>
            <a:r>
              <a:rPr lang="en-US" altLang="zh-CN" dirty="0"/>
              <a:t>(</a:t>
            </a:r>
            <a:r>
              <a:rPr lang="en-US" altLang="zh-CN" i="1" dirty="0"/>
              <a:t>x</a:t>
            </a:r>
            <a:r>
              <a:rPr lang="en-US" altLang="zh-CN" dirty="0"/>
              <a:t>) </a:t>
            </a:r>
            <a:r>
              <a:rPr lang="zh-CN" altLang="en-US" dirty="0"/>
              <a:t>时的期望编码长度。 </a:t>
            </a:r>
            <a:endParaRPr lang="en-US" altLang="zh-CN" dirty="0"/>
          </a:p>
          <a:p>
            <a:pPr lvl="1"/>
            <a:r>
              <a:rPr lang="zh-CN" altLang="en-US" dirty="0"/>
              <a:t>交叉熵越小，预测分布越接近真实分布。 </a:t>
            </a:r>
            <a:endParaRPr lang="en-US" altLang="zh-CN" dirty="0"/>
          </a:p>
          <a:p>
            <a:pPr lvl="1"/>
            <a:endParaRPr lang="en-US" altLang="zh-CN" dirty="0"/>
          </a:p>
          <a:p>
            <a:pPr marL="457200" lvl="1" indent="0">
              <a:buNone/>
            </a:pPr>
            <a:endParaRPr lang="en-US" altLang="zh-CN" dirty="0"/>
          </a:p>
          <a:p>
            <a:pPr marL="457200" lvl="1" indent="0">
              <a:buNone/>
            </a:pPr>
            <a:endParaRPr lang="en-US" altLang="zh-CN" dirty="0"/>
          </a:p>
          <a:p>
            <a:r>
              <a:rPr lang="en-US" altLang="zh-CN" b="1" dirty="0"/>
              <a:t>KL</a:t>
            </a:r>
            <a:r>
              <a:rPr lang="zh-CN" altLang="en-US" b="1" dirty="0"/>
              <a:t>散度：</a:t>
            </a:r>
            <a:endParaRPr lang="en-US" altLang="zh-CN" b="1" dirty="0"/>
          </a:p>
          <a:p>
            <a:endParaRPr lang="en-US" altLang="zh-CN" b="1" dirty="0"/>
          </a:p>
          <a:p>
            <a:r>
              <a:rPr lang="en-US" altLang="zh-CN" b="1" dirty="0"/>
              <a:t>KL</a:t>
            </a:r>
            <a:r>
              <a:rPr lang="zh-CN" altLang="en-US" b="1" dirty="0"/>
              <a:t>散度与交叉熵的关系：</a:t>
            </a:r>
            <a:endParaRPr lang="en-US" altLang="zh-CN" b="1" dirty="0"/>
          </a:p>
          <a:p>
            <a:endParaRPr lang="en-US" altLang="zh-CN" dirty="0">
              <a:solidFill>
                <a:srgbClr val="000000"/>
              </a:solidFill>
              <a:latin typeface="FandolSong-Regular-Identity-H"/>
            </a:endParaRPr>
          </a:p>
          <a:p>
            <a:pPr lvl="1"/>
            <a:r>
              <a:rPr lang="zh-CN" altLang="en-US" dirty="0">
                <a:solidFill>
                  <a:srgbClr val="000000"/>
                </a:solidFill>
                <a:latin typeface="FandolSong-Regular-Identity-H"/>
              </a:rPr>
              <a:t>当 </a:t>
            </a:r>
            <a:r>
              <a:rPr lang="en-US" altLang="zh-CN" dirty="0">
                <a:solidFill>
                  <a:srgbClr val="000000"/>
                </a:solidFill>
                <a:latin typeface="NimbusRomNo9L-Regu"/>
              </a:rPr>
              <a:t>p </a:t>
            </a:r>
            <a:r>
              <a:rPr lang="zh-CN" altLang="en-US" dirty="0">
                <a:solidFill>
                  <a:srgbClr val="000000"/>
                </a:solidFill>
                <a:latin typeface="FandolSong-Regular-Identity-H"/>
              </a:rPr>
              <a:t>固定时，最小化交叉熵等价于最小化 </a:t>
            </a:r>
            <a:r>
              <a:rPr lang="en-US" altLang="zh-CN" dirty="0">
                <a:solidFill>
                  <a:srgbClr val="000000"/>
                </a:solidFill>
                <a:latin typeface="NimbusRomNo9L-Regu"/>
              </a:rPr>
              <a:t>KL </a:t>
            </a:r>
            <a:r>
              <a:rPr lang="zh-CN" altLang="en-US" dirty="0">
                <a:solidFill>
                  <a:srgbClr val="000000"/>
                </a:solidFill>
                <a:latin typeface="FandolSong-Regular-Identity-H"/>
              </a:rPr>
              <a:t>散度。</a:t>
            </a:r>
            <a:endParaRPr lang="zh-CN" altLang="en-US" dirty="0"/>
          </a:p>
          <a:p>
            <a:endParaRPr lang="en-US" altLang="zh-CN" b="1" dirty="0"/>
          </a:p>
          <a:p>
            <a:pPr marL="457200" lvl="1" indent="0">
              <a:buNone/>
            </a:pPr>
            <a:br>
              <a:rPr lang="zh-CN" altLang="en-US" dirty="0"/>
            </a:br>
            <a:endParaRPr lang="en-US" altLang="zh-CN" b="1" dirty="0"/>
          </a:p>
          <a:p>
            <a:endParaRPr lang="en-US" altLang="zh-CN" b="1" dirty="0"/>
          </a:p>
          <a:p>
            <a:endParaRPr lang="zh-CN" altLang="en-US" b="1" dirty="0"/>
          </a:p>
        </p:txBody>
      </p:sp>
      <p:sp>
        <p:nvSpPr>
          <p:cNvPr id="3" name="标题 2">
            <a:extLst>
              <a:ext uri="{FF2B5EF4-FFF2-40B4-BE49-F238E27FC236}">
                <a16:creationId xmlns:a16="http://schemas.microsoft.com/office/drawing/2014/main" id="{54A56CC3-2E26-C931-ED95-F66F93DA5BA9}"/>
              </a:ext>
            </a:extLst>
          </p:cNvPr>
          <p:cNvSpPr>
            <a:spLocks noGrp="1"/>
          </p:cNvSpPr>
          <p:nvPr>
            <p:ph type="title"/>
          </p:nvPr>
        </p:nvSpPr>
        <p:spPr/>
        <p:txBody>
          <a:bodyPr/>
          <a:lstStyle/>
          <a:p>
            <a:r>
              <a:rPr lang="zh-CN" altLang="en-US" b="1" dirty="0"/>
              <a:t>信息论基础</a:t>
            </a:r>
          </a:p>
        </p:txBody>
      </p:sp>
      <p:pic>
        <p:nvPicPr>
          <p:cNvPr id="6" name="图片 5">
            <a:extLst>
              <a:ext uri="{FF2B5EF4-FFF2-40B4-BE49-F238E27FC236}">
                <a16:creationId xmlns:a16="http://schemas.microsoft.com/office/drawing/2014/main" id="{8FB04CF3-B714-0F3F-6253-F13EC9438BEB}"/>
              </a:ext>
            </a:extLst>
          </p:cNvPr>
          <p:cNvPicPr>
            <a:picLocks noChangeAspect="1"/>
          </p:cNvPicPr>
          <p:nvPr/>
        </p:nvPicPr>
        <p:blipFill>
          <a:blip r:embed="rId2"/>
          <a:stretch>
            <a:fillRect/>
          </a:stretch>
        </p:blipFill>
        <p:spPr>
          <a:xfrm>
            <a:off x="3384364" y="2606640"/>
            <a:ext cx="4650364" cy="992540"/>
          </a:xfrm>
          <a:prstGeom prst="rect">
            <a:avLst/>
          </a:prstGeom>
        </p:spPr>
      </p:pic>
      <p:pic>
        <p:nvPicPr>
          <p:cNvPr id="9" name="图片 8">
            <a:extLst>
              <a:ext uri="{FF2B5EF4-FFF2-40B4-BE49-F238E27FC236}">
                <a16:creationId xmlns:a16="http://schemas.microsoft.com/office/drawing/2014/main" id="{B9FCAAD3-97EF-F839-A3A3-70D1E4A6F3AC}"/>
              </a:ext>
            </a:extLst>
          </p:cNvPr>
          <p:cNvPicPr>
            <a:picLocks noChangeAspect="1"/>
          </p:cNvPicPr>
          <p:nvPr/>
        </p:nvPicPr>
        <p:blipFill>
          <a:blip r:embed="rId3"/>
          <a:stretch>
            <a:fillRect/>
          </a:stretch>
        </p:blipFill>
        <p:spPr>
          <a:xfrm>
            <a:off x="2831180" y="3522419"/>
            <a:ext cx="5756733" cy="992540"/>
          </a:xfrm>
          <a:prstGeom prst="rect">
            <a:avLst/>
          </a:prstGeom>
        </p:spPr>
      </p:pic>
      <p:pic>
        <p:nvPicPr>
          <p:cNvPr id="11" name="图片 10">
            <a:extLst>
              <a:ext uri="{FF2B5EF4-FFF2-40B4-BE49-F238E27FC236}">
                <a16:creationId xmlns:a16="http://schemas.microsoft.com/office/drawing/2014/main" id="{6AA18DEB-62F0-867E-E36C-1879C6BCD6E1}"/>
              </a:ext>
            </a:extLst>
          </p:cNvPr>
          <p:cNvPicPr>
            <a:picLocks noChangeAspect="1"/>
          </p:cNvPicPr>
          <p:nvPr/>
        </p:nvPicPr>
        <p:blipFill>
          <a:blip r:embed="rId4"/>
          <a:stretch>
            <a:fillRect/>
          </a:stretch>
        </p:blipFill>
        <p:spPr>
          <a:xfrm>
            <a:off x="4931417" y="4595859"/>
            <a:ext cx="5203549" cy="697852"/>
          </a:xfrm>
          <a:prstGeom prst="rect">
            <a:avLst/>
          </a:prstGeom>
        </p:spPr>
      </p:pic>
    </p:spTree>
    <p:extLst>
      <p:ext uri="{BB962C8B-B14F-4D97-AF65-F5344CB8AC3E}">
        <p14:creationId xmlns:p14="http://schemas.microsoft.com/office/powerpoint/2010/main" val="2302288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B2FCF-3D6C-4AC3-24D5-7682109B6B1E}"/>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E69555B5-2E85-B959-5A36-3035965C3684}"/>
              </a:ext>
            </a:extLst>
          </p:cNvPr>
          <p:cNvSpPr>
            <a:spLocks noGrp="1"/>
          </p:cNvSpPr>
          <p:nvPr>
            <p:ph sz="quarter" idx="13"/>
          </p:nvPr>
        </p:nvSpPr>
        <p:spPr/>
        <p:txBody>
          <a:bodyPr>
            <a:noAutofit/>
          </a:bodyPr>
          <a:lstStyle/>
          <a:p>
            <a:r>
              <a:rPr lang="en-US" altLang="zh-CN" b="1" dirty="0"/>
              <a:t>Kolmogorov </a:t>
            </a:r>
            <a:r>
              <a:rPr lang="zh-CN" altLang="en-US" b="1" dirty="0"/>
              <a:t>复杂度：</a:t>
            </a:r>
            <a:endParaRPr lang="en-US" altLang="zh-CN" b="1" dirty="0"/>
          </a:p>
          <a:p>
            <a:pPr lvl="1"/>
            <a:r>
              <a:rPr lang="zh-CN" altLang="en-US" dirty="0"/>
              <a:t>给定字符串 </a:t>
            </a:r>
            <a:r>
              <a:rPr lang="en-US" altLang="zh-CN" i="1" dirty="0"/>
              <a:t>x </a:t>
            </a:r>
            <a:r>
              <a:rPr lang="zh-CN" altLang="en-US" dirty="0"/>
              <a:t>的 </a:t>
            </a:r>
            <a:r>
              <a:rPr lang="en-US" altLang="zh-CN" dirty="0"/>
              <a:t>Kolmogorov </a:t>
            </a:r>
            <a:r>
              <a:rPr lang="zh-CN" altLang="en-US" dirty="0"/>
              <a:t>复杂度 </a:t>
            </a:r>
            <a:r>
              <a:rPr lang="en-US" altLang="zh-CN" i="1" dirty="0"/>
              <a:t>K</a:t>
            </a:r>
            <a:r>
              <a:rPr lang="en-US" altLang="zh-CN" dirty="0"/>
              <a:t>(</a:t>
            </a:r>
            <a:r>
              <a:rPr lang="en-US" altLang="zh-CN" i="1" dirty="0"/>
              <a:t>x</a:t>
            </a:r>
            <a:r>
              <a:rPr lang="en-US" altLang="zh-CN" dirty="0"/>
              <a:t>) </a:t>
            </a:r>
            <a:r>
              <a:rPr lang="zh-CN" altLang="en-US" dirty="0"/>
              <a:t>定义为生成 </a:t>
            </a:r>
            <a:r>
              <a:rPr lang="en-US" altLang="zh-CN" i="1" dirty="0"/>
              <a:t>x </a:t>
            </a:r>
            <a:r>
              <a:rPr lang="zh-CN" altLang="en-US" dirty="0"/>
              <a:t>的最短程序长度 </a:t>
            </a:r>
            <a:endParaRPr lang="en-US" altLang="zh-CN" dirty="0"/>
          </a:p>
          <a:p>
            <a:pPr lvl="1"/>
            <a:endParaRPr lang="en-US" altLang="zh-CN" b="1" dirty="0"/>
          </a:p>
          <a:p>
            <a:pPr lvl="1"/>
            <a:endParaRPr lang="en-US" altLang="zh-CN" b="1" dirty="0"/>
          </a:p>
          <a:p>
            <a:pPr lvl="1"/>
            <a:r>
              <a:rPr lang="zh-CN" altLang="en-US" b="1" dirty="0"/>
              <a:t>性质：</a:t>
            </a:r>
            <a:endParaRPr lang="en-US" altLang="zh-CN" b="1" dirty="0"/>
          </a:p>
          <a:p>
            <a:pPr lvl="2"/>
            <a:r>
              <a:rPr lang="en-US" altLang="zh-CN" i="1" dirty="0"/>
              <a:t>K</a:t>
            </a:r>
            <a:r>
              <a:rPr lang="en-US" altLang="zh-CN" dirty="0"/>
              <a:t>(</a:t>
            </a:r>
            <a:r>
              <a:rPr lang="en-US" altLang="zh-CN" i="1" dirty="0"/>
              <a:t>x</a:t>
            </a:r>
            <a:r>
              <a:rPr lang="en-US" altLang="zh-CN" dirty="0"/>
              <a:t>) </a:t>
            </a:r>
            <a:r>
              <a:rPr lang="zh-CN" altLang="en-US" dirty="0"/>
              <a:t>是图灵不可计算的，但可被部分逼近。</a:t>
            </a:r>
            <a:endParaRPr lang="en-US" altLang="zh-CN" dirty="0"/>
          </a:p>
          <a:p>
            <a:pPr lvl="2"/>
            <a:r>
              <a:rPr lang="zh-CN" altLang="en-US" dirty="0"/>
              <a:t>当 </a:t>
            </a:r>
            <a:r>
              <a:rPr lang="en-US" altLang="zh-CN" i="1" dirty="0"/>
              <a:t>x </a:t>
            </a:r>
            <a:r>
              <a:rPr lang="zh-CN" altLang="en-US" dirty="0"/>
              <a:t>来自平稳遍历信源时</a:t>
            </a:r>
            <a:r>
              <a:rPr lang="en-US" altLang="zh-CN" dirty="0"/>
              <a:t>, </a:t>
            </a:r>
            <a:r>
              <a:rPr lang="zh-CN" altLang="en-US" dirty="0"/>
              <a:t>有</a:t>
            </a:r>
            <a:endParaRPr lang="en-US" altLang="zh-CN" dirty="0"/>
          </a:p>
          <a:p>
            <a:pPr lvl="2"/>
            <a:endParaRPr lang="en-US" altLang="zh-CN" dirty="0"/>
          </a:p>
          <a:p>
            <a:pPr lvl="2"/>
            <a:endParaRPr lang="en-US" altLang="zh-CN" dirty="0"/>
          </a:p>
          <a:p>
            <a:pPr lvl="2"/>
            <a:endParaRPr lang="en-US" altLang="zh-CN" dirty="0"/>
          </a:p>
          <a:p>
            <a:pPr lvl="2"/>
            <a:r>
              <a:rPr lang="zh-CN" altLang="en-US" dirty="0"/>
              <a:t>链式法则： </a:t>
            </a:r>
            <a:br>
              <a:rPr lang="zh-CN" altLang="en-US" dirty="0"/>
            </a:br>
            <a:br>
              <a:rPr lang="zh-CN" altLang="en-US" dirty="0"/>
            </a:br>
            <a:br>
              <a:rPr lang="zh-CN" altLang="en-US" dirty="0"/>
            </a:br>
            <a:endParaRPr lang="zh-CN" altLang="en-US" b="1" dirty="0"/>
          </a:p>
        </p:txBody>
      </p:sp>
      <p:sp>
        <p:nvSpPr>
          <p:cNvPr id="3" name="标题 2">
            <a:extLst>
              <a:ext uri="{FF2B5EF4-FFF2-40B4-BE49-F238E27FC236}">
                <a16:creationId xmlns:a16="http://schemas.microsoft.com/office/drawing/2014/main" id="{49F024A5-0FE5-313F-ED6A-8E638149F00C}"/>
              </a:ext>
            </a:extLst>
          </p:cNvPr>
          <p:cNvSpPr>
            <a:spLocks noGrp="1"/>
          </p:cNvSpPr>
          <p:nvPr>
            <p:ph type="title"/>
          </p:nvPr>
        </p:nvSpPr>
        <p:spPr/>
        <p:txBody>
          <a:bodyPr/>
          <a:lstStyle/>
          <a:p>
            <a:r>
              <a:rPr lang="zh-CN" altLang="en-US" b="1" dirty="0"/>
              <a:t>信息论基础</a:t>
            </a:r>
          </a:p>
        </p:txBody>
      </p:sp>
      <p:pic>
        <p:nvPicPr>
          <p:cNvPr id="5" name="图片 4">
            <a:extLst>
              <a:ext uri="{FF2B5EF4-FFF2-40B4-BE49-F238E27FC236}">
                <a16:creationId xmlns:a16="http://schemas.microsoft.com/office/drawing/2014/main" id="{12B87075-5FB5-31E9-AC66-00DA6D56E715}"/>
              </a:ext>
            </a:extLst>
          </p:cNvPr>
          <p:cNvPicPr>
            <a:picLocks noChangeAspect="1"/>
          </p:cNvPicPr>
          <p:nvPr/>
        </p:nvPicPr>
        <p:blipFill>
          <a:blip r:embed="rId2"/>
          <a:stretch>
            <a:fillRect/>
          </a:stretch>
        </p:blipFill>
        <p:spPr>
          <a:xfrm>
            <a:off x="4085942" y="1857559"/>
            <a:ext cx="4020111" cy="714475"/>
          </a:xfrm>
          <a:prstGeom prst="rect">
            <a:avLst/>
          </a:prstGeom>
        </p:spPr>
      </p:pic>
      <p:pic>
        <p:nvPicPr>
          <p:cNvPr id="8" name="图片 7">
            <a:extLst>
              <a:ext uri="{FF2B5EF4-FFF2-40B4-BE49-F238E27FC236}">
                <a16:creationId xmlns:a16="http://schemas.microsoft.com/office/drawing/2014/main" id="{78BAC85D-5D9E-73AC-C6B2-AD45872444F4}"/>
              </a:ext>
            </a:extLst>
          </p:cNvPr>
          <p:cNvPicPr>
            <a:picLocks noChangeAspect="1"/>
          </p:cNvPicPr>
          <p:nvPr/>
        </p:nvPicPr>
        <p:blipFill>
          <a:blip r:embed="rId3"/>
          <a:stretch>
            <a:fillRect/>
          </a:stretch>
        </p:blipFill>
        <p:spPr>
          <a:xfrm>
            <a:off x="3290493" y="4285967"/>
            <a:ext cx="5611008" cy="933580"/>
          </a:xfrm>
          <a:prstGeom prst="rect">
            <a:avLst/>
          </a:prstGeom>
        </p:spPr>
      </p:pic>
      <p:pic>
        <p:nvPicPr>
          <p:cNvPr id="12" name="图片 11">
            <a:extLst>
              <a:ext uri="{FF2B5EF4-FFF2-40B4-BE49-F238E27FC236}">
                <a16:creationId xmlns:a16="http://schemas.microsoft.com/office/drawing/2014/main" id="{7C74B8D8-8DFE-4488-918A-B88B5EE26EE6}"/>
              </a:ext>
            </a:extLst>
          </p:cNvPr>
          <p:cNvPicPr>
            <a:picLocks noChangeAspect="1"/>
          </p:cNvPicPr>
          <p:nvPr/>
        </p:nvPicPr>
        <p:blipFill>
          <a:blip r:embed="rId4"/>
          <a:stretch>
            <a:fillRect/>
          </a:stretch>
        </p:blipFill>
        <p:spPr>
          <a:xfrm>
            <a:off x="2380728" y="5738595"/>
            <a:ext cx="7430537" cy="666843"/>
          </a:xfrm>
          <a:prstGeom prst="rect">
            <a:avLst/>
          </a:prstGeom>
        </p:spPr>
      </p:pic>
    </p:spTree>
    <p:extLst>
      <p:ext uri="{BB962C8B-B14F-4D97-AF65-F5344CB8AC3E}">
        <p14:creationId xmlns:p14="http://schemas.microsoft.com/office/powerpoint/2010/main" val="150976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76DF7-FA61-1919-BB2E-6FFB6656B7A9}"/>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74062D78-B214-BD6E-BEB9-9C9825C87062}"/>
              </a:ext>
            </a:extLst>
          </p:cNvPr>
          <p:cNvSpPr>
            <a:spLocks noGrp="1"/>
          </p:cNvSpPr>
          <p:nvPr>
            <p:ph sz="quarter" idx="13"/>
          </p:nvPr>
        </p:nvSpPr>
        <p:spPr/>
        <p:txBody>
          <a:bodyPr>
            <a:noAutofit/>
          </a:bodyPr>
          <a:lstStyle/>
          <a:p>
            <a:r>
              <a:rPr lang="zh-CN" altLang="en-US" b="1" dirty="0"/>
              <a:t>最小描述长度定理：</a:t>
            </a:r>
            <a:endParaRPr lang="en-US" altLang="zh-CN" b="1" dirty="0"/>
          </a:p>
          <a:p>
            <a:pPr lvl="1"/>
            <a:r>
              <a:rPr lang="zh-CN" altLang="en-US" dirty="0"/>
              <a:t>需要保存的数据长度</a:t>
            </a:r>
            <a:r>
              <a:rPr lang="en-US" altLang="zh-CN" dirty="0"/>
              <a:t>=</a:t>
            </a:r>
            <a:r>
              <a:rPr lang="zh-CN" altLang="en-US" dirty="0"/>
              <a:t>保存模型所需长度</a:t>
            </a:r>
            <a:r>
              <a:rPr lang="en-US" altLang="zh-CN" dirty="0"/>
              <a:t>+</a:t>
            </a:r>
            <a:r>
              <a:rPr lang="zh-CN" altLang="en-US" dirty="0"/>
              <a:t>数据编码后的长度</a:t>
            </a:r>
            <a:endParaRPr lang="en-US" altLang="zh-CN" dirty="0"/>
          </a:p>
          <a:p>
            <a:pPr lvl="1"/>
            <a:r>
              <a:rPr lang="zh-CN" altLang="en-US" dirty="0"/>
              <a:t>给定数据集 </a:t>
            </a:r>
            <a:r>
              <a:rPr lang="en-US" altLang="zh-CN" i="1" dirty="0"/>
              <a:t>D</a:t>
            </a:r>
            <a:r>
              <a:rPr lang="zh-CN" altLang="en-US" dirty="0"/>
              <a:t>，最优模型 </a:t>
            </a:r>
            <a:r>
              <a:rPr lang="en-US" altLang="zh-CN" i="1" dirty="0"/>
              <a:t>f</a:t>
            </a:r>
            <a:r>
              <a:rPr lang="zh-CN" altLang="en-US" i="1" dirty="0"/>
              <a:t>∗ </a:t>
            </a:r>
            <a:r>
              <a:rPr lang="zh-CN" altLang="en-US" dirty="0"/>
              <a:t>满足： </a:t>
            </a:r>
            <a:endParaRPr lang="en-US" altLang="zh-CN" dirty="0"/>
          </a:p>
          <a:p>
            <a:pPr lvl="1"/>
            <a:endParaRPr lang="en-US" altLang="zh-CN" dirty="0"/>
          </a:p>
          <a:p>
            <a:pPr lvl="1"/>
            <a:endParaRPr lang="en-US" altLang="zh-CN" dirty="0"/>
          </a:p>
          <a:p>
            <a:pPr lvl="1"/>
            <a:endParaRPr lang="en-US" altLang="zh-CN" dirty="0"/>
          </a:p>
          <a:p>
            <a:pPr lvl="1"/>
            <a:r>
              <a:rPr lang="zh-CN" altLang="en-US" dirty="0"/>
              <a:t>可以被视为 </a:t>
            </a:r>
            <a:r>
              <a:rPr lang="en-US" altLang="zh-CN" dirty="0"/>
              <a:t>Kolmogorov</a:t>
            </a:r>
            <a:r>
              <a:rPr lang="zh-CN" altLang="en-US" dirty="0"/>
              <a:t>复杂度在统计与机器学习领域的一个近似实现。</a:t>
            </a:r>
            <a:endParaRPr lang="en-US" altLang="zh-CN" dirty="0"/>
          </a:p>
          <a:p>
            <a:pPr lvl="1"/>
            <a:r>
              <a:rPr lang="en-US" altLang="zh-CN" dirty="0"/>
              <a:t>MDL </a:t>
            </a:r>
            <a:r>
              <a:rPr lang="zh-CN" altLang="en-US" dirty="0"/>
              <a:t>的两种实现形式： </a:t>
            </a:r>
            <a:br>
              <a:rPr lang="zh-CN" altLang="en-US" dirty="0"/>
            </a:br>
            <a:br>
              <a:rPr lang="zh-CN" altLang="en-US" dirty="0"/>
            </a:br>
            <a:br>
              <a:rPr lang="zh-CN" altLang="en-US" dirty="0"/>
            </a:br>
            <a:br>
              <a:rPr lang="zh-CN" altLang="en-US" dirty="0"/>
            </a:br>
            <a:endParaRPr lang="zh-CN" altLang="en-US" b="1" dirty="0"/>
          </a:p>
        </p:txBody>
      </p:sp>
      <p:sp>
        <p:nvSpPr>
          <p:cNvPr id="3" name="标题 2">
            <a:extLst>
              <a:ext uri="{FF2B5EF4-FFF2-40B4-BE49-F238E27FC236}">
                <a16:creationId xmlns:a16="http://schemas.microsoft.com/office/drawing/2014/main" id="{E8D36D3E-C3BA-E48F-CA2C-1E66BF785FCC}"/>
              </a:ext>
            </a:extLst>
          </p:cNvPr>
          <p:cNvSpPr>
            <a:spLocks noGrp="1"/>
          </p:cNvSpPr>
          <p:nvPr>
            <p:ph type="title"/>
          </p:nvPr>
        </p:nvSpPr>
        <p:spPr/>
        <p:txBody>
          <a:bodyPr/>
          <a:lstStyle/>
          <a:p>
            <a:r>
              <a:rPr lang="zh-CN" altLang="en-US" b="1" dirty="0"/>
              <a:t>信息论基础</a:t>
            </a:r>
          </a:p>
        </p:txBody>
      </p:sp>
      <p:pic>
        <p:nvPicPr>
          <p:cNvPr id="6" name="图片 5">
            <a:extLst>
              <a:ext uri="{FF2B5EF4-FFF2-40B4-BE49-F238E27FC236}">
                <a16:creationId xmlns:a16="http://schemas.microsoft.com/office/drawing/2014/main" id="{C17C2FFD-6FC7-DA9C-0BD3-763B45463E74}"/>
              </a:ext>
            </a:extLst>
          </p:cNvPr>
          <p:cNvPicPr>
            <a:picLocks noChangeAspect="1"/>
          </p:cNvPicPr>
          <p:nvPr/>
        </p:nvPicPr>
        <p:blipFill>
          <a:blip r:embed="rId2"/>
          <a:stretch>
            <a:fillRect/>
          </a:stretch>
        </p:blipFill>
        <p:spPr>
          <a:xfrm>
            <a:off x="4027321" y="2152599"/>
            <a:ext cx="4137357" cy="919413"/>
          </a:xfrm>
          <a:prstGeom prst="rect">
            <a:avLst/>
          </a:prstGeom>
        </p:spPr>
      </p:pic>
      <p:pic>
        <p:nvPicPr>
          <p:cNvPr id="11" name="图片 10">
            <a:extLst>
              <a:ext uri="{FF2B5EF4-FFF2-40B4-BE49-F238E27FC236}">
                <a16:creationId xmlns:a16="http://schemas.microsoft.com/office/drawing/2014/main" id="{339F96E9-198D-AE8B-1E5B-219649925C16}"/>
              </a:ext>
            </a:extLst>
          </p:cNvPr>
          <p:cNvPicPr>
            <a:picLocks noChangeAspect="1"/>
          </p:cNvPicPr>
          <p:nvPr/>
        </p:nvPicPr>
        <p:blipFill>
          <a:blip r:embed="rId3"/>
          <a:stretch>
            <a:fillRect/>
          </a:stretch>
        </p:blipFill>
        <p:spPr>
          <a:xfrm>
            <a:off x="1906684" y="4269888"/>
            <a:ext cx="8378632" cy="1973750"/>
          </a:xfrm>
          <a:prstGeom prst="rect">
            <a:avLst/>
          </a:prstGeom>
        </p:spPr>
      </p:pic>
    </p:spTree>
    <p:extLst>
      <p:ext uri="{BB962C8B-B14F-4D97-AF65-F5344CB8AC3E}">
        <p14:creationId xmlns:p14="http://schemas.microsoft.com/office/powerpoint/2010/main" val="3564914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6AFD-FA8B-D4A1-0784-3F67CE0CD8D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36100B3C-B6AE-3194-D763-52CA0EDC36AD}"/>
                  </a:ext>
                </a:extLst>
              </p:cNvPr>
              <p:cNvSpPr>
                <a:spLocks noGrp="1"/>
              </p:cNvSpPr>
              <p:nvPr>
                <p:ph sz="quarter" idx="13"/>
              </p:nvPr>
            </p:nvSpPr>
            <p:spPr/>
            <p:txBody>
              <a:bodyPr>
                <a:noAutofit/>
              </a:bodyPr>
              <a:lstStyle/>
              <a:p>
                <a:r>
                  <a:rPr lang="zh-CN" altLang="en-US" dirty="0"/>
                  <a:t>假定 </a:t>
                </a:r>
                <a:r>
                  <a:rPr lang="en-US" altLang="zh-CN" dirty="0"/>
                  <a:t>Alice </a:t>
                </a:r>
                <a:r>
                  <a:rPr lang="zh-CN" altLang="en-US" dirty="0"/>
                  <a:t>有一个包含 </a:t>
                </a:r>
                <a:r>
                  <a:rPr lang="en-US" altLang="zh-CN" i="1" dirty="0"/>
                  <a:t>n </a:t>
                </a:r>
                <a:r>
                  <a:rPr lang="zh-CN" altLang="en-US" dirty="0"/>
                  <a:t>个词元的巨大的文本数据集需要发给 </a:t>
                </a:r>
                <a:r>
                  <a:rPr lang="en-US" altLang="zh-CN" dirty="0"/>
                  <a:t>Bob</a:t>
                </a:r>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𝐷</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 </m:t>
                      </m:r>
                      <m:d>
                        <m:dPr>
                          <m:begChr m:val="{"/>
                          <m:endChr m:val="}"/>
                          <m:ctrlPr>
                            <a:rPr lang="en-US" altLang="zh-CN"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 . . , </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𝑛</m:t>
                              </m:r>
                            </m:sub>
                          </m:sSub>
                        </m:e>
                      </m:d>
                      <m:r>
                        <a:rPr lang="en-US" altLang="zh-CN" i="1" dirty="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1, 2, . . . , </m:t>
                      </m:r>
                      <m:r>
                        <a:rPr lang="en-US" altLang="zh-CN" i="1" dirty="0">
                          <a:latin typeface="Cambria Math" panose="02040503050406030204" pitchFamily="18" charset="0"/>
                        </a:rPr>
                        <m:t>𝑚</m:t>
                      </m:r>
                      <m:r>
                        <a:rPr lang="en-US" altLang="zh-CN" i="1" dirty="0">
                          <a:latin typeface="Cambria Math" panose="02040503050406030204" pitchFamily="18" charset="0"/>
                        </a:rPr>
                        <m:t> </m:t>
                      </m:r>
                    </m:oMath>
                  </m:oMathPara>
                </a14:m>
                <a:endParaRPr lang="en-US" altLang="zh-CN" dirty="0"/>
              </a:p>
              <a:p>
                <a:r>
                  <a:rPr lang="zh-CN" altLang="en-US" dirty="0"/>
                  <a:t>两人都有算力无限制的计算机，但两人之间的信道传输带宽极小</a:t>
                </a:r>
                <a:endParaRPr lang="en-US" altLang="zh-CN" dirty="0"/>
              </a:p>
              <a:p>
                <a:r>
                  <a:rPr lang="en-US" altLang="zh-CN" dirty="0"/>
                  <a:t>Alice </a:t>
                </a:r>
                <a:r>
                  <a:rPr lang="zh-CN" altLang="en-US" dirty="0"/>
                  <a:t>希望在保证信息无损的前提下，最小化传输的数据量 </a:t>
                </a:r>
                <a:r>
                  <a:rPr lang="en-US" altLang="zh-CN" dirty="0"/>
                  <a:t>S</a:t>
                </a:r>
                <a:r>
                  <a:rPr lang="zh-CN" altLang="en-US" dirty="0"/>
                  <a:t>。</a:t>
                </a:r>
                <a:endParaRPr lang="en-US" altLang="zh-CN" dirty="0"/>
              </a:p>
              <a:p>
                <a:r>
                  <a:rPr lang="zh-CN" altLang="en-US" dirty="0"/>
                  <a:t>假设现在已经传输了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𝑡</m:t>
                        </m:r>
                      </m:sub>
                    </m:sSub>
                  </m:oMath>
                </a14:m>
                <a:r>
                  <a:rPr lang="zh-CN" altLang="en-US" dirty="0"/>
                  <a:t>，即将传输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zh-CN" altLang="en-US" dirty="0"/>
                  <a:t>， </a:t>
                </a:r>
                <a:r>
                  <a:rPr lang="en-US" altLang="zh-CN" dirty="0"/>
                  <a:t>Alice </a:t>
                </a:r>
                <a:r>
                  <a:rPr lang="zh-CN" altLang="en-US" dirty="0"/>
                  <a:t>将其编码为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a14:m>
                <a:r>
                  <a:rPr lang="zh-CN" altLang="en-US" dirty="0"/>
                  <a:t> 后传给 </a:t>
                </a:r>
                <a:r>
                  <a:rPr lang="en-US" altLang="zh-CN" dirty="0"/>
                  <a:t>Bob</a:t>
                </a:r>
                <a:r>
                  <a:rPr lang="zh-CN" altLang="en-US" dirty="0"/>
                  <a:t>。 </a:t>
                </a:r>
                <a:endParaRPr lang="en-US" altLang="zh-CN" dirty="0"/>
              </a:p>
              <a:p>
                <a:endParaRPr lang="en-US" altLang="zh-CN" dirty="0"/>
              </a:p>
              <a:p>
                <a:r>
                  <a:rPr lang="zh-CN" altLang="en-US" dirty="0"/>
                  <a:t>如果 </a:t>
                </a:r>
                <a:r>
                  <a:rPr lang="en-US" altLang="zh-CN" dirty="0"/>
                  <a:t>Alice </a:t>
                </a:r>
                <a:r>
                  <a:rPr lang="zh-CN" altLang="en-US" dirty="0"/>
                  <a:t>对于词元 </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en-US" altLang="zh-CN" dirty="0"/>
                  <a:t> </a:t>
                </a:r>
                <a:r>
                  <a:rPr lang="zh-CN" altLang="en-US" dirty="0"/>
                  <a:t>的分布没有任何先验知识，每个</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𝑡</m:t>
                        </m:r>
                        <m:r>
                          <a:rPr lang="en-US" altLang="zh-CN" i="1" dirty="0">
                            <a:latin typeface="Cambria Math" panose="02040503050406030204" pitchFamily="18" charset="0"/>
                          </a:rPr>
                          <m:t>+1</m:t>
                        </m:r>
                      </m:sub>
                    </m:sSub>
                  </m:oMath>
                </a14:m>
                <a:r>
                  <a:rPr lang="zh-CN" altLang="en-US" dirty="0"/>
                  <a:t>都需要 </a:t>
                </a:r>
                <a14:m>
                  <m:oMath xmlns:m="http://schemas.openxmlformats.org/officeDocument/2006/math">
                    <m:func>
                      <m:funcPr>
                        <m:ctrlPr>
                          <a:rPr lang="en-US" altLang="zh-CN" i="1" dirty="0" smtClean="0">
                            <a:latin typeface="Cambria Math" panose="02040503050406030204" pitchFamily="18" charset="0"/>
                          </a:rPr>
                        </m:ctrlPr>
                      </m:funcPr>
                      <m:fName>
                        <m:sSub>
                          <m:sSubPr>
                            <m:ctrlPr>
                              <a:rPr lang="en-US" altLang="zh-CN" i="1" dirty="0" smtClean="0">
                                <a:latin typeface="Cambria Math" panose="02040503050406030204" pitchFamily="18" charset="0"/>
                              </a:rPr>
                            </m:ctrlPr>
                          </m:sSubPr>
                          <m:e>
                            <m:r>
                              <m:rPr>
                                <m:sty m:val="p"/>
                              </m:rPr>
                              <a:rPr lang="en-US" altLang="zh-CN" i="0" dirty="0" smtClean="0">
                                <a:latin typeface="Cambria Math" panose="02040503050406030204" pitchFamily="18" charset="0"/>
                              </a:rPr>
                              <m:t>log</m:t>
                            </m:r>
                          </m:e>
                          <m:sub>
                            <m:r>
                              <a:rPr lang="en-US" altLang="zh-CN" i="1" dirty="0" smtClean="0">
                                <a:latin typeface="Cambria Math" panose="02040503050406030204" pitchFamily="18" charset="0"/>
                              </a:rPr>
                              <m:t>2</m:t>
                            </m:r>
                          </m:sub>
                        </m:sSub>
                      </m:fName>
                      <m:e>
                        <m:r>
                          <a:rPr lang="en-US" altLang="zh-CN" b="0" i="1" dirty="0" smtClean="0">
                            <a:latin typeface="Cambria Math" panose="02040503050406030204" pitchFamily="18" charset="0"/>
                          </a:rPr>
                          <m:t>𝑚</m:t>
                        </m:r>
                      </m:e>
                    </m:func>
                  </m:oMath>
                </a14:m>
                <a:r>
                  <a:rPr lang="zh-CN" altLang="en-US" dirty="0"/>
                  <a:t>比特来编码，此外还需要将编码方法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0</m:t>
                        </m:r>
                      </m:sub>
                    </m:sSub>
                  </m:oMath>
                </a14:m>
                <a:r>
                  <a:rPr lang="en-US" altLang="zh-CN" dirty="0"/>
                  <a:t> </a:t>
                </a:r>
                <a:r>
                  <a:rPr lang="zh-CN" altLang="en-US" dirty="0"/>
                  <a:t>传输给 </a:t>
                </a:r>
                <a:r>
                  <a:rPr lang="en-US" altLang="zh-CN" dirty="0"/>
                  <a:t>Bob</a:t>
                </a:r>
              </a:p>
              <a:p>
                <a:endParaRPr lang="en-US" altLang="zh-CN" dirty="0"/>
              </a:p>
              <a:p>
                <a:endParaRPr lang="en-US" altLang="zh-CN" dirty="0"/>
              </a:p>
              <a:p>
                <a:r>
                  <a:rPr lang="zh-CN" altLang="en-US" dirty="0"/>
                  <a:t>这种情况下， </a:t>
                </a:r>
                <a:r>
                  <a:rPr lang="en-US" altLang="zh-CN" dirty="0"/>
                  <a:t>Alice </a:t>
                </a:r>
                <a:r>
                  <a:rPr lang="zh-CN" altLang="en-US" dirty="0"/>
                  <a:t>和 </a:t>
                </a:r>
                <a:r>
                  <a:rPr lang="en-US" altLang="zh-CN" dirty="0"/>
                  <a:t>Bob </a:t>
                </a:r>
                <a:r>
                  <a:rPr lang="zh-CN" altLang="en-US" dirty="0"/>
                  <a:t>之间的通信效率极低，传输的代价与数据集大小近似成正比。所以，需要有方法能够获取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en-US" altLang="zh-CN" dirty="0"/>
                  <a:t> </a:t>
                </a:r>
                <a:r>
                  <a:rPr lang="zh-CN" altLang="en-US" dirty="0"/>
                  <a:t>的先验知识，从而使得编码长度 </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oMath>
                </a14:m>
                <a:r>
                  <a:rPr lang="en-US" altLang="zh-CN" i="1" dirty="0"/>
                  <a:t> </a:t>
                </a:r>
                <a:r>
                  <a:rPr lang="zh-CN" altLang="en-US" dirty="0"/>
                  <a:t>小于 </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i="0" dirty="0" smtClean="0">
                            <a:latin typeface="Cambria Math" panose="02040503050406030204" pitchFamily="18" charset="0"/>
                          </a:rPr>
                          <m:t>log</m:t>
                        </m:r>
                      </m:e>
                      <m:sub>
                        <m:r>
                          <a:rPr lang="en-US" altLang="zh-CN" b="0" i="1" dirty="0" smtClean="0">
                            <a:latin typeface="Cambria Math" panose="02040503050406030204" pitchFamily="18" charset="0"/>
                          </a:rPr>
                          <m:t>2</m:t>
                        </m:r>
                      </m:sub>
                    </m:sSub>
                    <m:r>
                      <a:rPr lang="en-US" altLang="zh-CN" i="1" dirty="0" smtClean="0">
                        <a:latin typeface="Cambria Math" panose="02040503050406030204" pitchFamily="18" charset="0"/>
                      </a:rPr>
                      <m:t>𝑚</m:t>
                    </m:r>
                  </m:oMath>
                </a14:m>
                <a:r>
                  <a:rPr lang="zh-CN" altLang="en-US" dirty="0"/>
                  <a:t>，从而降低传输代价。 </a:t>
                </a:r>
                <a:br>
                  <a:rPr lang="zh-CN" altLang="en-US" dirty="0"/>
                </a:br>
                <a:br>
                  <a:rPr lang="zh-CN" altLang="en-US" dirty="0"/>
                </a:br>
                <a:br>
                  <a:rPr lang="zh-CN" altLang="en-US" dirty="0"/>
                </a:br>
                <a:br>
                  <a:rPr lang="zh-CN" altLang="en-US" dirty="0"/>
                </a:br>
                <a:endParaRPr lang="zh-CN" altLang="en-US" b="1" dirty="0"/>
              </a:p>
            </p:txBody>
          </p:sp>
        </mc:Choice>
        <mc:Fallback>
          <p:sp>
            <p:nvSpPr>
              <p:cNvPr id="4" name="内容占位符 3">
                <a:extLst>
                  <a:ext uri="{FF2B5EF4-FFF2-40B4-BE49-F238E27FC236}">
                    <a16:creationId xmlns:a16="http://schemas.microsoft.com/office/drawing/2014/main" id="{36100B3C-B6AE-3194-D763-52CA0EDC36AD}"/>
                  </a:ext>
                </a:extLst>
              </p:cNvPr>
              <p:cNvSpPr>
                <a:spLocks noGrp="1" noRot="1" noChangeAspect="1" noMove="1" noResize="1" noEditPoints="1" noAdjustHandles="1" noChangeArrowheads="1" noChangeShapeType="1" noTextEdit="1"/>
              </p:cNvSpPr>
              <p:nvPr>
                <p:ph sz="quarter" idx="13"/>
              </p:nvPr>
            </p:nvSpPr>
            <p:spPr>
              <a:blipFill>
                <a:blip r:embed="rId3"/>
                <a:stretch>
                  <a:fillRect l="-754" t="-1845" b="-10842"/>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115A4247-4B06-7D4D-B983-28DE7A5D8757}"/>
              </a:ext>
            </a:extLst>
          </p:cNvPr>
          <p:cNvSpPr>
            <a:spLocks noGrp="1"/>
          </p:cNvSpPr>
          <p:nvPr>
            <p:ph type="title"/>
          </p:nvPr>
        </p:nvSpPr>
        <p:spPr/>
        <p:txBody>
          <a:bodyPr/>
          <a:lstStyle/>
          <a:p>
            <a:r>
              <a:rPr lang="en-US" altLang="zh-CN" b="1" dirty="0"/>
              <a:t>Alice</a:t>
            </a:r>
            <a:r>
              <a:rPr lang="zh-CN" altLang="en-US" b="1" dirty="0"/>
              <a:t>与</a:t>
            </a:r>
            <a:r>
              <a:rPr lang="en-US" altLang="zh-CN" b="1" dirty="0"/>
              <a:t>Bob</a:t>
            </a:r>
            <a:r>
              <a:rPr lang="zh-CN" altLang="en-US" b="1" dirty="0"/>
              <a:t>的思想实验</a:t>
            </a:r>
          </a:p>
        </p:txBody>
      </p:sp>
      <p:pic>
        <p:nvPicPr>
          <p:cNvPr id="5" name="图片 4">
            <a:extLst>
              <a:ext uri="{FF2B5EF4-FFF2-40B4-BE49-F238E27FC236}">
                <a16:creationId xmlns:a16="http://schemas.microsoft.com/office/drawing/2014/main" id="{1700B5BE-1C3E-4E70-57C5-4640477CC905}"/>
              </a:ext>
            </a:extLst>
          </p:cNvPr>
          <p:cNvPicPr>
            <a:picLocks noChangeAspect="1"/>
          </p:cNvPicPr>
          <p:nvPr/>
        </p:nvPicPr>
        <p:blipFill>
          <a:blip r:embed="rId4"/>
          <a:stretch>
            <a:fillRect/>
          </a:stretch>
        </p:blipFill>
        <p:spPr>
          <a:xfrm>
            <a:off x="3840157" y="4676723"/>
            <a:ext cx="4511685" cy="833093"/>
          </a:xfrm>
          <a:prstGeom prst="rect">
            <a:avLst/>
          </a:prstGeom>
        </p:spPr>
      </p:pic>
    </p:spTree>
    <p:extLst>
      <p:ext uri="{BB962C8B-B14F-4D97-AF65-F5344CB8AC3E}">
        <p14:creationId xmlns:p14="http://schemas.microsoft.com/office/powerpoint/2010/main" val="182365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5B51A-F3F0-282C-D10E-51E18283272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8EA9541A-282C-FF2D-E655-2629BF24913E}"/>
                  </a:ext>
                </a:extLst>
              </p:cNvPr>
              <p:cNvSpPr>
                <a:spLocks noGrp="1"/>
              </p:cNvSpPr>
              <p:nvPr>
                <p:ph sz="quarter" idx="13"/>
              </p:nvPr>
            </p:nvSpPr>
            <p:spPr/>
            <p:txBody>
              <a:bodyPr>
                <a:noAutofit/>
              </a:bodyPr>
              <a:lstStyle/>
              <a:p>
                <a:pPr>
                  <a:lnSpc>
                    <a:spcPct val="150000"/>
                  </a:lnSpc>
                </a:pPr>
                <a:r>
                  <a:rPr lang="zh-CN" altLang="en-US" dirty="0"/>
                  <a:t>考虑使用一个语言模型对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+1 </m:t>
                        </m:r>
                      </m:sub>
                    </m:sSub>
                  </m:oMath>
                </a14:m>
                <a:r>
                  <a:rPr lang="zh-CN" altLang="en-US" dirty="0"/>
                  <a:t>进行预测，其特征如下：</a:t>
                </a:r>
              </a:p>
              <a:p>
                <a:pPr marL="457200" indent="-457200">
                  <a:lnSpc>
                    <a:spcPct val="150000"/>
                  </a:lnSpc>
                  <a:buFont typeface="+mj-lt"/>
                  <a:buAutoNum type="arabicPeriod"/>
                </a:pPr>
                <a:r>
                  <a:rPr lang="zh-CN" altLang="en-US" dirty="0"/>
                  <a:t>该语言模型能够通过一段代码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𝑓</m:t>
                        </m:r>
                      </m:sub>
                    </m:sSub>
                  </m:oMath>
                </a14:m>
                <a:r>
                  <a:rPr lang="zh-CN" altLang="en-US" dirty="0"/>
                  <a:t>，代码长度为 </a:t>
                </a:r>
                <a14:m>
                  <m:oMath xmlns:m="http://schemas.openxmlformats.org/officeDocument/2006/math">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𝑓</m:t>
                            </m:r>
                          </m:sub>
                        </m:sSub>
                      </m:e>
                    </m:d>
                  </m:oMath>
                </a14:m>
                <a:r>
                  <a:rPr lang="zh-CN" altLang="en-US" dirty="0"/>
                  <a:t>。给定相同模型代码，能在任意计算机上以相同权重初始化模型为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1</m:t>
                        </m:r>
                      </m:sub>
                    </m:sSub>
                  </m:oMath>
                </a14:m>
                <a:r>
                  <a:rPr lang="zh-CN" altLang="en-US" dirty="0"/>
                  <a:t>。</a:t>
                </a:r>
              </a:p>
              <a:p>
                <a:pPr marL="457200" indent="-457200">
                  <a:lnSpc>
                    <a:spcPct val="150000"/>
                  </a:lnSpc>
                  <a:buFont typeface="+mj-lt"/>
                  <a:buAutoNum type="arabicPeriod"/>
                </a:pPr>
                <a:r>
                  <a:rPr lang="zh-CN" altLang="en-US" dirty="0"/>
                  <a:t>在无前文的情况下能确定性地预测首个概率分布 </a:t>
                </a:r>
                <a14:m>
                  <m:oMath xmlns:m="http://schemas.openxmlformats.org/officeDocument/2006/math">
                    <m:r>
                      <a:rPr lang="en-US" altLang="zh-CN" i="1" dirty="0" smtClean="0">
                        <a:latin typeface="Cambria Math" panose="02040503050406030204" pitchFamily="18" charset="0"/>
                      </a:rPr>
                      <m:t>𝑞</m:t>
                    </m:r>
                    <m:d>
                      <m:dPr>
                        <m:ctrlPr>
                          <a:rPr lang="en-US" altLang="zh-CN"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e>
                      <m:e>
                        <m:r>
                          <a:rPr lang="en-US" altLang="zh-CN" b="0" i="1" dirty="0" smtClean="0">
                            <a:latin typeface="Cambria Math" panose="02040503050406030204" pitchFamily="18" charset="0"/>
                          </a:rPr>
                          <m:t>∅</m:t>
                        </m:r>
                        <m:r>
                          <a:rPr lang="en-US" altLang="zh-CN" i="1" dirty="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e>
                    </m:d>
                  </m:oMath>
                </a14:m>
                <a:r>
                  <a:rPr lang="zh-CN" altLang="en-US" dirty="0"/>
                  <a:t>。</a:t>
                </a:r>
              </a:p>
              <a:p>
                <a:pPr marL="457200" indent="-457200">
                  <a:lnSpc>
                    <a:spcPct val="150000"/>
                  </a:lnSpc>
                  <a:buFont typeface="+mj-lt"/>
                  <a:buAutoNum type="arabicPeriod"/>
                </a:pPr>
                <a:r>
                  <a:rPr lang="zh-CN" altLang="en-US" dirty="0"/>
                  <a:t>该语言模型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en-US" altLang="zh-CN" dirty="0"/>
                  <a:t> </a:t>
                </a:r>
                <a:r>
                  <a:rPr lang="zh-CN" altLang="en-US" dirty="0"/>
                  <a:t>能够根据前文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𝑡</m:t>
                        </m:r>
                      </m:sub>
                    </m:sSub>
                  </m:oMath>
                </a14:m>
                <a:r>
                  <a:rPr lang="en-US" altLang="zh-CN" i="1" dirty="0"/>
                  <a:t> </a:t>
                </a:r>
                <a:r>
                  <a:rPr lang="zh-CN" altLang="en-US" dirty="0"/>
                  <a:t>预测下一个词元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en-US" altLang="zh-CN" dirty="0"/>
                  <a:t> </a:t>
                </a:r>
                <a:r>
                  <a:rPr lang="zh-CN" altLang="en-US" dirty="0"/>
                  <a:t>的概率分布 </a:t>
                </a:r>
                <a14:m>
                  <m:oMath xmlns:m="http://schemas.openxmlformats.org/officeDocument/2006/math">
                    <m:r>
                      <a:rPr lang="en-US" altLang="zh-CN" i="1" dirty="0" smtClean="0">
                        <a:latin typeface="Cambria Math" panose="02040503050406030204" pitchFamily="18" charset="0"/>
                      </a:rPr>
                      <m:t>𝑞</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𝑡</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oMath>
                </a14:m>
                <a:r>
                  <a:rPr lang="zh-CN" altLang="en-US" dirty="0"/>
                  <a:t>。</a:t>
                </a:r>
              </a:p>
              <a:p>
                <a:pPr marL="457200" indent="-457200">
                  <a:lnSpc>
                    <a:spcPct val="150000"/>
                  </a:lnSpc>
                  <a:buFont typeface="+mj-lt"/>
                  <a:buAutoNum type="arabicPeriod"/>
                </a:pPr>
                <a:r>
                  <a:rPr lang="zh-CN" altLang="en-US" dirty="0"/>
                  <a:t>模型不存在随机性，即只要输入相同的前文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r>
                          <a:rPr lang="en-US" altLang="zh-CN" i="1" dirty="0">
                            <a:latin typeface="Cambria Math" panose="02040503050406030204" pitchFamily="18" charset="0"/>
                          </a:rPr>
                          <m:t>𝑡</m:t>
                        </m:r>
                      </m:sub>
                    </m:sSub>
                  </m:oMath>
                </a14:m>
                <a:r>
                  <a:rPr lang="en-US" altLang="zh-CN" i="1" dirty="0"/>
                  <a:t> </a:t>
                </a:r>
                <a:r>
                  <a:rPr lang="zh-CN" altLang="en-US" dirty="0"/>
                  <a:t>，同一模型在 </a:t>
                </a:r>
                <a:r>
                  <a:rPr lang="en-US" altLang="zh-CN" dirty="0"/>
                  <a:t>Alice </a:t>
                </a:r>
                <a:r>
                  <a:rPr lang="zh-CN" altLang="en-US" dirty="0"/>
                  <a:t>和 </a:t>
                </a:r>
                <a:r>
                  <a:rPr lang="en-US" altLang="zh-CN" dirty="0"/>
                  <a:t>Bob </a:t>
                </a:r>
                <a:r>
                  <a:rPr lang="zh-CN" altLang="en-US" dirty="0"/>
                  <a:t>的电脑上输出的概率分布 </a:t>
                </a:r>
                <a14:m>
                  <m:oMath xmlns:m="http://schemas.openxmlformats.org/officeDocument/2006/math">
                    <m:r>
                      <a:rPr lang="en-US" altLang="zh-CN" i="1" dirty="0">
                        <a:latin typeface="Cambria Math" panose="02040503050406030204" pitchFamily="18" charset="0"/>
                      </a:rPr>
                      <m:t>𝑞</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r>
                          <a:rPr lang="en-US" altLang="zh-CN" i="1" dirty="0">
                            <a:latin typeface="Cambria Math" panose="02040503050406030204" pitchFamily="18" charset="0"/>
                          </a:rPr>
                          <m:t>𝑡</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a:latin typeface="Cambria Math" panose="02040503050406030204" pitchFamily="18" charset="0"/>
                      </a:rPr>
                      <m:t>)</m:t>
                    </m:r>
                  </m:oMath>
                </a14:m>
                <a:r>
                  <a:rPr lang="zh-CN" altLang="en-US" dirty="0"/>
                  <a:t> 是相同的。 </a:t>
                </a:r>
                <a:br>
                  <a:rPr lang="zh-CN" altLang="en-US" dirty="0"/>
                </a:br>
                <a:endParaRPr lang="zh-CN" altLang="en-US" b="1" dirty="0"/>
              </a:p>
            </p:txBody>
          </p:sp>
        </mc:Choice>
        <mc:Fallback>
          <p:sp>
            <p:nvSpPr>
              <p:cNvPr id="4" name="内容占位符 3">
                <a:extLst>
                  <a:ext uri="{FF2B5EF4-FFF2-40B4-BE49-F238E27FC236}">
                    <a16:creationId xmlns:a16="http://schemas.microsoft.com/office/drawing/2014/main" id="{8EA9541A-282C-FF2D-E655-2629BF24913E}"/>
                  </a:ext>
                </a:extLst>
              </p:cNvPr>
              <p:cNvSpPr>
                <a:spLocks noGrp="1" noRot="1" noChangeAspect="1" noMove="1" noResize="1" noEditPoints="1" noAdjustHandles="1" noChangeArrowheads="1" noChangeShapeType="1" noTextEdit="1"/>
              </p:cNvSpPr>
              <p:nvPr>
                <p:ph sz="quarter" idx="13"/>
              </p:nvPr>
            </p:nvSpPr>
            <p:spPr>
              <a:blipFill>
                <a:blip r:embed="rId2"/>
                <a:stretch>
                  <a:fillRect l="-870" r="-638"/>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B4B02BA5-C123-886E-3968-C21738F842BB}"/>
              </a:ext>
            </a:extLst>
          </p:cNvPr>
          <p:cNvSpPr>
            <a:spLocks noGrp="1"/>
          </p:cNvSpPr>
          <p:nvPr>
            <p:ph type="title"/>
          </p:nvPr>
        </p:nvSpPr>
        <p:spPr/>
        <p:txBody>
          <a:bodyPr/>
          <a:lstStyle/>
          <a:p>
            <a:r>
              <a:rPr lang="en-US" altLang="zh-CN" b="1" dirty="0"/>
              <a:t>Alice</a:t>
            </a:r>
            <a:r>
              <a:rPr lang="zh-CN" altLang="en-US" b="1" dirty="0"/>
              <a:t>与</a:t>
            </a:r>
            <a:r>
              <a:rPr lang="en-US" altLang="zh-CN" b="1" dirty="0"/>
              <a:t>Bob</a:t>
            </a:r>
            <a:r>
              <a:rPr lang="zh-CN" altLang="en-US" b="1" dirty="0"/>
              <a:t>的思想实验</a:t>
            </a:r>
          </a:p>
        </p:txBody>
      </p:sp>
    </p:spTree>
    <p:extLst>
      <p:ext uri="{BB962C8B-B14F-4D97-AF65-F5344CB8AC3E}">
        <p14:creationId xmlns:p14="http://schemas.microsoft.com/office/powerpoint/2010/main" val="2928770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F110-7F4E-F88A-8480-D8D4258F72D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AF499B17-5A47-7152-70E3-64FB8F36E799}"/>
                  </a:ext>
                </a:extLst>
              </p:cNvPr>
              <p:cNvSpPr>
                <a:spLocks noGrp="1"/>
              </p:cNvSpPr>
              <p:nvPr>
                <p:ph sz="quarter" idx="13"/>
              </p:nvPr>
            </p:nvSpPr>
            <p:spPr>
              <a:xfrm>
                <a:off x="838199" y="954723"/>
                <a:ext cx="10515599" cy="5796121"/>
              </a:xfrm>
            </p:spPr>
            <p:txBody>
              <a:bodyPr>
                <a:noAutofit/>
              </a:bodyPr>
              <a:lstStyle/>
              <a:p>
                <a:r>
                  <a:rPr lang="zh-CN" altLang="en-US" b="1" dirty="0"/>
                  <a:t>在这种情况下，我们规定 </a:t>
                </a:r>
                <a:r>
                  <a:rPr lang="en-US" altLang="zh-CN" b="1" dirty="0"/>
                  <a:t>Alice </a:t>
                </a:r>
                <a:r>
                  <a:rPr lang="zh-CN" altLang="en-US" b="1" dirty="0"/>
                  <a:t>的编码过程如下：</a:t>
                </a:r>
              </a:p>
              <a:p>
                <a:pPr marL="457200" indent="-457200">
                  <a:buFont typeface="+mj-lt"/>
                  <a:buAutoNum type="arabicPeriod"/>
                </a:pPr>
                <a:r>
                  <a:rPr lang="en-US" altLang="zh-CN" dirty="0"/>
                  <a:t>Alice </a:t>
                </a:r>
                <a:r>
                  <a:rPr lang="zh-CN" altLang="en-US" dirty="0"/>
                  <a:t>将模型代码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𝑓</m:t>
                        </m:r>
                      </m:sub>
                    </m:sSub>
                  </m:oMath>
                </a14:m>
                <a:r>
                  <a:rPr lang="en-US" altLang="zh-CN" i="1" dirty="0"/>
                  <a:t> </a:t>
                </a:r>
                <a:r>
                  <a:rPr lang="zh-CN" altLang="en-US" dirty="0"/>
                  <a:t>传输给 </a:t>
                </a:r>
                <a:r>
                  <a:rPr lang="en-US" altLang="zh-CN" dirty="0"/>
                  <a:t>Bob</a:t>
                </a:r>
                <a:r>
                  <a:rPr lang="zh-CN" altLang="en-US" dirty="0"/>
                  <a:t>，总代价为 </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b="0" i="1" dirty="0" smtClean="0">
                            <a:latin typeface="Cambria Math" panose="02040503050406030204" pitchFamily="18" charset="0"/>
                          </a:rPr>
                          <m:t>𝑓</m:t>
                        </m:r>
                      </m:sub>
                    </m:sSub>
                    <m:r>
                      <a:rPr lang="en-US" altLang="zh-CN" i="1" dirty="0" smtClean="0">
                        <a:latin typeface="Cambria Math" panose="02040503050406030204" pitchFamily="18" charset="0"/>
                      </a:rPr>
                      <m:t>|</m:t>
                    </m:r>
                  </m:oMath>
                </a14:m>
                <a:r>
                  <a:rPr lang="zh-CN" altLang="en-US" dirty="0"/>
                  <a:t>。</a:t>
                </a:r>
              </a:p>
              <a:p>
                <a:pPr marL="457200" indent="-457200">
                  <a:buFont typeface="+mj-lt"/>
                  <a:buAutoNum type="arabicPeriod"/>
                </a:pPr>
                <a:r>
                  <a:rPr lang="en-US" altLang="zh-CN" dirty="0"/>
                  <a:t>Alice </a:t>
                </a:r>
                <a:r>
                  <a:rPr lang="zh-CN" altLang="en-US" dirty="0"/>
                  <a:t>初始化模型为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1</m:t>
                        </m:r>
                      </m:sub>
                    </m:sSub>
                  </m:oMath>
                </a14:m>
                <a:r>
                  <a:rPr lang="zh-CN" altLang="en-US" dirty="0"/>
                  <a:t>，预测首个概率分布 </a:t>
                </a:r>
                <a14:m>
                  <m:oMath xmlns:m="http://schemas.openxmlformats.org/officeDocument/2006/math">
                    <m:r>
                      <a:rPr lang="en-US" altLang="zh-CN" i="1" dirty="0" smtClean="0">
                        <a:latin typeface="Cambria Math" panose="02040503050406030204" pitchFamily="18" charset="0"/>
                      </a:rPr>
                      <m:t>𝑞</m:t>
                    </m:r>
                    <m:d>
                      <m:dPr>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e>
                      <m:e>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1</m:t>
                            </m:r>
                          </m:sub>
                        </m:sSub>
                      </m:e>
                    </m:d>
                  </m:oMath>
                </a14:m>
                <a:r>
                  <a:rPr lang="zh-CN" altLang="en-US" dirty="0"/>
                  <a:t>。</a:t>
                </a:r>
              </a:p>
              <a:p>
                <a:pPr marL="457200" indent="-457200">
                  <a:buFont typeface="+mj-lt"/>
                  <a:buAutoNum type="arabicPeriod"/>
                </a:pPr>
                <a:r>
                  <a:rPr lang="zh-CN" altLang="en-US" dirty="0"/>
                  <a:t>根据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e>
                      <m:e>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e>
                    </m:d>
                  </m:oMath>
                </a14:m>
                <a:r>
                  <a:rPr lang="zh-CN" altLang="en-US" dirty="0"/>
                  <a:t> 进行算术编码，得到第一个编码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1</m:t>
                        </m:r>
                      </m:sub>
                    </m:sSub>
                  </m:oMath>
                </a14:m>
                <a:r>
                  <a:rPr lang="en-US" altLang="zh-CN" dirty="0"/>
                  <a:t> </a:t>
                </a:r>
                <a:r>
                  <a:rPr lang="zh-CN" altLang="en-US" dirty="0"/>
                  <a:t>发送给 </a:t>
                </a:r>
                <a:r>
                  <a:rPr lang="en-US" altLang="zh-CN" dirty="0"/>
                  <a:t>Bob</a:t>
                </a:r>
                <a:r>
                  <a:rPr lang="zh-CN" altLang="en-US" dirty="0"/>
                  <a:t>。</a:t>
                </a:r>
              </a:p>
              <a:p>
                <a:pPr marL="457200" indent="-457200">
                  <a:buFont typeface="+mj-lt"/>
                  <a:buAutoNum type="arabicPeriod"/>
                </a:pPr>
                <a:r>
                  <a:rPr lang="zh-CN" altLang="en-US" dirty="0"/>
                  <a:t>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oMath>
                </a14:m>
                <a:r>
                  <a:rPr lang="en-US" altLang="zh-CN" dirty="0"/>
                  <a:t> </a:t>
                </a:r>
                <a:r>
                  <a:rPr lang="zh-CN" altLang="en-US" dirty="0"/>
                  <a:t>和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e>
                      <m:e>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e>
                    </m:d>
                  </m:oMath>
                </a14:m>
                <a:r>
                  <a:rPr lang="zh-CN" altLang="en-US" dirty="0"/>
                  <a:t> 作为训练样本，进行一次梯度下降，更新自己的语言模型为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2</m:t>
                        </m:r>
                      </m:sub>
                    </m:sSub>
                  </m:oMath>
                </a14:m>
                <a:r>
                  <a:rPr lang="zh-CN" altLang="en-US" dirty="0"/>
                  <a:t>。</a:t>
                </a:r>
              </a:p>
              <a:p>
                <a:pPr marL="457200" indent="-457200">
                  <a:buFont typeface="+mj-lt"/>
                  <a:buAutoNum type="arabicPeriod"/>
                </a:pPr>
                <a:r>
                  <a:rPr lang="zh-CN" altLang="en-US" dirty="0"/>
                  <a:t>运行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2</m:t>
                        </m:r>
                      </m:sub>
                    </m:sSub>
                  </m:oMath>
                </a14:m>
                <a:r>
                  <a:rPr lang="zh-CN" altLang="en-US" dirty="0"/>
                  <a:t>，预测下一个概率分布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2</m:t>
                            </m:r>
                          </m:sub>
                        </m:sSub>
                      </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b="0" i="1" dirty="0" smtClean="0">
                                <a:latin typeface="Cambria Math" panose="02040503050406030204" pitchFamily="18" charset="0"/>
                              </a:rPr>
                              <m:t>2</m:t>
                            </m:r>
                          </m:sub>
                        </m:sSub>
                      </m:e>
                    </m:d>
                    <m:r>
                      <a:rPr lang="en-US" altLang="zh-CN" i="1" dirty="0">
                        <a:latin typeface="Cambria Math" panose="02040503050406030204" pitchFamily="18" charset="0"/>
                      </a:rPr>
                      <m:t> </m:t>
                    </m:r>
                  </m:oMath>
                </a14:m>
                <a:r>
                  <a:rPr lang="zh-CN" altLang="en-US" dirty="0"/>
                  <a:t>。</a:t>
                </a:r>
              </a:p>
              <a:p>
                <a:pPr marL="457200" indent="-457200">
                  <a:buFont typeface="+mj-lt"/>
                  <a:buAutoNum type="arabicPeriod"/>
                </a:pPr>
                <a:r>
                  <a:rPr lang="zh-CN" altLang="en-US" dirty="0"/>
                  <a:t>根据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2</m:t>
                            </m:r>
                          </m:sub>
                        </m:sSub>
                      </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2</m:t>
                            </m:r>
                          </m:sub>
                        </m:sSub>
                      </m:e>
                    </m:d>
                  </m:oMath>
                </a14:m>
                <a:r>
                  <a:rPr lang="zh-CN" altLang="en-US" dirty="0"/>
                  <a:t> 进行算术编码，得到第二个编码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2</m:t>
                        </m:r>
                      </m:sub>
                    </m:sSub>
                  </m:oMath>
                </a14:m>
                <a:r>
                  <a:rPr lang="en-US" altLang="zh-CN" dirty="0"/>
                  <a:t> </a:t>
                </a:r>
                <a:r>
                  <a:rPr lang="zh-CN" altLang="en-US" dirty="0"/>
                  <a:t>发送给 </a:t>
                </a:r>
                <a:r>
                  <a:rPr lang="en-US" altLang="zh-CN" dirty="0"/>
                  <a:t>Bob</a:t>
                </a:r>
                <a:r>
                  <a:rPr lang="zh-CN" altLang="en-US" dirty="0"/>
                  <a:t>。</a:t>
                </a:r>
              </a:p>
              <a:p>
                <a:pPr marL="457200" indent="-457200">
                  <a:buFont typeface="+mj-lt"/>
                  <a:buAutoNum type="arabicPeriod"/>
                </a:pPr>
                <a:r>
                  <a:rPr lang="zh-CN" altLang="en-US" dirty="0"/>
                  <a:t>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2</m:t>
                        </m:r>
                      </m:sub>
                    </m:sSub>
                  </m:oMath>
                </a14:m>
                <a:r>
                  <a:rPr lang="en-US" altLang="zh-CN" dirty="0"/>
                  <a:t> </a:t>
                </a:r>
                <a:r>
                  <a:rPr lang="zh-CN" altLang="en-US" dirty="0"/>
                  <a:t>和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2</m:t>
                            </m:r>
                          </m:sub>
                        </m:sSub>
                      </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2</m:t>
                            </m:r>
                          </m:sub>
                        </m:sSub>
                      </m:e>
                    </m:d>
                  </m:oMath>
                </a14:m>
                <a:r>
                  <a:rPr lang="zh-CN" altLang="en-US" dirty="0"/>
                  <a:t> 作为训练样本，进行一次梯度下降，更新自己的语言模型为</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3</m:t>
                        </m:r>
                      </m:sub>
                    </m:sSub>
                  </m:oMath>
                </a14:m>
                <a:r>
                  <a:rPr lang="zh-CN" altLang="en-US" dirty="0"/>
                  <a:t>。</a:t>
                </a:r>
              </a:p>
              <a:p>
                <a:pPr marL="457200" indent="-457200">
                  <a:buFont typeface="+mj-lt"/>
                  <a:buAutoNum type="arabicPeriod"/>
                </a:pPr>
                <a:r>
                  <a:rPr lang="zh-CN" altLang="en-US" dirty="0"/>
                  <a:t>重复上述过程，每发出一个编码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𝑡</m:t>
                        </m:r>
                      </m:sub>
                    </m:sSub>
                  </m:oMath>
                </a14:m>
                <a:r>
                  <a:rPr lang="zh-CN" altLang="en-US" dirty="0"/>
                  <a:t> ，就用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𝑡</m:t>
                        </m:r>
                      </m:sub>
                    </m:sSub>
                  </m:oMath>
                </a14:m>
                <a:r>
                  <a:rPr lang="en-US" altLang="zh-CN" i="1" dirty="0"/>
                  <a:t> </a:t>
                </a:r>
                <a:r>
                  <a:rPr lang="zh-CN" altLang="en-US" dirty="0"/>
                  <a:t>和 </a:t>
                </a:r>
                <a14:m>
                  <m:oMath xmlns:m="http://schemas.openxmlformats.org/officeDocument/2006/math">
                    <m:r>
                      <a:rPr lang="en-US" altLang="zh-CN" i="1" dirty="0" smtClean="0">
                        <a:latin typeface="Cambria Math" panose="02040503050406030204" pitchFamily="18" charset="0"/>
                      </a:rPr>
                      <m:t>𝑞</m:t>
                    </m:r>
                    <m:r>
                      <a:rPr lang="en-US" altLang="zh-CN" i="1" dirty="0" smtClean="0">
                        <a:latin typeface="Cambria Math" panose="02040503050406030204" pitchFamily="18" charset="0"/>
                      </a:rPr>
                      <m:t>(</m:t>
                    </m:r>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𝑥</m:t>
                        </m:r>
                      </m:e>
                      <m:sub>
                        <m:r>
                          <a:rPr lang="en-US" altLang="zh-CN" i="1" dirty="0" err="1" smtClean="0">
                            <a:latin typeface="Cambria Math" panose="02040503050406030204" pitchFamily="18" charset="0"/>
                          </a:rPr>
                          <m:t>𝑡</m:t>
                        </m:r>
                      </m:sub>
                    </m:sSub>
                    <m:r>
                      <a:rPr lang="en-US" altLang="zh-CN" i="1" dirty="0" err="1"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err="1" smtClean="0">
                            <a:latin typeface="Cambria Math" panose="02040503050406030204" pitchFamily="18" charset="0"/>
                          </a:rPr>
                          <m:t>𝑥</m:t>
                        </m:r>
                      </m:e>
                      <m:sub>
                        <m:r>
                          <a:rPr lang="en-US" altLang="zh-CN" i="1" dirty="0">
                            <a:latin typeface="Cambria Math" panose="02040503050406030204" pitchFamily="18" charset="0"/>
                          </a:rPr>
                          <m:t>1:</m:t>
                        </m:r>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smtClean="0">
                        <a:latin typeface="Cambria Math" panose="02040503050406030204" pitchFamily="18" charset="0"/>
                      </a:rPr>
                      <m:t> , </m:t>
                    </m:r>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𝑓</m:t>
                        </m:r>
                      </m:e>
                      <m:sub>
                        <m:r>
                          <a:rPr lang="en-US" altLang="zh-CN" i="1" dirty="0" err="1" smtClean="0">
                            <a:latin typeface="Cambria Math" panose="02040503050406030204" pitchFamily="18" charset="0"/>
                          </a:rPr>
                          <m:t>𝑡</m:t>
                        </m:r>
                      </m:sub>
                    </m:sSub>
                    <m:r>
                      <a:rPr lang="en-US" altLang="zh-CN" i="1" dirty="0">
                        <a:latin typeface="Cambria Math" panose="02040503050406030204" pitchFamily="18" charset="0"/>
                      </a:rPr>
                      <m:t> )</m:t>
                    </m:r>
                  </m:oMath>
                </a14:m>
                <a:r>
                  <a:rPr lang="en-US" altLang="zh-CN" dirty="0"/>
                  <a:t> </a:t>
                </a:r>
                <a:r>
                  <a:rPr lang="zh-CN" altLang="en-US" dirty="0"/>
                  <a:t>更新模型为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zh-CN" altLang="en-US" dirty="0"/>
                  <a:t>，再预测出下一概率分布 </a:t>
                </a:r>
                <a14:m>
                  <m:oMath xmlns:m="http://schemas.openxmlformats.org/officeDocument/2006/math">
                    <m:r>
                      <a:rPr lang="en-US" altLang="zh-CN" i="1" dirty="0" smtClean="0">
                        <a:latin typeface="Cambria Math" panose="02040503050406030204" pitchFamily="18" charset="0"/>
                      </a:rPr>
                      <m:t>𝑞</m:t>
                    </m:r>
                    <m:d>
                      <m:dPr>
                        <m:ctrlPr>
                          <a:rPr lang="en-US" altLang="zh-CN"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e>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e>
                    </m:d>
                  </m:oMath>
                </a14:m>
                <a:r>
                  <a:rPr lang="zh-CN" altLang="en-US" dirty="0"/>
                  <a:t>，进行算术编码，将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 </m:t>
                    </m:r>
                  </m:oMath>
                </a14:m>
                <a:r>
                  <a:rPr lang="zh-CN" altLang="en-US" dirty="0"/>
                  <a:t>发送，直到所有数据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𝑛</m:t>
                        </m:r>
                      </m:sub>
                    </m:sSub>
                  </m:oMath>
                </a14:m>
                <a:r>
                  <a:rPr lang="en-US" altLang="zh-CN" i="1" dirty="0"/>
                  <a:t> </a:t>
                </a:r>
                <a:r>
                  <a:rPr lang="zh-CN" altLang="en-US" dirty="0"/>
                  <a:t>都被传输完毕。 </a:t>
                </a:r>
                <a:br>
                  <a:rPr lang="zh-CN" altLang="en-US" dirty="0"/>
                </a:br>
                <a:endParaRPr lang="zh-CN" altLang="en-US" b="1" dirty="0"/>
              </a:p>
            </p:txBody>
          </p:sp>
        </mc:Choice>
        <mc:Fallback>
          <p:sp>
            <p:nvSpPr>
              <p:cNvPr id="4" name="内容占位符 3">
                <a:extLst>
                  <a:ext uri="{FF2B5EF4-FFF2-40B4-BE49-F238E27FC236}">
                    <a16:creationId xmlns:a16="http://schemas.microsoft.com/office/drawing/2014/main" id="{AF499B17-5A47-7152-70E3-64FB8F36E799}"/>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870" t="-1684" r="-580"/>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2B8A75BB-E6FF-0C21-0AA9-E5842EA2004D}"/>
              </a:ext>
            </a:extLst>
          </p:cNvPr>
          <p:cNvSpPr>
            <a:spLocks noGrp="1"/>
          </p:cNvSpPr>
          <p:nvPr>
            <p:ph type="title"/>
          </p:nvPr>
        </p:nvSpPr>
        <p:spPr/>
        <p:txBody>
          <a:bodyPr/>
          <a:lstStyle/>
          <a:p>
            <a:r>
              <a:rPr lang="en-US" altLang="zh-CN" b="1" dirty="0"/>
              <a:t>Alice</a:t>
            </a:r>
            <a:r>
              <a:rPr lang="zh-CN" altLang="en-US" b="1" dirty="0"/>
              <a:t>与</a:t>
            </a:r>
            <a:r>
              <a:rPr lang="en-US" altLang="zh-CN" b="1" dirty="0"/>
              <a:t>Bob</a:t>
            </a:r>
            <a:r>
              <a:rPr lang="zh-CN" altLang="en-US" b="1" dirty="0"/>
              <a:t>的思想实验</a:t>
            </a:r>
          </a:p>
        </p:txBody>
      </p:sp>
    </p:spTree>
    <p:extLst>
      <p:ext uri="{BB962C8B-B14F-4D97-AF65-F5344CB8AC3E}">
        <p14:creationId xmlns:p14="http://schemas.microsoft.com/office/powerpoint/2010/main" val="253296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BAC5-4065-BAB3-5057-CA1479C6FA8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FBA34FF7-94C1-2AEB-EBD0-392B000B99BD}"/>
                  </a:ext>
                </a:extLst>
              </p:cNvPr>
              <p:cNvSpPr>
                <a:spLocks noGrp="1"/>
              </p:cNvSpPr>
              <p:nvPr>
                <p:ph sz="quarter" idx="13"/>
              </p:nvPr>
            </p:nvSpPr>
            <p:spPr>
              <a:xfrm>
                <a:off x="838199" y="954723"/>
                <a:ext cx="10515599" cy="5796121"/>
              </a:xfrm>
            </p:spPr>
            <p:txBody>
              <a:bodyPr>
                <a:noAutofit/>
              </a:bodyPr>
              <a:lstStyle/>
              <a:p>
                <a:r>
                  <a:rPr lang="zh-CN" altLang="en-US" b="1" dirty="0"/>
                  <a:t>对应的，规定 </a:t>
                </a:r>
                <a:r>
                  <a:rPr lang="en-US" altLang="zh-CN" b="1" dirty="0"/>
                  <a:t>Bob </a:t>
                </a:r>
                <a:r>
                  <a:rPr lang="zh-CN" altLang="en-US" b="1" dirty="0"/>
                  <a:t>的解码过程如下：</a:t>
                </a:r>
                <a:r>
                  <a:rPr lang="zh-CN" altLang="en-US" dirty="0"/>
                  <a:t> </a:t>
                </a:r>
                <a:endParaRPr lang="en-US" altLang="zh-CN" dirty="0"/>
              </a:p>
              <a:p>
                <a:pPr marL="457200" indent="-457200">
                  <a:buFont typeface="+mj-lt"/>
                  <a:buAutoNum type="arabicPeriod"/>
                </a:pPr>
                <a:r>
                  <a:rPr lang="en-US" altLang="zh-CN" dirty="0"/>
                  <a:t>Bob</a:t>
                </a:r>
                <a:r>
                  <a:rPr lang="zh-CN" altLang="en-US" dirty="0"/>
                  <a:t>接收到模型代码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𝑓</m:t>
                        </m:r>
                      </m:sub>
                    </m:sSub>
                    <m:r>
                      <a:rPr lang="zh-CN" altLang="en-US" i="1" dirty="0">
                        <a:latin typeface="Cambria Math" panose="02040503050406030204" pitchFamily="18" charset="0"/>
                      </a:rPr>
                      <m:t>，</m:t>
                    </m:r>
                  </m:oMath>
                </a14:m>
                <a:r>
                  <a:rPr lang="zh-CN" altLang="en-US" dirty="0"/>
                  <a:t>初始化模型为</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 </m:t>
                        </m:r>
                        <m:r>
                          <m:rPr>
                            <m:sty m:val="p"/>
                          </m:rPr>
                          <a:rPr lang="en-US" altLang="zh-CN" i="1" dirty="0">
                            <a:latin typeface="Cambria Math" panose="02040503050406030204" pitchFamily="18" charset="0"/>
                          </a:rPr>
                          <m:t>f</m:t>
                        </m:r>
                      </m:e>
                      <m:sub>
                        <m:r>
                          <a:rPr lang="en-US" altLang="zh-CN" i="1" dirty="0">
                            <a:latin typeface="Cambria Math" panose="02040503050406030204" pitchFamily="18" charset="0"/>
                          </a:rPr>
                          <m:t>1</m:t>
                        </m:r>
                      </m:sub>
                    </m:sSub>
                    <m:r>
                      <a:rPr lang="zh-CN" altLang="en-US" i="1" dirty="0" smtClean="0">
                        <a:latin typeface="Cambria Math" panose="02040503050406030204" pitchFamily="18" charset="0"/>
                      </a:rPr>
                      <m:t>，</m:t>
                    </m:r>
                  </m:oMath>
                </a14:m>
                <a:r>
                  <a:rPr lang="zh-CN" altLang="en-US" dirty="0"/>
                  <a:t>预测首个概率分布 </a:t>
                </a:r>
                <a14:m>
                  <m:oMath xmlns:m="http://schemas.openxmlformats.org/officeDocument/2006/math">
                    <m:r>
                      <a:rPr lang="en-US" altLang="zh-CN" i="1" dirty="0" smtClean="0">
                        <a:latin typeface="Cambria Math" panose="02040503050406030204" pitchFamily="18" charset="0"/>
                      </a:rPr>
                      <m:t>𝑞</m:t>
                    </m:r>
                    <m:d>
                      <m:dPr>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e>
                      <m:e>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1</m:t>
                            </m:r>
                          </m:sub>
                        </m:sSub>
                      </m:e>
                    </m:d>
                  </m:oMath>
                </a14:m>
                <a:r>
                  <a:rPr lang="zh-CN" altLang="en-US" dirty="0"/>
                  <a:t>。</a:t>
                </a:r>
              </a:p>
              <a:p>
                <a:pPr marL="457200" indent="-457200">
                  <a:buFont typeface="+mj-lt"/>
                  <a:buAutoNum type="arabicPeriod"/>
                </a:pPr>
                <a:r>
                  <a:rPr lang="zh-CN" altLang="en-US" dirty="0"/>
                  <a:t>接收到第一个编码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𝑧</m:t>
                        </m:r>
                      </m:e>
                      <m:sub>
                        <m:r>
                          <a:rPr lang="en-US" altLang="zh-CN" i="1" dirty="0">
                            <a:latin typeface="Cambria Math" panose="02040503050406030204" pitchFamily="18" charset="0"/>
                          </a:rPr>
                          <m:t>1</m:t>
                        </m:r>
                      </m:sub>
                    </m:sSub>
                  </m:oMath>
                </a14:m>
                <a:r>
                  <a:rPr lang="zh-CN" altLang="en-US" dirty="0"/>
                  <a:t>，根据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e>
                      <m:e>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e>
                    </m:d>
                  </m:oMath>
                </a14:m>
                <a:r>
                  <a:rPr lang="zh-CN" altLang="en-US" dirty="0"/>
                  <a:t> 进行算术解码，得到</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 </m:t>
                        </m:r>
                        <m:r>
                          <m:rPr>
                            <m:sty m:val="p"/>
                          </m:rPr>
                          <a:rPr lang="en-US" altLang="zh-CN" i="1" dirty="0">
                            <a:latin typeface="Cambria Math" panose="02040503050406030204" pitchFamily="18" charset="0"/>
                          </a:rPr>
                          <m:t>x</m:t>
                        </m:r>
                      </m:e>
                      <m:sub>
                        <m:r>
                          <a:rPr lang="en-US" altLang="zh-CN" i="1" dirty="0">
                            <a:latin typeface="Cambria Math" panose="02040503050406030204" pitchFamily="18" charset="0"/>
                          </a:rPr>
                          <m:t>1</m:t>
                        </m:r>
                      </m:sub>
                    </m:sSub>
                  </m:oMath>
                </a14:m>
                <a:r>
                  <a:rPr lang="zh-CN" altLang="en-US" dirty="0"/>
                  <a:t>。</a:t>
                </a:r>
              </a:p>
              <a:p>
                <a:pPr marL="457200" indent="-457200">
                  <a:buFont typeface="+mj-lt"/>
                  <a:buAutoNum type="arabicPeriod"/>
                </a:pPr>
                <a:r>
                  <a:rPr lang="zh-CN" altLang="en-US" dirty="0"/>
                  <a:t>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sub>
                    </m:sSub>
                  </m:oMath>
                </a14:m>
                <a:r>
                  <a:rPr lang="en-US" altLang="zh-CN" dirty="0"/>
                  <a:t> </a:t>
                </a:r>
                <a:r>
                  <a:rPr lang="zh-CN" altLang="en-US" dirty="0"/>
                  <a:t>和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e>
                      <m:e>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e>
                    </m:d>
                  </m:oMath>
                </a14:m>
                <a:r>
                  <a:rPr lang="zh-CN" altLang="en-US" dirty="0"/>
                  <a:t> 作为训练样本，进行一次梯度下降，更新自己的语言模型为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2</m:t>
                        </m:r>
                      </m:sub>
                    </m:sSub>
                  </m:oMath>
                </a14:m>
                <a:r>
                  <a:rPr lang="zh-CN" altLang="en-US" dirty="0"/>
                  <a:t>。</a:t>
                </a:r>
              </a:p>
              <a:p>
                <a:pPr marL="457200" indent="-457200">
                  <a:buFont typeface="+mj-lt"/>
                  <a:buAutoNum type="arabicPeriod"/>
                </a:pPr>
                <a:r>
                  <a:rPr lang="zh-CN" altLang="en-US" dirty="0"/>
                  <a:t>运行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2</m:t>
                        </m:r>
                      </m:sub>
                    </m:sSub>
                  </m:oMath>
                </a14:m>
                <a:r>
                  <a:rPr lang="zh-CN" altLang="en-US" dirty="0"/>
                  <a:t>，预测下一个概率分布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2</m:t>
                            </m:r>
                          </m:sub>
                        </m:sSub>
                      </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b="0" i="1" dirty="0" smtClean="0">
                                <a:latin typeface="Cambria Math" panose="02040503050406030204" pitchFamily="18" charset="0"/>
                              </a:rPr>
                              <m:t>2</m:t>
                            </m:r>
                          </m:sub>
                        </m:sSub>
                      </m:e>
                    </m:d>
                    <m:r>
                      <a:rPr lang="en-US" altLang="zh-CN" i="1" dirty="0">
                        <a:latin typeface="Cambria Math" panose="02040503050406030204" pitchFamily="18" charset="0"/>
                      </a:rPr>
                      <m:t> </m:t>
                    </m:r>
                  </m:oMath>
                </a14:m>
                <a:r>
                  <a:rPr lang="zh-CN" altLang="en-US" dirty="0"/>
                  <a:t>。</a:t>
                </a:r>
              </a:p>
              <a:p>
                <a:pPr marL="457200" indent="-457200">
                  <a:buFont typeface="+mj-lt"/>
                  <a:buAutoNum type="arabicPeriod"/>
                </a:pPr>
                <a:r>
                  <a:rPr lang="zh-CN" altLang="en-US" dirty="0"/>
                  <a:t>接收到第二个编码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2</m:t>
                        </m:r>
                      </m:sub>
                    </m:sSub>
                  </m:oMath>
                </a14:m>
                <a:r>
                  <a:rPr lang="zh-CN" altLang="en-US" dirty="0"/>
                  <a:t>，根据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2</m:t>
                            </m:r>
                          </m:sub>
                        </m:sSub>
                      </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2</m:t>
                            </m:r>
                          </m:sub>
                        </m:sSub>
                      </m:e>
                    </m:d>
                  </m:oMath>
                </a14:m>
                <a:r>
                  <a:rPr lang="zh-CN" altLang="en-US" dirty="0"/>
                  <a:t> 进行算术解码，得到</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 </m:t>
                        </m:r>
                        <m:r>
                          <m:rPr>
                            <m:sty m:val="p"/>
                          </m:rPr>
                          <a:rPr lang="en-US" altLang="zh-CN" i="1" dirty="0">
                            <a:latin typeface="Cambria Math" panose="02040503050406030204" pitchFamily="18" charset="0"/>
                          </a:rPr>
                          <m:t>x</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 </m:t>
                    </m:r>
                  </m:oMath>
                </a14:m>
                <a:r>
                  <a:rPr lang="zh-CN" altLang="en-US" dirty="0"/>
                  <a:t>。</a:t>
                </a:r>
              </a:p>
              <a:p>
                <a:pPr marL="457200" indent="-457200">
                  <a:buFont typeface="+mj-lt"/>
                  <a:buAutoNum type="arabicPeriod"/>
                </a:pPr>
                <a:r>
                  <a:rPr lang="zh-CN" altLang="en-US" dirty="0"/>
                  <a:t>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2</m:t>
                        </m:r>
                      </m:sub>
                    </m:sSub>
                  </m:oMath>
                </a14:m>
                <a:r>
                  <a:rPr lang="en-US" altLang="zh-CN" dirty="0"/>
                  <a:t> </a:t>
                </a:r>
                <a:r>
                  <a:rPr lang="zh-CN" altLang="en-US" dirty="0"/>
                  <a:t>和 </a:t>
                </a:r>
                <a14:m>
                  <m:oMath xmlns:m="http://schemas.openxmlformats.org/officeDocument/2006/math">
                    <m:r>
                      <a:rPr lang="en-US" altLang="zh-CN" i="1" dirty="0">
                        <a:latin typeface="Cambria Math" panose="02040503050406030204" pitchFamily="18" charset="0"/>
                      </a:rPr>
                      <m:t>𝑞</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2</m:t>
                            </m:r>
                          </m:sub>
                        </m:sSub>
                      </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2</m:t>
                            </m:r>
                          </m:sub>
                        </m:sSub>
                      </m:e>
                    </m:d>
                  </m:oMath>
                </a14:m>
                <a:r>
                  <a:rPr lang="zh-CN" altLang="en-US" dirty="0"/>
                  <a:t> 作为训练样本，进行一次梯度下降，更新自己的语言模型为</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3</m:t>
                        </m:r>
                      </m:sub>
                    </m:sSub>
                  </m:oMath>
                </a14:m>
                <a:r>
                  <a:rPr lang="zh-CN" altLang="en-US" dirty="0"/>
                  <a:t>。</a:t>
                </a:r>
              </a:p>
              <a:p>
                <a:pPr marL="457200" indent="-457200">
                  <a:buFont typeface="+mj-lt"/>
                  <a:buAutoNum type="arabicPeriod"/>
                </a:pPr>
                <a:r>
                  <a:rPr lang="zh-CN" altLang="en-US" dirty="0"/>
                  <a:t>重复上述过程，每接收到一个编码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𝑡</m:t>
                        </m:r>
                      </m:sub>
                    </m:sSub>
                  </m:oMath>
                </a14:m>
                <a:r>
                  <a:rPr lang="zh-CN" altLang="en-US" dirty="0"/>
                  <a:t> ，就用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𝑡</m:t>
                        </m:r>
                      </m:sub>
                    </m:sSub>
                  </m:oMath>
                </a14:m>
                <a:r>
                  <a:rPr lang="en-US" altLang="zh-CN" i="1" dirty="0"/>
                  <a:t> </a:t>
                </a:r>
                <a:r>
                  <a:rPr lang="zh-CN" altLang="en-US" dirty="0"/>
                  <a:t>和 </a:t>
                </a:r>
                <a14:m>
                  <m:oMath xmlns:m="http://schemas.openxmlformats.org/officeDocument/2006/math">
                    <m:r>
                      <a:rPr lang="en-US" altLang="zh-CN" i="1" dirty="0" smtClean="0">
                        <a:latin typeface="Cambria Math" panose="02040503050406030204" pitchFamily="18" charset="0"/>
                      </a:rPr>
                      <m:t>𝑞</m:t>
                    </m:r>
                    <m:r>
                      <a:rPr lang="en-US" altLang="zh-CN" i="1" dirty="0" smtClean="0">
                        <a:latin typeface="Cambria Math" panose="02040503050406030204" pitchFamily="18" charset="0"/>
                      </a:rPr>
                      <m:t>(</m:t>
                    </m:r>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𝑥</m:t>
                        </m:r>
                      </m:e>
                      <m:sub>
                        <m:r>
                          <a:rPr lang="en-US" altLang="zh-CN" i="1" dirty="0" err="1" smtClean="0">
                            <a:latin typeface="Cambria Math" panose="02040503050406030204" pitchFamily="18" charset="0"/>
                          </a:rPr>
                          <m:t>𝑡</m:t>
                        </m:r>
                      </m:sub>
                    </m:sSub>
                    <m:r>
                      <a:rPr lang="en-US" altLang="zh-CN" i="1" dirty="0" err="1"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err="1" smtClean="0">
                            <a:latin typeface="Cambria Math" panose="02040503050406030204" pitchFamily="18" charset="0"/>
                          </a:rPr>
                          <m:t>𝑥</m:t>
                        </m:r>
                      </m:e>
                      <m:sub>
                        <m:r>
                          <a:rPr lang="en-US" altLang="zh-CN" i="1" dirty="0">
                            <a:latin typeface="Cambria Math" panose="02040503050406030204" pitchFamily="18" charset="0"/>
                          </a:rPr>
                          <m:t>1:</m:t>
                        </m:r>
                        <m:r>
                          <a:rPr lang="en-US" altLang="zh-CN" i="1" dirty="0">
                            <a:latin typeface="Cambria Math" panose="02040503050406030204" pitchFamily="18" charset="0"/>
                          </a:rPr>
                          <m:t>𝑡</m:t>
                        </m:r>
                        <m:r>
                          <a:rPr lang="en-US" altLang="zh-CN" i="1" dirty="0">
                            <a:latin typeface="Cambria Math" panose="02040503050406030204" pitchFamily="18" charset="0"/>
                          </a:rPr>
                          <m:t>−1</m:t>
                        </m:r>
                      </m:sub>
                    </m:sSub>
                    <m:r>
                      <a:rPr lang="en-US" altLang="zh-CN" i="1" dirty="0" smtClean="0">
                        <a:latin typeface="Cambria Math" panose="02040503050406030204" pitchFamily="18" charset="0"/>
                      </a:rPr>
                      <m:t> , </m:t>
                    </m:r>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𝑓</m:t>
                        </m:r>
                      </m:e>
                      <m:sub>
                        <m:r>
                          <a:rPr lang="en-US" altLang="zh-CN" i="1" dirty="0" err="1" smtClean="0">
                            <a:latin typeface="Cambria Math" panose="02040503050406030204" pitchFamily="18" charset="0"/>
                          </a:rPr>
                          <m:t>𝑡</m:t>
                        </m:r>
                      </m:sub>
                    </m:sSub>
                    <m:r>
                      <a:rPr lang="en-US" altLang="zh-CN" i="1" dirty="0">
                        <a:latin typeface="Cambria Math" panose="02040503050406030204" pitchFamily="18" charset="0"/>
                      </a:rPr>
                      <m:t> )</m:t>
                    </m:r>
                  </m:oMath>
                </a14:m>
                <a:r>
                  <a:rPr lang="en-US" altLang="zh-CN" dirty="0"/>
                  <a:t> </a:t>
                </a:r>
                <a:r>
                  <a:rPr lang="zh-CN" altLang="en-US" dirty="0"/>
                  <a:t>更新模型为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oMath>
                </a14:m>
                <a:r>
                  <a:rPr lang="zh-CN" altLang="en-US" dirty="0"/>
                  <a:t>，再预测出下一概率分布 </a:t>
                </a:r>
                <a14:m>
                  <m:oMath xmlns:m="http://schemas.openxmlformats.org/officeDocument/2006/math">
                    <m:r>
                      <a:rPr lang="en-US" altLang="zh-CN" i="1" dirty="0" smtClean="0">
                        <a:latin typeface="Cambria Math" panose="02040503050406030204" pitchFamily="18" charset="0"/>
                      </a:rPr>
                      <m:t>𝑞</m:t>
                    </m:r>
                    <m:d>
                      <m:dPr>
                        <m:ctrlPr>
                          <a:rPr lang="en-US" altLang="zh-CN"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e>
                      <m:e>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𝑡</m:t>
                            </m:r>
                            <m:r>
                              <a:rPr lang="en-US" altLang="zh-CN" b="0" i="1" dirty="0" smtClean="0">
                                <a:latin typeface="Cambria Math" panose="02040503050406030204" pitchFamily="18" charset="0"/>
                              </a:rPr>
                              <m:t>+1</m:t>
                            </m:r>
                          </m:sub>
                        </m:sSub>
                      </m:e>
                    </m:d>
                  </m:oMath>
                </a14:m>
                <a:r>
                  <a:rPr lang="zh-CN" altLang="en-US" dirty="0"/>
                  <a:t>，进行算术解码，得到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a14:m>
                <a:r>
                  <a:rPr lang="zh-CN" altLang="en-US" dirty="0"/>
                  <a:t>，直到所有数据 </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𝑛</m:t>
                        </m:r>
                      </m:sub>
                    </m:sSub>
                  </m:oMath>
                </a14:m>
                <a:r>
                  <a:rPr lang="en-US" altLang="zh-CN" i="1" dirty="0"/>
                  <a:t> </a:t>
                </a:r>
                <a:r>
                  <a:rPr lang="zh-CN" altLang="en-US" dirty="0"/>
                  <a:t>都被解码完毕。 </a:t>
                </a:r>
                <a:br>
                  <a:rPr lang="zh-CN" altLang="en-US" dirty="0"/>
                </a:br>
                <a:endParaRPr lang="zh-CN" altLang="en-US" b="1" dirty="0"/>
              </a:p>
            </p:txBody>
          </p:sp>
        </mc:Choice>
        <mc:Fallback>
          <p:sp>
            <p:nvSpPr>
              <p:cNvPr id="4" name="内容占位符 3">
                <a:extLst>
                  <a:ext uri="{FF2B5EF4-FFF2-40B4-BE49-F238E27FC236}">
                    <a16:creationId xmlns:a16="http://schemas.microsoft.com/office/drawing/2014/main" id="{FBA34FF7-94C1-2AEB-EBD0-392B000B99BD}"/>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870" t="-1684" r="-3826"/>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4A1AB7D7-09B4-5316-8BC0-C2AA86FAE136}"/>
              </a:ext>
            </a:extLst>
          </p:cNvPr>
          <p:cNvSpPr>
            <a:spLocks noGrp="1"/>
          </p:cNvSpPr>
          <p:nvPr>
            <p:ph type="title"/>
          </p:nvPr>
        </p:nvSpPr>
        <p:spPr/>
        <p:txBody>
          <a:bodyPr/>
          <a:lstStyle/>
          <a:p>
            <a:r>
              <a:rPr lang="en-US" altLang="zh-CN" b="1" dirty="0"/>
              <a:t>Alice</a:t>
            </a:r>
            <a:r>
              <a:rPr lang="zh-CN" altLang="en-US" b="1" dirty="0"/>
              <a:t>与</a:t>
            </a:r>
            <a:r>
              <a:rPr lang="en-US" altLang="zh-CN" b="1" dirty="0"/>
              <a:t>Bob</a:t>
            </a:r>
            <a:r>
              <a:rPr lang="zh-CN" altLang="en-US" b="1" dirty="0"/>
              <a:t>的思想实验</a:t>
            </a:r>
          </a:p>
        </p:txBody>
      </p:sp>
    </p:spTree>
    <p:extLst>
      <p:ext uri="{BB962C8B-B14F-4D97-AF65-F5344CB8AC3E}">
        <p14:creationId xmlns:p14="http://schemas.microsoft.com/office/powerpoint/2010/main" val="860400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6F58-0C46-0D4E-96A9-0678024BE78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2C04EB8F-2596-9896-A308-C102640FDD76}"/>
                  </a:ext>
                </a:extLst>
              </p:cNvPr>
              <p:cNvSpPr>
                <a:spLocks noGrp="1"/>
              </p:cNvSpPr>
              <p:nvPr>
                <p:ph sz="quarter" idx="13"/>
              </p:nvPr>
            </p:nvSpPr>
            <p:spPr>
              <a:xfrm>
                <a:off x="838199" y="954723"/>
                <a:ext cx="10515599" cy="5796121"/>
              </a:xfrm>
            </p:spPr>
            <p:txBody>
              <a:bodyPr>
                <a:noAutofit/>
              </a:bodyPr>
              <a:lstStyle/>
              <a:p>
                <a:pPr>
                  <a:lnSpc>
                    <a:spcPct val="150000"/>
                  </a:lnSpc>
                </a:pPr>
                <a:r>
                  <a:rPr lang="zh-CN" altLang="en-US" b="1" dirty="0"/>
                  <a:t>对于这个过程，需要注意以下几点：</a:t>
                </a:r>
                <a:endParaRPr lang="en-US" altLang="zh-CN" b="1" dirty="0"/>
              </a:p>
              <a:p>
                <a:pPr lvl="1">
                  <a:lnSpc>
                    <a:spcPct val="150000"/>
                  </a:lnSpc>
                </a:pPr>
                <a:r>
                  <a:rPr lang="zh-CN" altLang="en-US" dirty="0"/>
                  <a:t>模型权重不需要通过信道进行传输，传输内容只有模型代码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b="0" i="1" dirty="0" smtClean="0">
                            <a:latin typeface="Cambria Math" panose="02040503050406030204" pitchFamily="18" charset="0"/>
                          </a:rPr>
                          <m:t>𝑓</m:t>
                        </m:r>
                      </m:sub>
                    </m:sSub>
                  </m:oMath>
                </a14:m>
                <a:r>
                  <a:rPr lang="en-US" altLang="zh-CN" sz="1200" i="1" dirty="0"/>
                  <a:t> </a:t>
                </a:r>
                <a:r>
                  <a:rPr lang="zh-CN" altLang="en-US" dirty="0"/>
                  <a:t>和算术编码后的比特流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𝑛</m:t>
                        </m:r>
                      </m:sub>
                    </m:sSub>
                  </m:oMath>
                </a14:m>
                <a:r>
                  <a:rPr lang="zh-CN" altLang="en-US" dirty="0"/>
                  <a:t>。</a:t>
                </a:r>
                <a:endParaRPr lang="en-US" altLang="zh-CN" dirty="0"/>
              </a:p>
              <a:p>
                <a:pPr lvl="1">
                  <a:lnSpc>
                    <a:spcPct val="150000"/>
                  </a:lnSpc>
                </a:pPr>
                <a:r>
                  <a:rPr lang="en-US" altLang="zh-CN" dirty="0"/>
                  <a:t>Alice </a:t>
                </a:r>
                <a:r>
                  <a:rPr lang="zh-CN" altLang="en-US" dirty="0"/>
                  <a:t>和 </a:t>
                </a:r>
                <a:r>
                  <a:rPr lang="en-US" altLang="zh-CN" dirty="0"/>
                  <a:t>Bob </a:t>
                </a:r>
                <a:r>
                  <a:rPr lang="zh-CN" altLang="en-US" dirty="0"/>
                  <a:t>的模型在每次更新后都是保持完全相同的。</a:t>
                </a:r>
                <a:endParaRPr lang="en-US" altLang="zh-CN" dirty="0"/>
              </a:p>
              <a:p>
                <a:pPr lvl="1">
                  <a:lnSpc>
                    <a:spcPct val="150000"/>
                  </a:lnSpc>
                </a:pPr>
                <a:r>
                  <a:rPr lang="zh-CN" altLang="en-US" dirty="0"/>
                  <a:t>传输是完全无损的，编码和解码过程完全互逆。 </a:t>
                </a:r>
                <a:br>
                  <a:rPr lang="zh-CN" altLang="en-US" dirty="0"/>
                </a:br>
                <a:endParaRPr lang="en-US" altLang="zh-CN" b="1" dirty="0"/>
              </a:p>
            </p:txBody>
          </p:sp>
        </mc:Choice>
        <mc:Fallback>
          <p:sp>
            <p:nvSpPr>
              <p:cNvPr id="4" name="内容占位符 3">
                <a:extLst>
                  <a:ext uri="{FF2B5EF4-FFF2-40B4-BE49-F238E27FC236}">
                    <a16:creationId xmlns:a16="http://schemas.microsoft.com/office/drawing/2014/main" id="{2C04EB8F-2596-9896-A308-C102640FDD76}"/>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754" r="-580"/>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9917CDE0-B4A7-6687-9B88-DF3C53691BEB}"/>
              </a:ext>
            </a:extLst>
          </p:cNvPr>
          <p:cNvSpPr>
            <a:spLocks noGrp="1"/>
          </p:cNvSpPr>
          <p:nvPr>
            <p:ph type="title"/>
          </p:nvPr>
        </p:nvSpPr>
        <p:spPr/>
        <p:txBody>
          <a:bodyPr/>
          <a:lstStyle/>
          <a:p>
            <a:r>
              <a:rPr lang="en-US" altLang="zh-CN" b="1" dirty="0"/>
              <a:t>Alice</a:t>
            </a:r>
            <a:r>
              <a:rPr lang="zh-CN" altLang="en-US" b="1" dirty="0"/>
              <a:t>与</a:t>
            </a:r>
            <a:r>
              <a:rPr lang="en-US" altLang="zh-CN" b="1" dirty="0"/>
              <a:t>Bob</a:t>
            </a:r>
            <a:r>
              <a:rPr lang="zh-CN" altLang="en-US" b="1" dirty="0"/>
              <a:t>的思想实验</a:t>
            </a:r>
          </a:p>
        </p:txBody>
      </p:sp>
    </p:spTree>
    <p:extLst>
      <p:ext uri="{BB962C8B-B14F-4D97-AF65-F5344CB8AC3E}">
        <p14:creationId xmlns:p14="http://schemas.microsoft.com/office/powerpoint/2010/main" val="247972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B36D-2808-FEC7-9116-439316014CE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1E9F8637-D482-2658-73FF-EB4878E0A295}"/>
                  </a:ext>
                </a:extLst>
              </p:cNvPr>
              <p:cNvSpPr>
                <a:spLocks noGrp="1"/>
              </p:cNvSpPr>
              <p:nvPr>
                <p:ph sz="quarter" idx="13"/>
              </p:nvPr>
            </p:nvSpPr>
            <p:spPr>
              <a:xfrm>
                <a:off x="838199" y="954723"/>
                <a:ext cx="10515599" cy="5796121"/>
              </a:xfrm>
            </p:spPr>
            <p:txBody>
              <a:bodyPr>
                <a:noAutofit/>
              </a:bodyPr>
              <a:lstStyle/>
              <a:p>
                <a:pPr>
                  <a:lnSpc>
                    <a:spcPct val="150000"/>
                  </a:lnSpc>
                </a:pPr>
                <a:r>
                  <a:rPr lang="zh-CN" altLang="en-US" dirty="0"/>
                  <a:t>在上述场景中，假设真实概率分布为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𝑡</m:t>
                        </m:r>
                      </m:sub>
                    </m:sSub>
                    <m:r>
                      <a:rPr lang="en-US" altLang="zh-CN" i="1" dirty="0" smtClean="0">
                        <a:latin typeface="Cambria Math" panose="02040503050406030204" pitchFamily="18" charset="0"/>
                      </a:rPr>
                      <m:t>)</m:t>
                    </m:r>
                  </m:oMath>
                </a14:m>
                <a:r>
                  <a:rPr lang="zh-CN" altLang="en-US" dirty="0"/>
                  <a:t>，而模型预测的概率分布为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𝑞</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𝑡</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oMath>
                </a14:m>
                <a:r>
                  <a:rPr lang="zh-CN" altLang="en-US" dirty="0"/>
                  <a:t>。根据算术编码的渐进最优性，可以得到每个编码字符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i="1" dirty="0" smtClean="0">
                            <a:latin typeface="Cambria Math" panose="02040503050406030204" pitchFamily="18" charset="0"/>
                          </a:rPr>
                          <m:t>𝑖</m:t>
                        </m:r>
                      </m:sub>
                    </m:sSub>
                  </m:oMath>
                </a14:m>
                <a:r>
                  <a:rPr lang="en-US" altLang="zh-CN" i="1" dirty="0"/>
                  <a:t> </a:t>
                </a:r>
                <a:r>
                  <a:rPr lang="zh-CN" altLang="en-US" dirty="0"/>
                  <a:t>的期望长度为： </a:t>
                </a:r>
                <a:br>
                  <a:rPr lang="zh-CN" altLang="en-US" dirty="0"/>
                </a:br>
                <a:endParaRPr lang="en-US" altLang="zh-CN" b="1" dirty="0"/>
              </a:p>
            </p:txBody>
          </p:sp>
        </mc:Choice>
        <mc:Fallback>
          <p:sp>
            <p:nvSpPr>
              <p:cNvPr id="4" name="内容占位符 3">
                <a:extLst>
                  <a:ext uri="{FF2B5EF4-FFF2-40B4-BE49-F238E27FC236}">
                    <a16:creationId xmlns:a16="http://schemas.microsoft.com/office/drawing/2014/main" id="{1E9F8637-D482-2658-73FF-EB4878E0A295}"/>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754"/>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65FA41F8-FBB6-6533-E23F-EF155AE33DC5}"/>
              </a:ext>
            </a:extLst>
          </p:cNvPr>
          <p:cNvSpPr>
            <a:spLocks noGrp="1"/>
          </p:cNvSpPr>
          <p:nvPr>
            <p:ph type="title"/>
          </p:nvPr>
        </p:nvSpPr>
        <p:spPr/>
        <p:txBody>
          <a:bodyPr/>
          <a:lstStyle/>
          <a:p>
            <a:r>
              <a:rPr lang="zh-CN" altLang="en-US" b="1" dirty="0"/>
              <a:t>针对</a:t>
            </a:r>
            <a:r>
              <a:rPr lang="en-US" altLang="zh-CN" b="1" dirty="0"/>
              <a:t>Alice</a:t>
            </a:r>
            <a:r>
              <a:rPr lang="zh-CN" altLang="en-US" b="1" dirty="0"/>
              <a:t>与</a:t>
            </a:r>
            <a:r>
              <a:rPr lang="en-US" altLang="zh-CN" b="1" dirty="0"/>
              <a:t>Bob</a:t>
            </a:r>
            <a:r>
              <a:rPr lang="zh-CN" altLang="en-US" b="1" dirty="0"/>
              <a:t>的思想实验的讨论</a:t>
            </a:r>
          </a:p>
        </p:txBody>
      </p:sp>
      <p:pic>
        <p:nvPicPr>
          <p:cNvPr id="5" name="图片 4">
            <a:extLst>
              <a:ext uri="{FF2B5EF4-FFF2-40B4-BE49-F238E27FC236}">
                <a16:creationId xmlns:a16="http://schemas.microsoft.com/office/drawing/2014/main" id="{E5800E6A-D2F0-8D2E-3D8C-BA68560695AE}"/>
              </a:ext>
            </a:extLst>
          </p:cNvPr>
          <p:cNvPicPr>
            <a:picLocks noChangeAspect="1"/>
          </p:cNvPicPr>
          <p:nvPr/>
        </p:nvPicPr>
        <p:blipFill>
          <a:blip r:embed="rId4"/>
          <a:stretch>
            <a:fillRect/>
          </a:stretch>
        </p:blipFill>
        <p:spPr>
          <a:xfrm>
            <a:off x="3233349" y="2618791"/>
            <a:ext cx="5296290" cy="3967699"/>
          </a:xfrm>
          <a:prstGeom prst="rect">
            <a:avLst/>
          </a:prstGeom>
        </p:spPr>
      </p:pic>
      <p:sp>
        <p:nvSpPr>
          <p:cNvPr id="6" name="箭头: 下 5">
            <a:extLst>
              <a:ext uri="{FF2B5EF4-FFF2-40B4-BE49-F238E27FC236}">
                <a16:creationId xmlns:a16="http://schemas.microsoft.com/office/drawing/2014/main" id="{FA761019-04C0-01D5-59D0-B2A8D1739730}"/>
              </a:ext>
            </a:extLst>
          </p:cNvPr>
          <p:cNvSpPr/>
          <p:nvPr/>
        </p:nvSpPr>
        <p:spPr>
          <a:xfrm rot="5400000">
            <a:off x="6686551" y="5672136"/>
            <a:ext cx="285750" cy="9572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9957294-B06B-48D3-E416-A4293071CC91}"/>
              </a:ext>
            </a:extLst>
          </p:cNvPr>
          <p:cNvSpPr txBox="1"/>
          <p:nvPr/>
        </p:nvSpPr>
        <p:spPr>
          <a:xfrm>
            <a:off x="7429500" y="5924311"/>
            <a:ext cx="1338828" cy="369332"/>
          </a:xfrm>
          <a:prstGeom prst="rect">
            <a:avLst/>
          </a:prstGeom>
          <a:noFill/>
        </p:spPr>
        <p:txBody>
          <a:bodyPr wrap="none" rtlCol="0">
            <a:spAutoFit/>
          </a:bodyPr>
          <a:lstStyle/>
          <a:p>
            <a:r>
              <a:rPr lang="zh-CN" altLang="en-US" dirty="0"/>
              <a:t>交叉熵形式</a:t>
            </a:r>
          </a:p>
        </p:txBody>
      </p:sp>
    </p:spTree>
    <p:extLst>
      <p:ext uri="{BB962C8B-B14F-4D97-AF65-F5344CB8AC3E}">
        <p14:creationId xmlns:p14="http://schemas.microsoft.com/office/powerpoint/2010/main" val="4272074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6974-906D-4775-93AE-2CF89137C4C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CCB2A0E0-3C59-24C1-52C4-6896B92EC800}"/>
                  </a:ext>
                </a:extLst>
              </p:cNvPr>
              <p:cNvSpPr>
                <a:spLocks noGrp="1"/>
              </p:cNvSpPr>
              <p:nvPr>
                <p:ph sz="quarter" idx="13"/>
              </p:nvPr>
            </p:nvSpPr>
            <p:spPr>
              <a:xfrm>
                <a:off x="838199" y="954723"/>
                <a:ext cx="10515599" cy="5796121"/>
              </a:xfrm>
            </p:spPr>
            <p:txBody>
              <a:bodyPr>
                <a:noAutofit/>
              </a:bodyPr>
              <a:lstStyle/>
              <a:p>
                <a:pPr>
                  <a:lnSpc>
                    <a:spcPct val="150000"/>
                  </a:lnSpc>
                </a:pPr>
                <a:r>
                  <a:rPr lang="zh-CN" altLang="en-US" dirty="0"/>
                  <a:t>总的传输数据量：</a:t>
                </a:r>
                <a:endParaRPr lang="en-US" altLang="zh-CN" dirty="0"/>
              </a:p>
              <a:p>
                <a:pPr>
                  <a:lnSpc>
                    <a:spcPct val="150000"/>
                  </a:lnSpc>
                </a:pPr>
                <a:r>
                  <a:rPr lang="zh-CN" altLang="en-US" dirty="0"/>
                  <a:t>模型预测能力越强，预测分布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𝑞</m:t>
                        </m:r>
                      </m:e>
                      <m:sub>
                        <m:r>
                          <a:rPr lang="en-US" altLang="zh-CN" i="1" dirty="0" smtClean="0">
                            <a:latin typeface="Cambria Math" panose="02040503050406030204" pitchFamily="18" charset="0"/>
                          </a:rPr>
                          <m:t>𝑡</m:t>
                        </m:r>
                      </m:sub>
                    </m:sSub>
                  </m:oMath>
                </a14:m>
                <a:r>
                  <a:rPr lang="en-US" altLang="zh-CN" i="1" dirty="0"/>
                  <a:t> </a:t>
                </a:r>
                <a:r>
                  <a:rPr lang="zh-CN" altLang="en-US" dirty="0"/>
                  <a:t>越接近真实分布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𝑡</m:t>
                        </m:r>
                      </m:sub>
                    </m:sSub>
                  </m:oMath>
                </a14:m>
                <a:r>
                  <a:rPr lang="zh-CN" altLang="en-US" dirty="0"/>
                  <a:t>，则 </a:t>
                </a:r>
                <a14:m>
                  <m:oMath xmlns:m="http://schemas.openxmlformats.org/officeDocument/2006/math">
                    <m:r>
                      <a:rPr lang="en-US" altLang="zh-CN" i="1" dirty="0" smtClean="0">
                        <a:latin typeface="Cambria Math" panose="02040503050406030204" pitchFamily="18" charset="0"/>
                      </a:rPr>
                      <m:t>𝐻</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𝑡</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𝑞</m:t>
                        </m:r>
                      </m:e>
                      <m:sub>
                        <m:r>
                          <a:rPr lang="en-US" altLang="zh-CN" i="1" dirty="0" smtClean="0">
                            <a:latin typeface="Cambria Math" panose="02040503050406030204" pitchFamily="18" charset="0"/>
                          </a:rPr>
                          <m:t>𝑡</m:t>
                        </m:r>
                      </m:sub>
                    </m:sSub>
                    <m:r>
                      <a:rPr lang="en-US" altLang="zh-CN" i="1" dirty="0" smtClean="0">
                        <a:latin typeface="Cambria Math" panose="02040503050406030204" pitchFamily="18" charset="0"/>
                      </a:rPr>
                      <m:t>) </m:t>
                    </m:r>
                  </m:oMath>
                </a14:m>
                <a:r>
                  <a:rPr lang="zh-CN" altLang="en-US" dirty="0"/>
                  <a:t>越小，编码长度 </a:t>
                </a:r>
                <a14:m>
                  <m:oMath xmlns:m="http://schemas.openxmlformats.org/officeDocument/2006/math">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𝑧</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en-US" altLang="zh-CN" dirty="0"/>
                  <a:t> </a:t>
                </a:r>
                <a:r>
                  <a:rPr lang="zh-CN" altLang="en-US" dirty="0"/>
                  <a:t>也就越小。 </a:t>
                </a:r>
                <a:endParaRPr lang="en-US" altLang="zh-CN" dirty="0"/>
              </a:p>
              <a:p>
                <a:pPr>
                  <a:lnSpc>
                    <a:spcPct val="150000"/>
                  </a:lnSpc>
                </a:pPr>
                <a:r>
                  <a:rPr lang="zh-CN" altLang="en-US" dirty="0"/>
                  <a:t>当 </a:t>
                </a:r>
                <a:r>
                  <a:rPr lang="en-US" altLang="zh-CN" i="1" dirty="0"/>
                  <a:t>n </a:t>
                </a:r>
                <a:r>
                  <a:rPr lang="zh-CN" altLang="en-US" i="1" dirty="0"/>
                  <a:t>→ ∞ </a:t>
                </a:r>
                <a:r>
                  <a:rPr lang="zh-CN" altLang="en-US" dirty="0"/>
                  <a:t>时，传输模型代码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𝑓</m:t>
                        </m:r>
                      </m:sub>
                    </m:sSub>
                  </m:oMath>
                </a14:m>
                <a:r>
                  <a:rPr lang="zh-CN" altLang="en-US" dirty="0"/>
                  <a:t>所需要的数据量可以忽略不计，数据压缩的目标变为最小化预测分布与真实分布之间的交叉熵。 </a:t>
                </a:r>
                <a:endParaRPr lang="en-US" altLang="zh-CN" dirty="0"/>
              </a:p>
              <a:p>
                <a:pPr>
                  <a:lnSpc>
                    <a:spcPct val="150000"/>
                  </a:lnSpc>
                </a:pPr>
                <a:r>
                  <a:rPr lang="zh-CN" altLang="en-US" dirty="0"/>
                  <a:t>而在机器学习领域，损失函数用于度量模型预测的概率分布与真实分布之间的差异。基于最小化交叉熵损失原则的模型训练是通过不断迭代减少交叉熵损失函数来优化模型性能，这与当前最小化传输数据量的目标完全一致。 </a:t>
                </a:r>
                <a:br>
                  <a:rPr lang="zh-CN" altLang="en-US" dirty="0"/>
                </a:br>
                <a:br>
                  <a:rPr lang="zh-CN" altLang="en-US" dirty="0"/>
                </a:br>
                <a:br>
                  <a:rPr lang="zh-CN" altLang="en-US" dirty="0"/>
                </a:br>
                <a:br>
                  <a:rPr lang="zh-CN" altLang="en-US" dirty="0"/>
                </a:br>
                <a:r>
                  <a:rPr lang="zh-CN" altLang="en-US" dirty="0"/>
                  <a:t> </a:t>
                </a:r>
                <a:endParaRPr lang="en-US" altLang="zh-CN" b="1" dirty="0"/>
              </a:p>
            </p:txBody>
          </p:sp>
        </mc:Choice>
        <mc:Fallback>
          <p:sp>
            <p:nvSpPr>
              <p:cNvPr id="4" name="内容占位符 3">
                <a:extLst>
                  <a:ext uri="{FF2B5EF4-FFF2-40B4-BE49-F238E27FC236}">
                    <a16:creationId xmlns:a16="http://schemas.microsoft.com/office/drawing/2014/main" id="{CCB2A0E0-3C59-24C1-52C4-6896B92EC800}"/>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754" r="-522"/>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7723344C-B45B-08E0-8DEE-CEB03EF69FBC}"/>
              </a:ext>
            </a:extLst>
          </p:cNvPr>
          <p:cNvSpPr>
            <a:spLocks noGrp="1"/>
          </p:cNvSpPr>
          <p:nvPr>
            <p:ph type="title"/>
          </p:nvPr>
        </p:nvSpPr>
        <p:spPr/>
        <p:txBody>
          <a:bodyPr/>
          <a:lstStyle/>
          <a:p>
            <a:r>
              <a:rPr lang="zh-CN" altLang="en-US" b="1" dirty="0"/>
              <a:t>针对</a:t>
            </a:r>
            <a:r>
              <a:rPr lang="en-US" altLang="zh-CN" b="1" dirty="0"/>
              <a:t>Alice</a:t>
            </a:r>
            <a:r>
              <a:rPr lang="zh-CN" altLang="en-US" b="1" dirty="0"/>
              <a:t>与</a:t>
            </a:r>
            <a:r>
              <a:rPr lang="en-US" altLang="zh-CN" b="1" dirty="0"/>
              <a:t>Bob</a:t>
            </a:r>
            <a:r>
              <a:rPr lang="zh-CN" altLang="en-US" b="1" dirty="0"/>
              <a:t>的思想实验的讨论</a:t>
            </a:r>
          </a:p>
        </p:txBody>
      </p:sp>
      <p:pic>
        <p:nvPicPr>
          <p:cNvPr id="8" name="图片 7">
            <a:extLst>
              <a:ext uri="{FF2B5EF4-FFF2-40B4-BE49-F238E27FC236}">
                <a16:creationId xmlns:a16="http://schemas.microsoft.com/office/drawing/2014/main" id="{2199C124-EDED-0CCD-6F5E-74F837EDA3E0}"/>
              </a:ext>
            </a:extLst>
          </p:cNvPr>
          <p:cNvPicPr>
            <a:picLocks noChangeAspect="1"/>
          </p:cNvPicPr>
          <p:nvPr/>
        </p:nvPicPr>
        <p:blipFill>
          <a:blip r:embed="rId4"/>
          <a:stretch>
            <a:fillRect/>
          </a:stretch>
        </p:blipFill>
        <p:spPr>
          <a:xfrm>
            <a:off x="3745343" y="954723"/>
            <a:ext cx="5210902" cy="838317"/>
          </a:xfrm>
          <a:prstGeom prst="rect">
            <a:avLst/>
          </a:prstGeom>
        </p:spPr>
      </p:pic>
    </p:spTree>
    <p:extLst>
      <p:ext uri="{BB962C8B-B14F-4D97-AF65-F5344CB8AC3E}">
        <p14:creationId xmlns:p14="http://schemas.microsoft.com/office/powerpoint/2010/main" val="57480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560B-C2AB-B60D-77D6-F6F8B696377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E94E5706-4FE8-5A67-02A0-09F0CAB692D1}"/>
                  </a:ext>
                </a:extLst>
              </p:cNvPr>
              <p:cNvSpPr>
                <a:spLocks noGrp="1"/>
              </p:cNvSpPr>
              <p:nvPr>
                <p:ph sz="quarter" idx="13"/>
              </p:nvPr>
            </p:nvSpPr>
            <p:spPr>
              <a:xfrm>
                <a:off x="838199" y="954723"/>
                <a:ext cx="10515599" cy="5796121"/>
              </a:xfrm>
            </p:spPr>
            <p:txBody>
              <a:bodyPr>
                <a:noAutofit/>
              </a:bodyPr>
              <a:lstStyle/>
              <a:p>
                <a:pPr>
                  <a:lnSpc>
                    <a:spcPct val="150000"/>
                  </a:lnSpc>
                </a:pPr>
                <a:r>
                  <a:rPr lang="zh-CN" altLang="en-US" dirty="0"/>
                  <a:t>上面的场景可以看作一个两阶段编码实现数据集最小描述长度（</a:t>
                </a:r>
                <a:r>
                  <a:rPr lang="en-US" altLang="zh-CN" dirty="0"/>
                  <a:t>MDL</a:t>
                </a:r>
                <a:r>
                  <a:rPr lang="zh-CN" altLang="en-US" dirty="0"/>
                  <a:t>）的过程。即：</a:t>
                </a:r>
                <a:endParaRPr lang="en-US" altLang="zh-CN" dirty="0"/>
              </a:p>
              <a:p>
                <a:pPr marL="914400" lvl="1" indent="-457200">
                  <a:buFont typeface="+mj-lt"/>
                  <a:buAutoNum type="arabicPeriod"/>
                </a:pPr>
                <a:r>
                  <a:rPr lang="zh-CN" altLang="en-US" dirty="0"/>
                  <a:t>首先选择一种编码方案来描述模型。这包括模型的类型、参数等。模型越复杂，</a:t>
                </a:r>
                <a14:m>
                  <m:oMath xmlns:m="http://schemas.openxmlformats.org/officeDocument/2006/math">
                    <m:r>
                      <a:rPr lang="en-US" altLang="zh-CN" i="1" dirty="0" smtClean="0">
                        <a:latin typeface="Cambria Math" panose="02040503050406030204" pitchFamily="18" charset="0"/>
                      </a:rPr>
                      <m:t>𝐿</m:t>
                    </m:r>
                    <m:r>
                      <a:rPr lang="en-US" altLang="zh-CN" i="1" dirty="0">
                        <a:latin typeface="Cambria Math" panose="02040503050406030204" pitchFamily="18" charset="0"/>
                      </a:rPr>
                      <m:t>(</m:t>
                    </m:r>
                    <m:r>
                      <a:rPr lang="en-US" altLang="zh-CN" i="1" dirty="0">
                        <a:latin typeface="Cambria Math" panose="02040503050406030204" pitchFamily="18" charset="0"/>
                      </a:rPr>
                      <m:t>𝑀</m:t>
                    </m:r>
                    <m:r>
                      <a:rPr lang="en-US" altLang="zh-CN" i="1" dirty="0">
                        <a:latin typeface="Cambria Math" panose="02040503050406030204" pitchFamily="18" charset="0"/>
                      </a:rPr>
                      <m:t>)</m:t>
                    </m:r>
                  </m:oMath>
                </a14:m>
                <a:r>
                  <a:rPr lang="en-US" altLang="zh-CN" dirty="0"/>
                  <a:t> </a:t>
                </a:r>
                <a:r>
                  <a:rPr lang="zh-CN" altLang="en-US" dirty="0"/>
                  <a:t>通常越大。</a:t>
                </a:r>
                <a:endParaRPr lang="en-US" altLang="zh-CN" dirty="0"/>
              </a:p>
              <a:p>
                <a:pPr marL="914400" lvl="1" indent="-457200">
                  <a:buFont typeface="+mj-lt"/>
                  <a:buAutoNum type="arabicPeriod"/>
                </a:pPr>
                <a:r>
                  <a:rPr lang="zh-CN" altLang="en-US" dirty="0"/>
                  <a:t>给定模型后对数据编码：如果模型与数据的匹配度高，</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oMath>
                </a14:m>
                <a:r>
                  <a:rPr lang="en-US" altLang="zh-CN" dirty="0"/>
                  <a:t> </a:t>
                </a:r>
                <a:r>
                  <a:rPr lang="zh-CN" altLang="en-US" dirty="0"/>
                  <a:t>将较小，因为模型可以有效地“解释”数据。 </a:t>
                </a:r>
                <a:endParaRPr lang="en-US" altLang="zh-CN" dirty="0"/>
              </a:p>
              <a:p>
                <a:endParaRPr lang="en-US" altLang="zh-CN" dirty="0"/>
              </a:p>
              <a:p>
                <a:r>
                  <a:rPr lang="zh-CN" altLang="en-US" dirty="0">
                    <a:solidFill>
                      <a:srgbClr val="000000"/>
                    </a:solidFill>
                    <a:latin typeface="FandolSong-Regular-Identity-H"/>
                  </a:rPr>
                  <a:t>使用 </a:t>
                </a:r>
                <a:r>
                  <a:rPr lang="en-US" altLang="zh-CN" dirty="0">
                    <a:solidFill>
                      <a:srgbClr val="000000"/>
                    </a:solidFill>
                    <a:latin typeface="NimbusRomNo9L-Regu"/>
                  </a:rPr>
                  <a:t>Kolmogorov </a:t>
                </a:r>
                <a:r>
                  <a:rPr lang="zh-CN" altLang="en-US" dirty="0">
                    <a:solidFill>
                      <a:srgbClr val="000000"/>
                    </a:solidFill>
                    <a:latin typeface="FandolSong-Regular-Identity-H"/>
                  </a:rPr>
                  <a:t>复杂度的形式可以写作</a:t>
                </a:r>
                <a:endParaRPr lang="zh-CN" altLang="en-US" dirty="0"/>
              </a:p>
              <a:p>
                <a:endParaRPr lang="en-US" altLang="zh-CN" dirty="0"/>
              </a:p>
              <a:p>
                <a:r>
                  <a:rPr lang="zh-CN" altLang="en-US" dirty="0"/>
                  <a:t>两阶段编码目标并非直接达到整体 </a:t>
                </a:r>
                <a:r>
                  <a:rPr lang="en-US" altLang="zh-CN" dirty="0"/>
                  <a:t>Kolmogorov </a:t>
                </a:r>
                <a:r>
                  <a:rPr lang="zh-CN" altLang="en-US" dirty="0"/>
                  <a:t>复杂度，而是在给定模型描述的情况下对数据编码进行优化，因此是对 </a:t>
                </a:r>
                <a:r>
                  <a:rPr lang="en-US" altLang="zh-CN" dirty="0"/>
                  <a:t>Kolmogorov </a:t>
                </a:r>
                <a:r>
                  <a:rPr lang="zh-CN" altLang="en-US" dirty="0"/>
                  <a:t>复杂度的一种近似实现。 </a:t>
                </a:r>
                <a:br>
                  <a:rPr lang="zh-CN" altLang="en-US" dirty="0"/>
                </a:br>
                <a:br>
                  <a:rPr lang="zh-CN" altLang="en-US" dirty="0"/>
                </a:br>
                <a:endParaRPr lang="en-US" altLang="zh-CN" b="1" dirty="0"/>
              </a:p>
            </p:txBody>
          </p:sp>
        </mc:Choice>
        <mc:Fallback>
          <p:sp>
            <p:nvSpPr>
              <p:cNvPr id="4" name="内容占位符 3">
                <a:extLst>
                  <a:ext uri="{FF2B5EF4-FFF2-40B4-BE49-F238E27FC236}">
                    <a16:creationId xmlns:a16="http://schemas.microsoft.com/office/drawing/2014/main" id="{E94E5706-4FE8-5A67-02A0-09F0CAB692D1}"/>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754" r="-3826"/>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C9E5F0D5-DC04-7600-B1E6-F367725E978D}"/>
              </a:ext>
            </a:extLst>
          </p:cNvPr>
          <p:cNvSpPr>
            <a:spLocks noGrp="1"/>
          </p:cNvSpPr>
          <p:nvPr>
            <p:ph type="title"/>
          </p:nvPr>
        </p:nvSpPr>
        <p:spPr/>
        <p:txBody>
          <a:bodyPr/>
          <a:lstStyle/>
          <a:p>
            <a:r>
              <a:rPr lang="en-US" altLang="zh-CN" b="1" dirty="0"/>
              <a:t>Kolmogorov </a:t>
            </a:r>
            <a:r>
              <a:rPr lang="zh-CN" altLang="en-US" b="1" dirty="0"/>
              <a:t>复杂度与最小描述长度视角下的讨论 </a:t>
            </a:r>
          </a:p>
        </p:txBody>
      </p:sp>
      <p:pic>
        <p:nvPicPr>
          <p:cNvPr id="5" name="图片 4">
            <a:extLst>
              <a:ext uri="{FF2B5EF4-FFF2-40B4-BE49-F238E27FC236}">
                <a16:creationId xmlns:a16="http://schemas.microsoft.com/office/drawing/2014/main" id="{599793BC-B931-BA3B-3DC1-B829AFC0F9C3}"/>
              </a:ext>
            </a:extLst>
          </p:cNvPr>
          <p:cNvPicPr>
            <a:picLocks noChangeAspect="1"/>
          </p:cNvPicPr>
          <p:nvPr/>
        </p:nvPicPr>
        <p:blipFill>
          <a:blip r:embed="rId4"/>
          <a:stretch>
            <a:fillRect/>
          </a:stretch>
        </p:blipFill>
        <p:spPr>
          <a:xfrm>
            <a:off x="4266942" y="3502699"/>
            <a:ext cx="3658111" cy="571580"/>
          </a:xfrm>
          <a:prstGeom prst="rect">
            <a:avLst/>
          </a:prstGeom>
        </p:spPr>
      </p:pic>
      <p:pic>
        <p:nvPicPr>
          <p:cNvPr id="14" name="图片 13">
            <a:extLst>
              <a:ext uri="{FF2B5EF4-FFF2-40B4-BE49-F238E27FC236}">
                <a16:creationId xmlns:a16="http://schemas.microsoft.com/office/drawing/2014/main" id="{15193172-A421-C59C-70E8-AEBDB5B59069}"/>
              </a:ext>
            </a:extLst>
          </p:cNvPr>
          <p:cNvPicPr>
            <a:picLocks noChangeAspect="1"/>
          </p:cNvPicPr>
          <p:nvPr/>
        </p:nvPicPr>
        <p:blipFill>
          <a:blip r:embed="rId5"/>
          <a:stretch>
            <a:fillRect/>
          </a:stretch>
        </p:blipFill>
        <p:spPr>
          <a:xfrm>
            <a:off x="3619151" y="4419557"/>
            <a:ext cx="4953691" cy="619211"/>
          </a:xfrm>
          <a:prstGeom prst="rect">
            <a:avLst/>
          </a:prstGeom>
        </p:spPr>
      </p:pic>
    </p:spTree>
    <p:extLst>
      <p:ext uri="{BB962C8B-B14F-4D97-AF65-F5344CB8AC3E}">
        <p14:creationId xmlns:p14="http://schemas.microsoft.com/office/powerpoint/2010/main" val="1680218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66BE9-655C-F151-F432-D497FA27C94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0DE1C61D-D583-454B-7F22-D5FF3BCD3DE7}"/>
                  </a:ext>
                </a:extLst>
              </p:cNvPr>
              <p:cNvSpPr>
                <a:spLocks noGrp="1"/>
              </p:cNvSpPr>
              <p:nvPr>
                <p:ph sz="quarter" idx="13"/>
              </p:nvPr>
            </p:nvSpPr>
            <p:spPr>
              <a:xfrm>
                <a:off x="838199" y="954723"/>
                <a:ext cx="10515599" cy="5796121"/>
              </a:xfrm>
            </p:spPr>
            <p:txBody>
              <a:bodyPr>
                <a:noAutofit/>
              </a:bodyPr>
              <a:lstStyle/>
              <a:p>
                <a:r>
                  <a:rPr lang="zh-CN" altLang="en-US" dirty="0"/>
                  <a:t>当模型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smtClean="0">
                            <a:latin typeface="Cambria Math" panose="02040503050406030204" pitchFamily="18" charset="0"/>
                          </a:rPr>
                          <m:t>𝑡</m:t>
                        </m:r>
                      </m:sub>
                    </m:sSub>
                  </m:oMath>
                </a14:m>
                <a:r>
                  <a:rPr lang="en-US" altLang="zh-CN" i="1" dirty="0"/>
                  <a:t> </a:t>
                </a:r>
                <a:r>
                  <a:rPr lang="zh-CN" altLang="en-US" dirty="0"/>
                  <a:t>收敛到最优模型 </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i="1" dirty="0" smtClean="0">
                            <a:latin typeface="Cambria Math" panose="02040503050406030204" pitchFamily="18" charset="0"/>
                          </a:rPr>
                          <m:t>𝑓</m:t>
                        </m:r>
                      </m:e>
                      <m:sub>
                        <m:r>
                          <a:rPr lang="en-US" altLang="zh-CN" b="0" i="1" dirty="0" smtClean="0">
                            <a:latin typeface="Cambria Math" panose="02040503050406030204" pitchFamily="18" charset="0"/>
                          </a:rPr>
                          <m:t>𝑡</m:t>
                        </m:r>
                      </m:sub>
                      <m:sup>
                        <m:r>
                          <a:rPr lang="zh-CN" altLang="en-US" i="1" dirty="0">
                            <a:latin typeface="Cambria Math" panose="02040503050406030204" pitchFamily="18" charset="0"/>
                          </a:rPr>
                          <m:t>∗</m:t>
                        </m:r>
                      </m:sup>
                    </m:sSubSup>
                  </m:oMath>
                </a14:m>
                <a:r>
                  <a:rPr lang="zh-CN" altLang="en-US" i="1" dirty="0"/>
                  <a:t> </a:t>
                </a:r>
                <a:r>
                  <a:rPr lang="zh-CN" altLang="en-US" dirty="0"/>
                  <a:t>时，</a:t>
                </a:r>
                <a14:m>
                  <m:oMath xmlns:m="http://schemas.openxmlformats.org/officeDocument/2006/math">
                    <m:f>
                      <m:fPr>
                        <m:ctrlPr>
                          <a:rPr lang="en-US" altLang="zh-CN" i="1" dirty="0" smtClean="0">
                            <a:latin typeface="Cambria Math" panose="02040503050406030204" pitchFamily="18" charset="0"/>
                          </a:rPr>
                        </m:ctrlPr>
                      </m:fPr>
                      <m:num>
                        <m:d>
                          <m:dPr>
                            <m:begChr m:val="|"/>
                            <m:endChr m:val="|"/>
                            <m:ctrlPr>
                              <a:rPr lang="en-US" altLang="zh-CN" i="1" dirty="0" smtClean="0">
                                <a:latin typeface="Cambria Math" panose="02040503050406030204" pitchFamily="18" charset="0"/>
                              </a:rPr>
                            </m:ctrlPr>
                          </m:dPr>
                          <m:e>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𝐶</m:t>
                                </m:r>
                              </m:e>
                              <m:sub>
                                <m:r>
                                  <a:rPr lang="en-US" altLang="zh-CN" i="1" dirty="0" err="1" smtClean="0">
                                    <a:latin typeface="Cambria Math" panose="02040503050406030204" pitchFamily="18" charset="0"/>
                                  </a:rPr>
                                  <m:t>𝑓</m:t>
                                </m:r>
                              </m:sub>
                            </m:sSub>
                          </m:e>
                        </m:d>
                      </m:num>
                      <m:den>
                        <m:r>
                          <a:rPr lang="en-US" altLang="zh-CN" i="1" dirty="0" smtClean="0">
                            <a:latin typeface="Cambria Math" panose="02040503050406030204" pitchFamily="18" charset="0"/>
                          </a:rPr>
                          <m:t>𝑛</m:t>
                        </m:r>
                      </m:den>
                    </m:f>
                  </m:oMath>
                </a14:m>
                <a:r>
                  <a:rPr lang="zh-CN" altLang="en-US" dirty="0"/>
                  <a:t> 对应于 </a:t>
                </a:r>
                <a14:m>
                  <m:oMath xmlns:m="http://schemas.openxmlformats.org/officeDocument/2006/math">
                    <m:r>
                      <a:rPr lang="en-US" altLang="zh-CN" i="1" dirty="0" smtClean="0">
                        <a:latin typeface="Cambria Math" panose="02040503050406030204" pitchFamily="18" charset="0"/>
                      </a:rPr>
                      <m:t>𝐾</m:t>
                    </m:r>
                    <m:r>
                      <a:rPr lang="en-US" altLang="zh-CN"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𝑓</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oMath>
                </a14:m>
                <a:r>
                  <a:rPr lang="zh-CN" altLang="en-US" dirty="0"/>
                  <a:t>（预测模型本身的</a:t>
                </a:r>
                <a:r>
                  <a:rPr lang="en-US" altLang="zh-CN" dirty="0"/>
                  <a:t>Kolmogorov </a:t>
                </a:r>
                <a:r>
                  <a:rPr lang="zh-CN" altLang="en-US" dirty="0"/>
                  <a:t>复杂度）</a:t>
                </a:r>
                <a:endParaRPr lang="en-US" altLang="zh-CN" dirty="0"/>
              </a:p>
              <a:p>
                <a:r>
                  <a:rPr lang="zh-CN" altLang="en-US" dirty="0"/>
                  <a:t>而交叉熵项</a:t>
                </a:r>
                <a:endParaRPr lang="en-US" altLang="zh-CN" dirty="0"/>
              </a:p>
              <a:p>
                <a:endParaRPr lang="en-US" altLang="zh-CN" dirty="0"/>
              </a:p>
              <a:p>
                <a:endParaRPr lang="en-US" altLang="zh-CN" dirty="0"/>
              </a:p>
              <a:p>
                <a:r>
                  <a:rPr lang="zh-CN" altLang="en-US" dirty="0"/>
                  <a:t>最优模型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𝑡</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i="1" dirty="0" smtClean="0">
                            <a:latin typeface="Cambria Math" panose="02040503050406030204" pitchFamily="18" charset="0"/>
                          </a:rPr>
                          <m:t>𝑡</m:t>
                        </m:r>
                      </m:sub>
                    </m:sSub>
                  </m:oMath>
                </a14:m>
                <a:r>
                  <a:rPr lang="zh-CN" altLang="en-US" dirty="0"/>
                  <a:t>， </a:t>
                </a:r>
                <a:r>
                  <a:rPr lang="en-US" altLang="zh-CN" dirty="0"/>
                  <a:t>KL </a:t>
                </a:r>
                <a:r>
                  <a:rPr lang="zh-CN" altLang="en-US" dirty="0"/>
                  <a:t>散度项为 </a:t>
                </a:r>
                <a:r>
                  <a:rPr lang="en-US" altLang="zh-CN" dirty="0"/>
                  <a:t>0</a:t>
                </a:r>
                <a:r>
                  <a:rPr lang="zh-CN" altLang="en-US" dirty="0"/>
                  <a:t>，则</a:t>
                </a:r>
                <a:endParaRPr lang="en-US" altLang="zh-CN" dirty="0"/>
              </a:p>
              <a:p>
                <a:endParaRPr lang="en-US" altLang="zh-CN" dirty="0"/>
              </a:p>
              <a:p>
                <a:endParaRPr lang="en-US" altLang="zh-CN" dirty="0"/>
              </a:p>
              <a:p>
                <a:pPr marL="0" indent="0">
                  <a:buNone/>
                </a:pPr>
                <a:r>
                  <a:rPr lang="zh-CN" altLang="en-US" dirty="0"/>
                  <a:t>该项对应于 </a:t>
                </a:r>
                <a14:m>
                  <m:oMath xmlns:m="http://schemas.openxmlformats.org/officeDocument/2006/math">
                    <m:r>
                      <a:rPr lang="en-US" altLang="zh-CN" i="1" dirty="0" smtClean="0">
                        <a:latin typeface="Cambria Math" panose="02040503050406030204" pitchFamily="18" charset="0"/>
                      </a:rPr>
                      <m:t>𝐾</m:t>
                    </m:r>
                    <m:r>
                      <a:rPr lang="en-US" altLang="zh-CN" i="1" dirty="0" smtClean="0">
                        <a:latin typeface="Cambria Math" panose="02040503050406030204" pitchFamily="18" charset="0"/>
                      </a:rPr>
                      <m:t>(</m:t>
                    </m:r>
                    <m:r>
                      <a:rPr lang="en-US" altLang="zh-CN" i="1" dirty="0" err="1">
                        <a:latin typeface="Cambria Math" panose="02040503050406030204" pitchFamily="18" charset="0"/>
                      </a:rPr>
                      <m:t>𝐷</m:t>
                    </m:r>
                    <m:r>
                      <a:rPr lang="en-US" altLang="zh-CN" i="1" dirty="0" err="1">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err="1">
                            <a:latin typeface="Cambria Math" panose="02040503050406030204" pitchFamily="18" charset="0"/>
                          </a:rPr>
                          <m:t>𝑓</m:t>
                        </m:r>
                      </m:e>
                      <m:sup>
                        <m:r>
                          <a:rPr lang="zh-CN" altLang="en-US" i="1" dirty="0">
                            <a:latin typeface="Cambria Math" panose="02040503050406030204" pitchFamily="18" charset="0"/>
                          </a:rPr>
                          <m:t>∗</m:t>
                        </m:r>
                      </m:sup>
                    </m:sSup>
                    <m:r>
                      <a:rPr lang="en-US" altLang="zh-CN" i="1" dirty="0">
                        <a:latin typeface="Cambria Math" panose="02040503050406030204" pitchFamily="18" charset="0"/>
                      </a:rPr>
                      <m:t>)</m:t>
                    </m:r>
                  </m:oMath>
                </a14:m>
                <a:r>
                  <a:rPr lang="zh-CN" altLang="en-US" dirty="0"/>
                  <a:t>（给定预测模型条件下数据的 </a:t>
                </a:r>
                <a:r>
                  <a:rPr lang="en-US" altLang="zh-CN" dirty="0"/>
                  <a:t>Kolmogorov </a:t>
                </a:r>
                <a:r>
                  <a:rPr lang="zh-CN" altLang="en-US" dirty="0"/>
                  <a:t>复杂度）</a:t>
                </a:r>
                <a:endParaRPr lang="en-US" altLang="zh-CN" dirty="0"/>
              </a:p>
              <a:p>
                <a:r>
                  <a:rPr lang="zh-CN" altLang="en-US" dirty="0"/>
                  <a:t>在真实分布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𝑡</m:t>
                        </m:r>
                      </m:sub>
                    </m:sSub>
                  </m:oMath>
                </a14:m>
                <a:r>
                  <a:rPr lang="en-US" altLang="zh-CN" i="1" dirty="0"/>
                  <a:t> </a:t>
                </a:r>
                <a:r>
                  <a:rPr lang="zh-CN" altLang="en-US" dirty="0"/>
                  <a:t>未知的情况下，模型的偏差将导致 </a:t>
                </a:r>
                <a:r>
                  <a:rPr lang="en-US" altLang="zh-CN" dirty="0"/>
                  <a:t>KL </a:t>
                </a:r>
                <a:r>
                  <a:rPr lang="zh-CN" altLang="en-US" dirty="0"/>
                  <a:t>散度项不为 </a:t>
                </a:r>
                <a:r>
                  <a:rPr lang="en-US" altLang="zh-CN" dirty="0"/>
                  <a:t>0</a:t>
                </a:r>
                <a:r>
                  <a:rPr lang="zh-CN" altLang="en-US" dirty="0"/>
                  <a:t>，由此引入的代价将使得传输数据量偏离 </a:t>
                </a:r>
                <a:r>
                  <a:rPr lang="en-US" altLang="zh-CN" dirty="0"/>
                  <a:t>Kolmogorov </a:t>
                </a:r>
                <a:r>
                  <a:rPr lang="zh-CN" altLang="en-US" dirty="0"/>
                  <a:t>复杂度给出的下界。 </a:t>
                </a:r>
                <a:br>
                  <a:rPr lang="zh-CN" altLang="en-US" dirty="0"/>
                </a:br>
                <a:r>
                  <a:rPr lang="zh-CN" altLang="en-US" dirty="0"/>
                  <a:t> </a:t>
                </a:r>
                <a:br>
                  <a:rPr lang="zh-CN" altLang="en-US" dirty="0"/>
                </a:br>
                <a:r>
                  <a:rPr lang="zh-CN" altLang="en-US" dirty="0"/>
                  <a:t> </a:t>
                </a:r>
                <a:br>
                  <a:rPr lang="zh-CN" altLang="en-US" dirty="0"/>
                </a:br>
                <a:br>
                  <a:rPr lang="zh-CN" altLang="en-US" dirty="0"/>
                </a:br>
                <a:endParaRPr lang="en-US" altLang="zh-CN" b="1" dirty="0"/>
              </a:p>
            </p:txBody>
          </p:sp>
        </mc:Choice>
        <mc:Fallback>
          <p:sp>
            <p:nvSpPr>
              <p:cNvPr id="4" name="内容占位符 3">
                <a:extLst>
                  <a:ext uri="{FF2B5EF4-FFF2-40B4-BE49-F238E27FC236}">
                    <a16:creationId xmlns:a16="http://schemas.microsoft.com/office/drawing/2014/main" id="{0DE1C61D-D583-454B-7F22-D5FF3BCD3DE7}"/>
                  </a:ext>
                </a:extLst>
              </p:cNvPr>
              <p:cNvSpPr>
                <a:spLocks noGrp="1" noRot="1" noChangeAspect="1" noMove="1" noResize="1" noEditPoints="1" noAdjustHandles="1" noChangeArrowheads="1" noChangeShapeType="1" noTextEdit="1"/>
              </p:cNvSpPr>
              <p:nvPr>
                <p:ph sz="quarter" idx="13"/>
              </p:nvPr>
            </p:nvSpPr>
            <p:spPr>
              <a:xfrm>
                <a:off x="838199" y="954723"/>
                <a:ext cx="10515599" cy="5796121"/>
              </a:xfrm>
              <a:blipFill>
                <a:blip r:embed="rId3"/>
                <a:stretch>
                  <a:fillRect l="-870"/>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4E6067C7-CB8E-2EAA-B6DB-B37082E5F4D2}"/>
              </a:ext>
            </a:extLst>
          </p:cNvPr>
          <p:cNvSpPr>
            <a:spLocks noGrp="1"/>
          </p:cNvSpPr>
          <p:nvPr>
            <p:ph type="title"/>
          </p:nvPr>
        </p:nvSpPr>
        <p:spPr/>
        <p:txBody>
          <a:bodyPr/>
          <a:lstStyle/>
          <a:p>
            <a:r>
              <a:rPr lang="en-US" altLang="zh-CN" b="1" dirty="0"/>
              <a:t>Kolmogorov </a:t>
            </a:r>
            <a:r>
              <a:rPr lang="zh-CN" altLang="en-US" b="1" dirty="0"/>
              <a:t>复杂度与最小描述长度视角下的讨论 </a:t>
            </a:r>
          </a:p>
        </p:txBody>
      </p:sp>
      <p:pic>
        <p:nvPicPr>
          <p:cNvPr id="6" name="图片 5">
            <a:extLst>
              <a:ext uri="{FF2B5EF4-FFF2-40B4-BE49-F238E27FC236}">
                <a16:creationId xmlns:a16="http://schemas.microsoft.com/office/drawing/2014/main" id="{7D6DEB34-5BD1-2F8D-F685-269030EFBB62}"/>
              </a:ext>
            </a:extLst>
          </p:cNvPr>
          <p:cNvPicPr>
            <a:picLocks noChangeAspect="1"/>
          </p:cNvPicPr>
          <p:nvPr/>
        </p:nvPicPr>
        <p:blipFill>
          <a:blip r:embed="rId4"/>
          <a:srcRect t="5914"/>
          <a:stretch>
            <a:fillRect/>
          </a:stretch>
        </p:blipFill>
        <p:spPr>
          <a:xfrm>
            <a:off x="2690335" y="1921667"/>
            <a:ext cx="6811326" cy="1443036"/>
          </a:xfrm>
          <a:prstGeom prst="rect">
            <a:avLst/>
          </a:prstGeom>
        </p:spPr>
      </p:pic>
      <p:pic>
        <p:nvPicPr>
          <p:cNvPr id="8" name="图片 7">
            <a:extLst>
              <a:ext uri="{FF2B5EF4-FFF2-40B4-BE49-F238E27FC236}">
                <a16:creationId xmlns:a16="http://schemas.microsoft.com/office/drawing/2014/main" id="{627AA5CA-090D-2073-D830-7896FDC973B4}"/>
              </a:ext>
            </a:extLst>
          </p:cNvPr>
          <p:cNvPicPr>
            <a:picLocks noChangeAspect="1"/>
          </p:cNvPicPr>
          <p:nvPr/>
        </p:nvPicPr>
        <p:blipFill>
          <a:blip r:embed="rId5"/>
          <a:stretch>
            <a:fillRect/>
          </a:stretch>
        </p:blipFill>
        <p:spPr>
          <a:xfrm>
            <a:off x="3881126" y="3678847"/>
            <a:ext cx="4429743" cy="866896"/>
          </a:xfrm>
          <a:prstGeom prst="rect">
            <a:avLst/>
          </a:prstGeom>
        </p:spPr>
      </p:pic>
    </p:spTree>
    <p:extLst>
      <p:ext uri="{BB962C8B-B14F-4D97-AF65-F5344CB8AC3E}">
        <p14:creationId xmlns:p14="http://schemas.microsoft.com/office/powerpoint/2010/main" val="103069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997F3-34EC-F43E-EF1E-7B37337C264C}"/>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B2356067-F17A-F1A8-73ED-7D256F67DA34}"/>
              </a:ext>
            </a:extLst>
          </p:cNvPr>
          <p:cNvSpPr>
            <a:spLocks noGrp="1"/>
          </p:cNvSpPr>
          <p:nvPr>
            <p:ph sz="quarter" idx="13"/>
          </p:nvPr>
        </p:nvSpPr>
        <p:spPr>
          <a:xfrm>
            <a:off x="838199" y="954723"/>
            <a:ext cx="10515599" cy="5796121"/>
          </a:xfrm>
        </p:spPr>
        <p:txBody>
          <a:bodyPr>
            <a:noAutofit/>
          </a:bodyPr>
          <a:lstStyle/>
          <a:p>
            <a:pPr>
              <a:lnSpc>
                <a:spcPct val="120000"/>
              </a:lnSpc>
            </a:pPr>
            <a:r>
              <a:rPr lang="zh-CN" altLang="en-US" dirty="0"/>
              <a:t>以上我们通过 </a:t>
            </a:r>
            <a:r>
              <a:rPr lang="en-US" altLang="zh-CN" dirty="0"/>
              <a:t>Alice </a:t>
            </a:r>
            <a:r>
              <a:rPr lang="zh-CN" altLang="en-US" dirty="0"/>
              <a:t>和 </a:t>
            </a:r>
            <a:r>
              <a:rPr lang="en-US" altLang="zh-CN" dirty="0"/>
              <a:t>Bob </a:t>
            </a:r>
            <a:r>
              <a:rPr lang="zh-CN" altLang="en-US" dirty="0"/>
              <a:t>通信的思想实验，展示了预测模型如何通过压缩数据来展现其智能水平。 </a:t>
            </a:r>
            <a:endParaRPr lang="en-US" altLang="zh-CN" dirty="0"/>
          </a:p>
          <a:p>
            <a:pPr>
              <a:lnSpc>
                <a:spcPct val="120000"/>
              </a:lnSpc>
            </a:pPr>
            <a:r>
              <a:rPr lang="zh-CN" altLang="en-US" dirty="0"/>
              <a:t>当模型能够准确预测数据的下一个元素时，所需的编码长度就会显著减少，从而实现更好的压缩效果。</a:t>
            </a:r>
            <a:endParaRPr lang="en-US" altLang="zh-CN" dirty="0"/>
          </a:p>
          <a:p>
            <a:pPr>
              <a:lnSpc>
                <a:spcPct val="120000"/>
              </a:lnSpc>
            </a:pPr>
            <a:r>
              <a:rPr lang="zh-CN" altLang="en-US" dirty="0"/>
              <a:t>有趣的是，</a:t>
            </a:r>
            <a:r>
              <a:rPr lang="zh-CN" altLang="en-US" b="1" dirty="0"/>
              <a:t>全过程中模型参数本身并没有被传输</a:t>
            </a:r>
            <a:r>
              <a:rPr lang="zh-CN" altLang="en-US" dirty="0"/>
              <a:t>，也就是说使用模型代码 </a:t>
            </a:r>
            <a:r>
              <a:rPr lang="en-US" altLang="zh-CN" dirty="0"/>
              <a:t>+ </a:t>
            </a:r>
            <a:r>
              <a:rPr lang="zh-CN" altLang="en-US" dirty="0"/>
              <a:t>编码序列足以表达数据集的全部有效信息。</a:t>
            </a:r>
            <a:endParaRPr lang="en-US" altLang="zh-CN" dirty="0"/>
          </a:p>
          <a:p>
            <a:pPr>
              <a:lnSpc>
                <a:spcPct val="120000"/>
              </a:lnSpc>
            </a:pPr>
            <a:r>
              <a:rPr lang="zh-CN" altLang="en-US" dirty="0"/>
              <a:t>这一过程揭示了压缩、预测和智能之间的内在统一性，从理论上简要说明了</a:t>
            </a:r>
            <a:r>
              <a:rPr lang="zh-CN" altLang="en-US" b="1" dirty="0"/>
              <a:t>为什么优秀的压缩算法往往也是优秀的预测模型</a:t>
            </a:r>
            <a:r>
              <a:rPr lang="zh-CN" altLang="en-US" dirty="0"/>
              <a:t>。 </a:t>
            </a:r>
            <a:endParaRPr lang="en-US" altLang="zh-CN" dirty="0"/>
          </a:p>
          <a:p>
            <a:pPr>
              <a:lnSpc>
                <a:spcPct val="120000"/>
              </a:lnSpc>
            </a:pPr>
            <a:r>
              <a:rPr lang="zh-CN" altLang="en-US" dirty="0"/>
              <a:t>我们还分析说明了</a:t>
            </a:r>
            <a:r>
              <a:rPr lang="zh-CN" altLang="en-US" b="1" dirty="0"/>
              <a:t>基于最小化交叉熵损失函数的模型训练过程与基于最小化传输数据量的数据压缩过程目标完全等价</a:t>
            </a:r>
            <a:r>
              <a:rPr lang="zh-CN" altLang="en-US" dirty="0"/>
              <a:t>，这为理解大型语言模型的工作原理提供了信息论基础 </a:t>
            </a:r>
            <a:br>
              <a:rPr lang="zh-CN" altLang="en-US" dirty="0"/>
            </a:br>
            <a:br>
              <a:rPr lang="zh-CN" altLang="en-US" dirty="0"/>
            </a:br>
            <a:br>
              <a:rPr lang="zh-CN" altLang="en-US" dirty="0"/>
            </a:br>
            <a:endParaRPr lang="en-US" altLang="zh-CN" b="1" dirty="0"/>
          </a:p>
        </p:txBody>
      </p:sp>
      <p:sp>
        <p:nvSpPr>
          <p:cNvPr id="3" name="标题 2">
            <a:extLst>
              <a:ext uri="{FF2B5EF4-FFF2-40B4-BE49-F238E27FC236}">
                <a16:creationId xmlns:a16="http://schemas.microsoft.com/office/drawing/2014/main" id="{DF6A37B0-8517-D865-CD0C-9F90B12D86CA}"/>
              </a:ext>
            </a:extLst>
          </p:cNvPr>
          <p:cNvSpPr>
            <a:spLocks noGrp="1"/>
          </p:cNvSpPr>
          <p:nvPr>
            <p:ph type="title"/>
          </p:nvPr>
        </p:nvSpPr>
        <p:spPr/>
        <p:txBody>
          <a:bodyPr/>
          <a:lstStyle/>
          <a:p>
            <a:r>
              <a:rPr lang="zh-CN" altLang="en-US" b="1" dirty="0"/>
              <a:t>小结</a:t>
            </a:r>
          </a:p>
        </p:txBody>
      </p:sp>
    </p:spTree>
    <p:extLst>
      <p:ext uri="{BB962C8B-B14F-4D97-AF65-F5344CB8AC3E}">
        <p14:creationId xmlns:p14="http://schemas.microsoft.com/office/powerpoint/2010/main" val="3822586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D075-4AFC-CA61-462B-C99A1850087A}"/>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D1BD0B69-A272-9366-D275-2BB6ADCF719D}"/>
              </a:ext>
            </a:extLst>
          </p:cNvPr>
          <p:cNvSpPr txBox="1"/>
          <p:nvPr/>
        </p:nvSpPr>
        <p:spPr>
          <a:xfrm>
            <a:off x="695326" y="2705725"/>
            <a:ext cx="10801350" cy="1446550"/>
          </a:xfrm>
          <a:prstGeom prst="rect">
            <a:avLst/>
          </a:prstGeom>
          <a:noFill/>
        </p:spPr>
        <p:txBody>
          <a:bodyPr wrap="square" rtlCol="0">
            <a:spAutoFit/>
          </a:bodyPr>
          <a:lstStyle/>
          <a:p>
            <a:pPr algn="ctr"/>
            <a:r>
              <a:rPr lang="en-US" altLang="zh-CN" sz="8800" b="1" dirty="0">
                <a:solidFill>
                  <a:schemeClr val="bg1"/>
                </a:solidFill>
              </a:rPr>
              <a:t>PART 1</a:t>
            </a:r>
            <a:endParaRPr lang="zh-CN" altLang="en-US" sz="8800" b="1" dirty="0">
              <a:solidFill>
                <a:schemeClr val="bg1"/>
              </a:solidFill>
            </a:endParaRPr>
          </a:p>
        </p:txBody>
      </p:sp>
      <p:sp>
        <p:nvSpPr>
          <p:cNvPr id="2" name="矩形 1">
            <a:extLst>
              <a:ext uri="{FF2B5EF4-FFF2-40B4-BE49-F238E27FC236}">
                <a16:creationId xmlns:a16="http://schemas.microsoft.com/office/drawing/2014/main" id="{EE543857-F33B-7176-87DB-0F879BE80629}"/>
              </a:ext>
            </a:extLst>
          </p:cNvPr>
          <p:cNvSpPr/>
          <p:nvPr/>
        </p:nvSpPr>
        <p:spPr>
          <a:xfrm>
            <a:off x="847724" y="701675"/>
            <a:ext cx="10801350" cy="57594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80212C9-A029-AE8A-6DE8-89BB3571E81A}"/>
              </a:ext>
            </a:extLst>
          </p:cNvPr>
          <p:cNvSpPr txBox="1"/>
          <p:nvPr/>
        </p:nvSpPr>
        <p:spPr>
          <a:xfrm>
            <a:off x="847726" y="2858125"/>
            <a:ext cx="10801350" cy="1446550"/>
          </a:xfrm>
          <a:prstGeom prst="rect">
            <a:avLst/>
          </a:prstGeom>
          <a:noFill/>
        </p:spPr>
        <p:txBody>
          <a:bodyPr wrap="square" rtlCol="0">
            <a:spAutoFit/>
          </a:bodyPr>
          <a:lstStyle/>
          <a:p>
            <a:pPr algn="ctr"/>
            <a:r>
              <a:rPr lang="en-US" altLang="zh-CN" sz="8800" b="1" dirty="0">
                <a:solidFill>
                  <a:schemeClr val="bg1"/>
                </a:solidFill>
              </a:rPr>
              <a:t>PART 2</a:t>
            </a:r>
            <a:endParaRPr lang="zh-CN" altLang="en-US" sz="8800" b="1" dirty="0">
              <a:solidFill>
                <a:schemeClr val="bg1"/>
              </a:solidFill>
            </a:endParaRPr>
          </a:p>
        </p:txBody>
      </p:sp>
    </p:spTree>
    <p:extLst>
      <p:ext uri="{BB962C8B-B14F-4D97-AF65-F5344CB8AC3E}">
        <p14:creationId xmlns:p14="http://schemas.microsoft.com/office/powerpoint/2010/main" val="337303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40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6" presetClass="emph" presetSubtype="0" autoRev="1" fill="hold" grpId="1" nodeType="withEffect">
                                  <p:stCondLst>
                                    <p:cond delay="800"/>
                                  </p:stCondLst>
                                  <p:childTnLst>
                                    <p:animScale>
                                      <p:cBhvr>
                                        <p:cTn id="11" dur="250" fill="hold"/>
                                        <p:tgtEl>
                                          <p:spTgt spid="10"/>
                                        </p:tgtEl>
                                      </p:cBhvr>
                                      <p:by x="115000" y="115000"/>
                                    </p:animScale>
                                  </p:childTnLst>
                                </p:cTn>
                              </p:par>
                              <p:par>
                                <p:cTn id="12" presetID="50" presetClass="entr" presetSubtype="0" decel="10000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750" fill="hold"/>
                                        <p:tgtEl>
                                          <p:spTgt spid="2"/>
                                        </p:tgtEl>
                                        <p:attrNameLst>
                                          <p:attrName>ppt_w</p:attrName>
                                        </p:attrNameLst>
                                      </p:cBhvr>
                                      <p:tavLst>
                                        <p:tav tm="0">
                                          <p:val>
                                            <p:strVal val="#ppt_w+.3"/>
                                          </p:val>
                                        </p:tav>
                                        <p:tav tm="100000">
                                          <p:val>
                                            <p:strVal val="#ppt_w"/>
                                          </p:val>
                                        </p:tav>
                                      </p:tavLst>
                                    </p:anim>
                                    <p:anim calcmode="lin" valueType="num">
                                      <p:cBhvr>
                                        <p:cTn id="15" dur="750" fill="hold"/>
                                        <p:tgtEl>
                                          <p:spTgt spid="2"/>
                                        </p:tgtEl>
                                        <p:attrNameLst>
                                          <p:attrName>ppt_h</p:attrName>
                                        </p:attrNameLst>
                                      </p:cBhvr>
                                      <p:tavLst>
                                        <p:tav tm="0">
                                          <p:val>
                                            <p:strVal val="#ppt_h"/>
                                          </p:val>
                                        </p:tav>
                                        <p:tav tm="100000">
                                          <p:val>
                                            <p:strVal val="#ppt_h"/>
                                          </p:val>
                                        </p:tav>
                                      </p:tavLst>
                                    </p:anim>
                                    <p:animEffect transition="in" filter="fade">
                                      <p:cBhvr>
                                        <p:cTn id="16" dur="750"/>
                                        <p:tgtEl>
                                          <p:spTgt spid="2"/>
                                        </p:tgtEl>
                                      </p:cBhvr>
                                    </p:animEffect>
                                  </p:childTnLst>
                                </p:cTn>
                              </p:par>
                              <p:par>
                                <p:cTn id="17" presetID="53" presetClass="entr" presetSubtype="16" fill="hold" grpId="0" nodeType="withEffect">
                                  <p:stCondLst>
                                    <p:cond delay="40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6" presetClass="emph" presetSubtype="0" autoRev="1" fill="hold" grpId="1" nodeType="withEffect">
                                  <p:stCondLst>
                                    <p:cond delay="800"/>
                                  </p:stCondLst>
                                  <p:childTnLst>
                                    <p:animScale>
                                      <p:cBhvr>
                                        <p:cTn id="23" dur="250" fill="hold"/>
                                        <p:tgtEl>
                                          <p:spTgt spid="3"/>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2" grpId="0" animBg="1"/>
      <p:bldP spid="3" grpId="0"/>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7EB8-9992-B2C9-62A5-1083D01C701D}"/>
            </a:ext>
          </a:extLst>
        </p:cNvPr>
        <p:cNvGrpSpPr/>
        <p:nvPr/>
      </p:nvGrpSpPr>
      <p:grpSpPr>
        <a:xfrm>
          <a:off x="0" y="0"/>
          <a:ext cx="0" cy="0"/>
          <a:chOff x="0" y="0"/>
          <a:chExt cx="0" cy="0"/>
        </a:xfrm>
      </p:grpSpPr>
      <p:sp>
        <p:nvSpPr>
          <p:cNvPr id="4" name="内容占位符 3">
            <a:extLst>
              <a:ext uri="{FF2B5EF4-FFF2-40B4-BE49-F238E27FC236}">
                <a16:creationId xmlns:a16="http://schemas.microsoft.com/office/drawing/2014/main" id="{0F95C4EB-6B46-B625-6B67-AD4C714A73B9}"/>
              </a:ext>
            </a:extLst>
          </p:cNvPr>
          <p:cNvSpPr>
            <a:spLocks noGrp="1"/>
          </p:cNvSpPr>
          <p:nvPr>
            <p:ph sz="quarter" idx="13"/>
          </p:nvPr>
        </p:nvSpPr>
        <p:spPr>
          <a:xfrm>
            <a:off x="838199" y="954723"/>
            <a:ext cx="10515599" cy="5796121"/>
          </a:xfrm>
        </p:spPr>
        <p:txBody>
          <a:bodyPr>
            <a:noAutofit/>
          </a:bodyPr>
          <a:lstStyle/>
          <a:p>
            <a:pPr>
              <a:lnSpc>
                <a:spcPct val="120000"/>
              </a:lnSpc>
            </a:pPr>
            <a:r>
              <a:rPr lang="zh-CN" altLang="en-US" dirty="0"/>
              <a:t>在这一部分，我们将通过实际的测试数据展示大语言模型压缩能力与智能的关系。</a:t>
            </a:r>
            <a:endParaRPr lang="en-US" altLang="zh-CN" dirty="0"/>
          </a:p>
          <a:p>
            <a:pPr>
              <a:lnSpc>
                <a:spcPct val="120000"/>
              </a:lnSpc>
            </a:pPr>
            <a:r>
              <a:rPr lang="zh-CN" altLang="en-US" dirty="0"/>
              <a:t>鉴于“智能”概念的抽象性，不同学者制定了不同的量化标准来衡量。</a:t>
            </a:r>
            <a:endParaRPr lang="en-US" altLang="zh-CN" dirty="0"/>
          </a:p>
          <a:p>
            <a:pPr>
              <a:lnSpc>
                <a:spcPct val="120000"/>
              </a:lnSpc>
            </a:pPr>
            <a:r>
              <a:rPr lang="en-US" altLang="zh-CN" dirty="0"/>
              <a:t>Yuzhen Huang[1] </a:t>
            </a:r>
            <a:r>
              <a:rPr lang="zh-CN" altLang="en-US" dirty="0"/>
              <a:t>等采用</a:t>
            </a:r>
            <a:r>
              <a:rPr lang="zh-CN" altLang="en-US" b="1" dirty="0"/>
              <a:t>下游基准任务</a:t>
            </a:r>
            <a:r>
              <a:rPr lang="zh-CN" altLang="en-US" dirty="0"/>
              <a:t>平均分作为代理指标，重点关注知识</a:t>
            </a:r>
            <a:r>
              <a:rPr lang="en-US" altLang="zh-CN" dirty="0"/>
              <a:t>/</a:t>
            </a:r>
            <a:r>
              <a:rPr lang="zh-CN" altLang="en-US" dirty="0"/>
              <a:t>常识、编程与数学推理三类智能。 </a:t>
            </a:r>
            <a:endParaRPr lang="en-US" altLang="zh-CN" dirty="0"/>
          </a:p>
          <a:p>
            <a:pPr>
              <a:lnSpc>
                <a:spcPct val="120000"/>
              </a:lnSpc>
            </a:pPr>
            <a:r>
              <a:rPr lang="en-US" altLang="zh-CN" dirty="0" err="1"/>
              <a:t>Peijia</a:t>
            </a:r>
            <a:r>
              <a:rPr lang="en-US" altLang="zh-CN" dirty="0"/>
              <a:t> Guo[2] </a:t>
            </a:r>
            <a:r>
              <a:rPr lang="zh-CN" altLang="en-US" dirty="0"/>
              <a:t>等则采用</a:t>
            </a:r>
            <a:r>
              <a:rPr lang="zh-CN" altLang="en-US" b="1" dirty="0"/>
              <a:t>自然语言处理任务</a:t>
            </a:r>
            <a:r>
              <a:rPr lang="zh-CN" altLang="en-US" dirty="0"/>
              <a:t>中的表现，包括句子补全、问答与指代消解，来衡量智能。</a:t>
            </a:r>
            <a:endParaRPr lang="en-US" altLang="zh-CN" dirty="0"/>
          </a:p>
          <a:p>
            <a:pPr>
              <a:lnSpc>
                <a:spcPct val="120000"/>
              </a:lnSpc>
            </a:pPr>
            <a:r>
              <a:rPr lang="zh-CN" altLang="en-US" dirty="0"/>
              <a:t>下面简要综述他们的成果： </a:t>
            </a:r>
            <a:br>
              <a:rPr lang="zh-CN" altLang="en-US" dirty="0"/>
            </a:br>
            <a:br>
              <a:rPr lang="zh-CN" altLang="en-US" dirty="0"/>
            </a:br>
            <a:br>
              <a:rPr lang="zh-CN" altLang="en-US" dirty="0"/>
            </a:br>
            <a:endParaRPr lang="en-US" altLang="zh-CN" b="1" dirty="0"/>
          </a:p>
        </p:txBody>
      </p:sp>
      <p:sp>
        <p:nvSpPr>
          <p:cNvPr id="3" name="标题 2">
            <a:extLst>
              <a:ext uri="{FF2B5EF4-FFF2-40B4-BE49-F238E27FC236}">
                <a16:creationId xmlns:a16="http://schemas.microsoft.com/office/drawing/2014/main" id="{312AA76D-F072-D3AA-A836-76788CD5A23C}"/>
              </a:ext>
            </a:extLst>
          </p:cNvPr>
          <p:cNvSpPr>
            <a:spLocks noGrp="1"/>
          </p:cNvSpPr>
          <p:nvPr>
            <p:ph type="title"/>
          </p:nvPr>
        </p:nvSpPr>
        <p:spPr/>
        <p:txBody>
          <a:bodyPr/>
          <a:lstStyle/>
          <a:p>
            <a:r>
              <a:rPr lang="zh-CN" altLang="en-US" b="1" dirty="0"/>
              <a:t>压缩即智能的实证研究 </a:t>
            </a:r>
          </a:p>
        </p:txBody>
      </p:sp>
      <p:sp>
        <p:nvSpPr>
          <p:cNvPr id="2" name="文本框 1">
            <a:extLst>
              <a:ext uri="{FF2B5EF4-FFF2-40B4-BE49-F238E27FC236}">
                <a16:creationId xmlns:a16="http://schemas.microsoft.com/office/drawing/2014/main" id="{546AAA3C-863F-0E28-77E4-EA41F3E3A91F}"/>
              </a:ext>
            </a:extLst>
          </p:cNvPr>
          <p:cNvSpPr txBox="1"/>
          <p:nvPr/>
        </p:nvSpPr>
        <p:spPr>
          <a:xfrm>
            <a:off x="138437" y="6227536"/>
            <a:ext cx="11915121" cy="461665"/>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a:p>
            <a:r>
              <a:rPr lang="en-US" altLang="zh-CN" sz="1200" dirty="0"/>
              <a:t>[2] P. Guo, Z. Li, H. Hu, C. Huang, M. Li, and R. Zhang, “Ranking </a:t>
            </a:r>
            <a:r>
              <a:rPr lang="en-US" altLang="zh-CN" sz="1200" dirty="0" err="1"/>
              <a:t>llms</a:t>
            </a:r>
            <a:r>
              <a:rPr lang="en-US" altLang="zh-CN" sz="1200" dirty="0"/>
              <a:t> by compression,” </a:t>
            </a:r>
            <a:r>
              <a:rPr lang="en-US" altLang="zh-CN" sz="1200" i="1" dirty="0" err="1"/>
              <a:t>arXiv</a:t>
            </a:r>
            <a:r>
              <a:rPr lang="en-US" altLang="zh-CN" sz="1200" i="1" dirty="0"/>
              <a:t> preprint arXiv:2406.14171</a:t>
            </a:r>
            <a:r>
              <a:rPr lang="en-US" altLang="zh-CN" sz="1200" dirty="0"/>
              <a:t>, 2024. </a:t>
            </a:r>
            <a:endParaRPr lang="zh-CN" altLang="en-US" sz="1200" dirty="0"/>
          </a:p>
        </p:txBody>
      </p:sp>
    </p:spTree>
    <p:extLst>
      <p:ext uri="{BB962C8B-B14F-4D97-AF65-F5344CB8AC3E}">
        <p14:creationId xmlns:p14="http://schemas.microsoft.com/office/powerpoint/2010/main" val="672568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72CC3-BAF7-FACC-504C-4956B324A67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AAB039D-B9D6-5319-C16B-C8DAA09CC267}"/>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DA52FCC0-1275-8562-33B8-EA4A049E7A1C}"/>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BB28051D-659F-27EC-FB97-816EAE53F8B3}"/>
              </a:ext>
            </a:extLst>
          </p:cNvPr>
          <p:cNvSpPr>
            <a:spLocks noGrp="1"/>
          </p:cNvSpPr>
          <p:nvPr>
            <p:ph sz="quarter" idx="13"/>
          </p:nvPr>
        </p:nvSpPr>
        <p:spPr>
          <a:xfrm>
            <a:off x="838197" y="954723"/>
            <a:ext cx="10515599" cy="5288915"/>
          </a:xfrm>
        </p:spPr>
        <p:txBody>
          <a:bodyPr/>
          <a:lstStyle/>
          <a:p>
            <a:r>
              <a:rPr lang="zh-CN" altLang="en-US" dirty="0"/>
              <a:t>模型压缩效率以每字符比特数 </a:t>
            </a:r>
            <a:r>
              <a:rPr lang="en-US" altLang="zh-CN" dirty="0"/>
              <a:t>BPC </a:t>
            </a:r>
            <a:r>
              <a:rPr lang="zh-CN" altLang="en-US" dirty="0"/>
              <a:t>衡量。 </a:t>
            </a:r>
            <a:endParaRPr lang="en-US" altLang="zh-CN" dirty="0"/>
          </a:p>
          <a:p>
            <a:r>
              <a:rPr lang="zh-CN" altLang="en-US" dirty="0"/>
              <a:t>从三个关键能力维度衡量智能：知识与常识、编程和数学推理。</a:t>
            </a:r>
            <a:endParaRPr lang="en-US" altLang="zh-CN" dirty="0"/>
          </a:p>
          <a:p>
            <a:r>
              <a:rPr lang="zh-CN" altLang="en-US" dirty="0"/>
              <a:t>用于评估 </a:t>
            </a:r>
            <a:r>
              <a:rPr lang="en-US" altLang="zh-CN" dirty="0"/>
              <a:t>LLMs </a:t>
            </a:r>
            <a:r>
              <a:rPr lang="zh-CN" altLang="en-US" dirty="0"/>
              <a:t>压缩效率和智能能力的数据集和基准测试：</a:t>
            </a:r>
            <a:br>
              <a:rPr lang="zh-CN" altLang="en-US" dirty="0"/>
            </a:br>
            <a:endParaRPr lang="zh-CN" altLang="en-US" dirty="0"/>
          </a:p>
        </p:txBody>
      </p:sp>
      <p:pic>
        <p:nvPicPr>
          <p:cNvPr id="8" name="图片 7">
            <a:extLst>
              <a:ext uri="{FF2B5EF4-FFF2-40B4-BE49-F238E27FC236}">
                <a16:creationId xmlns:a16="http://schemas.microsoft.com/office/drawing/2014/main" id="{7D3F6F29-30ED-C1C7-7D7F-EDC342FC471E}"/>
              </a:ext>
            </a:extLst>
          </p:cNvPr>
          <p:cNvPicPr>
            <a:picLocks noChangeAspect="1"/>
          </p:cNvPicPr>
          <p:nvPr/>
        </p:nvPicPr>
        <p:blipFill>
          <a:blip r:embed="rId3"/>
          <a:stretch>
            <a:fillRect/>
          </a:stretch>
        </p:blipFill>
        <p:spPr>
          <a:xfrm>
            <a:off x="381648" y="2313473"/>
            <a:ext cx="11428696" cy="3726205"/>
          </a:xfrm>
          <a:prstGeom prst="rect">
            <a:avLst/>
          </a:prstGeom>
        </p:spPr>
      </p:pic>
    </p:spTree>
    <p:extLst>
      <p:ext uri="{BB962C8B-B14F-4D97-AF65-F5344CB8AC3E}">
        <p14:creationId xmlns:p14="http://schemas.microsoft.com/office/powerpoint/2010/main" val="3328193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1FE2-590E-2DC2-BA79-C284207F07D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AA5E040-964B-9CFB-D208-18C7E09C4BEC}"/>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2F0A83BE-3367-BE8A-7764-0F61EC168142}"/>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F1C635A8-1808-3D9D-7474-BC96EE566A40}"/>
              </a:ext>
            </a:extLst>
          </p:cNvPr>
          <p:cNvSpPr>
            <a:spLocks noGrp="1"/>
          </p:cNvSpPr>
          <p:nvPr>
            <p:ph sz="quarter" idx="13"/>
          </p:nvPr>
        </p:nvSpPr>
        <p:spPr>
          <a:xfrm>
            <a:off x="838197" y="954723"/>
            <a:ext cx="10515599" cy="5288915"/>
          </a:xfrm>
        </p:spPr>
        <p:txBody>
          <a:bodyPr/>
          <a:lstStyle/>
          <a:p>
            <a:r>
              <a:rPr lang="zh-CN" altLang="en-US" dirty="0"/>
              <a:t>从三个关键能力维度衡量智能：知识与常识、编程和数学推理。</a:t>
            </a:r>
            <a:endParaRPr lang="en-US" altLang="zh-CN" dirty="0"/>
          </a:p>
          <a:p>
            <a:endParaRPr lang="en-US" altLang="zh-CN" dirty="0"/>
          </a:p>
          <a:p>
            <a:r>
              <a:rPr lang="zh-CN" altLang="en-US" dirty="0"/>
              <a:t>被评测的模型：</a:t>
            </a:r>
            <a:br>
              <a:rPr lang="zh-CN" altLang="en-US" dirty="0"/>
            </a:br>
            <a:endParaRPr lang="zh-CN" altLang="en-US" dirty="0"/>
          </a:p>
        </p:txBody>
      </p:sp>
      <p:pic>
        <p:nvPicPr>
          <p:cNvPr id="5" name="图片 4">
            <a:extLst>
              <a:ext uri="{FF2B5EF4-FFF2-40B4-BE49-F238E27FC236}">
                <a16:creationId xmlns:a16="http://schemas.microsoft.com/office/drawing/2014/main" id="{EBED9EC1-4631-D089-16AF-BD73E3609945}"/>
              </a:ext>
            </a:extLst>
          </p:cNvPr>
          <p:cNvPicPr>
            <a:picLocks noChangeAspect="1"/>
          </p:cNvPicPr>
          <p:nvPr/>
        </p:nvPicPr>
        <p:blipFill>
          <a:blip r:embed="rId3"/>
          <a:stretch>
            <a:fillRect/>
          </a:stretch>
        </p:blipFill>
        <p:spPr>
          <a:xfrm>
            <a:off x="1723411" y="2313953"/>
            <a:ext cx="8745170" cy="4010585"/>
          </a:xfrm>
          <a:prstGeom prst="rect">
            <a:avLst/>
          </a:prstGeom>
        </p:spPr>
      </p:pic>
    </p:spTree>
    <p:extLst>
      <p:ext uri="{BB962C8B-B14F-4D97-AF65-F5344CB8AC3E}">
        <p14:creationId xmlns:p14="http://schemas.microsoft.com/office/powerpoint/2010/main" val="354718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E4DE4-0E79-0988-21B5-715827B1581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9E833C6-A3E0-6D93-5F31-FB8EDFB246FE}"/>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BE909F3C-0ABC-3E4E-43EA-94E31AB2F277}"/>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A752A5B8-06F5-3B6B-39EB-F45FE2C0B263}"/>
              </a:ext>
            </a:extLst>
          </p:cNvPr>
          <p:cNvSpPr>
            <a:spLocks noGrp="1"/>
          </p:cNvSpPr>
          <p:nvPr>
            <p:ph sz="quarter" idx="13"/>
          </p:nvPr>
        </p:nvSpPr>
        <p:spPr>
          <a:xfrm>
            <a:off x="838197" y="954723"/>
            <a:ext cx="10515599" cy="5288915"/>
          </a:xfrm>
        </p:spPr>
        <p:txBody>
          <a:bodyPr/>
          <a:lstStyle/>
          <a:p>
            <a:r>
              <a:rPr lang="zh-CN" altLang="en-US" dirty="0"/>
              <a:t>知识和常识领域基准分数与压缩能力（</a:t>
            </a:r>
            <a:r>
              <a:rPr lang="en-US" altLang="zh-CN" dirty="0"/>
              <a:t>BPC</a:t>
            </a:r>
            <a:r>
              <a:rPr lang="zh-CN" altLang="en-US" dirty="0"/>
              <a:t>）之间的相关性 </a:t>
            </a:r>
            <a:br>
              <a:rPr lang="zh-CN" altLang="en-US" dirty="0"/>
            </a:br>
            <a:br>
              <a:rPr lang="zh-CN" altLang="en-US" dirty="0"/>
            </a:br>
            <a:endParaRPr lang="zh-CN" altLang="en-US" dirty="0"/>
          </a:p>
        </p:txBody>
      </p:sp>
      <p:pic>
        <p:nvPicPr>
          <p:cNvPr id="9" name="图片 8">
            <a:extLst>
              <a:ext uri="{FF2B5EF4-FFF2-40B4-BE49-F238E27FC236}">
                <a16:creationId xmlns:a16="http://schemas.microsoft.com/office/drawing/2014/main" id="{81A2354C-201B-0851-71CB-2876AEDFF952}"/>
              </a:ext>
            </a:extLst>
          </p:cNvPr>
          <p:cNvPicPr>
            <a:picLocks noChangeAspect="1"/>
          </p:cNvPicPr>
          <p:nvPr/>
        </p:nvPicPr>
        <p:blipFill>
          <a:blip r:embed="rId3"/>
          <a:stretch>
            <a:fillRect/>
          </a:stretch>
        </p:blipFill>
        <p:spPr>
          <a:xfrm>
            <a:off x="1521522" y="1471306"/>
            <a:ext cx="9148947" cy="4772332"/>
          </a:xfrm>
          <a:prstGeom prst="rect">
            <a:avLst/>
          </a:prstGeom>
        </p:spPr>
      </p:pic>
    </p:spTree>
    <p:extLst>
      <p:ext uri="{BB962C8B-B14F-4D97-AF65-F5344CB8AC3E}">
        <p14:creationId xmlns:p14="http://schemas.microsoft.com/office/powerpoint/2010/main" val="1995108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7DBDE-1C72-B0B5-3598-189DF912ACC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9A8E6C-1B08-3E57-AF07-C2689BFE642C}"/>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9F9D0026-DB67-C6D9-0EE0-B2022B715539}"/>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7DF8A891-4E7D-D0AC-7264-324A9778AAD3}"/>
              </a:ext>
            </a:extLst>
          </p:cNvPr>
          <p:cNvSpPr>
            <a:spLocks noGrp="1"/>
          </p:cNvSpPr>
          <p:nvPr>
            <p:ph sz="quarter" idx="13"/>
          </p:nvPr>
        </p:nvSpPr>
        <p:spPr>
          <a:xfrm>
            <a:off x="838197" y="954723"/>
            <a:ext cx="10515599" cy="5288915"/>
          </a:xfrm>
        </p:spPr>
        <p:txBody>
          <a:bodyPr/>
          <a:lstStyle/>
          <a:p>
            <a:r>
              <a:rPr lang="zh-CN" altLang="en-US" dirty="0"/>
              <a:t>编程领域基准分数与 </a:t>
            </a:r>
            <a:r>
              <a:rPr lang="en-US" altLang="zh-CN" dirty="0"/>
              <a:t>BPC </a:t>
            </a:r>
            <a:r>
              <a:rPr lang="zh-CN" altLang="en-US" dirty="0"/>
              <a:t>之间的相关性 </a:t>
            </a:r>
            <a:br>
              <a:rPr lang="zh-CN" altLang="en-US" dirty="0"/>
            </a:br>
            <a:br>
              <a:rPr lang="zh-CN" altLang="en-US" dirty="0"/>
            </a:br>
            <a:br>
              <a:rPr lang="zh-CN" altLang="en-US" dirty="0"/>
            </a:br>
            <a:endParaRPr lang="zh-CN" altLang="en-US" dirty="0"/>
          </a:p>
        </p:txBody>
      </p:sp>
      <p:pic>
        <p:nvPicPr>
          <p:cNvPr id="8" name="图片 7">
            <a:extLst>
              <a:ext uri="{FF2B5EF4-FFF2-40B4-BE49-F238E27FC236}">
                <a16:creationId xmlns:a16="http://schemas.microsoft.com/office/drawing/2014/main" id="{C8046DEB-1F4F-AEAF-851B-189248759A5F}"/>
              </a:ext>
            </a:extLst>
          </p:cNvPr>
          <p:cNvPicPr>
            <a:picLocks noChangeAspect="1"/>
          </p:cNvPicPr>
          <p:nvPr/>
        </p:nvPicPr>
        <p:blipFill>
          <a:blip r:embed="rId3"/>
          <a:stretch>
            <a:fillRect/>
          </a:stretch>
        </p:blipFill>
        <p:spPr>
          <a:xfrm>
            <a:off x="1388048" y="1591548"/>
            <a:ext cx="9415895" cy="4652090"/>
          </a:xfrm>
          <a:prstGeom prst="rect">
            <a:avLst/>
          </a:prstGeom>
        </p:spPr>
      </p:pic>
    </p:spTree>
    <p:extLst>
      <p:ext uri="{BB962C8B-B14F-4D97-AF65-F5344CB8AC3E}">
        <p14:creationId xmlns:p14="http://schemas.microsoft.com/office/powerpoint/2010/main" val="1288779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D8FB8-9961-248C-DA88-A35632D2D5C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6302F69-2B88-706A-42DF-D3D5D682CAAF}"/>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42F95AA7-D1DE-2A12-5B0B-B15200E44B52}"/>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F5B8F8A2-202E-E2AE-1621-30C93DECFB8D}"/>
              </a:ext>
            </a:extLst>
          </p:cNvPr>
          <p:cNvSpPr>
            <a:spLocks noGrp="1"/>
          </p:cNvSpPr>
          <p:nvPr>
            <p:ph sz="quarter" idx="13"/>
          </p:nvPr>
        </p:nvSpPr>
        <p:spPr>
          <a:xfrm>
            <a:off x="838197" y="954723"/>
            <a:ext cx="10515599" cy="5288915"/>
          </a:xfrm>
        </p:spPr>
        <p:txBody>
          <a:bodyPr/>
          <a:lstStyle/>
          <a:p>
            <a:r>
              <a:rPr lang="zh-CN" altLang="en-US" dirty="0"/>
              <a:t>数学推理领域基准分数与 </a:t>
            </a:r>
            <a:r>
              <a:rPr lang="en-US" altLang="zh-CN" dirty="0"/>
              <a:t>BPC </a:t>
            </a:r>
            <a:r>
              <a:rPr lang="zh-CN" altLang="en-US" dirty="0"/>
              <a:t>之间的相关性 </a:t>
            </a:r>
            <a:br>
              <a:rPr lang="zh-CN" altLang="en-US" dirty="0"/>
            </a:br>
            <a:br>
              <a:rPr lang="zh-CN" altLang="en-US" dirty="0"/>
            </a:br>
            <a:br>
              <a:rPr lang="zh-CN" altLang="en-US" dirty="0"/>
            </a:br>
            <a:br>
              <a:rPr lang="zh-CN" altLang="en-US" dirty="0"/>
            </a:br>
            <a:endParaRPr lang="zh-CN" altLang="en-US" dirty="0"/>
          </a:p>
        </p:txBody>
      </p:sp>
      <p:pic>
        <p:nvPicPr>
          <p:cNvPr id="5" name="图片 4">
            <a:extLst>
              <a:ext uri="{FF2B5EF4-FFF2-40B4-BE49-F238E27FC236}">
                <a16:creationId xmlns:a16="http://schemas.microsoft.com/office/drawing/2014/main" id="{4EC94372-8A7F-1DB2-A3E1-60FA946CC4C7}"/>
              </a:ext>
            </a:extLst>
          </p:cNvPr>
          <p:cNvPicPr>
            <a:picLocks noChangeAspect="1"/>
          </p:cNvPicPr>
          <p:nvPr/>
        </p:nvPicPr>
        <p:blipFill>
          <a:blip r:embed="rId3"/>
          <a:stretch>
            <a:fillRect/>
          </a:stretch>
        </p:blipFill>
        <p:spPr>
          <a:xfrm>
            <a:off x="1347126" y="1454727"/>
            <a:ext cx="9497740" cy="4788911"/>
          </a:xfrm>
          <a:prstGeom prst="rect">
            <a:avLst/>
          </a:prstGeom>
        </p:spPr>
      </p:pic>
    </p:spTree>
    <p:extLst>
      <p:ext uri="{BB962C8B-B14F-4D97-AF65-F5344CB8AC3E}">
        <p14:creationId xmlns:p14="http://schemas.microsoft.com/office/powerpoint/2010/main" val="2176610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D971-ADE5-5F1D-0C29-B6F0BF3FC6C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5E56312-4B4F-CCBD-56F7-FFC9226AEABD}"/>
              </a:ext>
            </a:extLst>
          </p:cNvPr>
          <p:cNvSpPr>
            <a:spLocks noGrp="1"/>
          </p:cNvSpPr>
          <p:nvPr>
            <p:ph type="title"/>
          </p:nvPr>
        </p:nvSpPr>
        <p:spPr/>
        <p:txBody>
          <a:bodyPr/>
          <a:lstStyle/>
          <a:p>
            <a:r>
              <a:rPr lang="zh-CN" altLang="en-US" b="1" dirty="0"/>
              <a:t>压缩能力与 </a:t>
            </a:r>
            <a:r>
              <a:rPr lang="en-US" altLang="zh-CN" b="1" dirty="0"/>
              <a:t>LLMs </a:t>
            </a:r>
            <a:r>
              <a:rPr lang="zh-CN" altLang="en-US" b="1" dirty="0"/>
              <a:t>的下游能力的关系 </a:t>
            </a:r>
          </a:p>
        </p:txBody>
      </p:sp>
      <p:sp>
        <p:nvSpPr>
          <p:cNvPr id="2" name="文本框 1">
            <a:extLst>
              <a:ext uri="{FF2B5EF4-FFF2-40B4-BE49-F238E27FC236}">
                <a16:creationId xmlns:a16="http://schemas.microsoft.com/office/drawing/2014/main" id="{DF4AA566-96D3-8944-0491-1A7DE9820ECC}"/>
              </a:ext>
            </a:extLst>
          </p:cNvPr>
          <p:cNvSpPr txBox="1"/>
          <p:nvPr/>
        </p:nvSpPr>
        <p:spPr>
          <a:xfrm>
            <a:off x="138437" y="6405438"/>
            <a:ext cx="11915121" cy="276999"/>
          </a:xfrm>
          <a:prstGeom prst="rect">
            <a:avLst/>
          </a:prstGeom>
          <a:noFill/>
        </p:spPr>
        <p:txBody>
          <a:bodyPr wrap="none" rtlCol="0">
            <a:spAutoFit/>
          </a:bodyPr>
          <a:lstStyle/>
          <a:p>
            <a:r>
              <a:rPr lang="en-US" altLang="zh-CN" sz="1200" dirty="0"/>
              <a:t>[1] Y. Huang, J. Zhang, Z. Shan, and J. He, “Compression represents intelligence linearly,” in </a:t>
            </a:r>
            <a:r>
              <a:rPr lang="en-US" altLang="zh-CN" sz="1200" i="1" dirty="0"/>
              <a:t>Conference on Language Modeling (COLM)</a:t>
            </a:r>
            <a:r>
              <a:rPr lang="en-US" altLang="zh-CN" sz="1200" dirty="0"/>
              <a:t>, COLM, 2024. </a:t>
            </a:r>
          </a:p>
        </p:txBody>
      </p:sp>
      <p:sp>
        <p:nvSpPr>
          <p:cNvPr id="6" name="内容占位符 5">
            <a:extLst>
              <a:ext uri="{FF2B5EF4-FFF2-40B4-BE49-F238E27FC236}">
                <a16:creationId xmlns:a16="http://schemas.microsoft.com/office/drawing/2014/main" id="{AC367186-1F61-4839-21A6-DC97DFB98AA8}"/>
              </a:ext>
            </a:extLst>
          </p:cNvPr>
          <p:cNvSpPr>
            <a:spLocks noGrp="1"/>
          </p:cNvSpPr>
          <p:nvPr>
            <p:ph sz="quarter" idx="13"/>
          </p:nvPr>
        </p:nvSpPr>
        <p:spPr>
          <a:xfrm>
            <a:off x="838197" y="954723"/>
            <a:ext cx="10515599" cy="5288915"/>
          </a:xfrm>
        </p:spPr>
        <p:txBody>
          <a:bodyPr>
            <a:noAutofit/>
          </a:bodyPr>
          <a:lstStyle/>
          <a:p>
            <a:pPr>
              <a:lnSpc>
                <a:spcPct val="170000"/>
              </a:lnSpc>
            </a:pPr>
            <a:r>
              <a:rPr lang="zh-CN" altLang="en-US" dirty="0"/>
              <a:t>该研究的局限性</a:t>
            </a:r>
            <a:endParaRPr lang="en-US" altLang="zh-CN" dirty="0"/>
          </a:p>
          <a:p>
            <a:pPr marL="914400" lvl="1" indent="-457200">
              <a:lnSpc>
                <a:spcPct val="170000"/>
              </a:lnSpc>
              <a:buFont typeface="+mj-lt"/>
              <a:buAutoNum type="arabicPeriod"/>
            </a:pPr>
            <a:r>
              <a:rPr lang="zh-CN" altLang="en-US" dirty="0"/>
              <a:t>论文仅关注了基础模型，因为微调模型并不适合作为任意文本的通用压缩器。然而，我们认为基础模型的压缩效率与相应微调模型的基准分数之间仍有值得探索的有趣关系。</a:t>
            </a:r>
            <a:endParaRPr lang="en-US" altLang="zh-CN" dirty="0"/>
          </a:p>
          <a:p>
            <a:pPr marL="914400" lvl="1" indent="-457200">
              <a:lnSpc>
                <a:spcPct val="170000"/>
              </a:lnSpc>
              <a:buFont typeface="+mj-lt"/>
              <a:buAutoNum type="arabicPeriod"/>
            </a:pPr>
            <a:r>
              <a:rPr lang="zh-CN" altLang="en-US" dirty="0"/>
              <a:t>论文的研究主要聚焦于短至中等上下文场景，尚未涉及长上下文情形。</a:t>
            </a:r>
            <a:endParaRPr lang="en-US" altLang="zh-CN" dirty="0"/>
          </a:p>
          <a:p>
            <a:pPr marL="914400" lvl="1" indent="-457200">
              <a:lnSpc>
                <a:spcPct val="170000"/>
              </a:lnSpc>
              <a:buFont typeface="+mj-lt"/>
              <a:buAutoNum type="arabicPeriod"/>
            </a:pPr>
            <a:r>
              <a:rPr lang="zh-CN" altLang="en-US" dirty="0"/>
              <a:t>论文的结论和发现可能仅适用于训练充分的模型，对于尚未展现出相关能力的语言模型可能并不成立。 </a:t>
            </a:r>
            <a:br>
              <a:rPr lang="zh-CN" altLang="en-US" dirty="0"/>
            </a:br>
            <a:br>
              <a:rPr lang="zh-CN" altLang="en-US" dirty="0"/>
            </a:br>
            <a:br>
              <a:rPr lang="zh-CN" altLang="en-US" dirty="0"/>
            </a:br>
            <a:br>
              <a:rPr lang="zh-CN" altLang="en-US" dirty="0"/>
            </a:br>
            <a:endParaRPr lang="zh-CN" altLang="en-US" dirty="0"/>
          </a:p>
        </p:txBody>
      </p:sp>
    </p:spTree>
    <p:extLst>
      <p:ext uri="{BB962C8B-B14F-4D97-AF65-F5344CB8AC3E}">
        <p14:creationId xmlns:p14="http://schemas.microsoft.com/office/powerpoint/2010/main" val="438400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0E95C-4F06-83B9-6411-7A16070B08D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E5D620A-193B-1B0B-DC88-8CA0FE954CCF}"/>
              </a:ext>
            </a:extLst>
          </p:cNvPr>
          <p:cNvSpPr>
            <a:spLocks noGrp="1"/>
          </p:cNvSpPr>
          <p:nvPr>
            <p:ph type="title"/>
          </p:nvPr>
        </p:nvSpPr>
        <p:spPr/>
        <p:txBody>
          <a:bodyPr/>
          <a:lstStyle/>
          <a:p>
            <a:r>
              <a:rPr lang="zh-CN" altLang="en-US" b="1" dirty="0"/>
              <a:t>压缩与自然语言处理任务能力的关系 </a:t>
            </a:r>
          </a:p>
        </p:txBody>
      </p:sp>
      <p:sp>
        <p:nvSpPr>
          <p:cNvPr id="2" name="文本框 1">
            <a:extLst>
              <a:ext uri="{FF2B5EF4-FFF2-40B4-BE49-F238E27FC236}">
                <a16:creationId xmlns:a16="http://schemas.microsoft.com/office/drawing/2014/main" id="{3356913A-AAAD-DFAD-FF2B-F9757AA08158}"/>
              </a:ext>
            </a:extLst>
          </p:cNvPr>
          <p:cNvSpPr txBox="1"/>
          <p:nvPr/>
        </p:nvSpPr>
        <p:spPr>
          <a:xfrm>
            <a:off x="138437" y="6405438"/>
            <a:ext cx="10175478" cy="276999"/>
          </a:xfrm>
          <a:prstGeom prst="rect">
            <a:avLst/>
          </a:prstGeom>
          <a:noFill/>
        </p:spPr>
        <p:txBody>
          <a:bodyPr wrap="none" rtlCol="0">
            <a:spAutoFit/>
          </a:bodyPr>
          <a:lstStyle/>
          <a:p>
            <a:r>
              <a:rPr lang="en-US" altLang="zh-CN" sz="1200" dirty="0"/>
              <a:t>[2] P. Guo, Z. Li, H. Hu, C. Huang, M. Li, and R. Zhang, “Ranking </a:t>
            </a:r>
            <a:r>
              <a:rPr lang="en-US" altLang="zh-CN" sz="1200" dirty="0" err="1"/>
              <a:t>llms</a:t>
            </a:r>
            <a:r>
              <a:rPr lang="en-US" altLang="zh-CN" sz="1200" dirty="0"/>
              <a:t> by compression,” </a:t>
            </a:r>
            <a:r>
              <a:rPr lang="en-US" altLang="zh-CN" sz="1200" i="1" dirty="0" err="1"/>
              <a:t>arXiv</a:t>
            </a:r>
            <a:r>
              <a:rPr lang="en-US" altLang="zh-CN" sz="1200" i="1" dirty="0"/>
              <a:t> preprint arXiv:2406.14171</a:t>
            </a:r>
            <a:r>
              <a:rPr lang="en-US" altLang="zh-CN" sz="1200" dirty="0"/>
              <a:t>, 2024. </a:t>
            </a:r>
          </a:p>
        </p:txBody>
      </p:sp>
      <p:sp>
        <p:nvSpPr>
          <p:cNvPr id="6" name="内容占位符 5">
            <a:extLst>
              <a:ext uri="{FF2B5EF4-FFF2-40B4-BE49-F238E27FC236}">
                <a16:creationId xmlns:a16="http://schemas.microsoft.com/office/drawing/2014/main" id="{6D1DF72A-B2BB-E754-5336-45E587C50223}"/>
              </a:ext>
            </a:extLst>
          </p:cNvPr>
          <p:cNvSpPr>
            <a:spLocks noGrp="1"/>
          </p:cNvSpPr>
          <p:nvPr>
            <p:ph sz="quarter" idx="13"/>
          </p:nvPr>
        </p:nvSpPr>
        <p:spPr>
          <a:xfrm>
            <a:off x="838197" y="954723"/>
            <a:ext cx="10515599" cy="5288915"/>
          </a:xfrm>
        </p:spPr>
        <p:txBody>
          <a:bodyPr>
            <a:noAutofit/>
          </a:bodyPr>
          <a:lstStyle/>
          <a:p>
            <a:pPr>
              <a:lnSpc>
                <a:spcPct val="100000"/>
              </a:lnSpc>
            </a:pPr>
            <a:r>
              <a:rPr lang="zh-CN" altLang="en-US" dirty="0"/>
              <a:t>所用到的三个自然语言处理任务：句子补全、问答和指代消解。</a:t>
            </a:r>
            <a:endParaRPr lang="en-US" altLang="zh-CN" dirty="0"/>
          </a:p>
          <a:p>
            <a:pPr>
              <a:lnSpc>
                <a:spcPct val="100000"/>
              </a:lnSpc>
            </a:pPr>
            <a:r>
              <a:rPr lang="zh-CN" altLang="en-US" dirty="0"/>
              <a:t>共使用了五个 </a:t>
            </a:r>
            <a:r>
              <a:rPr lang="en-US" altLang="zh-CN" dirty="0"/>
              <a:t>LLMs </a:t>
            </a:r>
            <a:r>
              <a:rPr lang="zh-CN" altLang="en-US" dirty="0"/>
              <a:t>作为压缩器先验。</a:t>
            </a:r>
            <a:endParaRPr lang="en-US" altLang="zh-CN" dirty="0"/>
          </a:p>
          <a:p>
            <a:pPr>
              <a:lnSpc>
                <a:spcPct val="100000"/>
              </a:lnSpc>
            </a:pPr>
            <a:r>
              <a:rPr lang="zh-CN" altLang="en-US" dirty="0"/>
              <a:t>压缩比和各个自然语言处理任务准确率如下： </a:t>
            </a: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r>
              <a:rPr lang="zh-CN" altLang="en-US" dirty="0"/>
              <a:t>根据上述结果可以得出结论：</a:t>
            </a:r>
            <a:r>
              <a:rPr lang="en-US" altLang="zh-CN" dirty="0"/>
              <a:t>LLM</a:t>
            </a:r>
            <a:r>
              <a:rPr lang="zh-CN" altLang="en-US" dirty="0"/>
              <a:t>的数据压缩效果越好，其在自然语言处理任务中的表现越优。即压缩能力与模型性能呈显著正相关。 </a:t>
            </a:r>
            <a:br>
              <a:rPr lang="zh-CN" altLang="en-US" dirty="0"/>
            </a:br>
            <a:br>
              <a:rPr lang="zh-CN" altLang="en-US" dirty="0"/>
            </a:br>
            <a:br>
              <a:rPr lang="zh-CN" altLang="en-US" dirty="0"/>
            </a:br>
            <a:br>
              <a:rPr lang="zh-CN" altLang="en-US" dirty="0"/>
            </a:br>
            <a:br>
              <a:rPr lang="zh-CN" altLang="en-US" dirty="0"/>
            </a:br>
            <a:br>
              <a:rPr lang="zh-CN" altLang="en-US" dirty="0"/>
            </a:br>
            <a:endParaRPr lang="zh-CN" altLang="en-US" dirty="0"/>
          </a:p>
        </p:txBody>
      </p:sp>
      <p:pic>
        <p:nvPicPr>
          <p:cNvPr id="5" name="图片 4">
            <a:extLst>
              <a:ext uri="{FF2B5EF4-FFF2-40B4-BE49-F238E27FC236}">
                <a16:creationId xmlns:a16="http://schemas.microsoft.com/office/drawing/2014/main" id="{2D7BB3F7-9968-36BD-A511-DD9742E85534}"/>
              </a:ext>
            </a:extLst>
          </p:cNvPr>
          <p:cNvPicPr>
            <a:picLocks noChangeAspect="1"/>
          </p:cNvPicPr>
          <p:nvPr/>
        </p:nvPicPr>
        <p:blipFill>
          <a:blip r:embed="rId3"/>
          <a:stretch>
            <a:fillRect/>
          </a:stretch>
        </p:blipFill>
        <p:spPr>
          <a:xfrm>
            <a:off x="1553428" y="2436969"/>
            <a:ext cx="8869013" cy="2324424"/>
          </a:xfrm>
          <a:prstGeom prst="rect">
            <a:avLst/>
          </a:prstGeom>
        </p:spPr>
      </p:pic>
    </p:spTree>
    <p:extLst>
      <p:ext uri="{BB962C8B-B14F-4D97-AF65-F5344CB8AC3E}">
        <p14:creationId xmlns:p14="http://schemas.microsoft.com/office/powerpoint/2010/main" val="378627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18741-A2A2-F4F9-BFD8-6C593DC2642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9CDBEC8-7C9D-6C03-832D-3E139492F31A}"/>
              </a:ext>
            </a:extLst>
          </p:cNvPr>
          <p:cNvSpPr>
            <a:spLocks noGrp="1"/>
          </p:cNvSpPr>
          <p:nvPr>
            <p:ph type="title"/>
          </p:nvPr>
        </p:nvSpPr>
        <p:spPr/>
        <p:txBody>
          <a:bodyPr/>
          <a:lstStyle/>
          <a:p>
            <a:r>
              <a:rPr lang="zh-CN" altLang="en-US" b="1" dirty="0"/>
              <a:t>小结</a:t>
            </a:r>
          </a:p>
        </p:txBody>
      </p:sp>
      <p:sp>
        <p:nvSpPr>
          <p:cNvPr id="6" name="内容占位符 5">
            <a:extLst>
              <a:ext uri="{FF2B5EF4-FFF2-40B4-BE49-F238E27FC236}">
                <a16:creationId xmlns:a16="http://schemas.microsoft.com/office/drawing/2014/main" id="{68DFC1C2-BCF2-D830-5F64-D02BF27ECBD0}"/>
              </a:ext>
            </a:extLst>
          </p:cNvPr>
          <p:cNvSpPr>
            <a:spLocks noGrp="1"/>
          </p:cNvSpPr>
          <p:nvPr>
            <p:ph sz="quarter" idx="13"/>
          </p:nvPr>
        </p:nvSpPr>
        <p:spPr>
          <a:xfrm>
            <a:off x="838197" y="954723"/>
            <a:ext cx="9885221" cy="5288915"/>
          </a:xfrm>
        </p:spPr>
        <p:txBody>
          <a:bodyPr>
            <a:noAutofit/>
          </a:bodyPr>
          <a:lstStyle/>
          <a:p>
            <a:pPr>
              <a:lnSpc>
                <a:spcPct val="100000"/>
              </a:lnSpc>
            </a:pPr>
            <a:r>
              <a:rPr lang="zh-CN" altLang="en-US" dirty="0"/>
              <a:t>本部分通过对两篇 </a:t>
            </a:r>
            <a:r>
              <a:rPr lang="en-US" altLang="zh-CN" dirty="0"/>
              <a:t>LLM </a:t>
            </a:r>
            <a:r>
              <a:rPr lang="zh-CN" altLang="en-US" dirty="0"/>
              <a:t>领域最新文章的综述，说明了大型语言模型的压缩能力与其智能表现存在强正相关，为</a:t>
            </a:r>
            <a:r>
              <a:rPr lang="en-US" altLang="zh-CN" dirty="0"/>
              <a:t>“ </a:t>
            </a:r>
            <a:r>
              <a:rPr lang="zh-CN" altLang="en-US" dirty="0"/>
              <a:t>压缩即智能</a:t>
            </a:r>
            <a:r>
              <a:rPr lang="en-US" altLang="zh-CN" dirty="0"/>
              <a:t>” </a:t>
            </a:r>
            <a:r>
              <a:rPr lang="zh-CN" altLang="en-US" dirty="0"/>
              <a:t>理论提供了一定的实证支持。</a:t>
            </a:r>
            <a:endParaRPr lang="en-US" altLang="zh-CN" dirty="0"/>
          </a:p>
          <a:p>
            <a:pPr>
              <a:lnSpc>
                <a:spcPct val="100000"/>
              </a:lnSpc>
            </a:pPr>
            <a:r>
              <a:rPr lang="zh-CN" altLang="en-US" dirty="0"/>
              <a:t>无论是在下游能力评估还是在自然语言处理任务中，模型能力指标与压缩能力指标均呈现显著正相关，证实了高效压缩要求模型精准捕捉数据内在规律。</a:t>
            </a:r>
            <a:br>
              <a:rPr lang="zh-CN" altLang="en-US" dirty="0"/>
            </a:br>
            <a:endParaRPr lang="en-US" altLang="zh-CN" dirty="0"/>
          </a:p>
          <a:p>
            <a:pPr>
              <a:lnSpc>
                <a:spcPct val="100000"/>
              </a:lnSpc>
            </a:pPr>
            <a:r>
              <a:rPr lang="zh-CN" altLang="en-US" dirty="0"/>
              <a:t>同时我们能够注意到压缩能力作为通用智能评估标准的可行性，有助于为人工智能系统的发展提供新的评估思路。</a:t>
            </a:r>
            <a:endParaRPr lang="en-US" altLang="zh-CN" dirty="0"/>
          </a:p>
          <a:p>
            <a:pPr>
              <a:lnSpc>
                <a:spcPct val="100000"/>
              </a:lnSpc>
            </a:pPr>
            <a:endParaRPr lang="en-US" altLang="zh-CN" dirty="0"/>
          </a:p>
          <a:p>
            <a:pPr>
              <a:lnSpc>
                <a:spcPct val="100000"/>
              </a:lnSpc>
            </a:pPr>
            <a:r>
              <a:rPr lang="zh-CN" altLang="en-US" dirty="0"/>
              <a:t>从长远来看，信息压缩视角下的对智能的理解将推动我们重新思考认知的本质，为实现真正的通用人工智能系统奠定理论基础。</a:t>
            </a:r>
            <a:br>
              <a:rPr lang="zh-CN" altLang="en-US" dirty="0"/>
            </a:br>
            <a:br>
              <a:rPr lang="zh-CN" altLang="en-US" dirty="0"/>
            </a:br>
            <a:br>
              <a:rPr lang="zh-CN" altLang="en-US" dirty="0"/>
            </a:br>
            <a:br>
              <a:rPr lang="zh-CN" altLang="en-US" dirty="0"/>
            </a:br>
            <a:br>
              <a:rPr lang="zh-CN" altLang="en-US" dirty="0"/>
            </a:br>
            <a:br>
              <a:rPr lang="zh-CN" altLang="en-US" dirty="0"/>
            </a:br>
            <a:endParaRPr lang="zh-CN" altLang="en-US" dirty="0"/>
          </a:p>
        </p:txBody>
      </p:sp>
    </p:spTree>
    <p:extLst>
      <p:ext uri="{BB962C8B-B14F-4D97-AF65-F5344CB8AC3E}">
        <p14:creationId xmlns:p14="http://schemas.microsoft.com/office/powerpoint/2010/main" val="268865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95324" y="549275"/>
            <a:ext cx="10801350" cy="57594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95326" y="2705725"/>
            <a:ext cx="10801350" cy="1446550"/>
          </a:xfrm>
          <a:prstGeom prst="rect">
            <a:avLst/>
          </a:prstGeom>
          <a:noFill/>
        </p:spPr>
        <p:txBody>
          <a:bodyPr wrap="square" rtlCol="0">
            <a:spAutoFit/>
          </a:bodyPr>
          <a:lstStyle/>
          <a:p>
            <a:pPr algn="ctr"/>
            <a:r>
              <a:rPr lang="en-US" altLang="zh-CN" sz="8800" b="1" dirty="0">
                <a:solidFill>
                  <a:schemeClr val="bg1"/>
                </a:solidFill>
              </a:rPr>
              <a:t>THANKS</a:t>
            </a:r>
            <a:endParaRPr lang="zh-CN" altLang="en-US" sz="8800" b="1" dirty="0">
              <a:solidFill>
                <a:schemeClr val="bg1"/>
              </a:solidFill>
            </a:endParaRPr>
          </a:p>
        </p:txBody>
      </p:sp>
    </p:spTree>
    <p:extLst>
      <p:ext uri="{BB962C8B-B14F-4D97-AF65-F5344CB8AC3E}">
        <p14:creationId xmlns:p14="http://schemas.microsoft.com/office/powerpoint/2010/main" val="256082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750" fill="hold"/>
                                        <p:tgtEl>
                                          <p:spTgt spid="8"/>
                                        </p:tgtEl>
                                        <p:attrNameLst>
                                          <p:attrName>ppt_w</p:attrName>
                                        </p:attrNameLst>
                                      </p:cBhvr>
                                      <p:tavLst>
                                        <p:tav tm="0">
                                          <p:val>
                                            <p:strVal val="#ppt_w+.3"/>
                                          </p:val>
                                        </p:tav>
                                        <p:tav tm="100000">
                                          <p:val>
                                            <p:strVal val="#ppt_w"/>
                                          </p:val>
                                        </p:tav>
                                      </p:tavLst>
                                    </p:anim>
                                    <p:anim calcmode="lin" valueType="num">
                                      <p:cBhvr>
                                        <p:cTn id="8" dur="750" fill="hold"/>
                                        <p:tgtEl>
                                          <p:spTgt spid="8"/>
                                        </p:tgtEl>
                                        <p:attrNameLst>
                                          <p:attrName>ppt_h</p:attrName>
                                        </p:attrNameLst>
                                      </p:cBhvr>
                                      <p:tavLst>
                                        <p:tav tm="0">
                                          <p:val>
                                            <p:strVal val="#ppt_h"/>
                                          </p:val>
                                        </p:tav>
                                        <p:tav tm="100000">
                                          <p:val>
                                            <p:strVal val="#ppt_h"/>
                                          </p:val>
                                        </p:tav>
                                      </p:tavLst>
                                    </p:anim>
                                    <p:animEffect transition="in" filter="fade">
                                      <p:cBhvr>
                                        <p:cTn id="9" dur="750"/>
                                        <p:tgtEl>
                                          <p:spTgt spid="8"/>
                                        </p:tgtEl>
                                      </p:cBhvr>
                                    </p:animEffect>
                                  </p:childTnLst>
                                </p:cTn>
                              </p:par>
                              <p:par>
                                <p:cTn id="10" presetID="53" presetClass="entr" presetSubtype="16" fill="hold" grpId="0" nodeType="withEffect">
                                  <p:stCondLst>
                                    <p:cond delay="40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6" presetClass="emph" presetSubtype="0" autoRev="1" fill="hold" grpId="1" nodeType="withEffect">
                                  <p:stCondLst>
                                    <p:cond delay="800"/>
                                  </p:stCondLst>
                                  <p:childTnLst>
                                    <p:animScale>
                                      <p:cBhvr>
                                        <p:cTn id="16" dur="250" fill="hold"/>
                                        <p:tgtEl>
                                          <p:spTgt spid="10"/>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0" grpId="1"/>
    </p:bldLst>
  </p:timing>
</p:sld>
</file>

<file path=ppt/theme/theme1.xml><?xml version="1.0" encoding="utf-8"?>
<a:theme xmlns:a="http://schemas.openxmlformats.org/drawingml/2006/main" name="第一PPT，www.1ppt.com">
  <a:themeElements>
    <a:clrScheme name="工大蓝">
      <a:dk1>
        <a:sysClr val="windowText" lastClr="000000"/>
      </a:dk1>
      <a:lt1>
        <a:sysClr val="window" lastClr="FFFFFF"/>
      </a:lt1>
      <a:dk2>
        <a:srgbClr val="44546A"/>
      </a:dk2>
      <a:lt2>
        <a:srgbClr val="E7E6E6"/>
      </a:lt2>
      <a:accent1>
        <a:srgbClr val="0053A3"/>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Verdana"/>
        <a:ea typeface="华文楷体"/>
        <a:cs typeface=""/>
      </a:majorFont>
      <a:minorFont>
        <a:latin typeface="Verdana"/>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1602</TotalTime>
  <Words>3184</Words>
  <Application>Microsoft Office PowerPoint</Application>
  <PresentationFormat>宽屏</PresentationFormat>
  <Paragraphs>223</Paragraphs>
  <Slides>29</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FandolSong-Regular-Identity-H</vt:lpstr>
      <vt:lpstr>NimbusRomNo9L-Regu</vt:lpstr>
      <vt:lpstr>Arial</vt:lpstr>
      <vt:lpstr>Calibri</vt:lpstr>
      <vt:lpstr>Cambria Math</vt:lpstr>
      <vt:lpstr>Verdana</vt:lpstr>
      <vt:lpstr>第一PPT，www.1ppt.com</vt:lpstr>
      <vt:lpstr>PowerPoint 演示文稿</vt:lpstr>
      <vt:lpstr>PowerPoint 演示文稿</vt:lpstr>
      <vt:lpstr>研究背景</vt:lpstr>
      <vt:lpstr>研究动机与问题</vt:lpstr>
      <vt:lpstr>信息论基础</vt:lpstr>
      <vt:lpstr>信息论基础</vt:lpstr>
      <vt:lpstr>信息论基础</vt:lpstr>
      <vt:lpstr>信息论基础</vt:lpstr>
      <vt:lpstr>Alice与Bob的思想实验</vt:lpstr>
      <vt:lpstr>Alice与Bob的思想实验</vt:lpstr>
      <vt:lpstr>Alice与Bob的思想实验</vt:lpstr>
      <vt:lpstr>Alice与Bob的思想实验</vt:lpstr>
      <vt:lpstr>Alice与Bob的思想实验</vt:lpstr>
      <vt:lpstr>针对Alice与Bob的思想实验的讨论</vt:lpstr>
      <vt:lpstr>针对Alice与Bob的思想实验的讨论</vt:lpstr>
      <vt:lpstr>Kolmogorov 复杂度与最小描述长度视角下的讨论 </vt:lpstr>
      <vt:lpstr>Kolmogorov 复杂度与最小描述长度视角下的讨论 </vt:lpstr>
      <vt:lpstr>小结</vt:lpstr>
      <vt:lpstr>PowerPoint 演示文稿</vt:lpstr>
      <vt:lpstr>压缩即智能的实证研究 </vt:lpstr>
      <vt:lpstr>压缩能力与 LLMs 的下游能力的关系 </vt:lpstr>
      <vt:lpstr>压缩能力与 LLMs 的下游能力的关系 </vt:lpstr>
      <vt:lpstr>压缩能力与 LLMs 的下游能力的关系 </vt:lpstr>
      <vt:lpstr>压缩能力与 LLMs 的下游能力的关系 </vt:lpstr>
      <vt:lpstr>压缩能力与 LLMs 的下游能力的关系 </vt:lpstr>
      <vt:lpstr>压缩能力与 LLMs 的下游能力的关系 </vt:lpstr>
      <vt:lpstr>压缩与自然语言处理任务能力的关系 </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蓝色开题报告</dc:title>
  <dc:creator>第一PPT</dc:creator>
  <cp:keywords>www.1ppt.com</cp:keywords>
  <cp:lastModifiedBy>旭东 王</cp:lastModifiedBy>
  <cp:revision>444</cp:revision>
  <dcterms:created xsi:type="dcterms:W3CDTF">2015-10-24T01:57:14Z</dcterms:created>
  <dcterms:modified xsi:type="dcterms:W3CDTF">2025-07-02T14:47:05Z</dcterms:modified>
</cp:coreProperties>
</file>