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1141" r:id="rId3"/>
    <p:sldId id="1379" r:id="rId5"/>
    <p:sldId id="1380" r:id="rId6"/>
    <p:sldId id="1381" r:id="rId7"/>
    <p:sldId id="1395" r:id="rId8"/>
    <p:sldId id="1382" r:id="rId9"/>
    <p:sldId id="1383" r:id="rId10"/>
    <p:sldId id="1384" r:id="rId11"/>
    <p:sldId id="1386" r:id="rId12"/>
    <p:sldId id="1387" r:id="rId13"/>
    <p:sldId id="1388" r:id="rId14"/>
    <p:sldId id="1389" r:id="rId15"/>
    <p:sldId id="1390" r:id="rId16"/>
    <p:sldId id="1391" r:id="rId17"/>
    <p:sldId id="1392" r:id="rId18"/>
    <p:sldId id="1393" r:id="rId19"/>
  </p:sldIdLst>
  <p:sldSz cx="12192000" cy="6858000"/>
  <p:notesSz cx="6858000" cy="9144000"/>
  <p:custDataLst>
    <p:tags r:id="rId2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09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19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438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3048000" algn="l" defTabSz="12192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3657600" algn="l" defTabSz="12192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4267200" algn="l" defTabSz="12192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4876800" algn="l" defTabSz="12192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120" userDrawn="1">
          <p15:clr>
            <a:srgbClr val="A4A3A4"/>
          </p15:clr>
        </p15:guide>
        <p15:guide id="3" pos="509" userDrawn="1">
          <p15:clr>
            <a:srgbClr val="A4A3A4"/>
          </p15:clr>
        </p15:guide>
        <p15:guide id="4" pos="37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B9B9"/>
    <a:srgbClr val="5285A8"/>
    <a:srgbClr val="61B66D"/>
    <a:srgbClr val="F7CECD"/>
    <a:srgbClr val="BADCEE"/>
    <a:srgbClr val="E4EFDB"/>
    <a:srgbClr val="F7E6D7"/>
    <a:srgbClr val="E3935C"/>
    <a:srgbClr val="9276A4"/>
    <a:srgbClr val="99AF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3" autoAdjust="0"/>
    <p:restoredTop sz="85838" autoAdjust="0"/>
  </p:normalViewPr>
  <p:slideViewPr>
    <p:cSldViewPr showGuides="1">
      <p:cViewPr varScale="1">
        <p:scale>
          <a:sx n="138" d="100"/>
          <a:sy n="138" d="100"/>
        </p:scale>
        <p:origin x="1068" y="132"/>
      </p:cViewPr>
      <p:guideLst>
        <p:guide orient="horz" pos="2198"/>
        <p:guide pos="120"/>
        <p:guide pos="509"/>
        <p:guide pos="3798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gs" Target="tags/tag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B58EF-4ABD-40F4-ACA4-FE81D742E6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1FC198-2D83-4DFC-8CDD-7D23AF44D41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7507C5-9851-4EF6-82C9-5647805156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CC5073-A55C-4F3C-8D7B-130473455D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6"/>
          <p:cNvSpPr/>
          <p:nvPr userDrawn="1"/>
        </p:nvSpPr>
        <p:spPr bwMode="auto">
          <a:xfrm>
            <a:off x="279400" y="266568"/>
            <a:ext cx="11899901" cy="474133"/>
          </a:xfrm>
          <a:custGeom>
            <a:avLst/>
            <a:gdLst>
              <a:gd name="T0" fmla="*/ 1060 w 24841"/>
              <a:gd name="T1" fmla="*/ 988 h 988"/>
              <a:gd name="T2" fmla="*/ 732 w 24841"/>
              <a:gd name="T3" fmla="*/ 988 h 988"/>
              <a:gd name="T4" fmla="*/ 0 w 24841"/>
              <a:gd name="T5" fmla="*/ 0 h 988"/>
              <a:gd name="T6" fmla="*/ 323 w 24841"/>
              <a:gd name="T7" fmla="*/ 0 h 988"/>
              <a:gd name="T8" fmla="*/ 998 w 24841"/>
              <a:gd name="T9" fmla="*/ 922 h 988"/>
              <a:gd name="T10" fmla="*/ 24841 w 24841"/>
              <a:gd name="T11" fmla="*/ 922 h 988"/>
              <a:gd name="T12" fmla="*/ 24841 w 24841"/>
              <a:gd name="T13" fmla="*/ 988 h 988"/>
              <a:gd name="T14" fmla="*/ 1060 w 24841"/>
              <a:gd name="T15" fmla="*/ 988 h 9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841" h="988">
                <a:moveTo>
                  <a:pt x="1060" y="988"/>
                </a:moveTo>
                <a:lnTo>
                  <a:pt x="732" y="988"/>
                </a:lnTo>
                <a:lnTo>
                  <a:pt x="0" y="0"/>
                </a:lnTo>
                <a:lnTo>
                  <a:pt x="323" y="0"/>
                </a:lnTo>
                <a:lnTo>
                  <a:pt x="998" y="922"/>
                </a:lnTo>
                <a:lnTo>
                  <a:pt x="24841" y="922"/>
                </a:lnTo>
                <a:lnTo>
                  <a:pt x="24841" y="988"/>
                </a:lnTo>
                <a:lnTo>
                  <a:pt x="1060" y="988"/>
                </a:lnTo>
                <a:close/>
              </a:path>
            </a:pathLst>
          </a:custGeom>
          <a:solidFill>
            <a:srgbClr val="BC24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17" tIns="60958" rIns="121917" bIns="60958" numCol="1" anchor="t" anchorCtr="0" compatLnSpc="1"/>
          <a:lstStyle/>
          <a:p>
            <a:endParaRPr lang="zh-CN" altLang="en-US" dirty="0"/>
          </a:p>
        </p:txBody>
      </p:sp>
      <p:sp>
        <p:nvSpPr>
          <p:cNvPr id="15" name="Freeform 7"/>
          <p:cNvSpPr/>
          <p:nvPr userDrawn="1"/>
        </p:nvSpPr>
        <p:spPr bwMode="auto">
          <a:xfrm>
            <a:off x="4" y="266568"/>
            <a:ext cx="573617" cy="474133"/>
          </a:xfrm>
          <a:custGeom>
            <a:avLst/>
            <a:gdLst>
              <a:gd name="T0" fmla="*/ 0 w 1197"/>
              <a:gd name="T1" fmla="*/ 0 h 988"/>
              <a:gd name="T2" fmla="*/ 469 w 1197"/>
              <a:gd name="T3" fmla="*/ 0 h 988"/>
              <a:gd name="T4" fmla="*/ 1197 w 1197"/>
              <a:gd name="T5" fmla="*/ 988 h 988"/>
              <a:gd name="T6" fmla="*/ 0 w 1197"/>
              <a:gd name="T7" fmla="*/ 988 h 988"/>
              <a:gd name="T8" fmla="*/ 0 w 1197"/>
              <a:gd name="T9" fmla="*/ 0 h 9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97" h="988">
                <a:moveTo>
                  <a:pt x="0" y="0"/>
                </a:moveTo>
                <a:lnTo>
                  <a:pt x="469" y="0"/>
                </a:lnTo>
                <a:lnTo>
                  <a:pt x="1197" y="988"/>
                </a:lnTo>
                <a:lnTo>
                  <a:pt x="0" y="988"/>
                </a:lnTo>
                <a:lnTo>
                  <a:pt x="0" y="0"/>
                </a:lnTo>
                <a:close/>
              </a:path>
            </a:pathLst>
          </a:custGeom>
          <a:solidFill>
            <a:srgbClr val="504F4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17" tIns="60958" rIns="121917" bIns="60958" numCol="1" anchor="t" anchorCtr="0" compatLnSpc="1"/>
          <a:lstStyle/>
          <a:p>
            <a:endParaRPr lang="zh-CN" altLang="en-US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1280576" y="6381328"/>
            <a:ext cx="647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33E7C02-82D1-42DA-AA8B-2AEC9E450366}" type="slidenum">
              <a:rPr lang="zh-CN" altLang="en-US" sz="12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0" y="46844"/>
            <a:ext cx="12192000" cy="663575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6EAE7-8652-497A-B0B9-2516C5BD65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microsoft.com/office/2007/relationships/hdphoto" Target="../media/image2.wdp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AC6EAE7-8652-497A-B0B9-2516C5BD65F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71000">
                <a:schemeClr val="bg1">
                  <a:lumMod val="9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9" name="Picture 7"/>
          <p:cNvPicPr>
            <a:picLocks noChangeAspect="1"/>
          </p:cNvPicPr>
          <p:nvPr userDrawn="1"/>
        </p:nvPicPr>
        <p:blipFill rotWithShape="1">
          <a:blip r:embed="rId7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0" b="7647"/>
          <a:stretch>
            <a:fillRect/>
          </a:stretch>
        </p:blipFill>
        <p:spPr>
          <a:xfrm>
            <a:off x="3" y="0"/>
            <a:ext cx="12191999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://openreview.net/" TargetMode="External"/><Relationship Id="rId1" Type="http://schemas.openxmlformats.org/officeDocument/2006/relationships/hyperlink" Target="http://cmt3.research.microsoft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1591945"/>
            <a:ext cx="12192000" cy="2197735"/>
          </a:xfrm>
          <a:prstGeom prst="rect">
            <a:avLst/>
          </a:prstGeom>
          <a:solidFill>
            <a:srgbClr val="083481"/>
          </a:solidFill>
          <a:ln>
            <a:noFill/>
          </a:ln>
          <a:scene3d>
            <a:camera prst="obliqueTopRight"/>
            <a:lightRig rig="threePt" dir="t"/>
          </a:scene3d>
          <a:sp3d prstMaterial="matte">
            <a:bevelB w="0" h="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53"/>
          <p:cNvSpPr txBox="1">
            <a:spLocks noChangeArrowheads="1"/>
          </p:cNvSpPr>
          <p:nvPr/>
        </p:nvSpPr>
        <p:spPr bwMode="auto">
          <a:xfrm>
            <a:off x="2022062" y="1718245"/>
            <a:ext cx="8157882" cy="1076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1221" tIns="30610" rIns="61221" bIns="30610" anchor="ctr" anchorCtr="0">
            <a:spAutoFit/>
          </a:bodyPr>
          <a:lstStyle/>
          <a:p>
            <a:pPr marL="0" marR="0" lvl="0" indent="0" algn="ctr" defTabSz="815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80000"/>
              <a:buFontTx/>
              <a:buNone/>
              <a:defRPr/>
            </a:pPr>
            <a:r>
              <a:rPr lang="zh-CN" altLang="en-US" sz="6600" b="1" dirty="0">
                <a:solidFill>
                  <a:schemeClr val="bg1"/>
                </a:solidFill>
                <a:sym typeface="+mn-ea"/>
              </a:rPr>
              <a:t>论文阅读实践</a:t>
            </a:r>
            <a:endParaRPr kumimoji="0" lang="zh-CN" altLang="en-US" sz="6600" b="1" i="0" u="none" strike="noStrike" kern="1200" cap="none" spc="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pic>
        <p:nvPicPr>
          <p:cNvPr id="1026" name="Picture 2" descr="中国科学技术大学- 维基百科，自由的百科全书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91" y="190134"/>
            <a:ext cx="1340768" cy="134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297600" y="2958088"/>
            <a:ext cx="6131490" cy="6146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1221" tIns="30610" rIns="61221" bIns="30610" anchor="ctr" anchorCtr="0">
            <a:spAutoFit/>
          </a:bodyPr>
          <a:lstStyle>
            <a:defPPr>
              <a:defRPr lang="zh-CN"/>
            </a:defPPr>
            <a:lvl1pPr marL="0" marR="0" lvl="0" indent="0" algn="ctr" defTabSz="81597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80000"/>
              <a:buFontTx/>
              <a:buNone/>
              <a:defRPr kumimoji="0" sz="3600" b="1" i="0" u="none" strike="noStrike" cap="none" spc="30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第三次</a:t>
            </a:r>
            <a:r>
              <a:rPr lang="zh-CN" altLang="en-US" dirty="0">
                <a:sym typeface="+mn-ea"/>
              </a:rPr>
              <a:t>作业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 txBox="1"/>
          <p:nvPr/>
        </p:nvSpPr>
        <p:spPr>
          <a:xfrm>
            <a:off x="983432" y="138591"/>
            <a:ext cx="8665764" cy="50405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论文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12"/>
          <p:cNvSpPr/>
          <p:nvPr/>
        </p:nvSpPr>
        <p:spPr>
          <a:xfrm>
            <a:off x="383455" y="968416"/>
            <a:ext cx="6797587" cy="1040758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algn="just">
              <a:lnSpc>
                <a:spcPct val="120000"/>
              </a:lnSpc>
            </a:pPr>
            <a:endParaRPr lang="zh-CN" altLang="en-US" sz="1600" b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12"/>
          <p:cNvSpPr/>
          <p:nvPr/>
        </p:nvSpPr>
        <p:spPr>
          <a:xfrm>
            <a:off x="551385" y="1124983"/>
            <a:ext cx="10957164" cy="1040758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lvl="0" algn="just">
              <a:lnSpc>
                <a:spcPct val="120000"/>
              </a:lnSpc>
            </a:pPr>
            <a:endParaRPr lang="zh-CN" altLang="en-US" sz="2200" b="0" dirty="0">
              <a:solidFill>
                <a:srgbClr val="00206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3451" y="1295313"/>
            <a:ext cx="10597125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论文常用来指进行各个学术领域的研究和描述</a:t>
            </a:r>
            <a:r>
              <a:rPr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学术研究成果的文章，简称之为论文。它既是探讨问题进行学术研究的一种手段，又是描述学术研究成果进行学术交流的一种工具。它包括学年论文、毕业论文、学位论文、科技论文、成果论文等。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百度百科）</a:t>
            </a:r>
            <a:endParaRPr lang="en-US" altLang="zh-CN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建议多阅读论文，了解作者的原始思想   </a:t>
            </a:r>
            <a:endParaRPr lang="en-US" altLang="zh-CN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原汁原味（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VS </a:t>
            </a:r>
            <a:r>
              <a:rPr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二手翻译，二手传播）</a:t>
            </a:r>
            <a:endParaRPr lang="en-US" altLang="zh-CN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时效性更好</a:t>
            </a:r>
            <a:endParaRPr lang="en-US" altLang="zh-CN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通过阅读，学习写作</a:t>
            </a:r>
            <a:endParaRPr lang="en-US" altLang="zh-CN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论文内容包括：</a:t>
            </a:r>
            <a:endParaRPr lang="en-US" altLang="zh-CN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正文，补充文字，视频，代码等</a:t>
            </a:r>
            <a:endParaRPr lang="en-US" altLang="zh-CN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Tm="1146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 txBox="1"/>
          <p:nvPr/>
        </p:nvSpPr>
        <p:spPr>
          <a:xfrm>
            <a:off x="983432" y="138591"/>
            <a:ext cx="8665764" cy="50405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第三次作业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12"/>
          <p:cNvSpPr/>
          <p:nvPr/>
        </p:nvSpPr>
        <p:spPr>
          <a:xfrm>
            <a:off x="383455" y="968416"/>
            <a:ext cx="6797587" cy="1040758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algn="just">
              <a:lnSpc>
                <a:spcPct val="120000"/>
              </a:lnSpc>
            </a:pPr>
            <a:endParaRPr lang="zh-CN" altLang="en-US" sz="1600" b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12"/>
          <p:cNvSpPr/>
          <p:nvPr/>
        </p:nvSpPr>
        <p:spPr>
          <a:xfrm>
            <a:off x="551385" y="1124983"/>
            <a:ext cx="10957164" cy="1040758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lvl="0" algn="just">
              <a:lnSpc>
                <a:spcPct val="120000"/>
              </a:lnSpc>
            </a:pPr>
            <a:endParaRPr lang="zh-CN" altLang="en-US" sz="2200" b="0" dirty="0">
              <a:solidFill>
                <a:srgbClr val="00206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3451" y="1295313"/>
            <a:ext cx="1059712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去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paperswithcode.com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里面去找一篇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日以后的文章，要有训练代码。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挑什么样的文章？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不要过长，尽量新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数据量不要过大，否则下载很难，训练时间过长（不建议视频内容相关，医学图像的数据集一般较小）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模型不要过大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最好要有量化评价指标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Tm="1146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 txBox="1"/>
          <p:nvPr/>
        </p:nvSpPr>
        <p:spPr>
          <a:xfrm>
            <a:off x="983432" y="138591"/>
            <a:ext cx="8665764" cy="50405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第三次作业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12"/>
          <p:cNvSpPr/>
          <p:nvPr/>
        </p:nvSpPr>
        <p:spPr>
          <a:xfrm>
            <a:off x="383455" y="968416"/>
            <a:ext cx="6797587" cy="1040758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algn="just">
              <a:lnSpc>
                <a:spcPct val="120000"/>
              </a:lnSpc>
            </a:pPr>
            <a:endParaRPr lang="zh-CN" altLang="en-US" sz="1600" b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12"/>
          <p:cNvSpPr/>
          <p:nvPr/>
        </p:nvSpPr>
        <p:spPr>
          <a:xfrm>
            <a:off x="551385" y="1124983"/>
            <a:ext cx="10957164" cy="1040758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lvl="0" algn="just">
              <a:lnSpc>
                <a:spcPct val="120000"/>
              </a:lnSpc>
            </a:pPr>
            <a:endParaRPr lang="zh-CN" altLang="en-US" sz="2200" b="0" dirty="0">
              <a:solidFill>
                <a:srgbClr val="00206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3451" y="990267"/>
            <a:ext cx="10597125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提交内容：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文章的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abstract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introduction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的全文中文翻译（信达雅， 估计用时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小时以内）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利用代码，复现论文，训练模型，比较你训练的结果与文中展示结果，看看是否有区别。写一篇复现报告。比如，你为了复现，环境的配置有何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差异，改了什么，发现了什么，结果是什么，如果是不一样，可能是因为什么  （不好估计，看你们的运气，希望是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小时以内）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做一个答辩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，展示复现结果。所有成员都需要参加讲解。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答辩不要超过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分钟。 （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2-3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个小时）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Tm="1146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 txBox="1"/>
          <p:nvPr/>
        </p:nvSpPr>
        <p:spPr>
          <a:xfrm>
            <a:off x="983432" y="138591"/>
            <a:ext cx="8665764" cy="50405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第三次作业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12"/>
          <p:cNvSpPr/>
          <p:nvPr/>
        </p:nvSpPr>
        <p:spPr>
          <a:xfrm>
            <a:off x="383455" y="968416"/>
            <a:ext cx="6797587" cy="1040758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algn="just">
              <a:lnSpc>
                <a:spcPct val="120000"/>
              </a:lnSpc>
            </a:pPr>
            <a:endParaRPr lang="zh-CN" altLang="en-US" sz="1600" b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12"/>
          <p:cNvSpPr/>
          <p:nvPr/>
        </p:nvSpPr>
        <p:spPr>
          <a:xfrm>
            <a:off x="551385" y="1124982"/>
            <a:ext cx="10957164" cy="5040321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提交时间：（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--17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周）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20000"/>
              </a:lnSpc>
            </a:pPr>
            <a:endParaRPr lang="en-US" altLang="zh-CN" sz="3200" dirty="0">
              <a:solidFill>
                <a:srgbClr val="00206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lvl="0" algn="just">
              <a:lnSpc>
                <a:spcPct val="120000"/>
              </a:lnSpc>
            </a:pPr>
            <a:endParaRPr lang="en-US" altLang="zh-CN" sz="3200" dirty="0">
              <a:solidFill>
                <a:srgbClr val="00206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lvl="0" algn="just">
              <a:lnSpc>
                <a:spcPct val="120000"/>
              </a:lnSpc>
            </a:pPr>
            <a:endParaRPr lang="zh-CN" altLang="en-US" sz="2200" b="0" dirty="0">
              <a:solidFill>
                <a:srgbClr val="00206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" name="图片 1" descr="d5a6e5d1383ae1fc1decc3190153de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0010" y="1700530"/>
            <a:ext cx="7933690" cy="4992370"/>
          </a:xfrm>
          <a:prstGeom prst="rect">
            <a:avLst/>
          </a:prstGeom>
        </p:spPr>
      </p:pic>
    </p:spTree>
  </p:cSld>
  <p:clrMapOvr>
    <a:masterClrMapping/>
  </p:clrMapOvr>
  <p:transition advTm="1146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 txBox="1"/>
          <p:nvPr/>
        </p:nvSpPr>
        <p:spPr>
          <a:xfrm>
            <a:off x="983432" y="138591"/>
            <a:ext cx="8665764" cy="50405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第三次作业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12"/>
          <p:cNvSpPr/>
          <p:nvPr/>
        </p:nvSpPr>
        <p:spPr>
          <a:xfrm>
            <a:off x="383455" y="968416"/>
            <a:ext cx="6797587" cy="1040758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algn="just">
              <a:lnSpc>
                <a:spcPct val="120000"/>
              </a:lnSpc>
            </a:pPr>
            <a:endParaRPr lang="zh-CN" altLang="en-US" sz="1600" b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12"/>
          <p:cNvSpPr/>
          <p:nvPr/>
        </p:nvSpPr>
        <p:spPr>
          <a:xfrm>
            <a:off x="551385" y="1124982"/>
            <a:ext cx="10957164" cy="5040321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Tips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找个小模型，中小级别数据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若能有所改进，加分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请务必真实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不分组，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个人为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20000"/>
              </a:lnSpc>
            </a:pPr>
            <a:endParaRPr lang="en-US" altLang="zh-CN" sz="3200" dirty="0">
              <a:solidFill>
                <a:srgbClr val="00206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lvl="0" algn="just">
              <a:lnSpc>
                <a:spcPct val="120000"/>
              </a:lnSpc>
            </a:pPr>
            <a:endParaRPr lang="en-US" altLang="zh-CN" sz="3200" dirty="0">
              <a:solidFill>
                <a:srgbClr val="00206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lvl="0" algn="just">
              <a:lnSpc>
                <a:spcPct val="120000"/>
              </a:lnSpc>
            </a:pPr>
            <a:endParaRPr lang="zh-CN" altLang="en-US" sz="2200" b="0" dirty="0">
              <a:solidFill>
                <a:srgbClr val="00206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 advTm="1146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 txBox="1"/>
          <p:nvPr/>
        </p:nvSpPr>
        <p:spPr>
          <a:xfrm>
            <a:off x="983432" y="138591"/>
            <a:ext cx="8665764" cy="50405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论文那些事儿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12"/>
          <p:cNvSpPr/>
          <p:nvPr/>
        </p:nvSpPr>
        <p:spPr>
          <a:xfrm>
            <a:off x="383455" y="968416"/>
            <a:ext cx="6797587" cy="1040758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algn="just">
              <a:lnSpc>
                <a:spcPct val="120000"/>
              </a:lnSpc>
            </a:pPr>
            <a:endParaRPr lang="zh-CN" altLang="en-US" sz="1600" b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12"/>
          <p:cNvSpPr/>
          <p:nvPr/>
        </p:nvSpPr>
        <p:spPr>
          <a:xfrm>
            <a:off x="551385" y="1124982"/>
            <a:ext cx="10957164" cy="5040321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从哪里找论文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学术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Google Scholar, DBLP, IEEE Xplore, CVF, Elsevier, 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Arxiv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ResearchGate, 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OpenReview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PapersWithCode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公众号：机器之心，机器之心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SOTA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模型，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新智元，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AiCharm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，极市平台，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ScienceAI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VALSE,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智源社区，自动驾驶之心，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20000"/>
              </a:lnSpc>
            </a:pPr>
            <a:endParaRPr lang="en-US" altLang="zh-CN" sz="3200" dirty="0">
              <a:solidFill>
                <a:srgbClr val="00206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lvl="0" algn="just">
              <a:lnSpc>
                <a:spcPct val="120000"/>
              </a:lnSpc>
            </a:pPr>
            <a:endParaRPr lang="zh-CN" altLang="en-US" sz="2200" b="0" dirty="0">
              <a:solidFill>
                <a:srgbClr val="00206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 advTm="1146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 txBox="1"/>
          <p:nvPr/>
        </p:nvSpPr>
        <p:spPr>
          <a:xfrm>
            <a:off x="983432" y="138591"/>
            <a:ext cx="8665764" cy="50405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怎么样投论文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12"/>
          <p:cNvSpPr/>
          <p:nvPr/>
        </p:nvSpPr>
        <p:spPr>
          <a:xfrm>
            <a:off x="383455" y="968416"/>
            <a:ext cx="6797587" cy="1040758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algn="just">
              <a:lnSpc>
                <a:spcPct val="120000"/>
              </a:lnSpc>
            </a:pPr>
            <a:endParaRPr lang="zh-CN" altLang="en-US" sz="1600" b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12"/>
          <p:cNvSpPr/>
          <p:nvPr/>
        </p:nvSpPr>
        <p:spPr>
          <a:xfrm>
            <a:off x="551385" y="1124982"/>
            <a:ext cx="10957164" cy="5040321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投论文的地点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流行 微软的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cmt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（会议）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http://cmt3.research.microsoft.com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(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去看看）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流行 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OpenReview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（会议）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http://openreview.net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（去看看）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流行 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ScholarOne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（期刊）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其他方案：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cms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系统，其他出版商的系统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arxiv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20000"/>
              </a:lnSpc>
            </a:pPr>
            <a:endParaRPr lang="zh-CN" altLang="en-US" sz="2200" b="0" dirty="0">
              <a:solidFill>
                <a:srgbClr val="00206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 advTm="1146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 txBox="1"/>
          <p:nvPr/>
        </p:nvSpPr>
        <p:spPr>
          <a:xfrm>
            <a:off x="983432" y="138591"/>
            <a:ext cx="8665764" cy="50405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会议论文的一般步骤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12"/>
          <p:cNvSpPr/>
          <p:nvPr/>
        </p:nvSpPr>
        <p:spPr>
          <a:xfrm>
            <a:off x="383455" y="968416"/>
            <a:ext cx="6797587" cy="1040758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algn="just">
              <a:lnSpc>
                <a:spcPct val="120000"/>
              </a:lnSpc>
            </a:pPr>
            <a:endParaRPr lang="zh-CN" altLang="en-US" sz="1600" b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12"/>
          <p:cNvSpPr/>
          <p:nvPr/>
        </p:nvSpPr>
        <p:spPr>
          <a:xfrm>
            <a:off x="551385" y="1124982"/>
            <a:ext cx="10957164" cy="5040321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lvl="1">
              <a:lnSpc>
                <a:spcPct val="12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举个粟（例）子，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IJCAI 2024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20000"/>
              </a:lnSpc>
            </a:pPr>
            <a:endParaRPr lang="zh-CN" altLang="en-US" sz="2200" b="0" dirty="0">
              <a:solidFill>
                <a:srgbClr val="00206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35378" y="4170568"/>
            <a:ext cx="364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Camera ready + copyright</a:t>
            </a:r>
            <a:endParaRPr lang="en-US" altLang="zh-C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6135" y="2000335"/>
            <a:ext cx="8887664" cy="4164968"/>
          </a:xfrm>
          <a:prstGeom prst="rect">
            <a:avLst/>
          </a:prstGeom>
        </p:spPr>
      </p:pic>
    </p:spTree>
  </p:cSld>
  <p:clrMapOvr>
    <a:masterClrMapping/>
  </p:clrMapOvr>
  <p:transition advTm="1146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6973" y="1296662"/>
            <a:ext cx="110812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/>
              <a:t>AI Conference Deadlines</a:t>
            </a:r>
            <a:endParaRPr lang="en-US" altLang="zh-CN" sz="3600" dirty="0"/>
          </a:p>
          <a:p>
            <a:endParaRPr lang="en-US" altLang="zh-CN" sz="3600" dirty="0"/>
          </a:p>
          <a:p>
            <a:r>
              <a:rPr lang="en-US" altLang="zh-CN" sz="3600" dirty="0"/>
              <a:t>https://aideadlin.es/?sub=ML,CV,CG,NLP,RO,SP,DM,AP,KR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 txBox="1"/>
          <p:nvPr/>
        </p:nvSpPr>
        <p:spPr>
          <a:xfrm>
            <a:off x="983432" y="138591"/>
            <a:ext cx="8665764" cy="50405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有哪些好的期刊会议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12"/>
          <p:cNvSpPr/>
          <p:nvPr/>
        </p:nvSpPr>
        <p:spPr>
          <a:xfrm>
            <a:off x="383455" y="968416"/>
            <a:ext cx="6797587" cy="1040758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algn="just">
              <a:lnSpc>
                <a:spcPct val="120000"/>
              </a:lnSpc>
            </a:pPr>
            <a:endParaRPr lang="zh-CN" altLang="en-US" sz="1600" b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12"/>
          <p:cNvSpPr/>
          <p:nvPr/>
        </p:nvSpPr>
        <p:spPr>
          <a:xfrm>
            <a:off x="551385" y="1124982"/>
            <a:ext cx="10957164" cy="5040321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lvl="0" algn="just">
              <a:lnSpc>
                <a:spcPct val="120000"/>
              </a:lnSpc>
            </a:pPr>
            <a:endParaRPr lang="en-US" altLang="zh-CN" sz="2200" b="0" dirty="0">
              <a:solidFill>
                <a:srgbClr val="00206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60785"/>
            <a:ext cx="12233607" cy="44937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1134" y="1035789"/>
            <a:ext cx="89120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CCF</a:t>
            </a:r>
            <a:r>
              <a:rPr lang="zh-CN" altLang="en-US" sz="2800" dirty="0"/>
              <a:t>分级，中科院期刊分区，期刊影响因子</a:t>
            </a:r>
            <a:endParaRPr lang="en-US" altLang="zh-CN" sz="1800" dirty="0"/>
          </a:p>
        </p:txBody>
      </p:sp>
    </p:spTree>
  </p:cSld>
  <p:clrMapOvr>
    <a:masterClrMapping/>
  </p:clrMapOvr>
  <p:transition advTm="1146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838" y="1262770"/>
            <a:ext cx="9940230" cy="53212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08" y="1926192"/>
            <a:ext cx="11878466" cy="3738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881" y="1614570"/>
            <a:ext cx="11110411" cy="41994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 txBox="1"/>
          <p:nvPr/>
        </p:nvSpPr>
        <p:spPr>
          <a:xfrm>
            <a:off x="983432" y="138591"/>
            <a:ext cx="8665764" cy="50405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如何读一篇人工智能方向论文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12"/>
          <p:cNvSpPr/>
          <p:nvPr/>
        </p:nvSpPr>
        <p:spPr>
          <a:xfrm>
            <a:off x="383455" y="968416"/>
            <a:ext cx="6797587" cy="1040758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algn="just">
              <a:lnSpc>
                <a:spcPct val="120000"/>
              </a:lnSpc>
            </a:pPr>
            <a:endParaRPr lang="zh-CN" altLang="en-US" sz="1600" b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12"/>
          <p:cNvSpPr/>
          <p:nvPr/>
        </p:nvSpPr>
        <p:spPr>
          <a:xfrm>
            <a:off x="551385" y="1124982"/>
            <a:ext cx="10957164" cy="5040321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lvl="0" algn="just">
              <a:lnSpc>
                <a:spcPct val="120000"/>
              </a:lnSpc>
            </a:pPr>
            <a:endParaRPr lang="en-US" altLang="zh-CN" sz="2200" b="0" dirty="0">
              <a:solidFill>
                <a:srgbClr val="00206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779802" y="1212233"/>
            <a:ext cx="988317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结构：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Title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Abstract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Introduction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Related works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Methods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Experiments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Conclusion (Discussion)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Acknowledgement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Reference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97780" y="968416"/>
            <a:ext cx="4101273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zh-CN" altLang="en-US" sz="2400" dirty="0"/>
              <a:t>先浏览点啥？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发表地点 （</a:t>
            </a:r>
            <a:r>
              <a:rPr lang="en-US" altLang="zh-CN" sz="2400" dirty="0"/>
              <a:t>Workshops?)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作者和作者单位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页数</a:t>
            </a:r>
            <a:r>
              <a:rPr lang="en-US" altLang="zh-CN" sz="2400" dirty="0"/>
              <a:t>/</a:t>
            </a:r>
            <a:r>
              <a:rPr lang="zh-CN" altLang="en-US" sz="2400" dirty="0"/>
              <a:t>文章属性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b="1" dirty="0"/>
              <a:t>是否有代码</a:t>
            </a:r>
            <a:endParaRPr lang="en-US" altLang="zh-CN" sz="2400" b="1" dirty="0"/>
          </a:p>
          <a:p>
            <a:endParaRPr lang="en-US" altLang="zh-CN" sz="2400" dirty="0"/>
          </a:p>
          <a:p>
            <a:r>
              <a:rPr lang="zh-CN" altLang="en-US" sz="2400" dirty="0"/>
              <a:t>关键字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图和表</a:t>
            </a:r>
            <a:endParaRPr lang="zh-CN" altLang="en-US" dirty="0"/>
          </a:p>
        </p:txBody>
      </p:sp>
    </p:spTree>
  </p:cSld>
  <p:clrMapOvr>
    <a:masterClrMapping/>
  </p:clrMapOvr>
  <p:transition advTm="1146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 txBox="1"/>
          <p:nvPr/>
        </p:nvSpPr>
        <p:spPr>
          <a:xfrm>
            <a:off x="983432" y="138591"/>
            <a:ext cx="8665764" cy="50405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如何写一篇人工智能方向论文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12"/>
          <p:cNvSpPr/>
          <p:nvPr/>
        </p:nvSpPr>
        <p:spPr>
          <a:xfrm>
            <a:off x="383455" y="968416"/>
            <a:ext cx="6797587" cy="1040758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algn="just">
              <a:lnSpc>
                <a:spcPct val="120000"/>
              </a:lnSpc>
            </a:pPr>
            <a:endParaRPr lang="zh-CN" altLang="en-US" sz="1600" b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12"/>
          <p:cNvSpPr/>
          <p:nvPr/>
        </p:nvSpPr>
        <p:spPr>
          <a:xfrm>
            <a:off x="551385" y="1124982"/>
            <a:ext cx="10957164" cy="5040321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 lvl="0" algn="just">
              <a:lnSpc>
                <a:spcPct val="120000"/>
              </a:lnSpc>
            </a:pPr>
            <a:endParaRPr lang="en-US" altLang="zh-CN" sz="2200" b="0" dirty="0">
              <a:solidFill>
                <a:srgbClr val="00206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95622" y="1153082"/>
            <a:ext cx="988317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一般使用</a:t>
            </a:r>
            <a:r>
              <a:rPr lang="en-US" altLang="zh-CN" sz="2800" dirty="0"/>
              <a:t>Latex</a:t>
            </a:r>
            <a:r>
              <a:rPr lang="zh-CN" altLang="en-US" sz="2800" dirty="0"/>
              <a:t>来撰写论文</a:t>
            </a:r>
            <a:endParaRPr lang="en-US" altLang="zh-CN" sz="2800" dirty="0"/>
          </a:p>
          <a:p>
            <a:r>
              <a:rPr lang="zh-CN" altLang="en-US" sz="2800" dirty="0"/>
              <a:t>常用的</a:t>
            </a:r>
            <a:r>
              <a:rPr lang="en-US" altLang="zh-CN" sz="2800" dirty="0"/>
              <a:t>Latex</a:t>
            </a:r>
            <a:r>
              <a:rPr lang="zh-CN" altLang="en-US" sz="2800" dirty="0"/>
              <a:t>协作平台</a:t>
            </a:r>
            <a:endParaRPr lang="en-US" altLang="zh-C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	http://www.overleaf.com</a:t>
            </a:r>
            <a:endParaRPr lang="en-US" altLang="zh-C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	http://latex.ustc.edu.cn</a:t>
            </a:r>
            <a:endParaRPr lang="en-US" altLang="zh-CN" sz="2800" dirty="0"/>
          </a:p>
          <a:p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8382" y="3041662"/>
            <a:ext cx="7827945" cy="3614329"/>
          </a:xfrm>
          <a:prstGeom prst="rect">
            <a:avLst/>
          </a:prstGeom>
        </p:spPr>
      </p:pic>
    </p:spTree>
  </p:cSld>
  <p:clrMapOvr>
    <a:masterClrMapping/>
  </p:clrMapOvr>
  <p:transition advTm="11460">
    <p:fade/>
  </p:transition>
</p:sld>
</file>

<file path=ppt/tags/tag1.xml><?xml version="1.0" encoding="utf-8"?>
<p:tagLst xmlns:p="http://schemas.openxmlformats.org/presentationml/2006/main">
  <p:tag name="RESOURCE_RECORD_KEY" val="{&quot;29&quot;:[50000076,50000077]}"/>
  <p:tag name="COMMONDATA" val="eyJoZGlkIjoiYWRhNmU4ZTM4OTM4Nzk2OGExZTZhNDQ2MGU2ZmQwOWUifQ=="/>
</p:tagLst>
</file>

<file path=ppt/theme/theme1.xml><?xml version="1.0" encoding="utf-8"?>
<a:theme xmlns:a="http://schemas.openxmlformats.org/drawingml/2006/main" name="Office Theme">
  <a:themeElements>
    <a:clrScheme name="红色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Microsoft YaHei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1415</Words>
  <Application>WPS 演示</Application>
  <PresentationFormat>宽屏</PresentationFormat>
  <Paragraphs>137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Calibri</vt:lpstr>
      <vt:lpstr>微软雅黑</vt:lpstr>
      <vt:lpstr>Calibri</vt:lpstr>
      <vt:lpstr>等线</vt:lpstr>
      <vt:lpstr>黑体</vt:lpstr>
      <vt:lpstr>Microsoft YaHei UI</vt:lpstr>
      <vt:lpstr>Arial Unicode MS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2017岗位竞聘报告PPT-01</dc:title>
  <dc:creator>kingpub</dc:creator>
  <cp:lastModifiedBy>wangjing</cp:lastModifiedBy>
  <cp:revision>1847</cp:revision>
  <dcterms:created xsi:type="dcterms:W3CDTF">2020-03-03T14:52:00Z</dcterms:created>
  <dcterms:modified xsi:type="dcterms:W3CDTF">2025-05-07T05:14:23Z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D7E9572513EB4810B497BA2ED18EE6B6_13</vt:lpwstr>
  </property>
  <property fmtid="{D5CDD505-2E9C-101B-9397-08002B2CF9AE}" pid="4" name="MSIP_Label_51a6c3db-1667-4f49-995a-8b9973972958_Enabled">
    <vt:lpwstr>true</vt:lpwstr>
  </property>
  <property fmtid="{D5CDD505-2E9C-101B-9397-08002B2CF9AE}" pid="5" name="MSIP_Label_51a6c3db-1667-4f49-995a-8b9973972958_SetDate">
    <vt:lpwstr>2024-09-29T02:19:31Z</vt:lpwstr>
  </property>
  <property fmtid="{D5CDD505-2E9C-101B-9397-08002B2CF9AE}" pid="6" name="MSIP_Label_51a6c3db-1667-4f49-995a-8b9973972958_Method">
    <vt:lpwstr>Standard</vt:lpwstr>
  </property>
  <property fmtid="{D5CDD505-2E9C-101B-9397-08002B2CF9AE}" pid="7" name="MSIP_Label_51a6c3db-1667-4f49-995a-8b9973972958_Name">
    <vt:lpwstr>UTS-Internal</vt:lpwstr>
  </property>
  <property fmtid="{D5CDD505-2E9C-101B-9397-08002B2CF9AE}" pid="8" name="MSIP_Label_51a6c3db-1667-4f49-995a-8b9973972958_SiteId">
    <vt:lpwstr>e8911c26-cf9f-4a9c-878e-527807be8791</vt:lpwstr>
  </property>
  <property fmtid="{D5CDD505-2E9C-101B-9397-08002B2CF9AE}" pid="9" name="MSIP_Label_51a6c3db-1667-4f49-995a-8b9973972958_ActionId">
    <vt:lpwstr>c9311723-dda3-4b19-be18-3c92c94464d8</vt:lpwstr>
  </property>
  <property fmtid="{D5CDD505-2E9C-101B-9397-08002B2CF9AE}" pid="10" name="MSIP_Label_51a6c3db-1667-4f49-995a-8b9973972958_ContentBits">
    <vt:lpwstr>0</vt:lpwstr>
  </property>
</Properties>
</file>