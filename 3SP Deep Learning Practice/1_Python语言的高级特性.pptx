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4"/>
  </p:notesMasterIdLst>
  <p:handoutMasterIdLst>
    <p:handoutMasterId r:id="rId145"/>
  </p:handoutMasterIdLst>
  <p:sldIdLst>
    <p:sldId id="1141" r:id="rId2"/>
    <p:sldId id="1266" r:id="rId3"/>
    <p:sldId id="1218" r:id="rId4"/>
    <p:sldId id="1267" r:id="rId5"/>
    <p:sldId id="1268" r:id="rId6"/>
    <p:sldId id="1269" r:id="rId7"/>
    <p:sldId id="1272" r:id="rId8"/>
    <p:sldId id="1273" r:id="rId9"/>
    <p:sldId id="1276" r:id="rId10"/>
    <p:sldId id="1277" r:id="rId11"/>
    <p:sldId id="1278" r:id="rId12"/>
    <p:sldId id="1274" r:id="rId13"/>
    <p:sldId id="1275" r:id="rId14"/>
    <p:sldId id="1279" r:id="rId15"/>
    <p:sldId id="1280" r:id="rId16"/>
    <p:sldId id="1281" r:id="rId17"/>
    <p:sldId id="1291" r:id="rId18"/>
    <p:sldId id="1282" r:id="rId19"/>
    <p:sldId id="1284" r:id="rId20"/>
    <p:sldId id="1283" r:id="rId21"/>
    <p:sldId id="1292" r:id="rId22"/>
    <p:sldId id="1293" r:id="rId23"/>
    <p:sldId id="1294" r:id="rId24"/>
    <p:sldId id="1285" r:id="rId25"/>
    <p:sldId id="1300" r:id="rId26"/>
    <p:sldId id="1229" r:id="rId27"/>
    <p:sldId id="1286" r:id="rId28"/>
    <p:sldId id="1295" r:id="rId29"/>
    <p:sldId id="1296" r:id="rId30"/>
    <p:sldId id="1297" r:id="rId31"/>
    <p:sldId id="1298" r:id="rId32"/>
    <p:sldId id="1299" r:id="rId33"/>
    <p:sldId id="1301" r:id="rId34"/>
    <p:sldId id="1302" r:id="rId35"/>
    <p:sldId id="1348" r:id="rId36"/>
    <p:sldId id="1270" r:id="rId37"/>
    <p:sldId id="1271" r:id="rId38"/>
    <p:sldId id="1304" r:id="rId39"/>
    <p:sldId id="1219" r:id="rId40"/>
    <p:sldId id="1220" r:id="rId41"/>
    <p:sldId id="1221" r:id="rId42"/>
    <p:sldId id="1222" r:id="rId43"/>
    <p:sldId id="1223" r:id="rId44"/>
    <p:sldId id="1224" r:id="rId45"/>
    <p:sldId id="1225" r:id="rId46"/>
    <p:sldId id="1226" r:id="rId47"/>
    <p:sldId id="1305" r:id="rId48"/>
    <p:sldId id="1306" r:id="rId49"/>
    <p:sldId id="1307" r:id="rId50"/>
    <p:sldId id="1308" r:id="rId51"/>
    <p:sldId id="1309" r:id="rId52"/>
    <p:sldId id="1310" r:id="rId53"/>
    <p:sldId id="1311" r:id="rId54"/>
    <p:sldId id="1312" r:id="rId55"/>
    <p:sldId id="1313" r:id="rId56"/>
    <p:sldId id="1314" r:id="rId57"/>
    <p:sldId id="1315" r:id="rId58"/>
    <p:sldId id="1316" r:id="rId59"/>
    <p:sldId id="1317" r:id="rId60"/>
    <p:sldId id="1318" r:id="rId61"/>
    <p:sldId id="1287" r:id="rId62"/>
    <p:sldId id="1319" r:id="rId63"/>
    <p:sldId id="1320" r:id="rId64"/>
    <p:sldId id="1321" r:id="rId65"/>
    <p:sldId id="1322" r:id="rId66"/>
    <p:sldId id="1323" r:id="rId67"/>
    <p:sldId id="1324" r:id="rId68"/>
    <p:sldId id="1325" r:id="rId69"/>
    <p:sldId id="1326" r:id="rId70"/>
    <p:sldId id="1327" r:id="rId71"/>
    <p:sldId id="1328" r:id="rId72"/>
    <p:sldId id="1329" r:id="rId73"/>
    <p:sldId id="1330" r:id="rId74"/>
    <p:sldId id="1331" r:id="rId75"/>
    <p:sldId id="1332" r:id="rId76"/>
    <p:sldId id="1333" r:id="rId77"/>
    <p:sldId id="1334" r:id="rId78"/>
    <p:sldId id="1335" r:id="rId79"/>
    <p:sldId id="1336" r:id="rId80"/>
    <p:sldId id="1337" r:id="rId81"/>
    <p:sldId id="1338" r:id="rId82"/>
    <p:sldId id="1339" r:id="rId83"/>
    <p:sldId id="1340" r:id="rId84"/>
    <p:sldId id="1341" r:id="rId85"/>
    <p:sldId id="1342" r:id="rId86"/>
    <p:sldId id="1343" r:id="rId87"/>
    <p:sldId id="1344" r:id="rId88"/>
    <p:sldId id="1345" r:id="rId89"/>
    <p:sldId id="1346" r:id="rId90"/>
    <p:sldId id="1347" r:id="rId91"/>
    <p:sldId id="1349" r:id="rId92"/>
    <p:sldId id="1350" r:id="rId93"/>
    <p:sldId id="1351" r:id="rId94"/>
    <p:sldId id="1352" r:id="rId95"/>
    <p:sldId id="1353" r:id="rId96"/>
    <p:sldId id="1354" r:id="rId97"/>
    <p:sldId id="1356" r:id="rId98"/>
    <p:sldId id="1355" r:id="rId99"/>
    <p:sldId id="1357" r:id="rId100"/>
    <p:sldId id="1358" r:id="rId101"/>
    <p:sldId id="1359" r:id="rId102"/>
    <p:sldId id="1360" r:id="rId103"/>
    <p:sldId id="1361" r:id="rId104"/>
    <p:sldId id="1362" r:id="rId105"/>
    <p:sldId id="1363" r:id="rId106"/>
    <p:sldId id="1364" r:id="rId107"/>
    <p:sldId id="1365" r:id="rId108"/>
    <p:sldId id="1366" r:id="rId109"/>
    <p:sldId id="1367" r:id="rId110"/>
    <p:sldId id="1368" r:id="rId111"/>
    <p:sldId id="1369" r:id="rId112"/>
    <p:sldId id="1244" r:id="rId113"/>
    <p:sldId id="1245" r:id="rId114"/>
    <p:sldId id="1246" r:id="rId115"/>
    <p:sldId id="1247" r:id="rId116"/>
    <p:sldId id="1248" r:id="rId117"/>
    <p:sldId id="1249" r:id="rId118"/>
    <p:sldId id="1250" r:id="rId119"/>
    <p:sldId id="1251" r:id="rId120"/>
    <p:sldId id="1252" r:id="rId121"/>
    <p:sldId id="1253" r:id="rId122"/>
    <p:sldId id="1254" r:id="rId123"/>
    <p:sldId id="1255" r:id="rId124"/>
    <p:sldId id="1256" r:id="rId125"/>
    <p:sldId id="1257" r:id="rId126"/>
    <p:sldId id="1258" r:id="rId127"/>
    <p:sldId id="1259" r:id="rId128"/>
    <p:sldId id="1260" r:id="rId129"/>
    <p:sldId id="1261" r:id="rId130"/>
    <p:sldId id="1262" r:id="rId131"/>
    <p:sldId id="1263" r:id="rId132"/>
    <p:sldId id="1264" r:id="rId133"/>
    <p:sldId id="1265" r:id="rId134"/>
    <p:sldId id="1370" r:id="rId135"/>
    <p:sldId id="1371" r:id="rId136"/>
    <p:sldId id="1372" r:id="rId137"/>
    <p:sldId id="1373" r:id="rId138"/>
    <p:sldId id="1374" r:id="rId139"/>
    <p:sldId id="1375" r:id="rId140"/>
    <p:sldId id="1376" r:id="rId141"/>
    <p:sldId id="1377" r:id="rId142"/>
    <p:sldId id="1228" r:id="rId143"/>
  </p:sldIdLst>
  <p:sldSz cx="12192000" cy="6858000"/>
  <p:notesSz cx="6858000" cy="9144000"/>
  <p:custDataLst>
    <p:tags r:id="rId14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09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19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438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3048000" algn="l" defTabSz="12192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3657600" algn="l" defTabSz="12192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4267200" algn="l" defTabSz="12192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4876800" algn="l" defTabSz="12192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120" userDrawn="1">
          <p15:clr>
            <a:srgbClr val="A4A3A4"/>
          </p15:clr>
        </p15:guide>
        <p15:guide id="3" pos="509" userDrawn="1">
          <p15:clr>
            <a:srgbClr val="A4A3A4"/>
          </p15:clr>
        </p15:guide>
        <p15:guide id="4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9B9"/>
    <a:srgbClr val="5285A8"/>
    <a:srgbClr val="61B66D"/>
    <a:srgbClr val="F7CECD"/>
    <a:srgbClr val="BADCEE"/>
    <a:srgbClr val="E4EFDB"/>
    <a:srgbClr val="F7E6D7"/>
    <a:srgbClr val="E3935C"/>
    <a:srgbClr val="9276A4"/>
    <a:srgbClr val="99AF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4C7F3E9-54E4-48C7-B7F4-25A4F8847B6D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1D41D5"/>
              </a:solidFill>
            </a:ln>
          </a:left>
          <a:right>
            <a:ln w="9525" cmpd="sng">
              <a:solidFill>
                <a:srgbClr val="1D41D5"/>
              </a:solidFill>
            </a:ln>
          </a:right>
          <a:top>
            <a:ln w="9525" cmpd="sng">
              <a:solidFill>
                <a:srgbClr val="1D41D5"/>
              </a:solidFill>
            </a:ln>
          </a:top>
          <a:bottom>
            <a:ln w="9525" cmpd="sng">
              <a:solidFill>
                <a:srgbClr val="1D41D5"/>
              </a:solidFill>
            </a:ln>
          </a:bottom>
          <a:insideH>
            <a:ln w="9525" cmpd="sng">
              <a:solidFill>
                <a:srgbClr val="1D41D5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1D41D5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1D41D5">
              <a:lumMod val="10000"/>
              <a:lumOff val="90000"/>
            </a:srgbClr>
          </a:solidFill>
        </a:fill>
      </a:tcStyle>
    </a:band2H>
    <a:band1V>
      <a:tcTxStyle/>
      <a:tcStyle>
        <a:tcBdr/>
        <a:fill>
          <a:solidFill>
            <a:srgbClr val="1D41D5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1D41D5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1D41D5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1D41D5"/>
              </a:solidFill>
            </a:ln>
          </a:top>
          <a:bottom>
            <a:ln w="9525" cmpd="sng">
              <a:solidFill>
                <a:srgbClr val="1D41D5"/>
              </a:solidFill>
            </a:ln>
          </a:bottom>
          <a:insideH>
            <a:ln w="9525" cmpd="sng">
              <a:solidFill>
                <a:srgbClr val="1D41D5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1D41D5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1D41D5"/>
              </a:solidFill>
            </a:ln>
          </a:right>
          <a:top>
            <a:ln w="9525" cmpd="sng">
              <a:solidFill>
                <a:srgbClr val="1D41D5"/>
              </a:solidFill>
            </a:ln>
          </a:top>
          <a:bottom>
            <a:ln w="9525" cmpd="sng">
              <a:solidFill>
                <a:srgbClr val="1D41D5"/>
              </a:solidFill>
            </a:ln>
          </a:bottom>
          <a:insideH>
            <a:ln w="9525" cmpd="sng">
              <a:solidFill>
                <a:srgbClr val="1D41D5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1D41D5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1D41D5"/>
              </a:solidFill>
            </a:ln>
          </a:left>
          <a:right>
            <a:ln w="9525" cmpd="sng">
              <a:solidFill>
                <a:srgbClr val="1D41D5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1D41D5"/>
              </a:solidFill>
            </a:ln>
          </a:top>
          <a:bottom>
            <a:ln w="9525" cmpd="sng">
              <a:solidFill>
                <a:srgbClr val="1D41D5"/>
              </a:solidFill>
            </a:ln>
          </a:bottom>
          <a:insideH>
            <a:ln w="9525" cmpd="sng">
              <a:solidFill>
                <a:srgbClr val="1D41D5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1D41D5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1D41D5"/>
        </a:fontRef>
      </a:tcTxStyle>
      <a:tcStyle>
        <a:tcBdr>
          <a:left>
            <a:ln w="9525" cmpd="sng">
              <a:solidFill>
                <a:srgbClr val="1D41D5"/>
              </a:solidFill>
            </a:ln>
          </a:left>
          <a:right>
            <a:ln w="9525" cmpd="sng">
              <a:solidFill>
                <a:srgbClr val="1D41D5"/>
              </a:solidFill>
            </a:ln>
          </a:right>
          <a:top>
            <a:ln w="9525" cmpd="sng">
              <a:solidFill>
                <a:srgbClr val="1D41D5"/>
              </a:solidFill>
            </a:ln>
          </a:top>
          <a:bottom>
            <a:ln w="9525" cmpd="sng">
              <a:solidFill>
                <a:srgbClr val="1D41D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1D41D5"/>
              </a:solidFill>
            </a:ln>
          </a:left>
          <a:right>
            <a:ln w="9525" cmpd="sng">
              <a:solidFill>
                <a:srgbClr val="1D41D5"/>
              </a:solidFill>
            </a:ln>
          </a:right>
          <a:top>
            <a:ln w="9525" cmpd="sng">
              <a:solidFill>
                <a:srgbClr val="1D41D5"/>
              </a:solidFill>
            </a:ln>
          </a:top>
          <a:bottom>
            <a:ln w="9525" cmpd="sng">
              <a:solidFill>
                <a:srgbClr val="1D41D5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1D41D5">
                  <a:lumMod val="40000"/>
                  <a:lumOff val="60000"/>
                </a:srgbClr>
              </a:solidFill>
            </a:ln>
          </a:insideV>
        </a:tcBdr>
        <a:fill>
          <a:solidFill>
            <a:srgbClr val="1D41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3" autoAdjust="0"/>
    <p:restoredTop sz="85838" autoAdjust="0"/>
  </p:normalViewPr>
  <p:slideViewPr>
    <p:cSldViewPr showGuides="1">
      <p:cViewPr varScale="1">
        <p:scale>
          <a:sx n="138" d="100"/>
          <a:sy n="138" d="100"/>
        </p:scale>
        <p:origin x="1068" y="132"/>
      </p:cViewPr>
      <p:guideLst>
        <p:guide orient="horz" pos="2198"/>
        <p:guide pos="120"/>
        <p:guide pos="509"/>
        <p:guide pos="3835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notesMaster" Target="notesMasters/notesMaster1.xml"/><Relationship Id="rId90" Type="http://schemas.openxmlformats.org/officeDocument/2006/relationships/slide" Target="slides/slide8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B58EF-4ABD-40F4-ACA4-FE81D742E6DD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1FC198-2D83-4DFC-8CDD-7D23AF44D4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7507C5-9851-4EF6-82C9-5647805156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CC5073-A55C-4F3C-8D7B-130473455D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/>
          <p:cNvSpPr/>
          <p:nvPr userDrawn="1"/>
        </p:nvSpPr>
        <p:spPr bwMode="auto">
          <a:xfrm>
            <a:off x="279400" y="266568"/>
            <a:ext cx="11899901" cy="474133"/>
          </a:xfrm>
          <a:custGeom>
            <a:avLst/>
            <a:gdLst>
              <a:gd name="T0" fmla="*/ 1060 w 24841"/>
              <a:gd name="T1" fmla="*/ 988 h 988"/>
              <a:gd name="T2" fmla="*/ 732 w 24841"/>
              <a:gd name="T3" fmla="*/ 988 h 988"/>
              <a:gd name="T4" fmla="*/ 0 w 24841"/>
              <a:gd name="T5" fmla="*/ 0 h 988"/>
              <a:gd name="T6" fmla="*/ 323 w 24841"/>
              <a:gd name="T7" fmla="*/ 0 h 988"/>
              <a:gd name="T8" fmla="*/ 998 w 24841"/>
              <a:gd name="T9" fmla="*/ 922 h 988"/>
              <a:gd name="T10" fmla="*/ 24841 w 24841"/>
              <a:gd name="T11" fmla="*/ 922 h 988"/>
              <a:gd name="T12" fmla="*/ 24841 w 24841"/>
              <a:gd name="T13" fmla="*/ 988 h 988"/>
              <a:gd name="T14" fmla="*/ 1060 w 24841"/>
              <a:gd name="T15" fmla="*/ 988 h 9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841" h="988">
                <a:moveTo>
                  <a:pt x="1060" y="988"/>
                </a:moveTo>
                <a:lnTo>
                  <a:pt x="732" y="988"/>
                </a:lnTo>
                <a:lnTo>
                  <a:pt x="0" y="0"/>
                </a:lnTo>
                <a:lnTo>
                  <a:pt x="323" y="0"/>
                </a:lnTo>
                <a:lnTo>
                  <a:pt x="998" y="922"/>
                </a:lnTo>
                <a:lnTo>
                  <a:pt x="24841" y="922"/>
                </a:lnTo>
                <a:lnTo>
                  <a:pt x="24841" y="988"/>
                </a:lnTo>
                <a:lnTo>
                  <a:pt x="1060" y="988"/>
                </a:lnTo>
                <a:close/>
              </a:path>
            </a:pathLst>
          </a:custGeom>
          <a:solidFill>
            <a:srgbClr val="BC24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17" tIns="60958" rIns="121917" bIns="60958" numCol="1" anchor="t" anchorCtr="0" compatLnSpc="1"/>
          <a:lstStyle/>
          <a:p>
            <a:endParaRPr lang="zh-CN" altLang="en-US" dirty="0"/>
          </a:p>
        </p:txBody>
      </p:sp>
      <p:sp>
        <p:nvSpPr>
          <p:cNvPr id="15" name="Freeform 7"/>
          <p:cNvSpPr/>
          <p:nvPr userDrawn="1"/>
        </p:nvSpPr>
        <p:spPr bwMode="auto">
          <a:xfrm>
            <a:off x="4" y="266568"/>
            <a:ext cx="573617" cy="474133"/>
          </a:xfrm>
          <a:custGeom>
            <a:avLst/>
            <a:gdLst>
              <a:gd name="T0" fmla="*/ 0 w 1197"/>
              <a:gd name="T1" fmla="*/ 0 h 988"/>
              <a:gd name="T2" fmla="*/ 469 w 1197"/>
              <a:gd name="T3" fmla="*/ 0 h 988"/>
              <a:gd name="T4" fmla="*/ 1197 w 1197"/>
              <a:gd name="T5" fmla="*/ 988 h 988"/>
              <a:gd name="T6" fmla="*/ 0 w 1197"/>
              <a:gd name="T7" fmla="*/ 988 h 988"/>
              <a:gd name="T8" fmla="*/ 0 w 1197"/>
              <a:gd name="T9" fmla="*/ 0 h 9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97" h="988">
                <a:moveTo>
                  <a:pt x="0" y="0"/>
                </a:moveTo>
                <a:lnTo>
                  <a:pt x="469" y="0"/>
                </a:lnTo>
                <a:lnTo>
                  <a:pt x="1197" y="988"/>
                </a:lnTo>
                <a:lnTo>
                  <a:pt x="0" y="988"/>
                </a:lnTo>
                <a:lnTo>
                  <a:pt x="0" y="0"/>
                </a:lnTo>
                <a:close/>
              </a:path>
            </a:pathLst>
          </a:custGeom>
          <a:solidFill>
            <a:srgbClr val="504F4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17" tIns="60958" rIns="121917" bIns="60958" numCol="1" anchor="t" anchorCtr="0" compatLnSpc="1"/>
          <a:lstStyle/>
          <a:p>
            <a:endParaRPr lang="zh-CN" alt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1280576" y="6381328"/>
            <a:ext cx="647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33E7C02-82D1-42DA-AA8B-2AEC9E450366}" type="slidenum">
              <a:rPr lang="zh-CN" altLang="en-US" sz="12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0" y="46844"/>
            <a:ext cx="12192000" cy="663575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6EAE7-8652-497A-B0B9-2516C5BD6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07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AC6EAE7-8652-497A-B0B9-2516C5BD65F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71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Picture 7"/>
          <p:cNvPicPr>
            <a:picLocks noChangeAspect="1"/>
          </p:cNvPicPr>
          <p:nvPr userDrawn="1"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0" b="7647"/>
          <a:stretch>
            <a:fillRect/>
          </a:stretch>
        </p:blipFill>
        <p:spPr>
          <a:xfrm>
            <a:off x="3" y="0"/>
            <a:ext cx="12191999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9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7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zh-cn/3.7/glossary.html#term-virtual-environment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aconda.com/anaconda/packages/py3.8_win-64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8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1591945"/>
            <a:ext cx="12192000" cy="2197735"/>
          </a:xfrm>
          <a:prstGeom prst="rect">
            <a:avLst/>
          </a:prstGeom>
          <a:solidFill>
            <a:srgbClr val="083481"/>
          </a:solidFill>
          <a:ln>
            <a:noFill/>
          </a:ln>
          <a:scene3d>
            <a:camera prst="obliqueTopRight"/>
            <a:lightRig rig="threePt" dir="t"/>
          </a:scene3d>
          <a:sp3d prstMaterial="matte">
            <a:bevelB w="0" h="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53"/>
          <p:cNvSpPr txBox="1">
            <a:spLocks noChangeArrowheads="1"/>
          </p:cNvSpPr>
          <p:nvPr/>
        </p:nvSpPr>
        <p:spPr bwMode="auto">
          <a:xfrm>
            <a:off x="2022062" y="1717667"/>
            <a:ext cx="8157882" cy="1077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1221" tIns="30610" rIns="61221" bIns="30610" anchor="ctr" anchorCtr="0">
            <a:spAutoFit/>
          </a:bodyPr>
          <a:lstStyle/>
          <a:p>
            <a:pPr marL="0" marR="0" lvl="0" indent="0" algn="ctr" defTabSz="815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kumimoji="0" lang="zh-CN" altLang="en-AU" sz="66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深度</a:t>
            </a:r>
            <a:r>
              <a:rPr kumimoji="0" lang="zh-CN" altLang="en-US" sz="66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学习实践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330442" y="4149080"/>
            <a:ext cx="553111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932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常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327D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晓军 教授</a:t>
            </a:r>
          </a:p>
        </p:txBody>
      </p:sp>
      <p:sp>
        <p:nvSpPr>
          <p:cNvPr id="42" name="矩形 41"/>
          <p:cNvSpPr/>
          <p:nvPr/>
        </p:nvSpPr>
        <p:spPr>
          <a:xfrm>
            <a:off x="2596196" y="4941168"/>
            <a:ext cx="6999605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中国科学技术大学信息科学技术学院</a:t>
            </a:r>
            <a:endParaRPr kumimoji="1" lang="en-AU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未来媒体计算实验室</a:t>
            </a:r>
            <a:endParaRPr kumimoji="1" lang="en-AU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2025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年</a:t>
            </a:r>
            <a:r>
              <a:rPr kumimoji="1"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3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月</a:t>
            </a:r>
          </a:p>
        </p:txBody>
      </p:sp>
      <p:pic>
        <p:nvPicPr>
          <p:cNvPr id="1026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AF05439F-7BF4-8BFF-235D-5662A5CB4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91" y="190134"/>
            <a:ext cx="1340768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DA5FB3-E8E1-64BA-EEE1-F30EB7BF5BDC}"/>
              </a:ext>
            </a:extLst>
          </p:cNvPr>
          <p:cNvSpPr txBox="1"/>
          <p:nvPr/>
        </p:nvSpPr>
        <p:spPr>
          <a:xfrm>
            <a:off x="3297600" y="2957520"/>
            <a:ext cx="6131490" cy="6158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1221" tIns="30610" rIns="61221" bIns="30610" anchor="ctr" anchorCtr="0">
            <a:spAutoFit/>
          </a:bodyPr>
          <a:lstStyle>
            <a:defPPr>
              <a:defRPr lang="zh-CN"/>
            </a:defPPr>
            <a:lvl1pPr marL="0" marR="0" lvl="0" indent="0" algn="ctr" defTabSz="8159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0000"/>
              <a:buFontTx/>
              <a:buNone/>
              <a:defRPr kumimoji="0" sz="3600" b="1" i="0" u="none" strike="noStrike" cap="none" spc="30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Python语言的高级特性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E46C3-448D-8818-E518-28542847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4E490345-5AE6-C92A-E42D-200F2E31E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C85C7251-5E97-3C08-AD00-4F345F024824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2D0F52-7056-B0E0-9AAE-0029181C7EFF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>
                <a:latin typeface="+mj-ea"/>
              </a:rPr>
              <a:t>函数</a:t>
            </a:r>
            <a:endParaRPr lang="en-US" altLang="zh-CN" b="1" dirty="0">
              <a:latin typeface="+mj-ea"/>
            </a:endParaRPr>
          </a:p>
          <a:p>
            <a:pPr fontAlgn="auto">
              <a:spcAft>
                <a:spcPts val="0"/>
              </a:spcAft>
            </a:pPr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B401C0-9A14-17F3-1CEB-7DF32AF3D85B}"/>
              </a:ext>
            </a:extLst>
          </p:cNvPr>
          <p:cNvSpPr txBox="1">
            <a:spLocks/>
          </p:cNvSpPr>
          <p:nvPr/>
        </p:nvSpPr>
        <p:spPr>
          <a:xfrm>
            <a:off x="839416" y="1610745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F3287D-3833-9AD4-A924-1AF30773C88F}"/>
              </a:ext>
            </a:extLst>
          </p:cNvPr>
          <p:cNvSpPr txBox="1"/>
          <p:nvPr/>
        </p:nvSpPr>
        <p:spPr>
          <a:xfrm>
            <a:off x="851751" y="1642072"/>
            <a:ext cx="10513168" cy="3150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参数传递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返回值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变量作用域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Lambda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085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C030-3805-CF7A-7CE8-A5AA3636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3DC32511-EC6A-6B11-D552-789F897AF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D5E323F-203B-0657-D8EE-3FBD3A169C6C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1CB118-C76A-6339-1F27-C6D51DF6F49A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定义函数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842721-37A2-14A6-F45E-F40A4CCE3C35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9AFF0A2-4138-1B57-7BE2-004C574FE5E4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：带名字的代码块，用于完成具体的工作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要执行函数定义的特定任务，可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该函数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F8834B-6582-0799-1148-476D8BF86F80}"/>
              </a:ext>
            </a:extLst>
          </p:cNvPr>
          <p:cNvSpPr txBox="1"/>
          <p:nvPr/>
        </p:nvSpPr>
        <p:spPr>
          <a:xfrm>
            <a:off x="3431704" y="3035991"/>
            <a:ext cx="4511310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9E58A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2400" b="1" dirty="0">
                <a:solidFill>
                  <a:srgbClr val="795DA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greet_user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()</a:t>
            </a:r>
            <a:r>
              <a:rPr lang="en-US" altLang="zh-CN" sz="2400" b="1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  <a:br>
              <a:rPr lang="en-US" altLang="zh-CN" sz="2400" b="1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显示简单的问候语</a:t>
            </a:r>
            <a: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0200B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print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"Hello!"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b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b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258DFF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greet_user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()</a:t>
            </a:r>
            <a:endParaRPr lang="en-US" altLang="zh-CN" sz="2400" b="1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8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982A0-0ADA-F475-AD51-6A72AE21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17CCD68B-66CA-D912-2AB7-D2D005E97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49BE18FB-F8C3-C7C3-0769-194CA8927CB3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06E57A-89E7-F3F8-88FE-2003021D0B71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定义函数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739B8A-5954-B69C-A0FE-36A0DE15B363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8472A23-F2DD-1D27-131C-2982765FAED3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00A5F81-1BDD-B7B8-E551-2E4E300A29F6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FZSSJW--GB1-0"/>
              </a:rPr>
              <a:t>函数（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function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FZSSJW--GB1-0"/>
              </a:rPr>
              <a:t>）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FZSSJW--GB1-0"/>
              </a:rPr>
              <a:t>：带名字的代码块，用于完成具体的工作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1D178125-4FAB-B528-5444-8D9F20C3C262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altLang="zh-CN" b="1" dirty="0">
                <a:solidFill>
                  <a:srgbClr val="9E58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关键字：告诉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你要定义一个函数，后面跟随</a:t>
            </a:r>
            <a:r>
              <a:rPr lang="zh-CN" altLang="en-US" u="sng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</a:t>
            </a:r>
            <a:endParaRPr lang="en-US" altLang="zh-CN" u="sng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None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：向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指出</a:t>
            </a:r>
            <a:r>
              <a:rPr lang="zh-CN" altLang="en-US" u="sng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，并在紧跟着的括号中指出函数需要什么</a:t>
            </a:r>
            <a:r>
              <a:rPr lang="zh-CN" altLang="en-US" u="sng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额外信息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，定义以冒号 </a:t>
            </a:r>
            <a:r>
              <a:rPr lang="en-US" altLang="zh-CN" b="1" dirty="0">
                <a:solidFill>
                  <a:srgbClr val="A71D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结尾。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None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函数名和变量名一样，同样使用下划线命名法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941376B0-5562-4BB1-3180-25844471C4F1}"/>
              </a:ext>
            </a:extLst>
          </p:cNvPr>
          <p:cNvSpPr/>
          <p:nvPr/>
        </p:nvSpPr>
        <p:spPr>
          <a:xfrm>
            <a:off x="5648689" y="2951182"/>
            <a:ext cx="288698" cy="231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BFC829-73D4-18D3-AF2C-03CB9D346691}"/>
              </a:ext>
            </a:extLst>
          </p:cNvPr>
          <p:cNvSpPr txBox="1"/>
          <p:nvPr/>
        </p:nvSpPr>
        <p:spPr>
          <a:xfrm>
            <a:off x="6168008" y="2459504"/>
            <a:ext cx="4960620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E58A3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def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795DA3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greet_user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F910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()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71D5D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: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71D5D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    """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显示简单的问候语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"""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    print("Hello!")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</a:b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greet_user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7214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55DC-7848-51E3-2927-2B6D878B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14130B22-0BCD-BAF4-0B54-50B8D2493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DAB1F7ED-2EE5-003D-B60D-D36B2D86159E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307ED0-6748-42E4-E345-8A76A056F290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定义函数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5685143-C1CA-70DE-01F4-6935CB637840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D5D28EF-52F0-9E8E-1EBF-4FB3733E8F65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72DAE3B-2C6F-210C-5A12-9E6ACCE7EEAF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FZSSJW--GB1-0"/>
              </a:rPr>
              <a:t>函数（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function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FZSSJW--GB1-0"/>
              </a:rPr>
              <a:t>）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FZSSJW--GB1-0"/>
              </a:rPr>
              <a:t>：带名字的代码块，用于完成具体的工作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4DE633C2-2800-6B14-FAC6-956CD54EFFF5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：紧跟在函数定义下的所有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缩进行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构成的部分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第二行文本是称为文档字符串（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docstring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）的注释，描述函数做什么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第三行是示例函数的函数体中唯一一行代码，用于打印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Hello!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95B9ACE-425B-7DB2-4D04-DD511DECC597}"/>
              </a:ext>
            </a:extLst>
          </p:cNvPr>
          <p:cNvSpPr/>
          <p:nvPr/>
        </p:nvSpPr>
        <p:spPr>
          <a:xfrm>
            <a:off x="5648689" y="2951182"/>
            <a:ext cx="288698" cy="231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0CDAAB-8A67-2422-04B3-E71C5A23D61C}"/>
              </a:ext>
            </a:extLst>
          </p:cNvPr>
          <p:cNvSpPr txBox="1"/>
          <p:nvPr/>
        </p:nvSpPr>
        <p:spPr>
          <a:xfrm>
            <a:off x="6168008" y="2459504"/>
            <a:ext cx="4960620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2400" b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greet_user</a:t>
            </a: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():</a:t>
            </a:r>
            <a:br>
              <a:rPr lang="en-US" altLang="zh-CN" sz="24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24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显示简单的问候语</a:t>
            </a:r>
            <a:r>
              <a:rPr lang="en-US" altLang="zh-CN" sz="24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24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0200B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print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"Hello!"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b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b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greet_user</a:t>
            </a: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7377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5FE3E-9CE2-5F58-7050-B4C9FEEB9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48B56570-15B4-1A47-6398-252697248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85A4A4FE-D419-F54E-407E-BDEE7EF04B95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03F7C1E-D32A-F618-4445-E5458BACECCE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定义函数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AD4D03-CD31-06FA-A104-D87042935CD4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8AF481F-8244-FBBA-1B33-A2E8E6060591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06B539-BB9B-C50C-E057-62CFF536E54C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FZSSJW--GB1-0"/>
              </a:rPr>
              <a:t>函数（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function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FZSSJW--GB1-0"/>
              </a:rPr>
              <a:t>）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FZSSJW--GB1-0"/>
              </a:rPr>
              <a:t>：带名字的代码块，用于完成具体的工作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3632E8A6-0C62-01BB-E896-895351F6AFB0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latin typeface="+mj-ea"/>
                <a:ea typeface="+mj-ea"/>
              </a:rPr>
              <a:t>函数调用</a:t>
            </a:r>
            <a:r>
              <a:rPr lang="zh-CN" altLang="en-US" dirty="0">
                <a:latin typeface="+mj-ea"/>
                <a:ea typeface="+mj-ea"/>
              </a:rPr>
              <a:t>：让 </a:t>
            </a:r>
            <a:r>
              <a:rPr lang="en-US" altLang="zh-CN" dirty="0">
                <a:latin typeface="+mj-ea"/>
                <a:ea typeface="+mj-ea"/>
              </a:rPr>
              <a:t>Python </a:t>
            </a:r>
            <a:r>
              <a:rPr lang="zh-CN" altLang="en-US" dirty="0">
                <a:latin typeface="+mj-ea"/>
                <a:ea typeface="+mj-ea"/>
              </a:rPr>
              <a:t>执行函数中的代码，调用函数需要依次指定</a:t>
            </a:r>
            <a:r>
              <a:rPr lang="zh-CN" altLang="en-US" u="sng" dirty="0">
                <a:latin typeface="+mj-ea"/>
                <a:ea typeface="+mj-ea"/>
              </a:rPr>
              <a:t>函数名</a:t>
            </a:r>
            <a:r>
              <a:rPr lang="zh-CN" altLang="en-US" dirty="0">
                <a:latin typeface="+mj-ea"/>
                <a:ea typeface="+mj-ea"/>
              </a:rPr>
              <a:t>，以及</a:t>
            </a:r>
            <a:r>
              <a:rPr lang="zh-CN" altLang="en-US" u="sng" dirty="0">
                <a:latin typeface="+mj-ea"/>
                <a:ea typeface="+mj-ea"/>
              </a:rPr>
              <a:t>用括号括起的必要信息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CN" altLang="en-US" dirty="0">
                <a:latin typeface="+mj-ea"/>
                <a:ea typeface="+mj-ea"/>
              </a:rPr>
              <a:t>示例函数的最后一行即是函数调用，它不需要额外的信息（括号需要保留）</a:t>
            </a:r>
          </a:p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182E7D7D-4BE4-4053-B22C-709F99D81599}"/>
              </a:ext>
            </a:extLst>
          </p:cNvPr>
          <p:cNvSpPr/>
          <p:nvPr/>
        </p:nvSpPr>
        <p:spPr>
          <a:xfrm>
            <a:off x="5648689" y="2951182"/>
            <a:ext cx="288698" cy="231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D20E7A-1687-0814-C6BF-248950E0EDA7}"/>
              </a:ext>
            </a:extLst>
          </p:cNvPr>
          <p:cNvSpPr txBox="1"/>
          <p:nvPr/>
        </p:nvSpPr>
        <p:spPr>
          <a:xfrm>
            <a:off x="6168008" y="2459504"/>
            <a:ext cx="4960620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def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greet_user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():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A71D5D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    """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显示简单的问候语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"""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  <a:t>    print("Hello!")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rPr>
            </a:br>
            <a:b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 err="1">
                <a:solidFill>
                  <a:srgbClr val="258D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greet_user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D1A05163-D356-8D24-A044-D56ECB501CD0}"/>
              </a:ext>
            </a:extLst>
          </p:cNvPr>
          <p:cNvSpPr txBox="1"/>
          <p:nvPr/>
        </p:nvSpPr>
        <p:spPr>
          <a:xfrm>
            <a:off x="7608168" y="4881485"/>
            <a:ext cx="1708062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b="1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Hello!</a:t>
            </a:r>
            <a:endParaRPr lang="pl-PL" altLang="zh-CN" sz="2400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481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EF762-30A5-C700-FA55-4A13192FD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C4823C13-18F3-3838-474C-2A00A4618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8FD34923-C482-A57D-F1DA-09D61519045A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B27CA8-575E-F4E1-E4D5-AF69B8D41FE9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参数传递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BFF9D8-EDAA-46D7-14D6-904F9E846872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FBC2AE0-B336-CEEB-7AF4-DB09944FFD51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2770DB0-1729-3B7D-59D4-66474F712749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E030F33C-3470-0EA3-C10D-A99C66668513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9CF56C-BD0B-2DCA-BA6A-0BF8D0DD2BBF}"/>
              </a:ext>
            </a:extLst>
          </p:cNvPr>
          <p:cNvSpPr txBox="1"/>
          <p:nvPr/>
        </p:nvSpPr>
        <p:spPr>
          <a:xfrm>
            <a:off x="911424" y="1591655"/>
            <a:ext cx="10081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FZSSJW--GB1-0"/>
                <a:ea typeface="+mn-ea"/>
              </a:rPr>
              <a:t>实参：</a:t>
            </a:r>
            <a:r>
              <a:rPr lang="en-US" altLang="zh-CN" sz="2800" b="1" dirty="0" err="1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jesse</a:t>
            </a:r>
            <a:r>
              <a:rPr lang="zh-CN" altLang="en-US" sz="28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lang="zh-CN" altLang="en-US" sz="2800" dirty="0">
                <a:latin typeface="+mj-ea"/>
                <a:ea typeface="+mj-ea"/>
              </a:rPr>
              <a:t>即在调用函数时传递的信息，也可以是列表、字典等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b="1" dirty="0">
                <a:latin typeface="FZSSJW--GB1-0"/>
                <a:ea typeface="+mn-ea"/>
              </a:rPr>
              <a:t>形参：</a:t>
            </a:r>
            <a:r>
              <a:rPr lang="en-US" altLang="zh-CN" sz="2800" b="1" dirty="0">
                <a:solidFill>
                  <a:srgbClr val="0086B3"/>
                </a:solidFill>
                <a:latin typeface="+mj-ea"/>
                <a:ea typeface="+mj-ea"/>
              </a:rPr>
              <a:t>username</a:t>
            </a:r>
            <a:r>
              <a:rPr lang="zh-CN" altLang="en-US" sz="2800" dirty="0">
                <a:latin typeface="+mj-ea"/>
                <a:ea typeface="+mj-ea"/>
              </a:rPr>
              <a:t>，即函数完成工作所需的信息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505751-9E58-8A60-895E-85890E2F9A45}"/>
              </a:ext>
            </a:extLst>
          </p:cNvPr>
          <p:cNvSpPr txBox="1"/>
          <p:nvPr/>
        </p:nvSpPr>
        <p:spPr>
          <a:xfrm>
            <a:off x="1333049" y="3272964"/>
            <a:ext cx="4960620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9E58A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2400" b="1" dirty="0" err="1">
                <a:solidFill>
                  <a:srgbClr val="795DA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greet_user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0086B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username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sz="2400" b="1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  <a:br>
              <a:rPr lang="en-US" altLang="zh-CN" sz="2400" b="1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显示简单的问候语</a:t>
            </a:r>
            <a: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0200B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print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 err="1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f"Hello</a:t>
            </a: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, 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  <a:r>
              <a:rPr lang="en-US" altLang="zh-CN" sz="2400" b="1" dirty="0" err="1">
                <a:solidFill>
                  <a:srgbClr val="0086B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username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  <a:r>
              <a:rPr lang="en-US" altLang="zh-CN" sz="2400" b="1" dirty="0" err="1">
                <a:solidFill>
                  <a:srgbClr val="258DFF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title</a:t>
            </a:r>
            <a:r>
              <a:rPr lang="en-US" altLang="zh-CN" sz="2400" b="1" dirty="0">
                <a:solidFill>
                  <a:srgbClr val="0E4A8E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()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!"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b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b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 err="1">
                <a:solidFill>
                  <a:srgbClr val="258DFF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greet_user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'</a:t>
            </a:r>
            <a:r>
              <a:rPr lang="en-US" altLang="zh-CN" sz="2400" b="1" dirty="0" err="1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jesse</a:t>
            </a: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'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endParaRPr lang="en-US" altLang="zh-CN" sz="2400" b="1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1" name="文本框 5">
            <a:extLst>
              <a:ext uri="{FF2B5EF4-FFF2-40B4-BE49-F238E27FC236}">
                <a16:creationId xmlns:a16="http://schemas.microsoft.com/office/drawing/2014/main" id="{D97F4045-20CD-601F-5F24-1764F3CE4FF8}"/>
              </a:ext>
            </a:extLst>
          </p:cNvPr>
          <p:cNvSpPr txBox="1"/>
          <p:nvPr/>
        </p:nvSpPr>
        <p:spPr>
          <a:xfrm>
            <a:off x="7139376" y="3513419"/>
            <a:ext cx="2527683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b="1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Hello, Jesse!</a:t>
            </a:r>
            <a:endParaRPr lang="pl-PL" altLang="zh-CN" sz="2400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871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67F4D-5DEB-E7CE-57EA-ACBD5C29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4F28A4C9-2075-71CF-921E-257A080DC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C84D8D37-2C78-E5E2-2C30-EE72A774A170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77DF49-AF89-00A2-A333-0C96A6FFD168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参数传递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A04699-E32C-172A-0DC3-83E7B704357E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26B83B6-CC25-6E1F-330C-4D16E28FC434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E5262AB-10F7-B3F2-C6A4-BD28A933F371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9048DEAD-DA61-FAB6-3DBC-F4D7B32F4919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内容占位符 19">
            <a:extLst>
              <a:ext uri="{FF2B5EF4-FFF2-40B4-BE49-F238E27FC236}">
                <a16:creationId xmlns:a16="http://schemas.microsoft.com/office/drawing/2014/main" id="{18F701F4-689C-D15C-B65D-1B53594F8907}"/>
              </a:ext>
            </a:extLst>
          </p:cNvPr>
          <p:cNvPicPr>
            <a:picLocks noGrp="1"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220" y="1817045"/>
            <a:ext cx="11095387" cy="421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4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53573-85F3-0371-804F-4AE84E005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40DA7382-4DEC-7853-E8B4-4988D5EB7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6D3B8E5F-A49C-E346-793B-8E518DC62DBA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5A8C48D-7AB6-DD88-8207-5C881C1E5C74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参数传递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F773DF-6881-8680-F036-37FB8050F6D3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A7E7A56-7AB3-045A-4080-81E2BCC054B7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F31697A-5BA4-8CE0-4150-C34EF5AAA6AB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65442ADB-FBE5-2C4C-8966-C01D3AECA00F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887D7A-50B1-BCA1-C2B8-14491F276453}"/>
              </a:ext>
            </a:extLst>
          </p:cNvPr>
          <p:cNvSpPr txBox="1"/>
          <p:nvPr/>
        </p:nvSpPr>
        <p:spPr>
          <a:xfrm>
            <a:off x="911424" y="1591655"/>
            <a:ext cx="100811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不可变类型：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类似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C++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的值传递，如整数、字符串、元组。如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fun(a)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，传递的只是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a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的值，没有影响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a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对象本身。如果在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fun(a)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内部修改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a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的值，则是新生成一个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a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的对象</a:t>
            </a:r>
          </a:p>
          <a:p>
            <a:r>
              <a:rPr lang="zh-CN" altLang="en-US" sz="2800" b="1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可变类型：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类似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C++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的引用传递，如 列表、字典。如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fun(la)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，则是将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la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真正的传过去，修改后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fun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外部的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la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也会受影响</a:t>
            </a:r>
            <a:endParaRPr lang="en-US" altLang="zh-CN" sz="2800" b="0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endParaRPr lang="en-US" altLang="zh-CN" sz="2800" dirty="0">
              <a:solidFill>
                <a:srgbClr val="333333"/>
              </a:solidFill>
              <a:latin typeface="+mj-ea"/>
              <a:ea typeface="+mj-ea"/>
            </a:endParaRPr>
          </a:p>
          <a:p>
            <a:endParaRPr lang="en-US" altLang="zh-CN" sz="2800" b="0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endParaRPr lang="zh-CN" altLang="en-US" sz="2800" b="0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r>
              <a:rPr lang="zh-CN" altLang="en-US" sz="2800" b="1" dirty="0">
                <a:latin typeface="+mj-ea"/>
                <a:ea typeface="+mj-ea"/>
              </a:rPr>
              <a:t>注：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在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python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中，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strings, tuples,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和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numbers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是不可更改的对象，而 </a:t>
            </a:r>
            <a:r>
              <a:rPr lang="en-US" altLang="zh-CN" sz="28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list,dict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等则是可以修改的对象</a:t>
            </a:r>
            <a:endParaRPr lang="en-US" altLang="zh-CN" sz="2800" b="0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endParaRPr lang="zh-CN" altLang="en-US" sz="28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67400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3C60D-ACAC-4242-7F0E-94D332AF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ABA199C3-8F81-1CAE-2C70-D73F88A11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AA56CAA-CD04-855E-F5CA-3C4E96615662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1B66F7-71A2-B088-5F07-91083280E85D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参数传递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D1837A-4D12-25EE-209A-C889005BB6E6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0AA47DD-F2FD-E248-218B-DB247C88BE4B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66D4515-4678-156A-623E-CCAD25EFC2B4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9C3D683C-BE66-DA7E-4905-57ECB489F7ED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088372-F23E-698C-6682-0A5688797914}"/>
              </a:ext>
            </a:extLst>
          </p:cNvPr>
          <p:cNvSpPr txBox="1"/>
          <p:nvPr/>
        </p:nvSpPr>
        <p:spPr>
          <a:xfrm>
            <a:off x="855953" y="1501214"/>
            <a:ext cx="100811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不可变类型：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类似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C++ 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的值传递，如整数、字符串、元组。如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fun(a)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，传递的只是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a 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的值，没有影响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a 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对象本身。如果在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fun(a) 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内部修改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a 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的值，则是新生成一个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a 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的对象</a:t>
            </a:r>
            <a:endParaRPr lang="zh-CN" altLang="en-US" sz="2800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r>
              <a:rPr lang="zh-CN" altLang="en-US" sz="2800" b="1" dirty="0">
                <a:latin typeface="+mj-ea"/>
                <a:ea typeface="+mj-ea"/>
              </a:rPr>
              <a:t>举例：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FE56E1-05C0-90FC-17E6-CB1FFA5998F7}"/>
              </a:ext>
            </a:extLst>
          </p:cNvPr>
          <p:cNvSpPr txBox="1"/>
          <p:nvPr/>
        </p:nvSpPr>
        <p:spPr>
          <a:xfrm>
            <a:off x="1050863" y="3315628"/>
            <a:ext cx="6923192" cy="267765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指向的是同一个对象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一个新对象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sz="2400" b="1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2" name="文本框 5">
            <a:extLst>
              <a:ext uri="{FF2B5EF4-FFF2-40B4-BE49-F238E27FC236}">
                <a16:creationId xmlns:a16="http://schemas.microsoft.com/office/drawing/2014/main" id="{0C1218A7-3538-229A-FB6B-596C0DBC992C}"/>
              </a:ext>
            </a:extLst>
          </p:cNvPr>
          <p:cNvSpPr txBox="1"/>
          <p:nvPr/>
        </p:nvSpPr>
        <p:spPr>
          <a:xfrm>
            <a:off x="8425437" y="3450452"/>
            <a:ext cx="2527683" cy="156966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</a:p>
          <a:p>
            <a:r>
              <a:rPr lang="pl-PL" altLang="zh-CN" sz="2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4379369136</a:t>
            </a:r>
          </a:p>
          <a:p>
            <a:r>
              <a:rPr lang="pl-PL" altLang="zh-CN" sz="2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4379369136</a:t>
            </a:r>
          </a:p>
          <a:p>
            <a:r>
              <a:rPr lang="pl-PL" altLang="zh-CN" sz="2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4379369424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473D6C63-F983-F104-D4A8-4309333FA105}"/>
              </a:ext>
            </a:extLst>
          </p:cNvPr>
          <p:cNvSpPr txBox="1"/>
          <p:nvPr/>
        </p:nvSpPr>
        <p:spPr>
          <a:xfrm>
            <a:off x="3884007" y="5348540"/>
            <a:ext cx="4025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id()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函数用来查看内存地址</a:t>
            </a:r>
            <a:endParaRPr lang="zh-CN" altLang="en-US" sz="24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796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029CE-37D2-979F-5FCF-66161512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DF6300A2-ABD3-1659-B13A-A6F341B6C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9734EB24-81FB-4355-2586-BA9EC4E3D5FA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97AE85-EB40-EA10-B896-36F249E4CCB8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参数传递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96E7C4-DC0A-5305-39FF-1ECDE0D3BAB4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64AF657-4746-35CC-F429-E73FDFE594F6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F5EAF04-6FA8-EED1-82A9-A852133BC5FC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E5A21FFE-DC79-843C-E7CE-CF592A2467B2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E65283-268F-3C63-A20D-616FA907AD94}"/>
              </a:ext>
            </a:extLst>
          </p:cNvPr>
          <p:cNvSpPr txBox="1"/>
          <p:nvPr/>
        </p:nvSpPr>
        <p:spPr>
          <a:xfrm>
            <a:off x="855953" y="1501214"/>
            <a:ext cx="10081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可变类型：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类似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C++ 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的引用传递，如 列表、字典。如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fun(la)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，则是将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la 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真正的传过去，修改后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fun 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外部的 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la 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也会受影响</a:t>
            </a:r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FZSSJW--GB1-0"/>
              <a:ea typeface="+mn-ea"/>
            </a:endParaRPr>
          </a:p>
          <a:p>
            <a:r>
              <a:rPr lang="zh-CN" altLang="en-US" sz="2800" b="1" dirty="0">
                <a:latin typeface="+mj-ea"/>
                <a:ea typeface="+mj-ea"/>
              </a:rPr>
              <a:t>举例：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6AABFE-C3F4-B33A-96FA-7562E982D70A}"/>
              </a:ext>
            </a:extLst>
          </p:cNvPr>
          <p:cNvSpPr txBox="1"/>
          <p:nvPr/>
        </p:nvSpPr>
        <p:spPr>
          <a:xfrm>
            <a:off x="912905" y="2802142"/>
            <a:ext cx="6923192" cy="378565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可写函数说明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changeme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修改传入的列表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altLang="zh-CN" sz="2400" b="0" i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zh-CN" sz="2400" dirty="0">
                <a:solidFill>
                  <a:srgbClr val="808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函数内取值</a:t>
            </a:r>
            <a:r>
              <a:rPr lang="en-US" altLang="zh-CN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调用</a:t>
            </a:r>
            <a:r>
              <a:rPr lang="en-US" altLang="zh-CN" sz="2400" b="0" i="0" dirty="0" err="1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changeme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函数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changeme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函数外取值</a:t>
            </a:r>
            <a:r>
              <a:rPr lang="en-US" altLang="zh-CN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sz="2400" b="1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2" name="文本框 5">
            <a:extLst>
              <a:ext uri="{FF2B5EF4-FFF2-40B4-BE49-F238E27FC236}">
                <a16:creationId xmlns:a16="http://schemas.microsoft.com/office/drawing/2014/main" id="{1157AC0C-216D-4A0E-24B7-36EF470430AE}"/>
              </a:ext>
            </a:extLst>
          </p:cNvPr>
          <p:cNvSpPr txBox="1"/>
          <p:nvPr/>
        </p:nvSpPr>
        <p:spPr>
          <a:xfrm>
            <a:off x="7908360" y="3971792"/>
            <a:ext cx="3902609" cy="126188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</a:p>
          <a:p>
            <a:r>
              <a:rPr lang="zh-CN" alt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函数内取值</a:t>
            </a:r>
            <a:r>
              <a:rPr lang="en-US" altLang="zh-CN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:  [10, 20, 30, [1, 2, 3, 4]]</a:t>
            </a:r>
          </a:p>
          <a:p>
            <a:r>
              <a:rPr lang="zh-CN" alt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函数外取值</a:t>
            </a:r>
            <a:r>
              <a:rPr lang="en-US" altLang="zh-CN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:  [10, 20, 30, [1, 2, 3, 4]]</a:t>
            </a:r>
          </a:p>
          <a:p>
            <a:endParaRPr lang="pl-PL" altLang="zh-CN" sz="2400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041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6C3B-D8B0-B6AC-390F-1FBB4C05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E8D35961-DCFC-FCC4-20AB-4C1366D6A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484FEBD9-F871-2EF1-D7D3-66FFED1673B1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E301F7-3B6C-A8F6-4B05-49336701CD7F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参数传递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56B618-6172-CC38-3416-BB3F2F03550B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E28582F-BCB9-3BE2-4203-005FFEF46CF5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7D1B0B4-96E2-A8E4-6294-989AAC5E41EB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EFBEEAE9-266F-4844-6942-CE7B879A7EDB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678F9C-93A1-1140-6E1F-F723C12626D1}"/>
              </a:ext>
            </a:extLst>
          </p:cNvPr>
          <p:cNvSpPr txBox="1"/>
          <p:nvPr/>
        </p:nvSpPr>
        <p:spPr>
          <a:xfrm>
            <a:off x="878757" y="1535604"/>
            <a:ext cx="1046149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800" dirty="0">
                <a:latin typeface="+mj-ea"/>
                <a:ea typeface="+mj-ea"/>
              </a:rPr>
              <a:t>函数定义中可能包含多个形参，因此函数调用中也可能包含多个实参，</a:t>
            </a:r>
            <a:r>
              <a:rPr lang="en-US" altLang="zh-CN" sz="2800" dirty="0">
                <a:latin typeface="+mj-ea"/>
                <a:ea typeface="+mj-ea"/>
              </a:rPr>
              <a:t>Python </a:t>
            </a:r>
            <a:r>
              <a:rPr lang="zh-CN" altLang="en-US" sz="2800" dirty="0">
                <a:latin typeface="+mj-ea"/>
                <a:ea typeface="+mj-ea"/>
              </a:rPr>
              <a:t>会将每个实参</a:t>
            </a:r>
            <a:r>
              <a:rPr lang="zh-CN" altLang="en-US" sz="2800" u="sng" dirty="0">
                <a:latin typeface="+mj-ea"/>
                <a:ea typeface="+mj-ea"/>
              </a:rPr>
              <a:t>关联</a:t>
            </a:r>
            <a:r>
              <a:rPr lang="zh-CN" altLang="en-US" sz="2800" dirty="0">
                <a:latin typeface="+mj-ea"/>
                <a:ea typeface="+mj-ea"/>
              </a:rPr>
              <a:t>到函数定义中的一个形参上去。</a:t>
            </a:r>
            <a:endParaRPr lang="en-US" altLang="zh-CN" sz="2800" b="1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传递</a:t>
            </a:r>
            <a:r>
              <a:rPr lang="zh-CN" altLang="en-US" sz="2800" b="1" dirty="0">
                <a:latin typeface="+mj-ea"/>
                <a:ea typeface="+mj-ea"/>
              </a:rPr>
              <a:t>位置实参</a:t>
            </a:r>
            <a:r>
              <a:rPr lang="zh-CN" altLang="en-US" sz="2800" dirty="0">
                <a:latin typeface="+mj-ea"/>
                <a:ea typeface="+mj-ea"/>
              </a:rPr>
              <a:t>：</a:t>
            </a:r>
            <a:endParaRPr lang="en-US" altLang="zh-CN" sz="28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CN" altLang="en-US" sz="2800" dirty="0">
                <a:latin typeface="+mj-ea"/>
                <a:ea typeface="+mj-ea"/>
              </a:rPr>
              <a:t>这要求实参的顺序与形参的顺序相同；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传递</a:t>
            </a:r>
            <a:r>
              <a:rPr lang="zh-CN" altLang="en-US" sz="2800" b="1" dirty="0">
                <a:latin typeface="+mj-ea"/>
                <a:ea typeface="+mj-ea"/>
              </a:rPr>
              <a:t>关键字实参</a:t>
            </a:r>
            <a:r>
              <a:rPr lang="zh-CN" altLang="en-US" sz="2800" dirty="0">
                <a:latin typeface="+mj-ea"/>
                <a:ea typeface="+mj-ea"/>
              </a:rPr>
              <a:t>：</a:t>
            </a:r>
            <a:endParaRPr lang="en-US" altLang="zh-CN" sz="28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CN" altLang="en-US" sz="2800" dirty="0">
                <a:latin typeface="+mj-ea"/>
                <a:ea typeface="+mj-ea"/>
              </a:rPr>
              <a:t>其中每个实参都由变量名和值组成；</a:t>
            </a:r>
            <a:endParaRPr lang="en-US" altLang="zh-CN" sz="28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CN" altLang="en-US" sz="2800" dirty="0">
                <a:latin typeface="+mj-ea"/>
                <a:ea typeface="+mj-ea"/>
              </a:rPr>
              <a:t>传递</a:t>
            </a:r>
            <a:r>
              <a:rPr lang="zh-CN" altLang="en-US" sz="2800" b="1" dirty="0">
                <a:latin typeface="+mj-ea"/>
                <a:ea typeface="+mj-ea"/>
              </a:rPr>
              <a:t>默认参数</a:t>
            </a:r>
            <a:r>
              <a:rPr lang="zh-CN" altLang="en-US" sz="2800" dirty="0">
                <a:latin typeface="+mj-ea"/>
                <a:ea typeface="+mj-ea"/>
              </a:rPr>
              <a:t>：</a:t>
            </a:r>
            <a:endParaRPr lang="en-US" altLang="zh-CN" sz="28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CN" altLang="en-US" sz="2800" dirty="0">
                <a:latin typeface="+mj-ea"/>
                <a:ea typeface="+mj-ea"/>
              </a:rPr>
              <a:t>调用函数时，如果没有传递参数，则会使用默认参数；</a:t>
            </a:r>
            <a:endParaRPr lang="en-US" altLang="zh-CN" sz="28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CN" altLang="en-US" sz="2800" dirty="0">
                <a:latin typeface="+mj-ea"/>
                <a:ea typeface="+mj-ea"/>
              </a:rPr>
              <a:t>传递</a:t>
            </a:r>
            <a:r>
              <a:rPr lang="zh-CN" altLang="en-US" sz="2800" b="1" dirty="0">
                <a:latin typeface="+mj-ea"/>
                <a:ea typeface="+mj-ea"/>
              </a:rPr>
              <a:t>不定长参数</a:t>
            </a:r>
            <a:r>
              <a:rPr lang="zh-CN" altLang="en-US" sz="2800" dirty="0">
                <a:latin typeface="+mj-ea"/>
                <a:ea typeface="+mj-ea"/>
              </a:rPr>
              <a:t>：</a:t>
            </a:r>
            <a:endParaRPr lang="en-US" altLang="zh-CN" sz="28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CN" altLang="en-US" sz="2800" dirty="0">
                <a:latin typeface="+mj-ea"/>
                <a:ea typeface="+mj-ea"/>
              </a:rPr>
              <a:t>处理比当初声明时更多的参数</a:t>
            </a:r>
            <a:endParaRPr lang="en-US" altLang="zh-CN" sz="28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CN" sz="2800" dirty="0">
              <a:latin typeface="+mj-ea"/>
              <a:ea typeface="+mj-ea"/>
            </a:endParaRPr>
          </a:p>
          <a:p>
            <a:endParaRPr lang="zh-CN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4815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555A7-ABAA-DD83-5C98-F9BAE90D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30DE5C93-FDEE-98B0-2364-D20F9CD51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966DDFE-5A76-8AB5-6FA5-1C753D880928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85C15D-2947-63A9-F811-E1F84F75628E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参数传递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339640-3690-5128-D0E3-CB4043C5C62B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4978512-9DE0-2B05-9C91-91D22536B8CD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27735A2-7765-1BBA-8C4F-DB2D6EFFA514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456A193E-7E51-E6C5-E48B-33DBE1528D57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4E42FE-7A64-BDC0-19BD-8853B77C6F93}"/>
              </a:ext>
            </a:extLst>
          </p:cNvPr>
          <p:cNvSpPr txBox="1"/>
          <p:nvPr/>
        </p:nvSpPr>
        <p:spPr>
          <a:xfrm>
            <a:off x="878757" y="1535604"/>
            <a:ext cx="10461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位置实参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：这要求实参的顺序与形参的顺序相同</a:t>
            </a:r>
            <a:endParaRPr lang="en-US" altLang="zh-CN" sz="2800" dirty="0">
              <a:latin typeface="+mj-ea"/>
              <a:ea typeface="+mj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9295B9-E541-D789-6C7A-0B53589004A8}"/>
              </a:ext>
            </a:extLst>
          </p:cNvPr>
          <p:cNvSpPr txBox="1"/>
          <p:nvPr/>
        </p:nvSpPr>
        <p:spPr>
          <a:xfrm>
            <a:off x="972147" y="2217547"/>
            <a:ext cx="10274710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9E58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2400" b="1" dirty="0">
                <a:solidFill>
                  <a:srgbClr val="795D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describe_pet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animal_type</a:t>
            </a:r>
            <a:r>
              <a:rPr lang="en-US" altLang="zh-CN" sz="2400" b="1" dirty="0">
                <a:solidFill>
                  <a:srgbClr val="63A35C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 </a:t>
            </a:r>
            <a:r>
              <a:rPr lang="en-US" altLang="zh-CN" sz="24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pet_name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sz="24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  <a:br>
              <a:rPr lang="en-US" altLang="zh-CN" sz="24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24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显示宠物的信息</a:t>
            </a:r>
            <a:r>
              <a:rPr lang="en-US" altLang="zh-CN" sz="24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24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0200B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print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f"</a:t>
            </a:r>
            <a:r>
              <a:rPr lang="en-US" altLang="zh-CN" sz="2400" b="1" dirty="0">
                <a:solidFill>
                  <a:srgbClr val="18369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\</a:t>
            </a:r>
            <a:r>
              <a:rPr lang="en-US" altLang="zh-CN" sz="2400" b="1" dirty="0" err="1">
                <a:solidFill>
                  <a:srgbClr val="18369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en-US" altLang="zh-CN" sz="2400" b="1" dirty="0" err="1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24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have a 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  <a:r>
              <a:rPr lang="en-US" altLang="zh-CN" sz="24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animal_type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  <a:r>
              <a:rPr lang="en-US" altLang="zh-CN" sz="24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."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b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0200B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print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f"My 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  <a:r>
              <a:rPr lang="en-US" altLang="zh-CN" sz="24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animal_type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  <a:r>
              <a:rPr lang="en-US" altLang="zh-CN" sz="24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's name is 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  <a:r>
              <a:rPr lang="en-US" altLang="zh-CN" sz="24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pet_name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  <a:r>
              <a:rPr lang="en-US" altLang="zh-CN" sz="2400" b="1" dirty="0">
                <a:solidFill>
                  <a:srgbClr val="258D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title</a:t>
            </a:r>
            <a:r>
              <a:rPr lang="en-US" altLang="zh-CN" sz="2400" b="1" dirty="0">
                <a:solidFill>
                  <a:srgbClr val="0E4A8E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()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  <a:r>
              <a:rPr lang="en-US" altLang="zh-CN" sz="24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."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b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endParaRPr lang="en-US" altLang="zh-CN" sz="2400" b="1" dirty="0">
              <a:solidFill>
                <a:srgbClr val="3F910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258D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describe_pet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'cat'</a:t>
            </a:r>
            <a:r>
              <a:rPr lang="en-US" altLang="zh-CN" sz="2400" b="1" dirty="0">
                <a:solidFill>
                  <a:srgbClr val="63A35C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 </a:t>
            </a:r>
            <a:r>
              <a:rPr lang="en-US" altLang="zh-CN" sz="24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'harry'</a:t>
            </a:r>
            <a:r>
              <a:rPr lang="en-US" altLang="zh-CN" sz="24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endParaRPr lang="en-US" altLang="zh-CN" sz="2400" b="1" dirty="0">
              <a:solidFill>
                <a:srgbClr val="33333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4D8D5C1-EF39-5F1A-969C-F23AE6FF5D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873" y="5092200"/>
            <a:ext cx="5432179" cy="128004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F16B916-8F62-18F8-FB3C-6FCDE29A996B}"/>
              </a:ext>
            </a:extLst>
          </p:cNvPr>
          <p:cNvSpPr txBox="1"/>
          <p:nvPr/>
        </p:nvSpPr>
        <p:spPr>
          <a:xfrm>
            <a:off x="6377902" y="5092200"/>
            <a:ext cx="4877225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b="1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 have a cat.</a:t>
            </a:r>
          </a:p>
          <a:p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My cat's name is Harry.</a:t>
            </a:r>
            <a:endParaRPr lang="pl-PL" altLang="zh-CN" sz="2400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341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19D4-4ACB-672C-595B-60ACC4D8F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37FF71CC-0A62-FCBF-05B5-A901973E6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F8368F66-77BD-A52D-6CA3-FA796252E6E1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391FFA-3028-AFFF-DEDE-5BCDEBDB2171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参数传递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805A02-6FC4-994E-AE1C-6B3F1A14322D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2910B75-95D0-2B98-C056-0FE9E600B268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2DC921B-BCDF-A2B9-D503-549DA2190A4B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A2453F11-E476-19CA-A22E-17373C82EF39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36D91C-F1FC-CD15-258C-3B16C9A898B0}"/>
              </a:ext>
            </a:extLst>
          </p:cNvPr>
          <p:cNvSpPr txBox="1"/>
          <p:nvPr/>
        </p:nvSpPr>
        <p:spPr>
          <a:xfrm>
            <a:off x="936873" y="1507033"/>
            <a:ext cx="10461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关键字实参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：基于名称将值进行关联，函数不会混淆</a:t>
            </a:r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FZSSJW--GB1-0"/>
              <a:ea typeface="+mn-ea"/>
            </a:endParaRPr>
          </a:p>
        </p:txBody>
      </p:sp>
      <p:sp>
        <p:nvSpPr>
          <p:cNvPr id="9" name="文本框 3">
            <a:extLst>
              <a:ext uri="{FF2B5EF4-FFF2-40B4-BE49-F238E27FC236}">
                <a16:creationId xmlns:a16="http://schemas.microsoft.com/office/drawing/2014/main" id="{D89566DE-C19A-9DDD-EA24-070F85BCF3DE}"/>
              </a:ext>
            </a:extLst>
          </p:cNvPr>
          <p:cNvSpPr txBox="1"/>
          <p:nvPr/>
        </p:nvSpPr>
        <p:spPr>
          <a:xfrm>
            <a:off x="958645" y="2112288"/>
            <a:ext cx="10274710" cy="224676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def describe_pet(animal_type, pet_name):</a:t>
            </a:r>
            <a:b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"""</a:t>
            </a: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显示宠物的信息</a:t>
            </a:r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print(f"\</a:t>
            </a:r>
            <a:r>
              <a:rPr lang="en-US" altLang="zh-CN" sz="2000" b="1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nI</a:t>
            </a:r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have a {animal_type}.")</a:t>
            </a:r>
            <a:b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print(f"My {animal_type}'s name is {pet_name.title()}.")</a:t>
            </a:r>
            <a:b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258D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describe_pet</a:t>
            </a:r>
            <a:r>
              <a:rPr lang="en-US" altLang="zh-CN" sz="20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000" b="1" dirty="0">
                <a:solidFill>
                  <a:srgbClr val="660099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animal_type</a:t>
            </a:r>
            <a:r>
              <a:rPr lang="en-US" altLang="zh-CN" sz="20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en-US" altLang="zh-CN" sz="20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'cat'</a:t>
            </a:r>
            <a:r>
              <a:rPr lang="en-US" altLang="zh-CN" sz="2000" b="1" dirty="0">
                <a:solidFill>
                  <a:srgbClr val="63A35C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 </a:t>
            </a:r>
            <a:r>
              <a:rPr lang="en-US" altLang="zh-CN" sz="2000" b="1" dirty="0">
                <a:solidFill>
                  <a:srgbClr val="660099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pet_name</a:t>
            </a:r>
            <a:r>
              <a:rPr lang="en-US" altLang="zh-CN" sz="20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en-US" altLang="zh-CN" sz="20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'harry'</a:t>
            </a:r>
            <a:r>
              <a:rPr lang="en-US" altLang="zh-CN" sz="20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br>
              <a:rPr lang="en-US" altLang="zh-CN" sz="20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000" b="1" dirty="0">
                <a:solidFill>
                  <a:srgbClr val="258DFF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describe_pet</a:t>
            </a:r>
            <a:r>
              <a:rPr lang="en-US" altLang="zh-CN" sz="20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000" b="1" dirty="0">
                <a:solidFill>
                  <a:srgbClr val="660099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pet_name</a:t>
            </a:r>
            <a:r>
              <a:rPr lang="en-US" altLang="zh-CN" sz="20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en-US" altLang="zh-CN" sz="20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'harry'</a:t>
            </a:r>
            <a:r>
              <a:rPr lang="en-US" altLang="zh-CN" sz="2000" b="1" dirty="0">
                <a:solidFill>
                  <a:srgbClr val="63A35C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 </a:t>
            </a:r>
            <a:r>
              <a:rPr lang="en-US" altLang="zh-CN" sz="2000" b="1" dirty="0">
                <a:solidFill>
                  <a:srgbClr val="660099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animal_type</a:t>
            </a:r>
            <a:r>
              <a:rPr lang="en-US" altLang="zh-CN" sz="20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en-US" altLang="zh-CN" sz="20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'cat'</a:t>
            </a:r>
            <a:r>
              <a:rPr lang="en-US" altLang="zh-CN" sz="20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endParaRPr lang="en-US" altLang="zh-CN" sz="2000" b="1" dirty="0">
              <a:solidFill>
                <a:srgbClr val="33333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ED5287D-D410-F5EC-36CD-863D4D796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8645" y="4615979"/>
            <a:ext cx="5651794" cy="1189778"/>
          </a:xfrm>
          <a:prstGeom prst="rect">
            <a:avLst/>
          </a:prstGeom>
        </p:spPr>
      </p:pic>
      <p:sp>
        <p:nvSpPr>
          <p:cNvPr id="12" name="文本框 4">
            <a:extLst>
              <a:ext uri="{FF2B5EF4-FFF2-40B4-BE49-F238E27FC236}">
                <a16:creationId xmlns:a16="http://schemas.microsoft.com/office/drawing/2014/main" id="{2DBF136E-0534-4072-5C9F-02764B400DF6}"/>
              </a:ext>
            </a:extLst>
          </p:cNvPr>
          <p:cNvSpPr txBox="1"/>
          <p:nvPr/>
        </p:nvSpPr>
        <p:spPr>
          <a:xfrm>
            <a:off x="6577032" y="4524771"/>
            <a:ext cx="4877225" cy="20005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b="1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 have a cat.</a:t>
            </a:r>
          </a:p>
          <a:p>
            <a:r>
              <a:rPr lang="en-US" altLang="zh-CN" sz="20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My cat's name is Harry.</a:t>
            </a:r>
          </a:p>
          <a:p>
            <a:endParaRPr lang="en-US" altLang="zh-CN" sz="2000" dirty="0">
              <a:solidFill>
                <a:srgbClr val="33333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 have a cat.</a:t>
            </a:r>
          </a:p>
          <a:p>
            <a:r>
              <a:rPr lang="en-US" altLang="zh-CN" sz="20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My cat's name is Harry.</a:t>
            </a:r>
          </a:p>
        </p:txBody>
      </p:sp>
    </p:spTree>
    <p:extLst>
      <p:ext uri="{BB962C8B-B14F-4D97-AF65-F5344CB8AC3E}">
        <p14:creationId xmlns:p14="http://schemas.microsoft.com/office/powerpoint/2010/main" val="298064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A0E0B-2CC5-1A02-4D13-A2ED5A0EB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81DB7FD8-86F2-2386-8644-522897D0F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898BDFA7-1EEC-2C4D-61FB-014D1EE8DBF8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DC30DD-8FCE-7FFB-017E-7772AFEA3A8A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参数传递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64952C-DC44-F231-A101-5B5C4676DEE9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401F743-1FBE-A73D-BEA8-5F07A56776C4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1461319-A8A7-C9E3-B98B-E13472CF6477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3ECB73A8-3B27-2600-CBC0-7EA8C48344AD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4C5711-82F5-CFEC-36D7-DB0BA871131A}"/>
              </a:ext>
            </a:extLst>
          </p:cNvPr>
          <p:cNvSpPr txBox="1"/>
          <p:nvPr/>
        </p:nvSpPr>
        <p:spPr>
          <a:xfrm>
            <a:off x="878757" y="1535604"/>
            <a:ext cx="10461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默认参数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：调用函数时，如果没有传递参数，则会使用默认参数</a:t>
            </a:r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FZSSJW--GB1-0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F11258-F5BE-46F1-2671-41D240976706}"/>
              </a:ext>
            </a:extLst>
          </p:cNvPr>
          <p:cNvSpPr txBox="1"/>
          <p:nvPr/>
        </p:nvSpPr>
        <p:spPr>
          <a:xfrm>
            <a:off x="8121530" y="2329810"/>
            <a:ext cx="3364425" cy="304698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b="1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名字</a:t>
            </a:r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  </a:t>
            </a:r>
            <a:r>
              <a:rPr lang="pl-PL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runoob</a:t>
            </a:r>
          </a:p>
          <a:p>
            <a:r>
              <a:rPr lang="zh-CN" altLang="en-US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年龄</a:t>
            </a:r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  50</a:t>
            </a:r>
          </a:p>
          <a:p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------------------------</a:t>
            </a:r>
          </a:p>
          <a:p>
            <a:r>
              <a:rPr lang="zh-CN" altLang="en-US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名字</a:t>
            </a:r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  </a:t>
            </a:r>
            <a:r>
              <a:rPr lang="pl-PL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runoob</a:t>
            </a:r>
          </a:p>
          <a:p>
            <a:r>
              <a:rPr lang="zh-CN" altLang="en-US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年龄</a:t>
            </a:r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  35</a:t>
            </a:r>
          </a:p>
          <a:p>
            <a:endParaRPr lang="pl-PL" altLang="zh-CN" sz="2400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368453-7F7C-9FD3-C4A3-6192CCCEEB7F}"/>
              </a:ext>
            </a:extLst>
          </p:cNvPr>
          <p:cNvSpPr txBox="1"/>
          <p:nvPr/>
        </p:nvSpPr>
        <p:spPr>
          <a:xfrm>
            <a:off x="1001271" y="2033571"/>
            <a:ext cx="6923192" cy="378565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可写函数说明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printinfo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       "</a:t>
            </a:r>
            <a:r>
              <a:rPr lang="zh-CN" altLang="en-US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打印任何传入的字符串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名字</a:t>
            </a:r>
            <a:r>
              <a:rPr lang="en-US" altLang="zh-CN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年龄</a:t>
            </a:r>
            <a:r>
              <a:rPr lang="en-US" altLang="zh-CN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调用</a:t>
            </a:r>
            <a:r>
              <a:rPr lang="en-US" altLang="zh-CN" sz="2400" b="0" i="0" dirty="0" err="1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printinfo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函数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printinfo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runoob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------------------------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printinfo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runoob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sz="2400" b="1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00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5F3CB-A343-BE65-EB37-206B4B628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2C022166-2426-E6B8-307D-FA7E42486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2A26EE71-77CB-896C-D4E4-9D498C37FC58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8183EB-DCC7-FA23-C82E-969A595F6218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参数传递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EFEC9E-3CBE-6444-D1B7-BA9CD72B1740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52FE7F2-CCDA-7EC0-6DB7-C4D2D654CBDB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21529B7-DCAE-C4D3-29F4-49C9367DAE29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BE5AA4B8-55E0-63DA-7735-27CAA8097928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8DF71B-CA91-B194-5924-CDC0C4A6B9E2}"/>
              </a:ext>
            </a:extLst>
          </p:cNvPr>
          <p:cNvSpPr txBox="1"/>
          <p:nvPr/>
        </p:nvSpPr>
        <p:spPr>
          <a:xfrm>
            <a:off x="878757" y="1535604"/>
            <a:ext cx="104614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不定长参数：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FZSSJW--GB1-0"/>
                <a:ea typeface="+mn-ea"/>
              </a:rPr>
              <a:t>处理比当初声明时更多的参数</a:t>
            </a:r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FZSSJW--GB1-0"/>
              <a:ea typeface="+mn-ea"/>
            </a:endParaRPr>
          </a:p>
          <a:p>
            <a:r>
              <a:rPr lang="zh-CN" altLang="en-US" sz="2800" b="1" i="0" dirty="0">
                <a:solidFill>
                  <a:srgbClr val="333333"/>
                </a:solidFill>
                <a:effectLst/>
                <a:latin typeface="Helvetica Neue"/>
              </a:rPr>
              <a:t>举例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：加了星号 </a:t>
            </a:r>
            <a:r>
              <a:rPr lang="zh-CN" altLang="en-US" sz="2800" b="1" i="0" dirty="0">
                <a:solidFill>
                  <a:srgbClr val="333333"/>
                </a:solidFill>
                <a:effectLst/>
                <a:latin typeface="SFMono-Regular"/>
              </a:rPr>
              <a:t>*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 的参数会以元组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Helvetica Neue"/>
              </a:rPr>
              <a:t>(tuple)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的形式导入，两个星号 </a:t>
            </a:r>
            <a:r>
              <a:rPr lang="zh-CN" altLang="en-US" sz="2800" b="1" i="0" dirty="0">
                <a:solidFill>
                  <a:srgbClr val="333333"/>
                </a:solidFill>
                <a:effectLst/>
                <a:latin typeface="SFMono-Regular"/>
              </a:rPr>
              <a:t>**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 的参数会以字典的形式导</a:t>
            </a:r>
            <a:r>
              <a:rPr lang="zh-CN" altLang="en-US" sz="2800" dirty="0">
                <a:solidFill>
                  <a:srgbClr val="333333"/>
                </a:solidFill>
                <a:latin typeface="Helvetica Neue"/>
              </a:rPr>
              <a:t>入</a:t>
            </a:r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FZSSJW--GB1-0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EFF5E1-C943-661F-5546-46C812E7DB14}"/>
              </a:ext>
            </a:extLst>
          </p:cNvPr>
          <p:cNvSpPr txBox="1"/>
          <p:nvPr/>
        </p:nvSpPr>
        <p:spPr>
          <a:xfrm>
            <a:off x="8051523" y="3318127"/>
            <a:ext cx="3364425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b="1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输出</a:t>
            </a:r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 </a:t>
            </a:r>
          </a:p>
          <a:p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70</a:t>
            </a:r>
          </a:p>
          <a:p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(60, 50)</a:t>
            </a:r>
          </a:p>
          <a:p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{'</a:t>
            </a:r>
            <a:r>
              <a:rPr lang="pl-PL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a': 2, 'b': 3}</a:t>
            </a:r>
          </a:p>
          <a:p>
            <a:endParaRPr lang="pl-PL" altLang="zh-CN" sz="2400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4FD402E-8813-3493-1125-D9639B3949A8}"/>
              </a:ext>
            </a:extLst>
          </p:cNvPr>
          <p:cNvSpPr txBox="1"/>
          <p:nvPr/>
        </p:nvSpPr>
        <p:spPr>
          <a:xfrm>
            <a:off x="922870" y="2937171"/>
            <a:ext cx="6923192" cy="378565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可写函数说明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printinfo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arg1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vartuple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,**</a:t>
            </a:r>
            <a:r>
              <a:rPr lang="en-US" altLang="zh-CN" sz="2400" dirty="0" err="1">
                <a:solidFill>
                  <a:srgbClr val="0055AA"/>
                </a:solidFill>
                <a:latin typeface="Consolas" panose="020B0609020204030204" pitchFamily="49" charset="0"/>
              </a:rPr>
              <a:t>var_args_dict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打印任何传入的参数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输出</a:t>
            </a:r>
            <a:r>
              <a:rPr lang="en-US" altLang="zh-CN" sz="24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arg1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vartuple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solidFill>
                  <a:srgbClr val="0055AA"/>
                </a:solidFill>
                <a:latin typeface="Consolas" panose="020B0609020204030204" pitchFamily="49" charset="0"/>
              </a:rPr>
              <a:t>var_args_dict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调用</a:t>
            </a:r>
            <a:r>
              <a:rPr lang="en-US" altLang="zh-CN" sz="2400" b="0" i="0" dirty="0" err="1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printinfo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函数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printinfo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50, a=2,b=3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sz="2400" b="1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829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56C08-ECB8-048D-E47C-F8049B18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537ECFBC-DCE0-D2C2-3DF2-B69B5CA5F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D14B412D-F9A5-264F-626D-060F5C5AC77F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B18AE9-18AF-5DF9-4EE6-2E331576E051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参数传递</a:t>
            </a:r>
            <a:endParaRPr lang="en-US" altLang="zh-CN" b="1" dirty="0"/>
          </a:p>
          <a:p>
            <a:pPr fontAlgn="auto">
              <a:spcAft>
                <a:spcPts val="0"/>
              </a:spcAft>
            </a:pPr>
            <a:endParaRPr lang="en-US" altLang="zh-CN" b="1" dirty="0"/>
          </a:p>
          <a:p>
            <a:pPr fontAlgn="auto">
              <a:spcAft>
                <a:spcPts val="0"/>
              </a:spcAft>
            </a:pPr>
            <a:endParaRPr lang="zh-CN" altLang="en-US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C236FB-37EA-A5D5-4699-DDC68B26D06A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3379CD1-4C92-8B5C-0176-57CDB6E43F90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2E633BB-0727-E648-1875-6E27EE1869AF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89B80E86-7A32-0208-C4A1-42DE3285425E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579379-F8BE-C1C9-1A9A-4CBFCF3C842F}"/>
              </a:ext>
            </a:extLst>
          </p:cNvPr>
          <p:cNvSpPr txBox="1"/>
          <p:nvPr/>
        </p:nvSpPr>
        <p:spPr>
          <a:xfrm>
            <a:off x="851751" y="2221581"/>
            <a:ext cx="1046149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FZSSJW--GB1-0"/>
                <a:ea typeface="+mn-ea"/>
              </a:rPr>
              <a:t>前面介绉的参数传递的方式在定义函数戒调用函数时可以</a:t>
            </a:r>
            <a:r>
              <a:rPr lang="zh-CN" altLang="en-US" sz="2800" b="1" dirty="0">
                <a:latin typeface="FZSSJW--GB1-0"/>
                <a:ea typeface="+mn-ea"/>
              </a:rPr>
              <a:t>混合使用</a:t>
            </a:r>
            <a:r>
              <a:rPr lang="zh-CN" altLang="en-US" sz="2800" dirty="0">
                <a:latin typeface="FZSSJW--GB1-0"/>
                <a:ea typeface="+mn-ea"/>
              </a:rPr>
              <a:t>， 但是需要遵循一定的规则， 具体规则如下。</a:t>
            </a:r>
            <a:endParaRPr lang="en-US" altLang="zh-CN" sz="2800" dirty="0">
              <a:latin typeface="FZSSJW--GB1-0"/>
              <a:ea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  <a:latin typeface="FZSSJW--GB1-0"/>
                <a:ea typeface="+mn-ea"/>
              </a:rPr>
              <a:t>优先按位置参数传递的方式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  <a:latin typeface="FZSSJW--GB1-0"/>
                <a:ea typeface="+mn-ea"/>
              </a:rPr>
              <a:t>然后按关键字参数传递的方式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  <a:latin typeface="FZSSJW--GB1-0"/>
                <a:ea typeface="+mn-ea"/>
              </a:rPr>
              <a:t>之后后按默认参数传递的方式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  <a:latin typeface="FZSSJW--GB1-0"/>
                <a:ea typeface="+mn-ea"/>
              </a:rPr>
              <a:t>最后按不定参数传递的方式</a:t>
            </a:r>
            <a:endParaRPr lang="en-US" altLang="zh-CN" sz="2800" dirty="0">
              <a:solidFill>
                <a:srgbClr val="FF0000"/>
              </a:solidFill>
              <a:latin typeface="FZSSJW--GB1-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1070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2DE6B-4886-5D5C-8804-68AE2691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A518FA60-7B64-20F9-678E-8A3435A75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7537C5C2-FD31-4120-E090-CC3988E43FD3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AFB121-978E-2C28-A9CA-F4CCBA39F456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返回值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F96478-E1C7-80B2-77E4-B695AD521207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6DFE06F-833C-FA0F-8B07-A08D783D30E6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22728B5-1E5E-E416-07BA-5B598F8832C2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6522A3D1-39B6-6398-4657-F97229B1C2D8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DC480C74-5AA2-72D8-7178-2359BE37F19E}"/>
              </a:ext>
            </a:extLst>
          </p:cNvPr>
          <p:cNvSpPr txBox="1">
            <a:spLocks/>
          </p:cNvSpPr>
          <p:nvPr/>
        </p:nvSpPr>
        <p:spPr>
          <a:xfrm>
            <a:off x="881451" y="1549071"/>
            <a:ext cx="1051560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b="1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b="1" dirty="0"/>
              <a:t>返回值</a:t>
            </a:r>
            <a:r>
              <a:rPr lang="zh-CN" altLang="en-US" dirty="0"/>
              <a:t>：函数中使用返回语句来返回的一个或一组值</a:t>
            </a:r>
            <a:endParaRPr lang="en-US" altLang="zh-CN" dirty="0"/>
          </a:p>
          <a:p>
            <a:pPr fontAlgn="auto">
              <a:spcAft>
                <a:spcPts val="0"/>
              </a:spcAft>
            </a:pPr>
            <a:r>
              <a:rPr lang="zh-CN" altLang="en-US" sz="2400" dirty="0"/>
              <a:t>返回值让你能够将程序的大部分繁重工作移到函数中完成，从而简化主程序</a:t>
            </a:r>
            <a:endParaRPr lang="en-US" altLang="zh-CN" sz="2400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9E58A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2400" b="1" dirty="0">
                <a:solidFill>
                  <a:srgbClr val="9E58A3"/>
                </a:solidFill>
                <a:latin typeface="Consolas" panose="020B0609020204030204" pitchFamily="49" charset="0"/>
              </a:rPr>
              <a:t> </a:t>
            </a:r>
            <a:r>
              <a:rPr lang="zh-CN" altLang="en-US" dirty="0"/>
              <a:t>语句：（将值）返回到调用函数的那行代码。</a:t>
            </a:r>
            <a:endParaRPr lang="en-US" altLang="zh-CN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 fontAlgn="auto">
              <a:spcAft>
                <a:spcPts val="0"/>
              </a:spcAft>
              <a:buNone/>
            </a:pPr>
            <a:r>
              <a:rPr lang="zh-CN" altLang="en-US" b="1" dirty="0"/>
              <a:t>注</a:t>
            </a:r>
            <a:r>
              <a:rPr lang="zh-CN" altLang="en-US" dirty="0"/>
              <a:t>：如果函数使用</a:t>
            </a:r>
            <a:r>
              <a:rPr lang="en-US" altLang="zh-CN" dirty="0"/>
              <a:t>return</a:t>
            </a:r>
            <a:r>
              <a:rPr lang="zh-CN" altLang="en-US" dirty="0"/>
              <a:t>语句返回了多个值， 那么这些值将被保存到元组中。</a:t>
            </a:r>
            <a:endParaRPr lang="en-US" altLang="zh-CN" dirty="0"/>
          </a:p>
          <a:p>
            <a:pPr fontAlgn="auto">
              <a:spcAft>
                <a:spcPts val="0"/>
              </a:spcAft>
            </a:pPr>
            <a:endParaRPr lang="en-US" altLang="zh-CN" dirty="0"/>
          </a:p>
          <a:p>
            <a:pPr fontAlgn="auto">
              <a:spcAft>
                <a:spcPts val="0"/>
              </a:spcAft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943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4D5B1-FBB9-AF4F-63D3-2634EC1A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D53D2E15-53CE-995A-1060-9D01F96AE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AFE10C9B-EF26-62F5-5060-059BE60B9BF0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DC5BF9-37F6-74E7-FD97-781CB58552B6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返回值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018FA9-662D-DF0A-2DAC-4B9C5356F272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E5E5DCD-3018-67F3-D9D0-A853D105B6DB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C6DB449-E3A1-071E-1013-06E95349C756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7A65875C-9125-D2FE-C786-15E4021C34A4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C1EA6618-DBFA-6C3B-EE1E-824300E62A84}"/>
              </a:ext>
            </a:extLst>
          </p:cNvPr>
          <p:cNvSpPr txBox="1">
            <a:spLocks/>
          </p:cNvSpPr>
          <p:nvPr/>
        </p:nvSpPr>
        <p:spPr>
          <a:xfrm>
            <a:off x="881451" y="1549071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/>
              <a:t>返回值</a:t>
            </a:r>
            <a:r>
              <a:rPr lang="zh-CN" altLang="en-US" dirty="0"/>
              <a:t>：我们可以定义一个接受名和姓，返回标准格式姓名的函数：</a:t>
            </a:r>
            <a:endParaRPr lang="en-US" altLang="zh-CN" dirty="0"/>
          </a:p>
          <a:p>
            <a:pPr marL="0" indent="0" fontAlgn="auto">
              <a:spcAft>
                <a:spcPts val="0"/>
              </a:spcAft>
              <a:buNone/>
            </a:pPr>
            <a:endParaRPr lang="en-US" altLang="zh-CN" dirty="0"/>
          </a:p>
          <a:p>
            <a:pPr fontAlgn="auto">
              <a:spcAft>
                <a:spcPts val="0"/>
              </a:spcAft>
            </a:pPr>
            <a:endParaRPr lang="en-US" altLang="zh-CN" dirty="0"/>
          </a:p>
          <a:p>
            <a:pPr fontAlgn="auto">
              <a:spcAft>
                <a:spcPts val="0"/>
              </a:spcAft>
            </a:pPr>
            <a:endParaRPr lang="en-US" altLang="zh-CN" dirty="0"/>
          </a:p>
        </p:txBody>
      </p:sp>
      <p:sp>
        <p:nvSpPr>
          <p:cNvPr id="9" name="文本框 3">
            <a:extLst>
              <a:ext uri="{FF2B5EF4-FFF2-40B4-BE49-F238E27FC236}">
                <a16:creationId xmlns:a16="http://schemas.microsoft.com/office/drawing/2014/main" id="{D89566DE-C19A-9DDD-EA24-070F85BCF3DE}"/>
              </a:ext>
            </a:extLst>
          </p:cNvPr>
          <p:cNvSpPr txBox="1"/>
          <p:nvPr/>
        </p:nvSpPr>
        <p:spPr>
          <a:xfrm>
            <a:off x="1805495" y="2090172"/>
            <a:ext cx="8581009" cy="267765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9E58A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2400" b="1" dirty="0" err="1">
                <a:solidFill>
                  <a:srgbClr val="795DA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get_formatted_name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 err="1">
                <a:solidFill>
                  <a:srgbClr val="0086B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first_name</a:t>
            </a:r>
            <a:r>
              <a:rPr lang="en-US" altLang="zh-CN" sz="2400" b="1" dirty="0">
                <a:solidFill>
                  <a:srgbClr val="63A35C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, </a:t>
            </a:r>
            <a:r>
              <a:rPr lang="en-US" altLang="zh-CN" sz="2400" b="1" dirty="0" err="1">
                <a:solidFill>
                  <a:srgbClr val="0086B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last_name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sz="2400" b="1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  <a:br>
              <a:rPr lang="en-US" altLang="zh-CN" sz="2400" b="1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2400" b="1" dirty="0">
                <a:solidFill>
                  <a:srgbClr val="96989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返回标准格式的姓名</a:t>
            </a:r>
            <a: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969896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full_name</a:t>
            </a:r>
            <a:r>
              <a:rPr lang="en-US" altLang="zh-CN" sz="24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= </a:t>
            </a: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f"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  <a:r>
              <a:rPr lang="en-US" altLang="zh-CN" sz="2400" b="1" dirty="0" err="1">
                <a:solidFill>
                  <a:srgbClr val="0086B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first_name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} {</a:t>
            </a:r>
            <a:r>
              <a:rPr lang="en-US" altLang="zh-CN" sz="2400" b="1" dirty="0" err="1">
                <a:solidFill>
                  <a:srgbClr val="0086B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last_name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"</a:t>
            </a:r>
            <a:b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>
                <a:solidFill>
                  <a:srgbClr val="9E58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return </a:t>
            </a:r>
            <a:r>
              <a:rPr lang="en-US" altLang="zh-CN" sz="2400" b="1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full_name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  <a:r>
              <a:rPr lang="en-US" altLang="zh-CN" sz="2400" b="1" dirty="0" err="1">
                <a:solidFill>
                  <a:srgbClr val="258DFF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title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()</a:t>
            </a:r>
            <a:b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b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musician </a:t>
            </a:r>
            <a:r>
              <a:rPr lang="en-US" altLang="zh-CN" sz="2400" b="1" dirty="0">
                <a:solidFill>
                  <a:srgbClr val="A71D5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= </a:t>
            </a:r>
            <a:r>
              <a:rPr lang="en-US" altLang="zh-CN" sz="2400" b="1" dirty="0" err="1">
                <a:solidFill>
                  <a:srgbClr val="258DFF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get_formatted_name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'</a:t>
            </a:r>
            <a:r>
              <a:rPr lang="en-US" altLang="zh-CN" sz="2400" b="1" dirty="0" err="1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jimi</a:t>
            </a: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'</a:t>
            </a:r>
            <a:r>
              <a:rPr lang="en-US" altLang="zh-CN" sz="2400" b="1" dirty="0">
                <a:solidFill>
                  <a:srgbClr val="63A35C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, </a:t>
            </a: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'</a:t>
            </a:r>
            <a:r>
              <a:rPr lang="en-US" altLang="zh-CN" sz="2400" b="1" dirty="0" err="1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hendrix</a:t>
            </a:r>
            <a:r>
              <a:rPr lang="en-US" altLang="zh-CN" sz="2400" b="1" dirty="0">
                <a:solidFill>
                  <a:srgbClr val="F2612A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'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b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0200BD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print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musician</a:t>
            </a:r>
            <a:r>
              <a:rPr lang="en-US" altLang="zh-CN" sz="2400" b="1" dirty="0">
                <a:solidFill>
                  <a:srgbClr val="3F9101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endParaRPr lang="en-US" altLang="zh-CN" sz="2400" b="1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F80A70F-0682-1839-9777-C71F7BFD3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5057739"/>
            <a:ext cx="6827965" cy="905562"/>
          </a:xfrm>
          <a:prstGeom prst="rect">
            <a:avLst/>
          </a:prstGeom>
        </p:spPr>
      </p:pic>
      <p:sp>
        <p:nvSpPr>
          <p:cNvPr id="12" name="文本框 4">
            <a:extLst>
              <a:ext uri="{FF2B5EF4-FFF2-40B4-BE49-F238E27FC236}">
                <a16:creationId xmlns:a16="http://schemas.microsoft.com/office/drawing/2014/main" id="{2DBF136E-0534-4072-5C9F-02764B400DF6}"/>
              </a:ext>
            </a:extLst>
          </p:cNvPr>
          <p:cNvSpPr txBox="1"/>
          <p:nvPr/>
        </p:nvSpPr>
        <p:spPr>
          <a:xfrm>
            <a:off x="8101090" y="5057739"/>
            <a:ext cx="2419585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b="1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Jimi Hendrix</a:t>
            </a:r>
            <a:endParaRPr lang="en-US" altLang="zh-CN" sz="2400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824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0B5A8-8F17-1BB7-8EC1-AA44B274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!!return">
            <a:extLst>
              <a:ext uri="{FF2B5EF4-FFF2-40B4-BE49-F238E27FC236}">
                <a16:creationId xmlns:a16="http://schemas.microsoft.com/office/drawing/2014/main" id="{049EE783-0897-71C2-BA1F-D0D7BFE35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688" y="2603752"/>
            <a:ext cx="3451860" cy="714375"/>
          </a:xfrm>
          <a:prstGeom prst="rect">
            <a:avLst/>
          </a:prstGeom>
        </p:spPr>
      </p:pic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F7972DAD-459C-FA66-00BA-C1C391122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49AD876-1AB7-40FF-AC43-B248C279EB16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EE3367-E050-1EF6-1705-4B9AC89DBFAE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返回值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A739DD-5C83-6D32-67C7-B324620290F6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3D65E82-5245-65AD-5822-B916DCAC4026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FB54B31-4F2E-2762-E78C-EFCD5D1B2142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8AE202FC-5325-7D0D-9163-1946D36CD89B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D56B8276-6843-0CEE-4BE2-0FD63293D9BE}"/>
              </a:ext>
            </a:extLst>
          </p:cNvPr>
          <p:cNvPicPr>
            <a:picLocks noGrp="1"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9138" y="2368638"/>
            <a:ext cx="10223278" cy="330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1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9E96A-46D2-6835-C570-15D2B616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A9C70A67-3BB4-326D-5C15-816DE1690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62F7DA3B-5CD1-29AD-25D7-1DDD14447884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7D67F6F-E162-22B6-BE16-7AE296360829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10644849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变量作用域</a:t>
            </a:r>
            <a:endParaRPr lang="en-US" altLang="zh-CN" b="1" dirty="0"/>
          </a:p>
          <a:p>
            <a:pPr fontAlgn="auto">
              <a:spcAft>
                <a:spcPts val="0"/>
              </a:spcAft>
            </a:pPr>
            <a:r>
              <a:rPr lang="zh-CN" altLang="en-US" sz="2800" dirty="0"/>
              <a:t>变量并非在程序的任意位置都可以被访问， 其访问权限取决于变量定义的位置， 其所处的有效范围称为变量的作用域。根据作用域的不同， 变量可以划分为局部变量和全局变量。</a:t>
            </a:r>
            <a:endParaRPr lang="en-US" altLang="zh-CN" sz="2800" dirty="0"/>
          </a:p>
          <a:p>
            <a:pPr fontAlgn="auto">
              <a:spcAft>
                <a:spcPts val="0"/>
              </a:spcAft>
            </a:pPr>
            <a:r>
              <a:rPr lang="zh-CN" altLang="en-US" sz="2800" dirty="0"/>
              <a:t>局部变量：函数内部定义的变量， 只能在函数内部被使用，函数执行结束之后局部变量会被释放， 此时无法再进行访问</a:t>
            </a:r>
            <a:endParaRPr lang="en-US" altLang="zh-CN" sz="2800" dirty="0"/>
          </a:p>
          <a:p>
            <a:pPr fontAlgn="auto">
              <a:spcAft>
                <a:spcPts val="0"/>
              </a:spcAft>
            </a:pPr>
            <a:r>
              <a:rPr lang="zh-CN" altLang="en-US" sz="2800" dirty="0"/>
              <a:t>全局变量：全局变量可以在整个程序的范围内起作用， 它不会受到函数范围的影响。</a:t>
            </a:r>
            <a:endParaRPr lang="en-US" altLang="zh-CN" sz="2800" dirty="0"/>
          </a:p>
          <a:p>
            <a:pPr fontAlgn="auto">
              <a:spcAft>
                <a:spcPts val="0"/>
              </a:spcAft>
            </a:pPr>
            <a:r>
              <a:rPr lang="zh-CN" altLang="en-US" sz="2800" dirty="0"/>
              <a:t>注：全局变量在函数内部只能被访问， 而无法直接修改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0CF537-2D33-60B5-340B-4D3DA82FC1BA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FBA5AA3-662E-6B6A-0715-C0F941A08D57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F5D667-823C-201D-4A7D-90370357F4E8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A98D8A46-9CF0-6BB2-5CBE-BE3FBC7C5DC8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405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E9656-8BC6-E79A-F8C5-3E0E762F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309405AF-2850-5759-6D61-61532987B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D3FB8B00-2608-6F55-F3A0-923F613B526A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207D1B-46B1-E127-29C5-7D0EF85B1447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10644849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全局变量</a:t>
            </a:r>
            <a:endParaRPr lang="en-US" altLang="zh-CN" b="1" dirty="0"/>
          </a:p>
          <a:p>
            <a:pPr fontAlgn="auto">
              <a:spcAft>
                <a:spcPts val="0"/>
              </a:spcAft>
            </a:pPr>
            <a:r>
              <a:rPr lang="zh-CN" altLang="en-US" sz="2800" b="1" dirty="0">
                <a:solidFill>
                  <a:srgbClr val="B9B9B9"/>
                </a:solidFill>
              </a:rPr>
              <a:t>全局变量</a:t>
            </a:r>
            <a:r>
              <a:rPr lang="zh-CN" altLang="en-US" sz="2800" dirty="0">
                <a:solidFill>
                  <a:srgbClr val="B9B9B9"/>
                </a:solidFill>
              </a:rPr>
              <a:t>：全局变量可以在整个程序的范围内起作用， 它不会受到函数范围的影响。</a:t>
            </a:r>
            <a:endParaRPr lang="en-US" altLang="zh-CN" sz="2800" dirty="0">
              <a:solidFill>
                <a:srgbClr val="B9B9B9"/>
              </a:solidFill>
            </a:endParaRPr>
          </a:p>
          <a:p>
            <a:pPr fontAlgn="auto">
              <a:spcAft>
                <a:spcPts val="0"/>
              </a:spcAft>
            </a:pPr>
            <a:endParaRPr lang="en-US" altLang="zh-CN" sz="2800" dirty="0">
              <a:solidFill>
                <a:srgbClr val="B9B9B9"/>
              </a:solidFill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800" dirty="0">
                <a:solidFill>
                  <a:srgbClr val="B9B9B9"/>
                </a:solidFill>
              </a:rPr>
              <a:t> </a:t>
            </a:r>
            <a:endParaRPr lang="en-US" altLang="zh-CN" sz="2800" dirty="0">
              <a:solidFill>
                <a:srgbClr val="B9B9B9"/>
              </a:solidFill>
            </a:endParaRPr>
          </a:p>
          <a:p>
            <a:pPr fontAlgn="auto">
              <a:spcAft>
                <a:spcPts val="0"/>
              </a:spcAft>
            </a:pPr>
            <a:endParaRPr lang="en-US" altLang="zh-CN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5C9AEF-39A1-3CD3-B035-AB7552363A9E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5CA5CD8-124A-2397-7F44-4C4D93230076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E70B7AD-3EC4-F595-0BC0-F2CA835D8C9C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3445AF22-B8D7-A7D7-8B3E-94A6AD483BD8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9C0790A-B37C-DDE1-ACB0-8F9BB487B019}"/>
              </a:ext>
            </a:extLst>
          </p:cNvPr>
          <p:cNvSpPr txBox="1"/>
          <p:nvPr/>
        </p:nvSpPr>
        <p:spPr>
          <a:xfrm>
            <a:off x="924828" y="2332701"/>
            <a:ext cx="7619443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number = 10       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全局变量</a:t>
            </a:r>
          </a:p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zh-CN" sz="2400" b="0" i="0" dirty="0" err="1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test_one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    print(number)       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函数内部访问全局变量</a:t>
            </a:r>
          </a:p>
          <a:p>
            <a:r>
              <a:rPr lang="en-US" altLang="zh-CN" sz="2400" b="0" i="0" dirty="0" err="1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test_one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print(number</a:t>
            </a:r>
            <a:r>
              <a:rPr lang="en-US" altLang="zh-CN" sz="2400" dirty="0">
                <a:solidFill>
                  <a:srgbClr val="AA5500"/>
                </a:solidFill>
                <a:latin typeface="Consolas" panose="020B0609020204030204" pitchFamily="49" charset="0"/>
              </a:rPr>
              <a:t>)</a:t>
            </a:r>
            <a:endParaRPr lang="en-US" altLang="zh-CN" sz="2400" b="1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7296F7A2-81B2-3F7D-3076-DE3403C6B818}"/>
              </a:ext>
            </a:extLst>
          </p:cNvPr>
          <p:cNvSpPr txBox="1"/>
          <p:nvPr/>
        </p:nvSpPr>
        <p:spPr>
          <a:xfrm>
            <a:off x="913599" y="4408864"/>
            <a:ext cx="9633396" cy="138499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dirty="0">
              <a:solidFill>
                <a:srgbClr val="33333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</a:p>
          <a:p>
            <a:endParaRPr lang="en-US" altLang="zh-CN" sz="2400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7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59B62-98D7-817C-6130-BBBD93E8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A52B9094-C3FA-55BC-8388-A7CF3A88E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44014545-2846-553B-B20E-B270DD297F45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42A0DF-D863-1448-B4CD-3729A2E8A636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10644849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局部变量</a:t>
            </a:r>
            <a:endParaRPr lang="en-US" altLang="zh-CN" b="1" dirty="0"/>
          </a:p>
          <a:p>
            <a:pPr fontAlgn="auto">
              <a:spcAft>
                <a:spcPts val="0"/>
              </a:spcAft>
            </a:pPr>
            <a:r>
              <a:rPr lang="zh-CN" altLang="en-US" sz="2800" b="1" dirty="0">
                <a:solidFill>
                  <a:srgbClr val="B9B9B9"/>
                </a:solidFill>
              </a:rPr>
              <a:t>局部变量</a:t>
            </a:r>
            <a:r>
              <a:rPr lang="zh-CN" altLang="en-US" sz="2800" dirty="0">
                <a:solidFill>
                  <a:srgbClr val="B9B9B9"/>
                </a:solidFill>
              </a:rPr>
              <a:t>：函数内部定义的变量， 只能在函数内部被使用，函数执行结束之后局部变量会被释放， 此时无法再进行访问 </a:t>
            </a:r>
            <a:endParaRPr lang="en-US" altLang="zh-CN" sz="2800" dirty="0">
              <a:solidFill>
                <a:srgbClr val="B9B9B9"/>
              </a:solidFill>
            </a:endParaRPr>
          </a:p>
          <a:p>
            <a:pPr fontAlgn="auto">
              <a:spcAft>
                <a:spcPts val="0"/>
              </a:spcAft>
            </a:pPr>
            <a:endParaRPr lang="en-US" altLang="zh-CN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902876-2F5D-752C-CC0E-22573D81E7D9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ACF2656-AADF-3FDE-912A-18BECE0E1B89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F16C09E-2BF7-EF71-B648-5DF08CA3304A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6C450510-6A3C-A148-8DEF-832DEF4C5E61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13C200-D4E7-F9C5-FB43-6595D65173E8}"/>
              </a:ext>
            </a:extLst>
          </p:cNvPr>
          <p:cNvSpPr txBox="1"/>
          <p:nvPr/>
        </p:nvSpPr>
        <p:spPr>
          <a:xfrm>
            <a:off x="924829" y="2332701"/>
            <a:ext cx="6923192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zh-CN" sz="2400" b="0" i="0" dirty="0" err="1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test_one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  number = 10  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局部变量</a:t>
            </a:r>
          </a:p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  print(number) 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函数内部访问局部变量</a:t>
            </a:r>
          </a:p>
          <a:p>
            <a:r>
              <a:rPr lang="en-US" altLang="zh-CN" sz="2400" b="0" i="0" dirty="0" err="1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test_one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print(number)  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函数外部访问局部变量</a:t>
            </a:r>
            <a:endParaRPr lang="en-US" altLang="zh-CN" sz="2400" b="1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202E54BD-3BEC-A184-8215-D2754F639047}"/>
              </a:ext>
            </a:extLst>
          </p:cNvPr>
          <p:cNvSpPr txBox="1"/>
          <p:nvPr/>
        </p:nvSpPr>
        <p:spPr>
          <a:xfrm>
            <a:off x="913599" y="4408864"/>
            <a:ext cx="9633396" cy="249299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dirty="0">
              <a:solidFill>
                <a:srgbClr val="33333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Traceback (most recent call last):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File "/remote-home/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shicheng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/test/GAF.py", line 5, in &lt;module&gt;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print(number)  # </a:t>
            </a:r>
            <a:r>
              <a:rPr lang="zh-CN" altLang="en-US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函数外部访问局部变量</a:t>
            </a:r>
          </a:p>
          <a:p>
            <a:r>
              <a:rPr lang="zh-CN" altLang="en-US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  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^^^^^^</a:t>
            </a:r>
          </a:p>
          <a:p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NameError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 name 'number' is not defined</a:t>
            </a:r>
          </a:p>
          <a:p>
            <a:endParaRPr lang="en-US" altLang="zh-CN" sz="2400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0596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2AC9B-DFF5-B55D-FCD4-4FAE23F5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B16D5D6E-E58A-4057-49C7-D1DD54826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FD928F4-D2C5-F659-7FF8-18BAA796F883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2E5030-919D-341A-2880-903AD20DE6B2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1093288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递归函数</a:t>
            </a:r>
            <a:endParaRPr lang="en-US" altLang="zh-CN" b="1" dirty="0"/>
          </a:p>
          <a:p>
            <a:pPr fontAlgn="auto">
              <a:spcAft>
                <a:spcPts val="0"/>
              </a:spcAft>
            </a:pPr>
            <a:r>
              <a:rPr lang="zh-CN" altLang="en-US" sz="2800" dirty="0">
                <a:latin typeface="+mj-ea"/>
              </a:rPr>
              <a:t>递归函数在定义时需要满足两个基本条件： 一个是递归公式， 另一个是边界条件。 其中：</a:t>
            </a:r>
            <a:endParaRPr lang="en-US" altLang="zh-CN" sz="2800" dirty="0">
              <a:latin typeface="+mj-ea"/>
            </a:endParaRPr>
          </a:p>
          <a:p>
            <a:pPr fontAlgn="auto">
              <a:spcAft>
                <a:spcPts val="0"/>
              </a:spcAft>
            </a:pPr>
            <a:r>
              <a:rPr lang="en-US" altLang="zh-CN" sz="2800" dirty="0">
                <a:latin typeface="+mj-ea"/>
              </a:rPr>
              <a:t>1</a:t>
            </a:r>
            <a:r>
              <a:rPr lang="zh-CN" altLang="en-US" sz="2800" dirty="0">
                <a:latin typeface="+mj-ea"/>
              </a:rPr>
              <a:t>、递归公式是求解原问题戒相似的子问题的结构；</a:t>
            </a:r>
          </a:p>
          <a:p>
            <a:pPr fontAlgn="auto">
              <a:spcAft>
                <a:spcPts val="0"/>
              </a:spcAft>
            </a:pPr>
            <a:r>
              <a:rPr lang="en-US" altLang="zh-CN" sz="2800" dirty="0">
                <a:latin typeface="+mj-ea"/>
              </a:rPr>
              <a:t>2</a:t>
            </a:r>
            <a:r>
              <a:rPr lang="zh-CN" altLang="en-US" sz="2800" dirty="0">
                <a:latin typeface="+mj-ea"/>
              </a:rPr>
              <a:t>、边界条件是最小化的子问题， 也是递归终止的条件。</a:t>
            </a:r>
            <a:endParaRPr lang="en-US" altLang="zh-CN" sz="2800" dirty="0">
              <a:latin typeface="+mj-ea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800" dirty="0">
                <a:latin typeface="+mj-ea"/>
              </a:rPr>
              <a:t>递归函数的执行可以分为以下两个阶段：</a:t>
            </a:r>
          </a:p>
          <a:p>
            <a:pPr fontAlgn="auto">
              <a:spcAft>
                <a:spcPts val="0"/>
              </a:spcAft>
            </a:pPr>
            <a:r>
              <a:rPr lang="en-US" altLang="zh-CN" sz="2800" dirty="0">
                <a:latin typeface="+mj-ea"/>
              </a:rPr>
              <a:t>1.</a:t>
            </a:r>
            <a:r>
              <a:rPr lang="zh-CN" altLang="en-US" sz="2800" dirty="0">
                <a:latin typeface="+mj-ea"/>
              </a:rPr>
              <a:t>递推： 递归本次的执行都基于上一次的运算结果。</a:t>
            </a:r>
          </a:p>
          <a:p>
            <a:pPr fontAlgn="auto">
              <a:spcAft>
                <a:spcPts val="0"/>
              </a:spcAft>
            </a:pPr>
            <a:r>
              <a:rPr lang="en-US" altLang="zh-CN" sz="2800" dirty="0">
                <a:latin typeface="+mj-ea"/>
              </a:rPr>
              <a:t>2.</a:t>
            </a:r>
            <a:r>
              <a:rPr lang="zh-CN" altLang="en-US" sz="2800" dirty="0">
                <a:latin typeface="+mj-ea"/>
              </a:rPr>
              <a:t>回溯： 遇到终止条件时，则沿着递推往回一级一级地把值返回来。</a:t>
            </a:r>
            <a:endParaRPr lang="en-US" altLang="zh-CN" sz="2800" dirty="0">
              <a:latin typeface="+mj-ea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800" dirty="0">
                <a:latin typeface="+mj-ea"/>
              </a:rPr>
              <a:t>递归函数的一般定义格式如下所示：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DC42B4-43CC-34D7-7917-4B5EF802A32F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0D5600F-EF99-06B2-3EEB-D1FFB7FC2A0B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5D21E6D-D633-9D4E-E28B-446243E97903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97F7C9EF-5EE7-4066-DD6E-128BF9DAFA6B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48F6733-4047-3A8D-F162-0860C8E8C145}"/>
              </a:ext>
            </a:extLst>
          </p:cNvPr>
          <p:cNvSpPr txBox="1"/>
          <p:nvPr/>
        </p:nvSpPr>
        <p:spPr>
          <a:xfrm>
            <a:off x="873424" y="4662373"/>
            <a:ext cx="6923192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函数名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参数列表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：</a:t>
            </a:r>
          </a:p>
          <a:p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边界条件：</a:t>
            </a:r>
          </a:p>
          <a:p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rerun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结果</a:t>
            </a:r>
          </a:p>
          <a:p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else:</a:t>
            </a:r>
          </a:p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  return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递归公式</a:t>
            </a:r>
            <a:endParaRPr lang="en-US" altLang="zh-CN" sz="2400" b="1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998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88E95-AD1B-D4D8-0C04-4ECF04104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C016B0D0-08B4-BE61-7C28-931661F91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5931D1AF-F7CF-9519-EBF0-09692FA4E3E4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E33026-9F54-B0BF-9149-A9CA6D5CDAEE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递归函数</a:t>
            </a:r>
            <a:endParaRPr lang="en-US" altLang="zh-CN" b="1" dirty="0"/>
          </a:p>
          <a:p>
            <a:pPr fontAlgn="auto">
              <a:spcAft>
                <a:spcPts val="0"/>
              </a:spcAft>
            </a:pPr>
            <a:r>
              <a:rPr lang="zh-CN" altLang="en-US" sz="2800" b="1" dirty="0"/>
              <a:t>举例</a:t>
            </a:r>
            <a:r>
              <a:rPr lang="zh-CN" altLang="en-US" sz="2800" dirty="0"/>
              <a:t>：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B3F5E4-46D3-8769-3332-A9AB895BCDF3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6710951-F50E-E11E-E878-86944F41A220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0E5814-5945-E3E4-91BC-C5607876DD47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97B6EFF6-F4BF-E188-8F86-9B6820BBEDFD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80F78F-E23A-74E0-86C6-8A76E2298E8A}"/>
              </a:ext>
            </a:extLst>
          </p:cNvPr>
          <p:cNvSpPr txBox="1"/>
          <p:nvPr/>
        </p:nvSpPr>
        <p:spPr>
          <a:xfrm>
            <a:off x="884969" y="1891481"/>
            <a:ext cx="6923192" cy="267765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可写函数说明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fi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</a:rPr>
              <a:t>        if 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</a:rPr>
              <a:t>in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[1:2]: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     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24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</a:rPr>
              <a:t>        else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          </a:t>
            </a:r>
            <a:r>
              <a:rPr lang="en-US" altLang="zh-CN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fi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x-1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fi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x-2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sz="24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fi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zh-CN" sz="2400" b="1" dirty="0">
              <a:solidFill>
                <a:srgbClr val="333333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2" name="文本框 4">
            <a:extLst>
              <a:ext uri="{FF2B5EF4-FFF2-40B4-BE49-F238E27FC236}">
                <a16:creationId xmlns:a16="http://schemas.microsoft.com/office/drawing/2014/main" id="{4CE25B8E-F054-FDBA-2CD4-506B114D4A60}"/>
              </a:ext>
            </a:extLst>
          </p:cNvPr>
          <p:cNvSpPr txBox="1"/>
          <p:nvPr/>
        </p:nvSpPr>
        <p:spPr>
          <a:xfrm>
            <a:off x="5267622" y="2531967"/>
            <a:ext cx="2419585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</a:p>
          <a:p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55</a:t>
            </a:r>
            <a:endParaRPr lang="en-US" altLang="zh-CN" sz="2400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95549B14-9E42-FEAC-71AE-AF67E1E3722A}"/>
              </a:ext>
            </a:extLst>
          </p:cNvPr>
          <p:cNvSpPr txBox="1"/>
          <p:nvPr/>
        </p:nvSpPr>
        <p:spPr>
          <a:xfrm>
            <a:off x="1821943" y="5183145"/>
            <a:ext cx="2646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这不是一个好的写法，笔面试时千万不要用</a:t>
            </a:r>
          </a:p>
        </p:txBody>
      </p:sp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4381EBCF-EB6B-90D2-10EA-DD328BC4B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185" y="1507135"/>
            <a:ext cx="3860448" cy="4351338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39A1AAF0-CFAF-7E21-57A6-3C1A332DBAB0}"/>
              </a:ext>
            </a:extLst>
          </p:cNvPr>
          <p:cNvSpPr/>
          <p:nvPr/>
        </p:nvSpPr>
        <p:spPr>
          <a:xfrm rot="16200000">
            <a:off x="2856718" y="4832695"/>
            <a:ext cx="288698" cy="231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669777B-5A12-9827-016E-67683DAE8CF6}"/>
              </a:ext>
            </a:extLst>
          </p:cNvPr>
          <p:cNvSpPr txBox="1"/>
          <p:nvPr/>
        </p:nvSpPr>
        <p:spPr>
          <a:xfrm>
            <a:off x="5952257" y="5072574"/>
            <a:ext cx="264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规范写法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C13B8D99-11E9-09DA-EB45-567F2B39FB36}"/>
              </a:ext>
            </a:extLst>
          </p:cNvPr>
          <p:cNvSpPr/>
          <p:nvPr/>
        </p:nvSpPr>
        <p:spPr>
          <a:xfrm>
            <a:off x="7141672" y="5164770"/>
            <a:ext cx="288698" cy="231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38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6B53-70F8-851A-B3DD-63D05D696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4E9B797C-BD48-D99D-5108-E886A79EC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914454D5-7632-0EA6-CBFE-A0FAABE9E156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CE62E1-3466-812B-3BA6-EB5719902CEC}"/>
              </a:ext>
            </a:extLst>
          </p:cNvPr>
          <p:cNvSpPr txBox="1">
            <a:spLocks/>
          </p:cNvSpPr>
          <p:nvPr/>
        </p:nvSpPr>
        <p:spPr>
          <a:xfrm>
            <a:off x="785137" y="908720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/>
              <a:t>lambda</a:t>
            </a:r>
            <a:r>
              <a:rPr lang="zh-CN" altLang="en-US" dirty="0"/>
              <a:t>函数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31E0440-14E5-140E-BFE0-4B8F19B0D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840" y="1623285"/>
            <a:ext cx="8730275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Tx/>
              <a:buNone/>
            </a:pPr>
            <a:r>
              <a:rPr lang="zh-CN" altLang="zh-CN" sz="1800" dirty="0">
                <a:latin typeface="微软雅黑" panose="020B0503020204020204" pitchFamily="34" charset="-122"/>
              </a:rPr>
              <a:t>lambda 表达式，又称匿名函数，常用来表示内部仅包含 1 行表达式的函数。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zh-CN" altLang="zh-CN" sz="1800" dirty="0">
                <a:latin typeface="微软雅黑" panose="020B0503020204020204" pitchFamily="34" charset="-122"/>
              </a:rPr>
              <a:t>如果一个函数的函数体仅有 1 行表达式，则该函数就可以用 lambda 表达式来代替。</a:t>
            </a:r>
            <a:r>
              <a:rPr lang="zh-CN" altLang="zh-CN" sz="600" dirty="0">
                <a:latin typeface="微软雅黑" panose="020B0503020204020204" pitchFamily="34" charset="-122"/>
              </a:rPr>
              <a:t> </a:t>
            </a:r>
            <a:endParaRPr lang="zh-CN" altLang="zh-CN" dirty="0">
              <a:latin typeface="微软雅黑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D537D-EBB1-E52B-55D7-4FBE3FE9A0EE}"/>
              </a:ext>
            </a:extLst>
          </p:cNvPr>
          <p:cNvSpPr txBox="1"/>
          <p:nvPr/>
        </p:nvSpPr>
        <p:spPr>
          <a:xfrm>
            <a:off x="839416" y="230614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name = lambda [list] : </a:t>
            </a:r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1B08278-394A-3083-9992-839153F2A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185" y="2782016"/>
            <a:ext cx="8574158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其中，定义 lambda 表达式，必须使用 lambda 关键字；[list] 作为可选参数，等同于定义函数是指定的参数列表；value 为该表达式的名称。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2B7E3B9-6056-FD07-B161-CD1A9352A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057" y="3680122"/>
            <a:ext cx="8388414" cy="14619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匿名函数不普通函数的主要区别如下：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普通函数在定义时有名称， 而匿名函数没有名称；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普通函数的函数体中包吨有多条语句， 而匿名函数的函数体叧能是一个表达式；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普通函数可以实现比较复杂的功能， 而匿名函数可实现的功能比较简单；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普通函数能被其他程序使用， 而匿名函数丌能被其他程序使用。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63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9466-4193-0089-1039-C921DE1FE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E77ABB2A-6039-BC89-6CFB-5F26F2819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C051B7D4-049C-8A5A-6868-59704BC3F249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1887D2-A552-C10D-4155-0A7F2463A0B5}"/>
              </a:ext>
            </a:extLst>
          </p:cNvPr>
          <p:cNvSpPr txBox="1">
            <a:spLocks/>
          </p:cNvSpPr>
          <p:nvPr/>
        </p:nvSpPr>
        <p:spPr>
          <a:xfrm>
            <a:off x="785137" y="908720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/>
              <a:t>lambda</a:t>
            </a:r>
            <a:r>
              <a:rPr lang="zh-CN" altLang="en-US" dirty="0"/>
              <a:t>函数</a:t>
            </a:r>
            <a:endParaRPr lang="en-US" altLang="zh-CN" dirty="0"/>
          </a:p>
          <a:p>
            <a:pPr fontAlgn="auto">
              <a:spcAft>
                <a:spcPts val="0"/>
              </a:spcAft>
            </a:pPr>
            <a:r>
              <a:rPr lang="zh-CN" altLang="en-US" sz="2800" b="1" dirty="0"/>
              <a:t>举例</a:t>
            </a:r>
            <a:r>
              <a:rPr lang="zh-CN" altLang="en-US" sz="2800" dirty="0"/>
              <a:t>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738613-B94C-E40C-F962-5B47FB2FCC11}"/>
              </a:ext>
            </a:extLst>
          </p:cNvPr>
          <p:cNvSpPr txBox="1"/>
          <p:nvPr/>
        </p:nvSpPr>
        <p:spPr>
          <a:xfrm>
            <a:off x="839416" y="1988840"/>
            <a:ext cx="8280920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numbers</a:t>
            </a:r>
            <a:r>
              <a:rPr lang="en-US" altLang="zh-CN" sz="24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 = </a:t>
            </a:r>
            <a:r>
              <a:rPr lang="en-US" altLang="zh-CN" sz="2400" dirty="0">
                <a:solidFill>
                  <a:srgbClr val="808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zh-CN" sz="2400" dirty="0">
                <a:solidFill>
                  <a:srgbClr val="808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squared</a:t>
            </a:r>
            <a:r>
              <a:rPr lang="en-US" altLang="zh-CN" sz="24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 = </a:t>
            </a:r>
            <a:r>
              <a:rPr lang="en-US" altLang="zh-CN" sz="2400" b="1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list</a:t>
            </a:r>
            <a:r>
              <a:rPr lang="en-US" altLang="zh-CN" sz="2400" dirty="0">
                <a:solidFill>
                  <a:srgbClr val="808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map</a:t>
            </a:r>
            <a:r>
              <a:rPr lang="en-US" altLang="zh-CN" sz="2400" dirty="0">
                <a:solidFill>
                  <a:srgbClr val="808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lambda x: x**2, numbers</a:t>
            </a:r>
            <a:r>
              <a:rPr lang="en-US" altLang="zh-CN" sz="2400" dirty="0">
                <a:solidFill>
                  <a:srgbClr val="808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2400" dirty="0">
                <a:solidFill>
                  <a:srgbClr val="808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squared</a:t>
            </a:r>
            <a:r>
              <a:rPr lang="en-US" altLang="zh-CN" sz="2400" dirty="0">
                <a:solidFill>
                  <a:srgbClr val="808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24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  </a:t>
            </a:r>
            <a:r>
              <a:rPr lang="en-US" altLang="zh-CN" sz="2400" b="1" dirty="0">
                <a:solidFill>
                  <a:srgbClr val="FFC000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# </a:t>
            </a:r>
            <a:r>
              <a:rPr lang="zh-CN" altLang="en-US" sz="2400" b="1" dirty="0">
                <a:solidFill>
                  <a:srgbClr val="FFC000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输出</a:t>
            </a:r>
            <a:r>
              <a:rPr lang="en-US" altLang="zh-CN" sz="2400" b="1" dirty="0">
                <a:solidFill>
                  <a:srgbClr val="FFC000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</a:rPr>
              <a:t>: [1, 4, 9, 16, 25]</a:t>
            </a:r>
          </a:p>
        </p:txBody>
      </p:sp>
      <p:sp>
        <p:nvSpPr>
          <p:cNvPr id="12" name="文本框 4">
            <a:extLst>
              <a:ext uri="{FF2B5EF4-FFF2-40B4-BE49-F238E27FC236}">
                <a16:creationId xmlns:a16="http://schemas.microsoft.com/office/drawing/2014/main" id="{B72DDC4B-FF64-407E-72CE-40BC8724043F}"/>
              </a:ext>
            </a:extLst>
          </p:cNvPr>
          <p:cNvSpPr txBox="1"/>
          <p:nvPr/>
        </p:nvSpPr>
        <p:spPr>
          <a:xfrm>
            <a:off x="785137" y="3717032"/>
            <a:ext cx="2419585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</a:p>
          <a:p>
            <a:r>
              <a:rPr lang="en-US" altLang="zh-CN" sz="2400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[2, 4, 6, 8]</a:t>
            </a:r>
          </a:p>
        </p:txBody>
      </p:sp>
    </p:spTree>
    <p:extLst>
      <p:ext uri="{BB962C8B-B14F-4D97-AF65-F5344CB8AC3E}">
        <p14:creationId xmlns:p14="http://schemas.microsoft.com/office/powerpoint/2010/main" val="253840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ED49D-44BC-F562-EA5F-316439DE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9B195FE4-92B0-6B71-1501-C4564388C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B02E1D33-B153-1375-75F5-0207A7E86FAA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AC198F-4702-1FB3-7215-D162AB8C7002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>
                <a:latin typeface="+mj-ea"/>
              </a:rPr>
              <a:t>高级函数</a:t>
            </a:r>
            <a:endParaRPr lang="en-US" altLang="zh-CN" b="1" dirty="0">
              <a:latin typeface="+mj-ea"/>
            </a:endParaRPr>
          </a:p>
          <a:p>
            <a:pPr fontAlgn="auto">
              <a:spcAft>
                <a:spcPts val="0"/>
              </a:spcAft>
            </a:pPr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6E2D96-EA93-2CCC-F851-BBE19A4D1141}"/>
              </a:ext>
            </a:extLst>
          </p:cNvPr>
          <p:cNvSpPr txBox="1">
            <a:spLocks/>
          </p:cNvSpPr>
          <p:nvPr/>
        </p:nvSpPr>
        <p:spPr>
          <a:xfrm>
            <a:off x="839416" y="1610745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4A11B3-8121-11BA-CCA8-55ABF0C13209}"/>
              </a:ext>
            </a:extLst>
          </p:cNvPr>
          <p:cNvSpPr txBox="1"/>
          <p:nvPr/>
        </p:nvSpPr>
        <p:spPr>
          <a:xfrm>
            <a:off x="851751" y="1642072"/>
            <a:ext cx="10513168" cy="1599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闭包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装饰器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内建函数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975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E16D-2202-3DCD-1C08-546E7A70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8ED880C1-B25D-7BBA-5D85-359C3941D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B6DF9A46-0D59-48CD-7993-1A12F75C5B26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DC7DF0-3E47-5A10-D80B-0FA4936CE1E1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闭包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A8C460-3751-E2F0-ACA8-BE0560C61CFA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1904AB7-557F-8D0E-9F1F-98563F763DFB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C9FA7A0-F71F-4708-86C1-ED6D8704F583}"/>
              </a:ext>
            </a:extLst>
          </p:cNvPr>
          <p:cNvSpPr txBox="1">
            <a:spLocks/>
          </p:cNvSpPr>
          <p:nvPr/>
        </p:nvSpPr>
        <p:spPr>
          <a:xfrm>
            <a:off x="884334" y="2201250"/>
            <a:ext cx="10704071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FZSSJW--GB1-0"/>
              </a:rPr>
              <a:t>Python</a:t>
            </a:r>
            <a:r>
              <a:rPr lang="zh-CN" altLang="en-US" dirty="0">
                <a:latin typeface="FZSSJW--GB1-0"/>
              </a:rPr>
              <a:t>函数是支持嵌套的。 如果在一个内部函数中对外部函数作用域（ 非全局作用域）的变量进行引用， 那么内部函数就会被称为闭包。 闭包需要满足如下</a:t>
            </a:r>
            <a:r>
              <a:rPr lang="en-US" altLang="zh-CN" dirty="0">
                <a:latin typeface="FZSSJW--GB1-0"/>
              </a:rPr>
              <a:t>3</a:t>
            </a:r>
            <a:r>
              <a:rPr lang="zh-CN" altLang="en-US" dirty="0">
                <a:latin typeface="FZSSJW--GB1-0"/>
              </a:rPr>
              <a:t>个条件：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  <a:latin typeface="FZSSJW--GB1-0"/>
              </a:rPr>
              <a:t>1.</a:t>
            </a:r>
            <a:r>
              <a:rPr lang="zh-CN" altLang="en-US" dirty="0">
                <a:solidFill>
                  <a:srgbClr val="FF0000"/>
                </a:solidFill>
                <a:latin typeface="FZSSJW--GB1-0"/>
              </a:rPr>
              <a:t>存在于两个嵌套关系的函数中， 并且闭包是内部函数；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  <a:latin typeface="FZSSJW--GB1-0"/>
              </a:rPr>
              <a:t>2.</a:t>
            </a:r>
            <a:r>
              <a:rPr lang="zh-CN" altLang="en-US" dirty="0">
                <a:solidFill>
                  <a:srgbClr val="FF0000"/>
                </a:solidFill>
                <a:latin typeface="FZSSJW--GB1-0"/>
              </a:rPr>
              <a:t>内部函数引用了外部函数的变量（ 自由变量） ；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  <a:latin typeface="FZSSJW--GB1-0"/>
              </a:rPr>
              <a:t>3.</a:t>
            </a:r>
            <a:r>
              <a:rPr lang="zh-CN" altLang="en-US" dirty="0">
                <a:solidFill>
                  <a:srgbClr val="FF0000"/>
                </a:solidFill>
                <a:latin typeface="FZSSJW--GB1-0"/>
              </a:rPr>
              <a:t>外部函数会把内部函数的函数名称返回。</a:t>
            </a:r>
            <a:endParaRPr lang="en-US" altLang="zh-CN" dirty="0">
              <a:solidFill>
                <a:srgbClr val="FF0000"/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00E1C36F-35D5-6B04-2215-BCE72F50C948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888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7D109-C3B3-E362-A5E6-57F13C7AC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6DAB7790-661C-CFB4-090B-11C3150CF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60924223-80B1-615A-15EB-06F9A2B447BE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9C7D8D-9CF8-6197-677D-87DE1BD90F05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闭包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A2A4B7-18E7-B812-56D2-60001A9A5905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37365BD-B52A-DC8F-277F-5C0EEF220FDC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9027C16-6C66-EA88-8538-5DADE2C840A6}"/>
              </a:ext>
            </a:extLst>
          </p:cNvPr>
          <p:cNvSpPr txBox="1">
            <a:spLocks/>
          </p:cNvSpPr>
          <p:nvPr/>
        </p:nvSpPr>
        <p:spPr>
          <a:xfrm>
            <a:off x="864536" y="1477545"/>
            <a:ext cx="10704071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latin typeface="FZSSJW--GB1-0"/>
              </a:rPr>
              <a:t>示例：</a:t>
            </a:r>
            <a:endParaRPr lang="en-US" altLang="zh-CN" dirty="0"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F657A70F-7314-18EB-EBB0-F0E72711795B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FA0E314-B429-383D-40E2-1AC9467EE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051" y="1461699"/>
            <a:ext cx="6949180" cy="4216868"/>
          </a:xfrm>
          <a:prstGeom prst="rect">
            <a:avLst/>
          </a:prstGeom>
        </p:spPr>
      </p:pic>
      <p:sp>
        <p:nvSpPr>
          <p:cNvPr id="11" name="文本框 4">
            <a:extLst>
              <a:ext uri="{FF2B5EF4-FFF2-40B4-BE49-F238E27FC236}">
                <a16:creationId xmlns:a16="http://schemas.microsoft.com/office/drawing/2014/main" id="{BBEC4AF7-791C-9F64-521E-6F28CA24ADD2}"/>
              </a:ext>
            </a:extLst>
          </p:cNvPr>
          <p:cNvSpPr txBox="1"/>
          <p:nvPr/>
        </p:nvSpPr>
        <p:spPr>
          <a:xfrm>
            <a:off x="7464152" y="5729547"/>
            <a:ext cx="2419585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</a:p>
          <a:p>
            <a:r>
              <a:rPr lang="en-US" altLang="zh-CN" sz="2400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4470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7B109-FB78-A863-5973-EB524900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C9A2BDF0-267D-ED42-DA72-AF884D677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B0DF2E90-CCAB-342D-931C-1430B8B3D3BF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594815A-E5EC-C05E-E36B-2FDDBC321903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装饰器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15A724-B205-F9F1-6C87-1B6F8FBAB93B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7083CD0-2A06-1448-83CC-876A97439156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42ABFB3-D04A-3F3F-F1B7-20B2C4A5CBC2}"/>
              </a:ext>
            </a:extLst>
          </p:cNvPr>
          <p:cNvSpPr txBox="1">
            <a:spLocks/>
          </p:cNvSpPr>
          <p:nvPr/>
        </p:nvSpPr>
        <p:spPr>
          <a:xfrm>
            <a:off x="851751" y="1834500"/>
            <a:ext cx="10704071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latin typeface="FZSSJW--GB1-0"/>
              </a:rPr>
              <a:t>假设我们已经开发了一个本有的函数， 后续可能会增加临时的需求， 例如插入日志， 我们可以增加一个包裹函数， 由它来负责这些额外的需求， 这个包裹函数就是装饰器 。</a:t>
            </a:r>
            <a:endParaRPr lang="en-US" altLang="zh-CN" dirty="0">
              <a:latin typeface="FZSSJW--GB1-0"/>
            </a:endParaRP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latin typeface="FZSSJW--GB1-0"/>
              </a:rPr>
              <a:t>装饰器主要应用在如下场景：</a:t>
            </a: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FZSSJW--GB1-0"/>
              </a:rPr>
              <a:t>•</a:t>
            </a:r>
            <a:r>
              <a:rPr lang="zh-CN" altLang="en-US" dirty="0">
                <a:latin typeface="FZSSJW--GB1-0"/>
              </a:rPr>
              <a:t>引入日志；</a:t>
            </a: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FZSSJW--GB1-0"/>
              </a:rPr>
              <a:t>•</a:t>
            </a:r>
            <a:r>
              <a:rPr lang="zh-CN" altLang="en-US" dirty="0">
                <a:latin typeface="FZSSJW--GB1-0"/>
              </a:rPr>
              <a:t>函数执行时间统计；</a:t>
            </a: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FZSSJW--GB1-0"/>
              </a:rPr>
              <a:t>•</a:t>
            </a:r>
            <a:r>
              <a:rPr lang="zh-CN" altLang="en-US" dirty="0">
                <a:latin typeface="FZSSJW--GB1-0"/>
              </a:rPr>
              <a:t>执行函数前预备处理；</a:t>
            </a: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FZSSJW--GB1-0"/>
              </a:rPr>
              <a:t>• </a:t>
            </a:r>
            <a:r>
              <a:rPr lang="zh-CN" altLang="en-US" dirty="0">
                <a:latin typeface="FZSSJW--GB1-0"/>
              </a:rPr>
              <a:t>执行函数后清理功能；</a:t>
            </a: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FZSSJW--GB1-0"/>
              </a:rPr>
              <a:t>• </a:t>
            </a:r>
            <a:r>
              <a:rPr lang="zh-CN" altLang="en-US" dirty="0">
                <a:latin typeface="FZSSJW--GB1-0"/>
              </a:rPr>
              <a:t>权限校验；</a:t>
            </a: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>
                <a:latin typeface="FZSSJW--GB1-0"/>
              </a:rPr>
              <a:t>• </a:t>
            </a:r>
            <a:r>
              <a:rPr lang="zh-CN" altLang="en-US" dirty="0">
                <a:latin typeface="FZSSJW--GB1-0"/>
              </a:rPr>
              <a:t>缓存。</a:t>
            </a:r>
            <a:endParaRPr lang="en-US" altLang="zh-CN" dirty="0">
              <a:latin typeface="FZSSJW--GB1-0"/>
            </a:endParaRP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43A55E0B-148C-4536-9240-213CA0662327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899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C57A-3688-E516-0969-C3A9E606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865EB817-2946-12B7-D48C-BD51BBC93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6E77B01F-9B5C-FF17-4535-7A5F99B9B9A8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269AA3-4FA1-1DFA-7922-9F37562FD0F7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装饰器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6001B1-5EB1-11E6-84F4-A448ACCA3DC7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0D2C962-094D-5870-0E3E-09808DA732D6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1E37AEE-63B5-B9DC-F929-723E47A3E55E}"/>
              </a:ext>
            </a:extLst>
          </p:cNvPr>
          <p:cNvSpPr txBox="1">
            <a:spLocks/>
          </p:cNvSpPr>
          <p:nvPr/>
        </p:nvSpPr>
        <p:spPr>
          <a:xfrm>
            <a:off x="864536" y="1477545"/>
            <a:ext cx="10704071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latin typeface="FZSSJW--GB1-0"/>
            </a:endParaRP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latin typeface="FZSSJW--GB1-0"/>
              </a:rPr>
              <a:t>装饰器是一个函数， 它需要接收一个参数， 该参数表示被修饰的函数。 例如， 有如下一个装饰器函数：</a:t>
            </a:r>
            <a:endParaRPr lang="en-US" altLang="zh-CN" dirty="0"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4C904CC0-D029-0DD1-2B60-1D328D94676B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557F60-5843-5551-6009-68811DA74D1A}"/>
              </a:ext>
            </a:extLst>
          </p:cNvPr>
          <p:cNvSpPr txBox="1"/>
          <p:nvPr/>
        </p:nvSpPr>
        <p:spPr>
          <a:xfrm>
            <a:off x="868624" y="3374920"/>
            <a:ext cx="10515600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def w1(</a:t>
            </a:r>
            <a:r>
              <a:rPr lang="en-US" altLang="zh-CN" sz="2400" dirty="0" err="1">
                <a:solidFill>
                  <a:srgbClr val="0055AA"/>
                </a:solidFill>
                <a:latin typeface="Consolas" panose="020B0609020204030204" pitchFamily="49" charset="0"/>
              </a:rPr>
              <a:t>func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    print(‘</a:t>
            </a:r>
            <a:r>
              <a:rPr lang="zh-CN" altLang="en-US" sz="2400" dirty="0">
                <a:solidFill>
                  <a:srgbClr val="0055AA"/>
                </a:solidFill>
                <a:latin typeface="Consolas" panose="020B0609020204030204" pitchFamily="49" charset="0"/>
              </a:rPr>
              <a:t>正在装饰’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    def inner():</a:t>
            </a:r>
          </a:p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        print(‘</a:t>
            </a:r>
            <a:r>
              <a:rPr lang="zh-CN" altLang="en-US" sz="2400" dirty="0">
                <a:solidFill>
                  <a:srgbClr val="0055AA"/>
                </a:solidFill>
                <a:latin typeface="Consolas" panose="020B0609020204030204" pitchFamily="49" charset="0"/>
              </a:rPr>
              <a:t>正在验证权限’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        return inner()</a:t>
            </a:r>
            <a:endParaRPr lang="en-US" altLang="zh-CN" sz="2400" b="1" dirty="0">
              <a:solidFill>
                <a:srgbClr val="FFC000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4A9352-9664-6076-77BD-DBA049DFC607}"/>
              </a:ext>
            </a:extLst>
          </p:cNvPr>
          <p:cNvSpPr txBox="1"/>
          <p:nvPr/>
        </p:nvSpPr>
        <p:spPr>
          <a:xfrm>
            <a:off x="5736259" y="3466762"/>
            <a:ext cx="64258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• 装饰器是个嵌套函数</a:t>
            </a:r>
          </a:p>
          <a:p>
            <a:r>
              <a:rPr lang="zh-CN" altLang="en-US" sz="2800" dirty="0">
                <a:latin typeface="+mj-ea"/>
                <a:ea typeface="+mj-ea"/>
              </a:rPr>
              <a:t>• 内部函数是一个闭包。</a:t>
            </a:r>
          </a:p>
          <a:p>
            <a:r>
              <a:rPr lang="zh-CN" altLang="en-US" sz="2800" dirty="0">
                <a:latin typeface="+mj-ea"/>
                <a:ea typeface="+mj-ea"/>
              </a:rPr>
              <a:t>• 外部函数接收的是被修饰的函数（func）</a:t>
            </a:r>
          </a:p>
        </p:txBody>
      </p:sp>
    </p:spTree>
    <p:extLst>
      <p:ext uri="{BB962C8B-B14F-4D97-AF65-F5344CB8AC3E}">
        <p14:creationId xmlns:p14="http://schemas.microsoft.com/office/powerpoint/2010/main" val="385800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D949-C3E4-C078-26CA-9C4BD447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7E423E4D-112B-F359-F418-466710099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89E5017A-7B12-9864-3808-62CCCFA90147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128182-6BF2-57AC-FEDF-F089410CBF19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装饰器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3026BF-F224-BC9F-40C0-F82760D93D36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7A19141-173B-3DC5-A519-FAE6236B09B9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013FC4A-AA5D-85DC-2E25-F2407944D0F0}"/>
              </a:ext>
            </a:extLst>
          </p:cNvPr>
          <p:cNvSpPr txBox="1">
            <a:spLocks/>
          </p:cNvSpPr>
          <p:nvPr/>
        </p:nvSpPr>
        <p:spPr>
          <a:xfrm>
            <a:off x="864536" y="1477545"/>
            <a:ext cx="10704071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latin typeface="FZSSJW--GB1-0"/>
            </a:endParaRP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latin typeface="FZSSJW--GB1-0"/>
              </a:rPr>
              <a:t>通过在函数定义的前面添加</a:t>
            </a:r>
            <a:r>
              <a:rPr lang="en-US" altLang="zh-CN" dirty="0">
                <a:latin typeface="FZSSJW--GB1-0"/>
              </a:rPr>
              <a:t>@</a:t>
            </a:r>
            <a:r>
              <a:rPr lang="zh-CN" altLang="en-US" dirty="0">
                <a:latin typeface="FZSSJW--GB1-0"/>
              </a:rPr>
              <a:t>符号和装饰器名， 实现装饰器对函数的包装。 给</a:t>
            </a:r>
            <a:r>
              <a:rPr lang="en-US" altLang="zh-CN" dirty="0">
                <a:latin typeface="FZSSJW--GB1-0"/>
              </a:rPr>
              <a:t>f1</a:t>
            </a:r>
            <a:r>
              <a:rPr lang="zh-CN" altLang="en-US" dirty="0">
                <a:latin typeface="FZSSJW--GB1-0"/>
              </a:rPr>
              <a:t>函数加上装饰器， 示例如下</a:t>
            </a:r>
            <a:r>
              <a:rPr lang="en-US" altLang="zh-CN" dirty="0">
                <a:latin typeface="FZSSJW--GB1-0"/>
              </a:rPr>
              <a:t>:</a:t>
            </a: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29B126EC-2C39-CA85-02AB-2279474726D0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A5C602-6971-E4AA-112A-03A862DCC782}"/>
              </a:ext>
            </a:extLst>
          </p:cNvPr>
          <p:cNvSpPr txBox="1"/>
          <p:nvPr/>
        </p:nvSpPr>
        <p:spPr>
          <a:xfrm>
            <a:off x="868624" y="3374920"/>
            <a:ext cx="3288562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@w1</a:t>
            </a:r>
          </a:p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def f1():</a:t>
            </a:r>
          </a:p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    print(’f1')</a:t>
            </a:r>
            <a:endParaRPr lang="en-US" altLang="zh-CN" sz="2400" b="1" dirty="0">
              <a:solidFill>
                <a:srgbClr val="FFC000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B90572-D598-6F01-F542-05037CC42376}"/>
              </a:ext>
            </a:extLst>
          </p:cNvPr>
          <p:cNvSpPr txBox="1"/>
          <p:nvPr/>
        </p:nvSpPr>
        <p:spPr>
          <a:xfrm>
            <a:off x="4655840" y="3364545"/>
            <a:ext cx="64258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此时， 程序会自动编译生成调用装</a:t>
            </a:r>
          </a:p>
          <a:p>
            <a:r>
              <a:rPr lang="zh-CN" altLang="en-US" sz="2800" dirty="0">
                <a:latin typeface="+mj-ea"/>
                <a:ea typeface="+mj-ea"/>
              </a:rPr>
              <a:t>饰器函数的代码， 等价于：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f1 = w1(f1)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1379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4F4C2-47B3-02B4-AC5C-DA230378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069258AD-821D-0DEE-AC70-1013B1A04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2EC6A53D-2E51-4DF8-EB9B-BBCA1017D92D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9F859E-D6BE-A899-F9EA-EE06A5B3F267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装饰器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FE8B10-D70E-551E-9039-DA5606A836C4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604B6C5-F6F1-53F8-E7A8-D89BC0865FA2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10499C0-AEC4-46D9-C7A2-CF017D2F0E32}"/>
              </a:ext>
            </a:extLst>
          </p:cNvPr>
          <p:cNvSpPr txBox="1">
            <a:spLocks/>
          </p:cNvSpPr>
          <p:nvPr/>
        </p:nvSpPr>
        <p:spPr>
          <a:xfrm>
            <a:off x="864536" y="1477545"/>
            <a:ext cx="10704071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dirty="0">
              <a:latin typeface="FZSSJW--GB1-0"/>
            </a:endParaRP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latin typeface="FZSSJW--GB1-0"/>
              </a:rPr>
              <a:t>多个装饰器应用在一个函数上， 调用顺序是从下至上。</a:t>
            </a:r>
            <a:endParaRPr lang="en-US" altLang="zh-CN" dirty="0"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ACAF06CC-8A3B-8552-6F7F-FBF8F97A6D74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AE0BD5-F8C7-A5CA-1EEE-C994F4468278}"/>
              </a:ext>
            </a:extLst>
          </p:cNvPr>
          <p:cNvSpPr txBox="1"/>
          <p:nvPr/>
        </p:nvSpPr>
        <p:spPr>
          <a:xfrm>
            <a:off x="950330" y="2864583"/>
            <a:ext cx="3705510" cy="156966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@w1</a:t>
            </a:r>
          </a:p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@w2</a:t>
            </a:r>
          </a:p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deff1():</a:t>
            </a:r>
          </a:p>
          <a:p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   print(‘---f1---’)</a:t>
            </a:r>
            <a:endParaRPr lang="en-US" altLang="zh-CN" sz="2400" b="1" dirty="0">
              <a:solidFill>
                <a:srgbClr val="FFC000"/>
              </a:solidFill>
              <a:effectLst/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0A719D-6274-3F60-2C74-A034DEA854E0}"/>
              </a:ext>
            </a:extLst>
          </p:cNvPr>
          <p:cNvSpPr txBox="1"/>
          <p:nvPr/>
        </p:nvSpPr>
        <p:spPr>
          <a:xfrm>
            <a:off x="4655840" y="3068960"/>
            <a:ext cx="64258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执行顺序：</a:t>
            </a:r>
          </a:p>
          <a:p>
            <a:r>
              <a:rPr lang="zh-CN" altLang="en-US" sz="2800" dirty="0">
                <a:latin typeface="+mj-ea"/>
                <a:ea typeface="+mj-ea"/>
              </a:rPr>
              <a:t>先执行</a:t>
            </a:r>
            <a:r>
              <a:rPr lang="en-US" altLang="zh-CN" sz="2800" dirty="0">
                <a:latin typeface="+mj-ea"/>
                <a:ea typeface="+mj-ea"/>
              </a:rPr>
              <a:t>@w2</a:t>
            </a:r>
            <a:r>
              <a:rPr lang="zh-CN" altLang="en-US" sz="2800" dirty="0">
                <a:latin typeface="+mj-ea"/>
                <a:ea typeface="+mj-ea"/>
              </a:rPr>
              <a:t>， 后执行</a:t>
            </a:r>
            <a:r>
              <a:rPr lang="en-US" altLang="zh-CN" sz="2800" dirty="0">
                <a:latin typeface="+mj-ea"/>
                <a:ea typeface="+mj-ea"/>
              </a:rPr>
              <a:t>@w1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9622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A703-BB47-3533-6B28-D54FA60C6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F570E1B3-538E-99AF-BEF3-C5375AC5E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90C222AF-6B0E-D844-DC5F-CEC972DC85B6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69A277-B5D2-D6DE-40D6-AA8B8C34A72F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装饰器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E60D8D-24E3-C468-375E-C5566E43CAA7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2378FE6-B3B7-DC6A-A768-6F3454714F2B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5F7A3D5-5F7C-DCF8-0D6B-97A695A8AD19}"/>
              </a:ext>
            </a:extLst>
          </p:cNvPr>
          <p:cNvSpPr txBox="1">
            <a:spLocks/>
          </p:cNvSpPr>
          <p:nvPr/>
        </p:nvSpPr>
        <p:spPr>
          <a:xfrm>
            <a:off x="871611" y="1346510"/>
            <a:ext cx="10704071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latin typeface="FZSSJW--GB1-0"/>
              </a:rPr>
              <a:t>示例：</a:t>
            </a:r>
            <a:endParaRPr lang="en-US" altLang="zh-CN" dirty="0"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2E499415-F07E-953A-1A21-D2E7BFDBE899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0E5DF4-EF36-A2EB-8A84-A256C0A5ED9C}"/>
              </a:ext>
            </a:extLst>
          </p:cNvPr>
          <p:cNvSpPr txBox="1"/>
          <p:nvPr/>
        </p:nvSpPr>
        <p:spPr>
          <a:xfrm>
            <a:off x="990837" y="1819036"/>
            <a:ext cx="10704070" cy="452431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def before(</a:t>
            </a:r>
            <a:r>
              <a:rPr lang="en-US" altLang="en-US" dirty="0" err="1">
                <a:latin typeface="Consolas" panose="020B0609020204030204" pitchFamily="49" charset="0"/>
              </a:rPr>
              <a:t>func</a:t>
            </a:r>
            <a:r>
              <a:rPr lang="en-US" altLang="en-US" dirty="0">
                <a:latin typeface="Consolas" panose="020B0609020204030204" pitchFamily="49" charset="0"/>
              </a:rPr>
              <a:t>):                       #定义</a:t>
            </a:r>
            <a:r>
              <a:rPr lang="zh-CN" altLang="en-US" dirty="0">
                <a:latin typeface="Consolas" panose="020B0609020204030204" pitchFamily="49" charset="0"/>
              </a:rPr>
              <a:t>装</a:t>
            </a:r>
            <a:r>
              <a:rPr lang="en-US" altLang="en-US" dirty="0" err="1">
                <a:latin typeface="Consolas" panose="020B0609020204030204" pitchFamily="49" charset="0"/>
              </a:rPr>
              <a:t>饰器</a:t>
            </a:r>
            <a:endParaRPr lang="en-US" altLang="en-US" dirty="0">
              <a:latin typeface="Consolas" panose="020B0609020204030204" pitchFamily="49" charset="0"/>
            </a:endParaRP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    def wrapper(*</a:t>
            </a:r>
            <a:r>
              <a:rPr lang="en-US" altLang="en-US" dirty="0" err="1">
                <a:latin typeface="Consolas" panose="020B0609020204030204" pitchFamily="49" charset="0"/>
              </a:rPr>
              <a:t>args</a:t>
            </a:r>
            <a:r>
              <a:rPr lang="en-US" altLang="en-US" dirty="0">
                <a:latin typeface="Consolas" panose="020B0609020204030204" pitchFamily="49" charset="0"/>
              </a:rPr>
              <a:t>, **</a:t>
            </a:r>
            <a:r>
              <a:rPr lang="en-US" altLang="en-US" dirty="0" err="1">
                <a:latin typeface="Consolas" panose="020B0609020204030204" pitchFamily="49" charset="0"/>
              </a:rPr>
              <a:t>kwargs</a:t>
            </a:r>
            <a:r>
              <a:rPr lang="en-US" altLang="en-US" dirty="0">
                <a:latin typeface="Consolas" panose="020B0609020204030204" pitchFamily="49" charset="0"/>
              </a:rPr>
              <a:t>):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        print('Before function called.')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        return </a:t>
            </a:r>
            <a:r>
              <a:rPr lang="en-US" altLang="en-US" dirty="0" err="1">
                <a:latin typeface="Consolas" panose="020B0609020204030204" pitchFamily="49" charset="0"/>
              </a:rPr>
              <a:t>func</a:t>
            </a:r>
            <a:r>
              <a:rPr lang="en-US" altLang="en-US" dirty="0">
                <a:latin typeface="Consolas" panose="020B0609020204030204" pitchFamily="49" charset="0"/>
              </a:rPr>
              <a:t>(*</a:t>
            </a:r>
            <a:r>
              <a:rPr lang="en-US" altLang="en-US" dirty="0" err="1">
                <a:latin typeface="Consolas" panose="020B0609020204030204" pitchFamily="49" charset="0"/>
              </a:rPr>
              <a:t>args</a:t>
            </a:r>
            <a:r>
              <a:rPr lang="en-US" altLang="en-US" dirty="0">
                <a:latin typeface="Consolas" panose="020B0609020204030204" pitchFamily="49" charset="0"/>
              </a:rPr>
              <a:t>, **</a:t>
            </a:r>
            <a:r>
              <a:rPr lang="en-US" altLang="en-US" dirty="0" err="1">
                <a:latin typeface="Consolas" panose="020B0609020204030204" pitchFamily="49" charset="0"/>
              </a:rPr>
              <a:t>kwargs</a:t>
            </a:r>
            <a:r>
              <a:rPr lang="en-US" altLang="en-US" dirty="0">
                <a:latin typeface="Consolas" panose="020B0609020204030204" pitchFamily="49" charset="0"/>
              </a:rPr>
              <a:t>)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    return wrapper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def after(</a:t>
            </a:r>
            <a:r>
              <a:rPr lang="en-US" altLang="en-US" dirty="0" err="1">
                <a:latin typeface="Consolas" panose="020B0609020204030204" pitchFamily="49" charset="0"/>
              </a:rPr>
              <a:t>func</a:t>
            </a:r>
            <a:r>
              <a:rPr lang="en-US" altLang="en-US" dirty="0">
                <a:latin typeface="Consolas" panose="020B0609020204030204" pitchFamily="49" charset="0"/>
              </a:rPr>
              <a:t>):                        #定义</a:t>
            </a:r>
            <a:r>
              <a:rPr lang="zh-CN" altLang="en-US" dirty="0">
                <a:latin typeface="Consolas" panose="020B0609020204030204" pitchFamily="49" charset="0"/>
              </a:rPr>
              <a:t>装饰器</a:t>
            </a:r>
            <a:endParaRPr lang="en-US" altLang="en-US" dirty="0">
              <a:latin typeface="Consolas" panose="020B0609020204030204" pitchFamily="49" charset="0"/>
            </a:endParaRP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    def wrapper(*</a:t>
            </a:r>
            <a:r>
              <a:rPr lang="en-US" altLang="en-US" dirty="0" err="1">
                <a:latin typeface="Consolas" panose="020B0609020204030204" pitchFamily="49" charset="0"/>
              </a:rPr>
              <a:t>args</a:t>
            </a:r>
            <a:r>
              <a:rPr lang="en-US" altLang="en-US" dirty="0">
                <a:latin typeface="Consolas" panose="020B0609020204030204" pitchFamily="49" charset="0"/>
              </a:rPr>
              <a:t>, **</a:t>
            </a:r>
            <a:r>
              <a:rPr lang="en-US" altLang="en-US" dirty="0" err="1">
                <a:latin typeface="Consolas" panose="020B0609020204030204" pitchFamily="49" charset="0"/>
              </a:rPr>
              <a:t>kwargs</a:t>
            </a:r>
            <a:r>
              <a:rPr lang="en-US" altLang="en-US" dirty="0">
                <a:latin typeface="Consolas" panose="020B0609020204030204" pitchFamily="49" charset="0"/>
              </a:rPr>
              <a:t>):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        result = </a:t>
            </a:r>
            <a:r>
              <a:rPr lang="en-US" altLang="en-US" dirty="0" err="1">
                <a:latin typeface="Consolas" panose="020B0609020204030204" pitchFamily="49" charset="0"/>
              </a:rPr>
              <a:t>func</a:t>
            </a:r>
            <a:r>
              <a:rPr lang="en-US" altLang="en-US" dirty="0">
                <a:latin typeface="Consolas" panose="020B0609020204030204" pitchFamily="49" charset="0"/>
              </a:rPr>
              <a:t>(*</a:t>
            </a:r>
            <a:r>
              <a:rPr lang="en-US" altLang="en-US" dirty="0" err="1">
                <a:latin typeface="Consolas" panose="020B0609020204030204" pitchFamily="49" charset="0"/>
              </a:rPr>
              <a:t>args</a:t>
            </a:r>
            <a:r>
              <a:rPr lang="en-US" altLang="en-US" dirty="0">
                <a:latin typeface="Consolas" panose="020B0609020204030204" pitchFamily="49" charset="0"/>
              </a:rPr>
              <a:t>, **</a:t>
            </a:r>
            <a:r>
              <a:rPr lang="en-US" altLang="en-US" dirty="0" err="1">
                <a:latin typeface="Consolas" panose="020B0609020204030204" pitchFamily="49" charset="0"/>
              </a:rPr>
              <a:t>kwargs</a:t>
            </a:r>
            <a:r>
              <a:rPr lang="en-US" altLang="en-US" dirty="0">
                <a:latin typeface="Consolas" panose="020B0609020204030204" pitchFamily="49" charset="0"/>
              </a:rPr>
              <a:t>)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        print('After function called.')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        return result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    return wrapper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@before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@after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def test():                             #同时使用两个修饰器改造函数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    print(3)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Consolas" panose="020B0609020204030204" pitchFamily="49" charset="0"/>
              </a:rPr>
              <a:t>test()                                  #调用被修饰的函数</a:t>
            </a:r>
          </a:p>
        </p:txBody>
      </p:sp>
      <p:sp>
        <p:nvSpPr>
          <p:cNvPr id="12" name="文本框 4">
            <a:extLst>
              <a:ext uri="{FF2B5EF4-FFF2-40B4-BE49-F238E27FC236}">
                <a16:creationId xmlns:a16="http://schemas.microsoft.com/office/drawing/2014/main" id="{6A062C4E-2515-3D88-719D-953A051C0CC6}"/>
              </a:ext>
            </a:extLst>
          </p:cNvPr>
          <p:cNvSpPr txBox="1"/>
          <p:nvPr/>
        </p:nvSpPr>
        <p:spPr>
          <a:xfrm>
            <a:off x="7933334" y="3395108"/>
            <a:ext cx="2938827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dirty="0">
              <a:solidFill>
                <a:srgbClr val="33333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Before function called.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After function called.</a:t>
            </a:r>
          </a:p>
          <a:p>
            <a:endParaRPr lang="en-US" altLang="zh-CN" sz="2400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721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2BA0-5622-904A-B6F8-ED557AB13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44D8727B-87C6-5E91-C93E-0D0497113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33B60C3C-6048-F5F5-C094-CE326BC7371B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BAA5E0-8880-F062-DCAB-4B3C65978EF1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内建函数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163ED7-D320-41C7-7C90-143F27A04232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5072A83-A38F-82EB-D370-6B6A78381917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76EE8EE-0B7D-D5D8-0D8A-4B724F9D1190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latin typeface="FZSSJW--GB1-0"/>
              </a:rPr>
              <a:t>内建函数：</a:t>
            </a:r>
            <a:r>
              <a:rPr lang="zh-CN" altLang="en-US" dirty="0">
                <a:latin typeface="FZSSJW--GB1-0"/>
              </a:rPr>
              <a:t>可以直接使用的函数</a:t>
            </a:r>
            <a:endParaRPr lang="en-US" altLang="zh-CN" dirty="0"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CC5AB02C-348D-9E08-25CA-9D3471971B7E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78D317-8F24-B919-FEE7-1B2076D75C69}"/>
              </a:ext>
            </a:extLst>
          </p:cNvPr>
          <p:cNvSpPr txBox="1"/>
          <p:nvPr/>
        </p:nvSpPr>
        <p:spPr>
          <a:xfrm>
            <a:off x="850263" y="2268877"/>
            <a:ext cx="936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FZSSJW--GB1-0"/>
                <a:ea typeface="+mn-ea"/>
              </a:rPr>
              <a:t>举例：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82CD8B9C-652E-0734-C79A-DC9653A08BF6}"/>
              </a:ext>
            </a:extLst>
          </p:cNvPr>
          <p:cNvSpPr txBox="1"/>
          <p:nvPr/>
        </p:nvSpPr>
        <p:spPr>
          <a:xfrm>
            <a:off x="1132911" y="4816926"/>
            <a:ext cx="4025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括号一定要是半角的！！</a:t>
            </a:r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pic>
        <p:nvPicPr>
          <p:cNvPr id="21" name="Picture 5">
            <a:extLst>
              <a:ext uri="{FF2B5EF4-FFF2-40B4-BE49-F238E27FC236}">
                <a16:creationId xmlns:a16="http://schemas.microsoft.com/office/drawing/2014/main" id="{8FF6A4C1-3A6B-57A9-B07D-EB370A536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438" y="1684234"/>
            <a:ext cx="5637461" cy="3489531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83B1F30-1B75-1497-F1C9-054F5EC65F43}"/>
              </a:ext>
            </a:extLst>
          </p:cNvPr>
          <p:cNvSpPr txBox="1"/>
          <p:nvPr/>
        </p:nvSpPr>
        <p:spPr>
          <a:xfrm>
            <a:off x="969005" y="2810585"/>
            <a:ext cx="4960620" cy="156966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&gt;&gt;&gt;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 abs</a:t>
            </a:r>
            <a:r>
              <a:rPr lang="en-US" altLang="zh-CN" sz="2400" dirty="0">
                <a:solidFill>
                  <a:srgbClr val="61B66D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-3.14</a:t>
            </a:r>
            <a:r>
              <a:rPr lang="en-US" altLang="zh-CN" sz="2400" b="1" dirty="0">
                <a:solidFill>
                  <a:srgbClr val="61B66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3.14</a:t>
            </a:r>
          </a:p>
          <a:p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&gt;&gt;&gt;</a:t>
            </a: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61B66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55AA"/>
                </a:solidFill>
                <a:latin typeface="Consolas" panose="020B0609020204030204" pitchFamily="49" charset="0"/>
              </a:rPr>
              <a:t>5.9</a:t>
            </a:r>
            <a:r>
              <a:rPr lang="en-US" altLang="zh-CN" sz="2400" b="1" dirty="0">
                <a:solidFill>
                  <a:srgbClr val="61B66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3207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C109-C994-BF09-D38C-6743F866C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B9F155DB-4116-5399-0321-5B8F8A2C2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A60B3BAF-5DEB-0F9E-E0F9-4FFDE4BA86D8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9D530A-DEDB-BF80-13AE-D1346C6D08E6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/>
              <a:t>内建函数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B02BA2-3BCD-76E8-0A90-ABF4EB963E09}"/>
              </a:ext>
            </a:extLst>
          </p:cNvPr>
          <p:cNvSpPr txBox="1">
            <a:spLocks/>
          </p:cNvSpPr>
          <p:nvPr/>
        </p:nvSpPr>
        <p:spPr>
          <a:xfrm>
            <a:off x="872145" y="1499872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28050C6-F7A3-C71C-C238-A25E5DA44D2D}"/>
              </a:ext>
            </a:extLst>
          </p:cNvPr>
          <p:cNvSpPr txBox="1">
            <a:spLocks/>
          </p:cNvSpPr>
          <p:nvPr/>
        </p:nvSpPr>
        <p:spPr>
          <a:xfrm>
            <a:off x="871611" y="167485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D2F0812-5E27-616D-ECFA-C2BBB5CECA19}"/>
              </a:ext>
            </a:extLst>
          </p:cNvPr>
          <p:cNvSpPr txBox="1">
            <a:spLocks/>
          </p:cNvSpPr>
          <p:nvPr/>
        </p:nvSpPr>
        <p:spPr>
          <a:xfrm>
            <a:off x="842874" y="169361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FZSSJW--GB1-0"/>
              </a:rPr>
              <a:t>内建函数：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FZSSJW--GB1-0"/>
              </a:rPr>
              <a:t>可以直接使用的函数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FZSSJW--GB1-0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18F1F045-4467-CAD4-01B8-74845434DD9D}"/>
              </a:ext>
            </a:extLst>
          </p:cNvPr>
          <p:cNvSpPr txBox="1">
            <a:spLocks/>
          </p:cNvSpPr>
          <p:nvPr/>
        </p:nvSpPr>
        <p:spPr>
          <a:xfrm>
            <a:off x="842874" y="2322678"/>
            <a:ext cx="4605087" cy="40434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169EDE-423A-2C48-62B2-3A1A54BD654A}"/>
              </a:ext>
            </a:extLst>
          </p:cNvPr>
          <p:cNvSpPr txBox="1"/>
          <p:nvPr/>
        </p:nvSpPr>
        <p:spPr>
          <a:xfrm>
            <a:off x="831789" y="2250775"/>
            <a:ext cx="936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FZSSJW--GB1-0"/>
                <a:ea typeface="+mn-ea"/>
              </a:rPr>
              <a:t>常见内建函数：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385C12-5B21-4D52-C311-4025AE563538}"/>
              </a:ext>
            </a:extLst>
          </p:cNvPr>
          <p:cNvSpPr txBox="1"/>
          <p:nvPr/>
        </p:nvSpPr>
        <p:spPr>
          <a:xfrm>
            <a:off x="850263" y="2826917"/>
            <a:ext cx="6096000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j-ea"/>
                <a:ea typeface="+mj-ea"/>
              </a:rPr>
              <a:t>内建函数</a:t>
            </a:r>
            <a:endParaRPr lang="en-US" altLang="zh-CN" sz="2800" dirty="0">
              <a:latin typeface="+mj-ea"/>
              <a:ea typeface="+mj-ea"/>
            </a:endParaRPr>
          </a:p>
          <a:p>
            <a:pPr marL="457200" indent="-45720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j-ea"/>
                <a:ea typeface="+mj-ea"/>
              </a:rPr>
              <a:t>print </a:t>
            </a:r>
            <a:r>
              <a:rPr lang="zh-CN" altLang="en-US" sz="2800" dirty="0">
                <a:latin typeface="+mj-ea"/>
                <a:ea typeface="+mj-ea"/>
              </a:rPr>
              <a:t>打印信息</a:t>
            </a:r>
            <a:endParaRPr lang="en-US" altLang="zh-CN" sz="2800" dirty="0">
              <a:latin typeface="+mj-ea"/>
              <a:ea typeface="+mj-ea"/>
            </a:endParaRPr>
          </a:p>
          <a:p>
            <a:pPr marL="457200" indent="-45720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j-ea"/>
                <a:ea typeface="+mj-ea"/>
              </a:rPr>
              <a:t>help </a:t>
            </a:r>
            <a:r>
              <a:rPr lang="zh-CN" altLang="en-US" sz="2800" dirty="0">
                <a:latin typeface="+mj-ea"/>
                <a:ea typeface="+mj-ea"/>
              </a:rPr>
              <a:t>获得帮助信息</a:t>
            </a:r>
            <a:endParaRPr lang="en-US" altLang="zh-CN" sz="2800" dirty="0">
              <a:latin typeface="+mj-ea"/>
              <a:ea typeface="+mj-ea"/>
            </a:endParaRPr>
          </a:p>
          <a:p>
            <a:pPr marL="457200" indent="-45720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dirty="0" err="1">
                <a:latin typeface="+mj-ea"/>
                <a:ea typeface="+mj-ea"/>
              </a:rPr>
              <a:t>isinstance</a:t>
            </a:r>
            <a:r>
              <a:rPr lang="en-US" altLang="zh-CN" sz="2800" dirty="0">
                <a:latin typeface="+mj-ea"/>
                <a:ea typeface="+mj-ea"/>
              </a:rPr>
              <a:t>  </a:t>
            </a:r>
            <a:r>
              <a:rPr lang="zh-CN" altLang="en-US" sz="2800" dirty="0">
                <a:latin typeface="+mj-ea"/>
                <a:ea typeface="+mj-ea"/>
              </a:rPr>
              <a:t>判断是否为某种类型</a:t>
            </a:r>
            <a:endParaRPr lang="en-US" altLang="zh-CN" sz="2800" dirty="0">
              <a:latin typeface="+mj-ea"/>
              <a:ea typeface="+mj-ea"/>
            </a:endParaRPr>
          </a:p>
          <a:p>
            <a:pPr marL="457200" indent="-45720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j-ea"/>
                <a:ea typeface="+mj-ea"/>
              </a:rPr>
              <a:t>type </a:t>
            </a:r>
            <a:r>
              <a:rPr lang="zh-CN" altLang="en-US" sz="2800" dirty="0">
                <a:latin typeface="+mj-ea"/>
                <a:ea typeface="+mj-ea"/>
              </a:rPr>
              <a:t>显示变量类型</a:t>
            </a:r>
            <a:endParaRPr lang="en-US" altLang="zh-CN" sz="2800" dirty="0">
              <a:latin typeface="+mj-ea"/>
              <a:ea typeface="+mj-ea"/>
            </a:endParaRPr>
          </a:p>
          <a:p>
            <a:pPr marL="457200" indent="-45720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dirty="0" err="1">
                <a:latin typeface="+mj-ea"/>
                <a:ea typeface="+mj-ea"/>
              </a:rPr>
              <a:t>len</a:t>
            </a: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获取长度</a:t>
            </a:r>
            <a:endParaRPr lang="en-US" altLang="zh-CN" sz="2800" dirty="0">
              <a:latin typeface="+mj-ea"/>
              <a:ea typeface="+mj-ea"/>
            </a:endParaRPr>
          </a:p>
          <a:p>
            <a:pPr marL="457200" indent="-457200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+mj-ea"/>
                <a:ea typeface="+mj-ea"/>
              </a:rPr>
              <a:t>input </a:t>
            </a:r>
            <a:r>
              <a:rPr lang="zh-CN" altLang="en-US" sz="2800" dirty="0">
                <a:latin typeface="+mj-ea"/>
                <a:ea typeface="+mj-ea"/>
              </a:rPr>
              <a:t>获取一个输入</a:t>
            </a:r>
            <a:endParaRPr lang="en-US" altLang="zh-CN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6402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F4AD-1D72-22BC-D6AC-669B53C6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9A86AC0A-5788-C66B-86A3-C5E77397A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F4A30805-0360-205B-BC83-2C0FFB15194F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668F4F-3617-9355-A0AC-B16C69317C33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>
                <a:latin typeface="+mj-ea"/>
              </a:rPr>
              <a:t>面向对象</a:t>
            </a:r>
            <a:endParaRPr lang="en-US" altLang="zh-CN" b="1" dirty="0">
              <a:latin typeface="+mj-ea"/>
            </a:endParaRPr>
          </a:p>
          <a:p>
            <a:pPr fontAlgn="auto">
              <a:spcAft>
                <a:spcPts val="0"/>
              </a:spcAft>
            </a:pPr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16242F-6076-5135-A088-DBA33EF97D3B}"/>
              </a:ext>
            </a:extLst>
          </p:cNvPr>
          <p:cNvSpPr txBox="1">
            <a:spLocks/>
          </p:cNvSpPr>
          <p:nvPr/>
        </p:nvSpPr>
        <p:spPr>
          <a:xfrm>
            <a:off x="839416" y="1610745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2371C5-DD7A-F81D-0C22-583ADC43A8DD}"/>
              </a:ext>
            </a:extLst>
          </p:cNvPr>
          <p:cNvSpPr txBox="1"/>
          <p:nvPr/>
        </p:nvSpPr>
        <p:spPr>
          <a:xfrm>
            <a:off x="851751" y="1642072"/>
            <a:ext cx="10513168" cy="3150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类的定义与使用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类的成员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特殊方法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封装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迭代器与生成器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623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983330" y="1051932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3200" dirty="0"/>
              <a:t>面向对象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27575" y="2708910"/>
            <a:ext cx="6096000" cy="1597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面向对象</a:t>
            </a:r>
            <a:r>
              <a:rPr lang="zh-CN" altLang="en-US" sz="2400"/>
              <a:t>是程序开发领域的重要思想，</a:t>
            </a:r>
            <a:r>
              <a:rPr lang="en-US" altLang="zh-CN" sz="2400"/>
              <a:t> </a:t>
            </a:r>
            <a:r>
              <a:rPr lang="zh-CN" altLang="en-US" sz="2400"/>
              <a:t>这</a:t>
            </a:r>
          </a:p>
          <a:p>
            <a:r>
              <a:rPr lang="zh-CN" altLang="en-US" sz="2400"/>
              <a:t>种思想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模拟</a:t>
            </a:r>
            <a:r>
              <a:rPr lang="zh-CN" altLang="en-US" sz="2400"/>
              <a:t>了人类认识客观世界的思维方式，</a:t>
            </a:r>
          </a:p>
          <a:p>
            <a:r>
              <a:rPr lang="zh-CN" altLang="en-US" sz="2400"/>
              <a:t>将开发中遇到的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事物</a:t>
            </a:r>
            <a:r>
              <a:rPr lang="zh-CN" altLang="en-US" sz="2400"/>
              <a:t>皆看作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对象</a:t>
            </a:r>
            <a:r>
              <a:rPr lang="zh-CN" altLang="en-US"/>
              <a:t>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15" y="2204720"/>
            <a:ext cx="2686050" cy="243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199456" y="980728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3200" dirty="0"/>
              <a:t>面向对象概述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1264138" y="2409407"/>
            <a:ext cx="7787352" cy="386046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772285"/>
            <a:ext cx="10287000" cy="2247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25" y="3860800"/>
            <a:ext cx="9925050" cy="2533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1916430"/>
            <a:ext cx="9486900" cy="44481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32230" y="92265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3200" dirty="0">
                <a:sym typeface="+mn-ea"/>
              </a:rPr>
              <a:t>面向对象概述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343664" y="753286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3200" dirty="0">
                <a:sym typeface="+mn-ea"/>
              </a:rPr>
              <a:t>面向对象概述</a:t>
            </a:r>
            <a:endParaRPr lang="zh-CN" altLang="en-US" sz="32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1919536" y="2204864"/>
            <a:ext cx="7524003" cy="429401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15" y="1700530"/>
            <a:ext cx="9629775" cy="449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550003" y="766812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3200" dirty="0">
                <a:sym typeface="+mn-ea"/>
              </a:rPr>
              <a:t>面向对象概述</a:t>
            </a:r>
            <a:endParaRPr lang="zh-CN" altLang="en-US" sz="32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1606700" y="1592690"/>
            <a:ext cx="10585300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en-US" altLang="zh-CN" dirty="0"/>
          </a:p>
          <a:p>
            <a:pPr fontAlgn="auto">
              <a:spcAft>
                <a:spcPts val="0"/>
              </a:spcAft>
            </a:pPr>
            <a:endParaRPr lang="en-US" altLang="zh-CN" dirty="0"/>
          </a:p>
          <a:p>
            <a:pPr fontAlgn="auto">
              <a:spcAft>
                <a:spcPts val="0"/>
              </a:spcAft>
            </a:pPr>
            <a:endParaRPr lang="en-US" altLang="zh-CN" dirty="0"/>
          </a:p>
          <a:p>
            <a:pPr fontAlgn="auto">
              <a:spcAft>
                <a:spcPts val="0"/>
              </a:spcAft>
            </a:pPr>
            <a:endParaRPr lang="en-US" altLang="zh-CN" dirty="0"/>
          </a:p>
          <a:p>
            <a:pPr fontAlgn="auto">
              <a:spcAft>
                <a:spcPts val="0"/>
              </a:spcAft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15" y="1628775"/>
            <a:ext cx="9610725" cy="4552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2495600" y="2060848"/>
            <a:ext cx="7524003" cy="3636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1700530"/>
            <a:ext cx="9458325" cy="44005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559560" y="87249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面向对象概述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415687" y="764562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3200" dirty="0">
                <a:sym typeface="+mn-ea"/>
              </a:rPr>
              <a:t>面向对象概述</a:t>
            </a:r>
            <a:endParaRPr lang="zh-CN" altLang="en-US" sz="32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2135560" y="1844824"/>
            <a:ext cx="7524003" cy="3636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770" y="1988820"/>
            <a:ext cx="9258300" cy="3743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343461" y="908902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3200" dirty="0"/>
              <a:t>类的定义与使用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70" y="1916430"/>
            <a:ext cx="3533775" cy="37338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727575" y="2132330"/>
            <a:ext cx="6334760" cy="2098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/>
              <a:t>面向对象编程有两个非常重要的概念：</a:t>
            </a:r>
            <a:r>
              <a:rPr lang="en-US" altLang="zh-CN" sz="2400"/>
              <a:t> </a:t>
            </a:r>
            <a:r>
              <a:rPr lang="zh-CN" altLang="en-US" sz="2400"/>
              <a:t>类和对象。</a:t>
            </a:r>
          </a:p>
          <a:p>
            <a:r>
              <a:rPr lang="en-US" altLang="zh-CN" sz="2400"/>
              <a:t>• 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对象</a:t>
            </a:r>
            <a:r>
              <a:rPr lang="zh-CN" altLang="en-US" sz="2400"/>
              <a:t>映射现实中真实存在的事物，</a:t>
            </a:r>
            <a:r>
              <a:rPr lang="en-US" altLang="zh-CN" sz="2400"/>
              <a:t> </a:t>
            </a:r>
            <a:r>
              <a:rPr lang="zh-CN" altLang="en-US" sz="2400"/>
              <a:t>如一本书。</a:t>
            </a:r>
          </a:p>
          <a:p>
            <a:r>
              <a:rPr lang="en-US" altLang="zh-CN" sz="2400"/>
              <a:t>• </a:t>
            </a:r>
            <a:r>
              <a:rPr lang="zh-CN" altLang="en-US" sz="2400"/>
              <a:t>具有相同特征和行为的事物的集合统称为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</a:t>
            </a:r>
            <a:r>
              <a:rPr lang="zh-CN" altLang="en-US" sz="2400"/>
              <a:t>。</a:t>
            </a:r>
          </a:p>
          <a:p>
            <a:r>
              <a:rPr lang="en-US" altLang="zh-CN" sz="2400"/>
              <a:t>• </a:t>
            </a:r>
            <a:r>
              <a:rPr lang="zh-CN" altLang="en-US" sz="2400"/>
              <a:t>对象是根据类创建的，</a:t>
            </a:r>
            <a:r>
              <a:rPr lang="en-US" altLang="zh-CN" sz="2400"/>
              <a:t> </a:t>
            </a:r>
            <a:r>
              <a:rPr lang="zh-CN" altLang="en-US" sz="2400"/>
              <a:t>一个类可以对应多个对象。</a:t>
            </a:r>
          </a:p>
          <a:p>
            <a:r>
              <a:rPr lang="en-US" altLang="zh-CN" sz="2400"/>
              <a:t>• </a:t>
            </a:r>
            <a:r>
              <a:rPr lang="zh-CN" altLang="en-US" sz="2400"/>
              <a:t>类是对象的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抽象</a:t>
            </a:r>
            <a:r>
              <a:rPr lang="zh-CN" altLang="en-US" sz="2400"/>
              <a:t>，</a:t>
            </a:r>
            <a:r>
              <a:rPr lang="en-US" altLang="zh-CN" sz="2400"/>
              <a:t> </a:t>
            </a:r>
            <a:r>
              <a:rPr lang="zh-CN" altLang="en-US" sz="2400"/>
              <a:t>对象是类的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实例</a:t>
            </a:r>
            <a:r>
              <a:rPr lang="zh-CN" altLang="en-US" sz="240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343461" y="908902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3200" dirty="0"/>
              <a:t>类的定义与使用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" y="1988820"/>
            <a:ext cx="3781425" cy="35337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71720" y="2852420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类是由</a:t>
            </a:r>
            <a:r>
              <a:rPr lang="en-US" altLang="zh-CN"/>
              <a:t>3</a:t>
            </a:r>
            <a:r>
              <a:rPr lang="zh-CN" altLang="en-US"/>
              <a:t>部分组成的：</a:t>
            </a:r>
          </a:p>
          <a:p>
            <a:r>
              <a:rPr lang="en-US" altLang="zh-CN"/>
              <a:t>• </a:t>
            </a:r>
            <a:r>
              <a:rPr lang="zh-CN" altLang="en-US"/>
              <a:t>类的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名称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大驼峰命名法，</a:t>
            </a:r>
            <a:r>
              <a:rPr lang="en-US" altLang="zh-CN"/>
              <a:t> </a:t>
            </a:r>
            <a:r>
              <a:rPr lang="zh-CN" altLang="en-US"/>
              <a:t>首字母一般大写，</a:t>
            </a:r>
            <a:r>
              <a:rPr lang="en-US" altLang="zh-CN"/>
              <a:t> </a:t>
            </a:r>
            <a:r>
              <a:rPr lang="zh-CN" altLang="en-US"/>
              <a:t>比如</a:t>
            </a:r>
            <a:r>
              <a:rPr lang="en-US" altLang="zh-CN"/>
              <a:t>Person</a:t>
            </a:r>
            <a:r>
              <a:rPr lang="zh-CN" altLang="en-US"/>
              <a:t>。</a:t>
            </a:r>
          </a:p>
          <a:p>
            <a:r>
              <a:rPr lang="en-US" altLang="zh-CN"/>
              <a:t>• </a:t>
            </a:r>
            <a:r>
              <a:rPr lang="zh-CN" altLang="en-US"/>
              <a:t>类的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属性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用于描述事物的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特征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比如性别。</a:t>
            </a:r>
          </a:p>
          <a:p>
            <a:r>
              <a:rPr lang="en-US" altLang="zh-CN"/>
              <a:t>• </a:t>
            </a:r>
            <a:r>
              <a:rPr lang="zh-CN" altLang="en-US"/>
              <a:t>类的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用于描述事物的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行为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比如抬腿。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343461" y="908902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3200" dirty="0"/>
              <a:t>类的定义与使用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23570" y="2564765"/>
            <a:ext cx="6096000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/>
              <a:t>class </a:t>
            </a:r>
            <a:r>
              <a:rPr lang="zh-CN" altLang="en-US" sz="3200"/>
              <a:t>类名</a:t>
            </a:r>
            <a:r>
              <a:rPr lang="en-US" altLang="zh-CN" sz="3200"/>
              <a:t>:</a:t>
            </a:r>
          </a:p>
          <a:p>
            <a:pPr indent="457200"/>
            <a:r>
              <a:rPr lang="zh-CN" altLang="en-US" sz="3200"/>
              <a:t>属性名</a:t>
            </a:r>
            <a:r>
              <a:rPr lang="en-US" altLang="zh-CN" sz="3200"/>
              <a:t> = </a:t>
            </a:r>
            <a:r>
              <a:rPr lang="zh-CN" altLang="en-US" sz="3200"/>
              <a:t>属性值</a:t>
            </a:r>
          </a:p>
          <a:p>
            <a:pPr indent="457200"/>
            <a:r>
              <a:rPr lang="en-US" altLang="zh-CN" sz="3200"/>
              <a:t>def </a:t>
            </a:r>
            <a:r>
              <a:rPr lang="zh-CN" altLang="en-US" sz="3200"/>
              <a:t>方法名</a:t>
            </a:r>
            <a:r>
              <a:rPr lang="en-US" altLang="zh-CN" sz="3200"/>
              <a:t>(self):</a:t>
            </a:r>
          </a:p>
          <a:p>
            <a:pPr marL="457200" lvl="1" indent="457200"/>
            <a:r>
              <a:rPr lang="en-US" altLang="zh-CN" sz="3200"/>
              <a:t> </a:t>
            </a:r>
            <a:r>
              <a:rPr lang="zh-CN" altLang="en-US" sz="3200"/>
              <a:t>方法体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765" y="2132330"/>
            <a:ext cx="4029075" cy="3609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343461" y="908902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3200" dirty="0"/>
              <a:t>类的定义与使用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15" y="2060575"/>
            <a:ext cx="9915525" cy="3543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" y="1844675"/>
            <a:ext cx="3905250" cy="3533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765" y="1844675"/>
            <a:ext cx="5838825" cy="35337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99515" y="97409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类的定义与使用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5231566" y="292502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属性按声明的方式可以分为两类：</a:t>
            </a:r>
            <a:r>
              <a:rPr lang="en-US" altLang="zh-CN" sz="2400" dirty="0"/>
              <a:t> </a:t>
            </a: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类属</a:t>
            </a:r>
          </a:p>
          <a:p>
            <a:pPr fontAlgn="auto">
              <a:spcAft>
                <a:spcPts val="0"/>
              </a:spcAft>
            </a:pP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性</a:t>
            </a:r>
            <a:r>
              <a:rPr lang="zh-CN" altLang="en-US" sz="2400" dirty="0"/>
              <a:t>和</a:t>
            </a: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实例属性</a:t>
            </a:r>
            <a:r>
              <a:rPr lang="zh-CN" altLang="en-US" sz="2400" dirty="0"/>
              <a:t>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属性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2132965"/>
            <a:ext cx="3533775" cy="3038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类属性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83615" y="170053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声明在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类内部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方法外部</a:t>
            </a:r>
            <a:r>
              <a:rPr lang="zh-CN" altLang="en-US"/>
              <a:t>的属性。</a:t>
            </a:r>
          </a:p>
          <a:p>
            <a:r>
              <a:rPr lang="en-US" altLang="zh-CN"/>
              <a:t>• </a:t>
            </a:r>
            <a:r>
              <a:rPr lang="zh-CN" altLang="en-US"/>
              <a:t>可以通过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</a:t>
            </a:r>
            <a:r>
              <a:rPr lang="zh-CN" altLang="en-US"/>
              <a:t>或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对象</a:t>
            </a:r>
            <a:r>
              <a:rPr lang="zh-CN" altLang="en-US"/>
              <a:t>进行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访问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但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只能</a:t>
            </a:r>
            <a:r>
              <a:rPr lang="zh-CN" altLang="en-US"/>
              <a:t>通过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</a:t>
            </a:r>
            <a:r>
              <a:rPr lang="zh-CN" altLang="en-US"/>
              <a:t>进行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修改</a:t>
            </a:r>
            <a:r>
              <a:rPr lang="zh-CN" altLang="en-US"/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15" y="2924810"/>
            <a:ext cx="9515475" cy="35052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27760" y="23488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</a:rPr>
              <a:t>class Car:</a:t>
            </a:r>
          </a:p>
          <a:p>
            <a:pPr indent="457200"/>
            <a:r>
              <a:rPr lang="en-US" altLang="zh-CN">
                <a:solidFill>
                  <a:srgbClr val="0070C0"/>
                </a:solidFill>
              </a:rPr>
              <a:t>wheels=4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实例属性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162877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实例属性是在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方法内部</a:t>
            </a:r>
            <a:r>
              <a:rPr lang="zh-CN" altLang="en-US"/>
              <a:t>声明的属性。</a:t>
            </a:r>
          </a:p>
          <a:p>
            <a:r>
              <a:rPr lang="en-US" altLang="zh-CN"/>
              <a:t>• Python</a:t>
            </a:r>
            <a:r>
              <a:rPr lang="zh-CN" altLang="en-US"/>
              <a:t>支持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动态添加</a:t>
            </a:r>
            <a:r>
              <a:rPr lang="zh-CN" altLang="en-US"/>
              <a:t>实例属性。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71270" y="24930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访问实例属性</a:t>
            </a:r>
            <a:r>
              <a:rPr lang="en-US" altLang="zh-CN"/>
              <a:t>——</a:t>
            </a:r>
            <a:r>
              <a:rPr lang="zh-CN" altLang="en-US">
                <a:solidFill>
                  <a:srgbClr val="0070C0"/>
                </a:solidFill>
              </a:rPr>
              <a:t>只能通过对象访问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605" y="3162935"/>
            <a:ext cx="7359650" cy="2292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实例属性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162877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实例属性是在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方法内部</a:t>
            </a:r>
            <a:r>
              <a:rPr lang="zh-CN" altLang="en-US"/>
              <a:t>声明的属性。</a:t>
            </a:r>
          </a:p>
          <a:p>
            <a:r>
              <a:rPr lang="en-US" altLang="zh-CN"/>
              <a:t>• Python</a:t>
            </a:r>
            <a:r>
              <a:rPr lang="zh-CN" altLang="en-US"/>
              <a:t>支持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动态添加</a:t>
            </a:r>
            <a:r>
              <a:rPr lang="zh-CN" altLang="en-US"/>
              <a:t>实例属性。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71270" y="24930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访问实例属性</a:t>
            </a:r>
            <a:r>
              <a:rPr lang="en-US" altLang="zh-CN"/>
              <a:t>——</a:t>
            </a:r>
            <a:r>
              <a:rPr lang="zh-CN" altLang="en-US">
                <a:solidFill>
                  <a:srgbClr val="0070C0"/>
                </a:solidFill>
              </a:rPr>
              <a:t>通过对象修改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705" y="3274695"/>
            <a:ext cx="7705090" cy="167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实例属性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162877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实例属性是在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方法内部</a:t>
            </a:r>
            <a:r>
              <a:rPr lang="zh-CN" altLang="en-US"/>
              <a:t>声明的属性。</a:t>
            </a:r>
          </a:p>
          <a:p>
            <a:r>
              <a:rPr lang="en-US" altLang="zh-CN"/>
              <a:t>• Python</a:t>
            </a:r>
            <a:r>
              <a:rPr lang="zh-CN" altLang="en-US"/>
              <a:t>支持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动态添加</a:t>
            </a:r>
            <a:r>
              <a:rPr lang="zh-CN" altLang="en-US"/>
              <a:t>实例属性。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71270" y="2493010"/>
            <a:ext cx="71901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动态添加实例属性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>
                <a:ln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类</a:t>
            </a:r>
            <a:r>
              <a:rPr lang="zh-CN" altLang="en-US">
                <a:solidFill>
                  <a:srgbClr val="0070C0"/>
                </a:solidFill>
              </a:rPr>
              <a:t>外部使用对象动态添加实例属性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3162935"/>
            <a:ext cx="7071995" cy="18846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380" y="5229225"/>
            <a:ext cx="4105275" cy="904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1564005"/>
            <a:ext cx="85471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中的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</a:t>
            </a:r>
            <a:r>
              <a:rPr lang="zh-CN" altLang="en-US"/>
              <a:t>按定义方式和用途可以分为三类：</a:t>
            </a:r>
            <a:r>
              <a:rPr lang="en-US" altLang="zh-CN"/>
              <a:t> 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实例</a:t>
            </a:r>
            <a:r>
              <a:rPr lang="zh-CN" altLang="en-US"/>
              <a:t>方法、</a:t>
            </a:r>
            <a:r>
              <a:rPr lang="en-US" altLang="zh-CN"/>
              <a:t> 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</a:t>
            </a:r>
            <a:r>
              <a:rPr lang="zh-CN" altLang="en-US"/>
              <a:t>方法和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静态</a:t>
            </a:r>
            <a:endParaRPr lang="zh-CN" altLang="en-US"/>
          </a:p>
          <a:p>
            <a:r>
              <a:rPr lang="zh-CN" altLang="en-US"/>
              <a:t>方法。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89990" y="24206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</a:rPr>
              <a:t>1.</a:t>
            </a:r>
            <a:r>
              <a:rPr lang="zh-CN" altLang="en-US">
                <a:solidFill>
                  <a:srgbClr val="0070C0"/>
                </a:solidFill>
              </a:rPr>
              <a:t>实例方法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87805" y="292481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形似函数，</a:t>
            </a:r>
            <a:r>
              <a:rPr lang="en-US" altLang="zh-CN"/>
              <a:t> </a:t>
            </a:r>
            <a:r>
              <a:rPr lang="zh-CN" altLang="en-US"/>
              <a:t>但它定义在类内部。</a:t>
            </a:r>
          </a:p>
          <a:p>
            <a:r>
              <a:rPr lang="en-US" altLang="zh-CN"/>
              <a:t>• </a:t>
            </a:r>
            <a:r>
              <a:rPr lang="zh-CN" altLang="en-US"/>
              <a:t>以</a:t>
            </a: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self</a:t>
            </a:r>
            <a:r>
              <a:rPr lang="zh-CN" altLang="en-US"/>
              <a:t>为第一个形参，</a:t>
            </a:r>
            <a:r>
              <a:rPr lang="en-US" altLang="zh-CN"/>
              <a:t> self</a:t>
            </a:r>
            <a:r>
              <a:rPr lang="zh-CN" altLang="en-US"/>
              <a:t>参数代表对象本身</a:t>
            </a:r>
          </a:p>
          <a:p>
            <a:r>
              <a:rPr lang="en-US" altLang="zh-CN"/>
              <a:t>• </a:t>
            </a:r>
            <a:r>
              <a:rPr lang="zh-CN" altLang="en-US"/>
              <a:t>只能通过对象调用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75" y="3846830"/>
            <a:ext cx="6381750" cy="2466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1564005"/>
            <a:ext cx="85471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中的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</a:t>
            </a:r>
            <a:r>
              <a:rPr lang="zh-CN" altLang="en-US"/>
              <a:t>按定义方式和用途可以分为三类：</a:t>
            </a:r>
            <a:r>
              <a:rPr lang="en-US" altLang="zh-CN"/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实例</a:t>
            </a:r>
            <a:r>
              <a:rPr lang="zh-CN" altLang="en-US"/>
              <a:t>方法、</a:t>
            </a:r>
            <a:r>
              <a:rPr lang="en-US" altLang="zh-CN"/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</a:t>
            </a:r>
            <a:r>
              <a:rPr lang="zh-CN" altLang="en-US"/>
              <a:t>方法和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静态</a:t>
            </a:r>
            <a:endParaRPr lang="zh-CN" altLang="en-US"/>
          </a:p>
          <a:p>
            <a:r>
              <a:rPr lang="zh-CN" altLang="en-US"/>
              <a:t>方法。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89990" y="24206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</a:rPr>
              <a:t>2.</a:t>
            </a:r>
            <a:r>
              <a:rPr lang="zh-CN" altLang="en-US">
                <a:solidFill>
                  <a:srgbClr val="0070C0"/>
                </a:solidFill>
              </a:rPr>
              <a:t>类方法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87805" y="292481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类方法是定义在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类内部</a:t>
            </a:r>
            <a:endParaRPr lang="zh-CN" altLang="en-US"/>
          </a:p>
          <a:p>
            <a:r>
              <a:rPr lang="en-US" altLang="zh-CN"/>
              <a:t>• </a:t>
            </a:r>
            <a:r>
              <a:rPr lang="zh-CN" altLang="en-US"/>
              <a:t>使用装饰器</a:t>
            </a: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@classmethod</a:t>
            </a:r>
            <a:r>
              <a:rPr lang="zh-CN" altLang="en-US"/>
              <a:t>修饰的方法</a:t>
            </a:r>
          </a:p>
          <a:p>
            <a:r>
              <a:rPr lang="en-US" altLang="zh-CN"/>
              <a:t>• </a:t>
            </a:r>
            <a:r>
              <a:rPr lang="zh-CN" altLang="en-US"/>
              <a:t>第一个参数为</a:t>
            </a: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cls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代表类本身</a:t>
            </a:r>
          </a:p>
          <a:p>
            <a:r>
              <a:rPr lang="en-US" altLang="zh-CN"/>
              <a:t>• </a:t>
            </a:r>
            <a:r>
              <a:rPr lang="zh-CN" altLang="en-US"/>
              <a:t>可以通过类和对象调用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530" y="3860800"/>
            <a:ext cx="5848350" cy="2343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1564005"/>
            <a:ext cx="85471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中的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</a:t>
            </a:r>
            <a:r>
              <a:rPr lang="zh-CN" altLang="en-US"/>
              <a:t>按定义方式和用途可以分为三类：</a:t>
            </a:r>
            <a:r>
              <a:rPr lang="en-US" altLang="zh-CN"/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实例</a:t>
            </a:r>
            <a:r>
              <a:rPr lang="zh-CN" altLang="en-US"/>
              <a:t>方法、</a:t>
            </a:r>
            <a:r>
              <a:rPr lang="en-US" altLang="zh-CN"/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</a:t>
            </a:r>
            <a:r>
              <a:rPr lang="zh-CN" altLang="en-US"/>
              <a:t>方法和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静态</a:t>
            </a:r>
            <a:endParaRPr lang="zh-CN" altLang="en-US"/>
          </a:p>
          <a:p>
            <a:r>
              <a:rPr lang="zh-CN" altLang="en-US"/>
              <a:t>方法。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89990" y="24206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</a:rPr>
              <a:t>2.</a:t>
            </a:r>
            <a:r>
              <a:rPr lang="zh-CN" altLang="en-US">
                <a:solidFill>
                  <a:srgbClr val="0070C0"/>
                </a:solidFill>
              </a:rPr>
              <a:t>类方法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87805" y="29248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类方法中可以使用</a:t>
            </a:r>
            <a:r>
              <a:rPr lang="en-US" altLang="zh-CN"/>
              <a:t>cls</a:t>
            </a:r>
            <a:r>
              <a:rPr lang="zh-CN" altLang="en-US"/>
              <a:t>访问和修改类属性的值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770" y="3429000"/>
            <a:ext cx="9810750" cy="2790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1564005"/>
            <a:ext cx="85471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中的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</a:t>
            </a:r>
            <a:r>
              <a:rPr lang="zh-CN" altLang="en-US"/>
              <a:t>按定义方式和用途可以分为三类：</a:t>
            </a:r>
            <a:r>
              <a:rPr lang="en-US" altLang="zh-CN"/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实例</a:t>
            </a:r>
            <a:r>
              <a:rPr lang="zh-CN" altLang="en-US"/>
              <a:t>方法、</a:t>
            </a:r>
            <a:r>
              <a:rPr lang="en-US" altLang="zh-CN"/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</a:t>
            </a:r>
            <a:r>
              <a:rPr lang="zh-CN" altLang="en-US"/>
              <a:t>方法和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静态</a:t>
            </a:r>
            <a:endParaRPr lang="zh-CN" altLang="en-US"/>
          </a:p>
          <a:p>
            <a:r>
              <a:rPr lang="zh-CN" altLang="en-US"/>
              <a:t>方法。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89990" y="24206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</a:rPr>
              <a:t>3.</a:t>
            </a:r>
            <a:r>
              <a:rPr lang="zh-CN" altLang="en-US">
                <a:solidFill>
                  <a:srgbClr val="0070C0"/>
                </a:solidFill>
              </a:rPr>
              <a:t>静态方法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398270" y="285305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静态方法是定义在类内部</a:t>
            </a:r>
          </a:p>
          <a:p>
            <a:r>
              <a:rPr lang="en-US" altLang="zh-CN"/>
              <a:t>• </a:t>
            </a:r>
            <a:r>
              <a:rPr lang="zh-CN" altLang="en-US"/>
              <a:t>使用装饰器</a:t>
            </a:r>
            <a:r>
              <a:rPr lang="en-US" altLang="zh-CN"/>
              <a:t>@staticmethod</a:t>
            </a:r>
            <a:r>
              <a:rPr lang="zh-CN" altLang="en-US"/>
              <a:t>修饰的方法</a:t>
            </a:r>
          </a:p>
          <a:p>
            <a:r>
              <a:rPr lang="en-US" altLang="zh-CN"/>
              <a:t>• </a:t>
            </a:r>
            <a:r>
              <a:rPr lang="zh-CN" altLang="en-US"/>
              <a:t>没有任何默认参数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660" y="4004945"/>
            <a:ext cx="9763125" cy="1724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1564005"/>
            <a:ext cx="85471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中的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</a:t>
            </a:r>
            <a:r>
              <a:rPr lang="zh-CN" altLang="en-US"/>
              <a:t>按定义方式和用途可以分为三类：</a:t>
            </a:r>
            <a:r>
              <a:rPr lang="en-US" altLang="zh-CN"/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实例</a:t>
            </a:r>
            <a:r>
              <a:rPr lang="zh-CN" altLang="en-US"/>
              <a:t>方法、</a:t>
            </a:r>
            <a:r>
              <a:rPr lang="en-US" altLang="zh-CN"/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</a:t>
            </a:r>
            <a:r>
              <a:rPr lang="zh-CN" altLang="en-US"/>
              <a:t>方法和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静态</a:t>
            </a:r>
            <a:endParaRPr lang="zh-CN" altLang="en-US"/>
          </a:p>
          <a:p>
            <a:r>
              <a:rPr lang="zh-CN" altLang="en-US"/>
              <a:t>方法。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89990" y="24206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</a:rPr>
              <a:t>3.</a:t>
            </a:r>
            <a:r>
              <a:rPr lang="zh-CN" altLang="en-US">
                <a:solidFill>
                  <a:srgbClr val="0070C0"/>
                </a:solidFill>
              </a:rPr>
              <a:t>静态方法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398270" y="28530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静态方法可以通过类和对象调用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660" y="3284855"/>
            <a:ext cx="9782175" cy="2847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1564005"/>
            <a:ext cx="85471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中的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</a:t>
            </a:r>
            <a:r>
              <a:rPr lang="zh-CN" altLang="en-US"/>
              <a:t>按定义方式和用途可以分为三类：</a:t>
            </a:r>
            <a:r>
              <a:rPr lang="en-US" altLang="zh-CN"/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实例</a:t>
            </a:r>
            <a:r>
              <a:rPr lang="zh-CN" altLang="en-US"/>
              <a:t>方法、</a:t>
            </a:r>
            <a:r>
              <a:rPr lang="en-US" altLang="zh-CN"/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</a:t>
            </a:r>
            <a:r>
              <a:rPr lang="zh-CN" altLang="en-US"/>
              <a:t>方法和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静态</a:t>
            </a:r>
            <a:endParaRPr lang="zh-CN" altLang="en-US"/>
          </a:p>
          <a:p>
            <a:r>
              <a:rPr lang="zh-CN" altLang="en-US"/>
              <a:t>方法。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89990" y="24206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</a:rPr>
              <a:t>3.</a:t>
            </a:r>
            <a:r>
              <a:rPr lang="zh-CN" altLang="en-US">
                <a:solidFill>
                  <a:srgbClr val="0070C0"/>
                </a:solidFill>
              </a:rPr>
              <a:t>静态方法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398270" y="2853055"/>
            <a:ext cx="9042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/>
              <a:t>• </a:t>
            </a:r>
            <a:r>
              <a:rPr lang="zh-CN" altLang="en-US" dirty="0"/>
              <a:t>静态方法内部不能直接访问属性或方法，</a:t>
            </a:r>
            <a:r>
              <a:rPr lang="en-US" altLang="zh-CN" dirty="0"/>
              <a:t> </a:t>
            </a:r>
            <a:r>
              <a:rPr lang="zh-CN" altLang="en-US" dirty="0"/>
              <a:t>但可以使用类名访问类属性或调用类方法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770" y="3500755"/>
            <a:ext cx="9782175" cy="2419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私有成员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11225" y="2276475"/>
            <a:ext cx="6096000" cy="1722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zh-CN" altLang="en-US" sz="2400"/>
              <a:t>类的成员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默认</a:t>
            </a:r>
            <a:r>
              <a:rPr lang="zh-CN" altLang="en-US" sz="2400"/>
              <a:t>是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公有</a:t>
            </a:r>
            <a:r>
              <a:rPr lang="zh-CN" altLang="en-US" sz="2400"/>
              <a:t>成员，</a:t>
            </a:r>
            <a:r>
              <a:rPr lang="en-US" altLang="zh-CN" sz="2400"/>
              <a:t> </a:t>
            </a:r>
            <a:r>
              <a:rPr lang="zh-CN" altLang="en-US" sz="2400"/>
              <a:t>可以在类的外部通过类或对象随意地访问，</a:t>
            </a:r>
            <a:r>
              <a:rPr lang="en-US" altLang="zh-CN" sz="2400"/>
              <a:t> </a:t>
            </a:r>
            <a:r>
              <a:rPr lang="zh-CN" altLang="en-US" sz="2400"/>
              <a:t>这样显然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不够安全</a:t>
            </a:r>
            <a:r>
              <a:rPr lang="zh-CN" altLang="en-US" sz="2400"/>
              <a:t>。</a:t>
            </a:r>
          </a:p>
          <a:p>
            <a:pPr indent="457200"/>
            <a:r>
              <a:rPr lang="zh-CN" altLang="en-US" sz="2400"/>
              <a:t>为了保证类中数据的安全，</a:t>
            </a:r>
            <a:r>
              <a:rPr lang="en-US" altLang="zh-CN" sz="2400"/>
              <a:t> Python</a:t>
            </a:r>
            <a:r>
              <a:rPr lang="zh-CN" altLang="en-US" sz="2400"/>
              <a:t>支持将公有成员改为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私有成员</a:t>
            </a:r>
            <a:r>
              <a:rPr lang="zh-CN" altLang="en-US" sz="2400"/>
              <a:t>，</a:t>
            </a:r>
            <a:r>
              <a:rPr lang="en-US" altLang="zh-CN" sz="2400"/>
              <a:t> </a:t>
            </a:r>
            <a:r>
              <a:rPr lang="zh-CN" altLang="en-US" sz="2400"/>
              <a:t>在一定程度上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限制在类的外部</a:t>
            </a:r>
            <a:r>
              <a:rPr lang="zh-CN" altLang="en-US" sz="2400"/>
              <a:t>对类成员的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访问</a:t>
            </a:r>
            <a:r>
              <a:rPr lang="zh-CN" altLang="en-US"/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80" y="1988820"/>
            <a:ext cx="3371850" cy="3228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私有成员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1844675"/>
            <a:ext cx="7506970" cy="1722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en-US" altLang="zh-CN" dirty="0"/>
              <a:t>Python</a:t>
            </a:r>
            <a:r>
              <a:rPr lang="zh-CN" altLang="en-US" dirty="0"/>
              <a:t>通过在类成员的名称前面添加</a:t>
            </a:r>
            <a:r>
              <a:rPr lang="zh-CN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双下画线</a:t>
            </a:r>
            <a:r>
              <a:rPr lang="zh-CN" altLang="en-US" dirty="0"/>
              <a:t>（</a:t>
            </a:r>
            <a:r>
              <a:rPr lang="en-US" altLang="zh-CN" dirty="0"/>
              <a:t> __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的方式来表示私有成员，语法格式如下：</a:t>
            </a:r>
          </a:p>
          <a:p>
            <a:pPr indent="457200"/>
            <a:r>
              <a:rPr lang="en-US" altLang="zh-CN" dirty="0">
                <a:sym typeface="+mn-ea"/>
              </a:rPr>
              <a:t>•</a:t>
            </a:r>
            <a:r>
              <a:rPr lang="en-US" altLang="zh-CN" dirty="0"/>
              <a:t> __</a:t>
            </a:r>
            <a:r>
              <a:rPr lang="zh-CN" altLang="en-US" dirty="0"/>
              <a:t>属性名</a:t>
            </a:r>
          </a:p>
          <a:p>
            <a:pPr indent="457200"/>
            <a:r>
              <a:rPr lang="en-US" altLang="zh-CN" dirty="0">
                <a:sym typeface="+mn-ea"/>
              </a:rPr>
              <a:t>•</a:t>
            </a:r>
            <a:r>
              <a:rPr lang="en-US" altLang="zh-CN" dirty="0"/>
              <a:t> __</a:t>
            </a:r>
            <a:r>
              <a:rPr lang="zh-CN" altLang="en-US" dirty="0"/>
              <a:t>方法名</a:t>
            </a:r>
          </a:p>
          <a:p>
            <a:pPr indent="457200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3573145"/>
            <a:ext cx="10287000" cy="1990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私有成员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1844675"/>
            <a:ext cx="7506970" cy="1722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zh-CN" altLang="en-US"/>
              <a:t>私有成员在类的内部可以直接访问，</a:t>
            </a:r>
            <a:r>
              <a:rPr lang="en-US" altLang="zh-CN"/>
              <a:t> </a:t>
            </a:r>
            <a:r>
              <a:rPr lang="zh-CN" altLang="en-US"/>
              <a:t>在类的外部不能直接访问，</a:t>
            </a:r>
            <a:r>
              <a:rPr lang="en-US" altLang="zh-CN"/>
              <a:t> </a:t>
            </a:r>
            <a:r>
              <a:rPr lang="zh-CN" altLang="en-US"/>
              <a:t>但可以通过调用类的公有成员方法的方式进行访问。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" y="2708910"/>
            <a:ext cx="10029825" cy="2962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特殊方法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zh-CN" altLang="en-US" sz="2400"/>
              <a:t>除了之前介绍的方法以外，</a:t>
            </a:r>
            <a:r>
              <a:rPr lang="en-US" altLang="zh-CN" sz="2400"/>
              <a:t> </a:t>
            </a:r>
            <a:r>
              <a:rPr lang="zh-CN" altLang="en-US" sz="2400"/>
              <a:t>类中还包</a:t>
            </a:r>
          </a:p>
          <a:p>
            <a:r>
              <a:rPr lang="zh-CN" altLang="en-US" sz="2400"/>
              <a:t>括两个特殊的方法：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构造方法</a:t>
            </a:r>
            <a:r>
              <a:rPr lang="zh-CN" altLang="en-US" sz="2400"/>
              <a:t>和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析构方法</a:t>
            </a:r>
            <a:r>
              <a:rPr lang="zh-CN" altLang="en-US" sz="2400"/>
              <a:t>，</a:t>
            </a:r>
          </a:p>
          <a:p>
            <a:r>
              <a:rPr lang="zh-CN" altLang="en-US" sz="2400"/>
              <a:t>这两个方法都是系统内置方法。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90" y="1528445"/>
            <a:ext cx="3943350" cy="3800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构造方法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1199515" y="1700530"/>
            <a:ext cx="82080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/>
              <a:t>• </a:t>
            </a:r>
            <a:r>
              <a:rPr lang="zh-CN" altLang="en-US" sz="2400" dirty="0"/>
              <a:t>构造方法指的是</a:t>
            </a:r>
            <a:r>
              <a:rPr lang="en-US" altLang="zh-CN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__</a:t>
            </a:r>
            <a:r>
              <a:rPr lang="en-US" altLang="zh-CN" sz="2400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init</a:t>
            </a:r>
            <a:r>
              <a:rPr lang="en-US" altLang="zh-CN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__()</a:t>
            </a:r>
            <a:r>
              <a:rPr lang="zh-CN" altLang="en-US" sz="2400" dirty="0"/>
              <a:t>方法。</a:t>
            </a:r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创建对象时系统</a:t>
            </a: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自动调用</a:t>
            </a:r>
            <a:r>
              <a:rPr lang="zh-CN" altLang="en-US" sz="2400" dirty="0"/>
              <a:t>，</a:t>
            </a:r>
            <a:r>
              <a:rPr lang="en-US" altLang="zh-CN" sz="2400" dirty="0"/>
              <a:t> </a:t>
            </a:r>
            <a:r>
              <a:rPr lang="zh-CN" altLang="en-US" sz="2400" dirty="0"/>
              <a:t>从而</a:t>
            </a: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实现对象的初始化</a:t>
            </a:r>
            <a:r>
              <a:rPr lang="zh-CN" altLang="en-US" sz="2400" dirty="0"/>
              <a:t>。</a:t>
            </a:r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每个类默认都有一个</a:t>
            </a:r>
            <a:r>
              <a:rPr lang="en-US" altLang="zh-CN" sz="2400" dirty="0"/>
              <a:t>__</a:t>
            </a:r>
            <a:r>
              <a:rPr lang="en-US" altLang="zh-CN" sz="2400" dirty="0" err="1"/>
              <a:t>init</a:t>
            </a:r>
            <a:r>
              <a:rPr lang="en-US" altLang="zh-CN" sz="2400" dirty="0"/>
              <a:t>__()</a:t>
            </a:r>
            <a:r>
              <a:rPr lang="zh-CN" altLang="en-US" sz="2400" dirty="0"/>
              <a:t>方法，</a:t>
            </a:r>
            <a:r>
              <a:rPr lang="en-US" altLang="zh-CN" sz="2400" dirty="0"/>
              <a:t> </a:t>
            </a:r>
            <a:r>
              <a:rPr lang="zh-CN" altLang="en-US" sz="2400" dirty="0"/>
              <a:t>可以在类中显式定义</a:t>
            </a:r>
            <a:r>
              <a:rPr lang="en-US" altLang="zh-CN" sz="2400" dirty="0"/>
              <a:t>__</a:t>
            </a:r>
            <a:r>
              <a:rPr lang="en-US" altLang="zh-CN" sz="2400" dirty="0" err="1"/>
              <a:t>init</a:t>
            </a:r>
            <a:r>
              <a:rPr lang="en-US" altLang="zh-CN" sz="2400" dirty="0"/>
              <a:t>__()</a:t>
            </a:r>
            <a:r>
              <a:rPr lang="zh-CN" altLang="en-US" sz="2400" dirty="0"/>
              <a:t>方法。</a:t>
            </a:r>
          </a:p>
          <a:p>
            <a:r>
              <a:rPr lang="en-US" altLang="zh-CN" sz="2400" dirty="0"/>
              <a:t>• __</a:t>
            </a:r>
            <a:r>
              <a:rPr lang="en-US" altLang="zh-CN" sz="2400" dirty="0" err="1"/>
              <a:t>init</a:t>
            </a:r>
            <a:r>
              <a:rPr lang="en-US" altLang="zh-CN" sz="2400" dirty="0"/>
              <a:t>__()</a:t>
            </a:r>
            <a:r>
              <a:rPr lang="zh-CN" altLang="en-US" sz="2400" dirty="0"/>
              <a:t>方法可以分为</a:t>
            </a: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无参构造方法</a:t>
            </a:r>
            <a:r>
              <a:rPr lang="zh-CN" altLang="en-US" sz="2400" dirty="0"/>
              <a:t>和</a:t>
            </a: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有参构造方法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当使用无参构造方法创建对象时，</a:t>
            </a:r>
            <a:r>
              <a:rPr lang="en-US" altLang="zh-CN" sz="2400" dirty="0"/>
              <a:t> </a:t>
            </a:r>
            <a:r>
              <a:rPr lang="zh-CN" altLang="en-US" sz="2400" dirty="0"/>
              <a:t>所有对象的属性都有相同的初始值。</a:t>
            </a:r>
          </a:p>
          <a:p>
            <a:r>
              <a:rPr lang="zh-CN" altLang="en-US" sz="2400" dirty="0"/>
              <a:t>当使用有参构造方法创建对象时，</a:t>
            </a:r>
            <a:r>
              <a:rPr lang="en-US" altLang="zh-CN" sz="2400" dirty="0"/>
              <a:t> </a:t>
            </a:r>
            <a:r>
              <a:rPr lang="zh-CN" altLang="en-US" sz="2400" dirty="0"/>
              <a:t>对象的属性可以有不同的初始值。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构造方法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15" y="1769745"/>
            <a:ext cx="10172700" cy="3766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构造方法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1199515" y="1700530"/>
            <a:ext cx="82080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20" y="1623695"/>
            <a:ext cx="10144125" cy="3609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析构方法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8066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1343660" y="1700530"/>
            <a:ext cx="79152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析构方法（</a:t>
            </a:r>
            <a:r>
              <a:rPr lang="en-US" altLang="zh-CN"/>
              <a:t> </a:t>
            </a:r>
            <a:r>
              <a:rPr lang="zh-CN" altLang="en-US"/>
              <a:t>即</a:t>
            </a:r>
            <a:r>
              <a:rPr lang="en-US" altLang="zh-CN"/>
              <a:t>__del__()</a:t>
            </a:r>
            <a:r>
              <a:rPr lang="zh-CN" altLang="en-US"/>
              <a:t>方法）</a:t>
            </a:r>
            <a:r>
              <a:rPr lang="en-US" altLang="zh-CN"/>
              <a:t> </a:t>
            </a:r>
            <a:r>
              <a:rPr lang="zh-CN" altLang="en-US"/>
              <a:t>是销毁对象时系统自动调用的方法</a:t>
            </a:r>
          </a:p>
          <a:p>
            <a:r>
              <a:rPr lang="en-US" altLang="zh-CN"/>
              <a:t>• </a:t>
            </a:r>
            <a:r>
              <a:rPr lang="zh-CN" altLang="en-US"/>
              <a:t>每个类默认都有一个</a:t>
            </a:r>
            <a:r>
              <a:rPr lang="en-US" altLang="zh-CN"/>
              <a:t>__del__()</a:t>
            </a:r>
            <a:r>
              <a:rPr lang="zh-CN" altLang="en-US"/>
              <a:t>方法，</a:t>
            </a:r>
            <a:r>
              <a:rPr lang="en-US" altLang="zh-CN"/>
              <a:t> </a:t>
            </a:r>
            <a:r>
              <a:rPr lang="zh-CN" altLang="en-US"/>
              <a:t>可以显式定义析构方法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660" y="2420620"/>
            <a:ext cx="9953625" cy="396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销毁对象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839470" y="2712085"/>
            <a:ext cx="6096000" cy="1794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zh-CN" altLang="en-US" sz="2400"/>
              <a:t>与文件类似，</a:t>
            </a:r>
            <a:r>
              <a:rPr lang="en-US" altLang="zh-CN" sz="2400"/>
              <a:t> </a:t>
            </a:r>
            <a:r>
              <a:rPr lang="zh-CN" altLang="en-US" sz="2400"/>
              <a:t>每个对象都会占用系统的一块内存，</a:t>
            </a:r>
            <a:r>
              <a:rPr lang="en-US" altLang="zh-CN" sz="2400"/>
              <a:t> </a:t>
            </a:r>
            <a:r>
              <a:rPr lang="zh-CN" altLang="en-US" sz="2400"/>
              <a:t>使用之后若不及时销毁，</a:t>
            </a:r>
            <a:r>
              <a:rPr lang="en-US" altLang="zh-CN" sz="2400"/>
              <a:t> </a:t>
            </a:r>
            <a:r>
              <a:rPr lang="zh-CN" altLang="en-US" sz="2400"/>
              <a:t>会浪费系统资源。</a:t>
            </a:r>
            <a:r>
              <a:rPr lang="en-US" altLang="zh-CN" sz="2400"/>
              <a:t> </a:t>
            </a:r>
            <a:r>
              <a:rPr lang="zh-CN" altLang="en-US" sz="2400"/>
              <a:t>那么对象什么时候销毁呢？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990" y="1628775"/>
            <a:ext cx="3686175" cy="4143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销毁对象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839470" y="2712085"/>
            <a:ext cx="6096000" cy="1794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en-US" altLang="zh-CN" sz="2400"/>
              <a:t>Python</a:t>
            </a:r>
            <a:r>
              <a:rPr lang="zh-CN" altLang="en-US" sz="2400"/>
              <a:t>通过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引用计数器</a:t>
            </a:r>
            <a:r>
              <a:rPr lang="zh-CN" altLang="en-US" sz="2400"/>
              <a:t>记录所有对象的引用（</a:t>
            </a:r>
            <a:r>
              <a:rPr lang="en-US" altLang="zh-CN" sz="2400"/>
              <a:t> </a:t>
            </a:r>
            <a:r>
              <a:rPr lang="zh-CN" altLang="en-US" sz="2400"/>
              <a:t>可以理解为对象所占内存的别名）</a:t>
            </a:r>
            <a:r>
              <a:rPr lang="en-US" altLang="zh-CN" sz="2400"/>
              <a:t> </a:t>
            </a:r>
            <a:r>
              <a:rPr lang="zh-CN" altLang="en-US" sz="2400"/>
              <a:t>数量，</a:t>
            </a:r>
            <a:r>
              <a:rPr lang="en-US" altLang="zh-CN" sz="2400"/>
              <a:t> </a:t>
            </a:r>
            <a:r>
              <a:rPr lang="zh-CN" altLang="en-US" sz="2400"/>
              <a:t>一旦某个对象的引用计数器的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值为</a:t>
            </a:r>
            <a:r>
              <a:rPr lang="en-US" altLang="zh-CN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</a:t>
            </a:r>
            <a:r>
              <a:rPr lang="zh-CN" altLang="en-US" sz="2400"/>
              <a:t>，系统就会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销毁</a:t>
            </a:r>
            <a:r>
              <a:rPr lang="zh-CN" altLang="en-US" sz="2400"/>
              <a:t>这个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对象</a:t>
            </a:r>
            <a:r>
              <a:rPr lang="zh-CN" altLang="en-US" sz="2400"/>
              <a:t>，</a:t>
            </a:r>
            <a:r>
              <a:rPr lang="en-US" altLang="zh-CN" sz="2400"/>
              <a:t> </a:t>
            </a:r>
            <a:r>
              <a:rPr lang="zh-CN" altLang="en-US" sz="2400"/>
              <a:t>收回对象所占用的存空间。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380" y="2060575"/>
            <a:ext cx="3600450" cy="342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343660" y="1857375"/>
            <a:ext cx="8814435" cy="16040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 fontAlgn="auto">
              <a:spcAft>
                <a:spcPts val="0"/>
              </a:spcAft>
            </a:pP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封装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是面向对象的</a:t>
            </a: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重要特性之一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，它的基本思想是</a:t>
            </a: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对外隐藏类的细节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用于访问类成员的</a:t>
            </a: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公开接口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indent="457200" fontAlgn="auto">
              <a:spcAft>
                <a:spcPts val="0"/>
              </a:spcAft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如此，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类的外部无需知道类的实现细节，只需要使用公开接口便可访问类的内容，这在一定程度上保证了类内数据的安全。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封装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5370" y="2708910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805" y="3644900"/>
            <a:ext cx="8458200" cy="2085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封装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1415415" y="1838325"/>
            <a:ext cx="73025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zh-CN" altLang="en-US" sz="2400"/>
              <a:t>为了契合封装思想，</a:t>
            </a:r>
            <a:r>
              <a:rPr lang="en-US" altLang="zh-CN" sz="2400"/>
              <a:t> </a:t>
            </a:r>
            <a:r>
              <a:rPr lang="zh-CN" altLang="en-US" sz="2400"/>
              <a:t>我们在定义类时需要满足以下两点要求。</a:t>
            </a:r>
          </a:p>
          <a:p>
            <a:pPr indent="457200"/>
            <a:r>
              <a:rPr lang="en-US" altLang="zh-CN" sz="2400"/>
              <a:t>1</a:t>
            </a:r>
            <a:r>
              <a:rPr lang="zh-CN" altLang="en-US" sz="2400"/>
              <a:t>．</a:t>
            </a:r>
            <a:r>
              <a:rPr lang="en-US" altLang="zh-CN" sz="2400"/>
              <a:t> </a:t>
            </a:r>
            <a:r>
              <a:rPr lang="zh-CN" altLang="en-US" sz="2400"/>
              <a:t>将</a:t>
            </a:r>
            <a:r>
              <a:rPr lang="zh-CN" altLang="en-US" sz="2400">
                <a:solidFill>
                  <a:srgbClr val="0070C0"/>
                </a:solidFill>
              </a:rPr>
              <a:t>类属性声明为私有属性</a:t>
            </a:r>
            <a:r>
              <a:rPr lang="zh-CN" altLang="en-US" sz="2400"/>
              <a:t>。</a:t>
            </a:r>
          </a:p>
          <a:p>
            <a:pPr indent="457200"/>
            <a:r>
              <a:rPr lang="en-US" altLang="zh-CN" sz="2400"/>
              <a:t>2</a:t>
            </a:r>
            <a:r>
              <a:rPr lang="zh-CN" altLang="en-US" sz="2400"/>
              <a:t>．</a:t>
            </a:r>
            <a:r>
              <a:rPr lang="en-US" altLang="zh-CN" sz="2400"/>
              <a:t> 添加</a:t>
            </a:r>
            <a:r>
              <a:rPr lang="en-US" altLang="zh-CN" sz="2400">
                <a:solidFill>
                  <a:srgbClr val="0070C0"/>
                </a:solidFill>
              </a:rPr>
              <a:t>两类</a:t>
            </a:r>
            <a:r>
              <a:rPr lang="en-US" altLang="zh-CN" sz="2400"/>
              <a:t>供外界调用的</a:t>
            </a:r>
            <a:r>
              <a:rPr lang="en-US" altLang="zh-CN" sz="2400">
                <a:solidFill>
                  <a:srgbClr val="0070C0"/>
                </a:solidFill>
              </a:rPr>
              <a:t>公有方法</a:t>
            </a:r>
            <a:r>
              <a:rPr lang="zh-CN" altLang="en-US" sz="2400"/>
              <a:t>，</a:t>
            </a:r>
            <a:r>
              <a:rPr lang="en-US" altLang="zh-CN" sz="2400"/>
              <a:t> </a:t>
            </a:r>
            <a:r>
              <a:rPr lang="zh-CN" altLang="en-US" sz="2400"/>
              <a:t>分别用于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设置</a:t>
            </a:r>
            <a:r>
              <a:rPr lang="zh-CN" altLang="en-US" sz="2400"/>
              <a:t>或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获取</a:t>
            </a:r>
            <a:r>
              <a:rPr lang="zh-CN" altLang="en-US" sz="2400">
                <a:solidFill>
                  <a:srgbClr val="0070C0"/>
                </a:solidFill>
              </a:rPr>
              <a:t>私有属性的值</a:t>
            </a:r>
            <a:r>
              <a:rPr lang="zh-CN" altLang="en-US" sz="240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封装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15" y="1484630"/>
            <a:ext cx="10191750" cy="434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继承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1199515" y="1700530"/>
            <a:ext cx="880491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继承</a:t>
            </a:r>
            <a:r>
              <a:rPr lang="zh-CN" altLang="en-US" sz="2400"/>
              <a:t>是面向对象的重要特性之一，</a:t>
            </a:r>
            <a:r>
              <a:rPr lang="en-US" altLang="zh-CN" sz="2400"/>
              <a:t> </a:t>
            </a:r>
            <a:r>
              <a:rPr lang="zh-CN" altLang="en-US" sz="2400"/>
              <a:t>它主要用于描述类与类之间的关系，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在不改变原有类的基础上扩展原有类的功能</a:t>
            </a:r>
            <a:r>
              <a:rPr lang="zh-CN" altLang="en-US" sz="2400"/>
              <a:t>。</a:t>
            </a:r>
          </a:p>
          <a:p>
            <a:pPr indent="457200"/>
            <a:r>
              <a:rPr lang="zh-CN" altLang="en-US" sz="2400"/>
              <a:t>若类不类之间具有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继承关系</a:t>
            </a:r>
            <a:r>
              <a:rPr lang="zh-CN" altLang="en-US" sz="2400"/>
              <a:t>，</a:t>
            </a:r>
            <a:r>
              <a:rPr lang="en-US" altLang="zh-CN" sz="2400"/>
              <a:t> </a:t>
            </a:r>
            <a:r>
              <a:rPr lang="zh-CN" altLang="en-US" sz="2400"/>
              <a:t>被继承的类称为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父类</a:t>
            </a:r>
            <a:r>
              <a:rPr lang="zh-CN" altLang="en-US" sz="2400"/>
              <a:t>或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基类</a:t>
            </a:r>
            <a:r>
              <a:rPr lang="zh-CN" altLang="en-US" sz="2400"/>
              <a:t>，</a:t>
            </a:r>
            <a:r>
              <a:rPr lang="en-US" altLang="zh-CN" sz="2400"/>
              <a:t> </a:t>
            </a:r>
            <a:r>
              <a:rPr lang="zh-CN" altLang="en-US" sz="2400"/>
              <a:t>继承其他类的类称为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子类</a:t>
            </a:r>
            <a:r>
              <a:rPr lang="zh-CN" altLang="en-US" sz="2400"/>
              <a:t>或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派生类</a:t>
            </a:r>
            <a:r>
              <a:rPr lang="zh-CN" altLang="en-US" sz="2400"/>
              <a:t>，子类会自动拥有父类的公有成员。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750" y="3638550"/>
            <a:ext cx="7410450" cy="2809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单继承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1271270" y="1556385"/>
            <a:ext cx="82842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单继承即子类只继承一个父类。</a:t>
            </a:r>
            <a:r>
              <a:rPr lang="en-US" altLang="zh-CN"/>
              <a:t> </a:t>
            </a:r>
            <a:r>
              <a:rPr lang="zh-CN" altLang="en-US"/>
              <a:t>现实生活中</a:t>
            </a:r>
            <a:r>
              <a:rPr lang="en-US" altLang="zh-CN"/>
              <a:t> </a:t>
            </a:r>
            <a:r>
              <a:rPr lang="zh-CN" altLang="en-US"/>
              <a:t>波斯猫、</a:t>
            </a:r>
            <a:r>
              <a:rPr lang="en-US" altLang="zh-CN"/>
              <a:t> </a:t>
            </a:r>
            <a:r>
              <a:rPr lang="zh-CN" altLang="en-US"/>
              <a:t>折耳猫、</a:t>
            </a:r>
            <a:r>
              <a:rPr lang="en-US" altLang="zh-CN"/>
              <a:t> </a:t>
            </a:r>
            <a:r>
              <a:rPr lang="zh-CN" altLang="en-US"/>
              <a:t>短毛猫都属于猫类，</a:t>
            </a:r>
            <a:r>
              <a:rPr lang="en-US" altLang="zh-CN"/>
              <a:t> </a:t>
            </a:r>
            <a:r>
              <a:rPr lang="zh-CN" altLang="en-US"/>
              <a:t>它们之间存在的继承关系即为单继承，如图所示。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450" y="2201545"/>
            <a:ext cx="5086350" cy="17049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343660" y="393319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中单继承的语法格式如下所示：</a:t>
            </a:r>
          </a:p>
          <a:p>
            <a:r>
              <a:rPr lang="en-US" altLang="zh-CN"/>
              <a:t>class </a:t>
            </a:r>
            <a:r>
              <a:rPr lang="zh-CN" altLang="en-US"/>
              <a:t>子类名</a:t>
            </a:r>
            <a:r>
              <a:rPr lang="en-US" altLang="zh-CN"/>
              <a:t>(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父类名</a:t>
            </a:r>
            <a:r>
              <a:rPr lang="en-US" altLang="zh-CN"/>
              <a:t>)</a:t>
            </a:r>
            <a:r>
              <a:rPr lang="zh-CN" altLang="en-US"/>
              <a:t>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271270" y="486918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• </a:t>
            </a:r>
            <a:r>
              <a:rPr lang="zh-CN" altLang="en-US"/>
              <a:t>子类继承父类的同时会自动拥有父类的公有成员。</a:t>
            </a:r>
          </a:p>
          <a:p>
            <a:r>
              <a:rPr lang="en-US" altLang="zh-CN"/>
              <a:t>• </a:t>
            </a:r>
            <a:r>
              <a:rPr lang="zh-CN" altLang="en-US"/>
              <a:t>自定义类默认继承基类</a:t>
            </a:r>
            <a:r>
              <a:rPr lang="en-US" altLang="zh-CN"/>
              <a:t>object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单继承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1484630"/>
            <a:ext cx="10382250" cy="4286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单继承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1271270" y="1544955"/>
            <a:ext cx="8997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zh-CN" altLang="en-US"/>
              <a:t>子类不会拥有父类的私有成员，</a:t>
            </a:r>
            <a:r>
              <a:rPr lang="en-US" altLang="zh-CN"/>
              <a:t> </a:t>
            </a:r>
            <a:r>
              <a:rPr lang="zh-CN" altLang="en-US"/>
              <a:t>也不能访问父类的私有成员。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15" y="1916430"/>
            <a:ext cx="10001250" cy="4676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多继承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1271270" y="1544955"/>
            <a:ext cx="89979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zh-CN" altLang="en-US"/>
              <a:t>程序中的一个类也可以继承多个类，</a:t>
            </a:r>
            <a:r>
              <a:rPr lang="en-US" altLang="zh-CN"/>
              <a:t> </a:t>
            </a:r>
            <a:r>
              <a:rPr lang="zh-CN" altLang="en-US"/>
              <a:t>如此子类具有多个父类，</a:t>
            </a:r>
            <a:r>
              <a:rPr lang="en-US" altLang="zh-CN"/>
              <a:t> </a:t>
            </a:r>
            <a:r>
              <a:rPr lang="zh-CN" altLang="en-US"/>
              <a:t>也自动拥有所有父类的公有成员。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370" y="2219325"/>
            <a:ext cx="5762625" cy="24193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98270" y="486918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中多继承的语法格式如下所示：</a:t>
            </a:r>
          </a:p>
          <a:p>
            <a:r>
              <a:rPr lang="en-US" altLang="zh-CN"/>
              <a:t>class </a:t>
            </a:r>
            <a:r>
              <a:rPr lang="zh-CN" altLang="en-US"/>
              <a:t>子类名</a:t>
            </a:r>
            <a:r>
              <a:rPr lang="en-US" altLang="zh-CN"/>
              <a:t>(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父类名</a:t>
            </a: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altLang="zh-CN"/>
              <a:t>, 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父类名</a:t>
            </a: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altLang="zh-CN"/>
              <a:t>, ...)</a:t>
            </a:r>
            <a:r>
              <a:rPr lang="zh-CN" altLang="en-US"/>
              <a:t>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多继承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1271270" y="1544955"/>
            <a:ext cx="8997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zh-CN" altLang="en-US"/>
              <a:t>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25" y="1544955"/>
            <a:ext cx="10067925" cy="4867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多继承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11675" y="278066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zh-CN" altLang="en-US" sz="2800"/>
              <a:t>如果</a:t>
            </a:r>
            <a:r>
              <a:rPr lang="en-US" altLang="zh-CN" sz="2800"/>
              <a:t>House</a:t>
            </a:r>
            <a:r>
              <a:rPr lang="zh-CN" altLang="en-US" sz="2800"/>
              <a:t>类和</a:t>
            </a:r>
            <a:r>
              <a:rPr lang="en-US" altLang="zh-CN" sz="2800"/>
              <a:t>Car</a:t>
            </a:r>
            <a:r>
              <a:rPr lang="zh-CN" altLang="en-US" sz="2800"/>
              <a:t>类中有一个同名的方法，那么子类会调用哪个父类的同名方法呢？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71270" y="1544955"/>
            <a:ext cx="8997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zh-CN" altLang="en-US"/>
              <a:t>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" y="1700530"/>
            <a:ext cx="2857500" cy="3867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重写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400"/>
          </a:p>
        </p:txBody>
      </p:sp>
      <p:sp>
        <p:nvSpPr>
          <p:cNvPr id="11" name="文本框 10"/>
          <p:cNvSpPr txBox="1"/>
          <p:nvPr/>
        </p:nvSpPr>
        <p:spPr>
          <a:xfrm>
            <a:off x="4584065" y="2996565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zh-CN" altLang="en-US" sz="2400"/>
              <a:t>子类会原封不动地继承父类的方法，</a:t>
            </a:r>
            <a:r>
              <a:rPr lang="en-US" altLang="zh-CN" sz="2400"/>
              <a:t> </a:t>
            </a:r>
            <a:r>
              <a:rPr lang="zh-CN" altLang="en-US" sz="2400"/>
              <a:t>但子类有时需要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按照自己的需求对继承来的方法进行调整</a:t>
            </a:r>
            <a:r>
              <a:rPr lang="zh-CN" altLang="en-US" sz="2400"/>
              <a:t>，也就是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在子类中重写从父类继承来的方法</a:t>
            </a:r>
            <a:r>
              <a:rPr lang="zh-CN" altLang="en-US"/>
              <a:t>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" y="2060575"/>
            <a:ext cx="3390900" cy="3181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重写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99515" y="1628775"/>
            <a:ext cx="979932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zh-CN" altLang="en-US" sz="2400"/>
              <a:t>在子类中定义不父类方法同名的方法，</a:t>
            </a:r>
            <a:r>
              <a:rPr lang="en-US" altLang="zh-CN" sz="2400"/>
              <a:t> </a:t>
            </a:r>
            <a:r>
              <a:rPr lang="zh-CN" altLang="en-US" sz="2400"/>
              <a:t>在方法中按照子类需求重新编写功能代码即可。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2636520"/>
            <a:ext cx="10144125" cy="3448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重写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99515" y="1628775"/>
            <a:ext cx="979932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zh-CN" altLang="en-US" sz="2400"/>
              <a:t>子类重写了父类的方法之后，无法直接访问父类的同名方法，</a:t>
            </a:r>
            <a:r>
              <a:rPr lang="en-US" altLang="zh-CN" sz="2400"/>
              <a:t> </a:t>
            </a:r>
            <a:r>
              <a:rPr lang="zh-CN" altLang="en-US" sz="2400"/>
              <a:t>但可以使用</a:t>
            </a:r>
            <a:r>
              <a:rPr lang="en-US" altLang="zh-CN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super()</a:t>
            </a:r>
            <a:r>
              <a:rPr lang="zh-CN" altLang="en-US" sz="2400"/>
              <a:t>函数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间接调用父类</a:t>
            </a:r>
            <a:r>
              <a:rPr lang="zh-CN" altLang="en-US" sz="2400"/>
              <a:t>中被重写的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</a:t>
            </a:r>
            <a:r>
              <a:rPr lang="zh-CN" altLang="en-US" sz="2400"/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2636520"/>
            <a:ext cx="10029825" cy="2314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多态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多态</a:t>
            </a:r>
            <a:r>
              <a:rPr lang="zh-CN" altLang="en-US" sz="2400"/>
              <a:t>是面向对象的重要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特性之一</a:t>
            </a:r>
            <a:r>
              <a:rPr lang="zh-CN" altLang="en-US" sz="2400"/>
              <a:t>，</a:t>
            </a:r>
            <a:r>
              <a:rPr lang="en-US" altLang="zh-CN" sz="2400"/>
              <a:t> </a:t>
            </a:r>
            <a:r>
              <a:rPr lang="zh-CN" altLang="en-US" sz="2400"/>
              <a:t>它的直接表现即让不同类的同一功能可以通过同一个接口调用，</a:t>
            </a:r>
            <a:r>
              <a:rPr lang="en-US" altLang="zh-CN" sz="2400"/>
              <a:t> </a:t>
            </a:r>
            <a:r>
              <a:rPr lang="zh-CN" altLang="en-US" sz="2400"/>
              <a:t>表现出不同的行为。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990" y="1916430"/>
            <a:ext cx="3143250" cy="335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多态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15" y="1628775"/>
            <a:ext cx="10039350" cy="459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运算符重载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r>
              <a:rPr lang="zh-CN" altLang="en-US" sz="2800"/>
              <a:t>运算符重载是指</a:t>
            </a:r>
            <a:r>
              <a:rPr lang="zh-CN" altLang="en-US" sz="28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赋予内置运算符新的功能</a:t>
            </a:r>
            <a:r>
              <a:rPr lang="zh-CN" altLang="en-US" sz="2800"/>
              <a:t>，</a:t>
            </a:r>
            <a:r>
              <a:rPr lang="en-US" altLang="zh-CN" sz="2800"/>
              <a:t> </a:t>
            </a:r>
            <a:r>
              <a:rPr lang="zh-CN" altLang="en-US" sz="2800"/>
              <a:t>使内置运算符能</a:t>
            </a:r>
            <a:r>
              <a:rPr lang="zh-CN" altLang="en-US" sz="28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适应更多</a:t>
            </a:r>
            <a:r>
              <a:rPr lang="zh-CN" altLang="en-US" sz="2800"/>
              <a:t>的</a:t>
            </a:r>
            <a:r>
              <a:rPr lang="zh-CN" altLang="en-US" sz="28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数据类型</a:t>
            </a:r>
            <a:r>
              <a:rPr lang="zh-CN" altLang="en-US" sz="2800"/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380" y="2132965"/>
            <a:ext cx="3295650" cy="2971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运算符重载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8" name="文本框 7"/>
          <p:cNvSpPr txBox="1"/>
          <p:nvPr/>
        </p:nvSpPr>
        <p:spPr>
          <a:xfrm>
            <a:off x="1189990" y="1628775"/>
            <a:ext cx="72275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基类</a:t>
            </a:r>
            <a:r>
              <a:rPr lang="en-US" altLang="zh-CN"/>
              <a:t>object</a:t>
            </a:r>
            <a:r>
              <a:rPr lang="zh-CN" altLang="en-US"/>
              <a:t>中提供的一些特殊方法及其对应的运算符如表所示。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805" y="2061845"/>
            <a:ext cx="8067675" cy="411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1225" y="980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运算符重载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8" name="文本框 7"/>
          <p:cNvSpPr txBox="1"/>
          <p:nvPr/>
        </p:nvSpPr>
        <p:spPr>
          <a:xfrm>
            <a:off x="695325" y="1700530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如果类中重写了</a:t>
            </a:r>
            <a:r>
              <a:rPr lang="en-US" altLang="zh-CN"/>
              <a:t>Python</a:t>
            </a:r>
            <a:r>
              <a:rPr lang="zh-CN" altLang="en-US"/>
              <a:t>基类</a:t>
            </a:r>
          </a:p>
          <a:p>
            <a:r>
              <a:rPr lang="en-US" altLang="zh-CN"/>
              <a:t>object</a:t>
            </a:r>
            <a:r>
              <a:rPr lang="zh-CN" altLang="en-US"/>
              <a:t>内置的有关运算符的特殊</a:t>
            </a:r>
          </a:p>
          <a:p>
            <a:r>
              <a:rPr lang="zh-CN" altLang="en-US"/>
              <a:t>方法，</a:t>
            </a:r>
            <a:r>
              <a:rPr lang="en-US" altLang="zh-CN"/>
              <a:t> </a:t>
            </a:r>
            <a:r>
              <a:rPr lang="zh-CN" altLang="en-US"/>
              <a:t>那么该特殊方法对应的运</a:t>
            </a:r>
          </a:p>
          <a:p>
            <a:r>
              <a:rPr lang="zh-CN" altLang="en-US"/>
              <a:t>算符将支持对该类的实例进行运</a:t>
            </a:r>
          </a:p>
          <a:p>
            <a:r>
              <a:rPr lang="zh-CN" altLang="en-US"/>
              <a:t>算。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720" y="1124585"/>
            <a:ext cx="5924550" cy="50768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" y="3500755"/>
            <a:ext cx="3905250" cy="23431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1495" y="4361815"/>
            <a:ext cx="962025" cy="1026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55CEC-DC18-A4A1-76B4-4D38FDE8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E9F38D86-824A-F750-BF14-7DD12B1F3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376BB1D9-260C-8326-AC02-5931314BA37C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750283-BD94-B07E-A506-32106FBAB11D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23F807-77BB-2A6E-05BB-2B21F0AAA12B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迭代器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735905-90C2-1B3B-0A2D-2BFB302375DD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C61C63-B9BB-4C38-EAF4-FF6DE83733E0}"/>
              </a:ext>
            </a:extLst>
          </p:cNvPr>
          <p:cNvSpPr txBox="1"/>
          <p:nvPr/>
        </p:nvSpPr>
        <p:spPr>
          <a:xfrm>
            <a:off x="698206" y="1484784"/>
            <a:ext cx="10513243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latinLnBrk="1"/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迭代是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Helvetica Neue"/>
              </a:rPr>
              <a:t>Python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最强大的功能之一，是访问集合元素的一种方式。</a:t>
            </a:r>
          </a:p>
          <a:p>
            <a:pPr algn="l" latinLnBrk="1"/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迭代器是一个可以记住遍历的位置的对象。</a:t>
            </a:r>
          </a:p>
          <a:p>
            <a:pPr algn="l" latinLnBrk="1"/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迭代器对象从集合的第一个元素开始访问，直到所有的元素被访问完结束。迭代器只能往前不会后退。</a:t>
            </a:r>
          </a:p>
          <a:p>
            <a:pPr algn="l" latinLnBrk="1"/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迭代器有两个基本的方法：</a:t>
            </a:r>
            <a:r>
              <a:rPr lang="en-US" altLang="zh-CN" sz="2800" b="1" i="0" dirty="0">
                <a:solidFill>
                  <a:srgbClr val="333333"/>
                </a:solidFill>
                <a:effectLst/>
                <a:latin typeface="Helvetica Neue"/>
              </a:rPr>
              <a:t>iter()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 和 </a:t>
            </a:r>
            <a:r>
              <a:rPr lang="en-US" altLang="zh-CN" sz="2800" b="1" i="0" dirty="0">
                <a:solidFill>
                  <a:srgbClr val="333333"/>
                </a:solidFill>
                <a:effectLst/>
                <a:latin typeface="Helvetica Neue"/>
              </a:rPr>
              <a:t>next()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</a:p>
          <a:p>
            <a:pPr algn="l" latinLnBrk="1"/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字符串，列表或元组对象都可用于创建迭代器</a:t>
            </a:r>
            <a:endParaRPr lang="en-US" altLang="zh-CN" sz="28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BF3754-2518-0304-5FA7-310F65632CFF}"/>
              </a:ext>
            </a:extLst>
          </p:cNvPr>
          <p:cNvSpPr txBox="1"/>
          <p:nvPr/>
        </p:nvSpPr>
        <p:spPr>
          <a:xfrm>
            <a:off x="1703512" y="4253611"/>
            <a:ext cx="4960620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AA5500"/>
                </a:solidFill>
                <a:effectLst/>
                <a:latin typeface="Menlo"/>
              </a:rPr>
              <a:t>#!/usr/bin/python3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list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=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[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Menlo"/>
              </a:rPr>
              <a:t>1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,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Menlo"/>
              </a:rPr>
              <a:t>2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,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Menlo"/>
              </a:rPr>
              <a:t>3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,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Menlo"/>
              </a:rPr>
              <a:t>4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]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I</a:t>
            </a:r>
          </a:p>
          <a:p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sz="2400" b="0" i="0" dirty="0">
                <a:solidFill>
                  <a:srgbClr val="008080"/>
                </a:solidFill>
                <a:effectLst/>
                <a:latin typeface="Menlo"/>
              </a:rPr>
              <a:t>iter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list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Menlo"/>
              </a:rPr>
              <a:t>创建迭代器对象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Menlo"/>
            </a:endParaRPr>
          </a:p>
          <a:p>
            <a:r>
              <a:rPr lang="en-US" altLang="zh-CN" sz="2400" b="0" i="0" dirty="0">
                <a:solidFill>
                  <a:srgbClr val="008000"/>
                </a:solidFill>
                <a:effectLst/>
                <a:latin typeface="Menlo"/>
              </a:rPr>
              <a:t>for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x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Menlo"/>
              </a:rPr>
              <a:t>in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it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sz="2400" dirty="0">
                <a:solidFill>
                  <a:srgbClr val="808080"/>
                </a:solidFill>
                <a:latin typeface="Menlo"/>
              </a:rPr>
              <a:t>     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print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x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,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end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=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2400" b="0" i="0" dirty="0">
                <a:solidFill>
                  <a:srgbClr val="AA1111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8B0000"/>
                </a:solidFill>
                <a:effectLst/>
                <a:latin typeface="Menlo"/>
              </a:rPr>
              <a:t>"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endParaRPr lang="en-US" altLang="zh-CN" sz="24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6B7E10-3B5D-DDE5-CFCD-63921DCC4BBE}"/>
              </a:ext>
            </a:extLst>
          </p:cNvPr>
          <p:cNvSpPr txBox="1"/>
          <p:nvPr/>
        </p:nvSpPr>
        <p:spPr>
          <a:xfrm>
            <a:off x="7392145" y="4603524"/>
            <a:ext cx="2088232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1 2 3 4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3A417B8B-0BF9-5D61-3A56-F931362CFFA7}"/>
              </a:ext>
            </a:extLst>
          </p:cNvPr>
          <p:cNvSpPr/>
          <p:nvPr/>
        </p:nvSpPr>
        <p:spPr>
          <a:xfrm>
            <a:off x="6896174" y="4983495"/>
            <a:ext cx="288698" cy="231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20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68389-BCEE-0A1E-6F97-7929C490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91AF97A2-3DCB-4496-3D0E-0638990DF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2809B9A-3CB0-289E-A979-7E759A42C013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A9A3C5-2FB5-BF3A-207B-AF22D90C572F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69A258-B1CA-7240-BBA5-2FFFA370F669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迭代器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B915CF-DFFB-8907-B5B5-8CD51A2376C6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90D9F0-F178-1779-31AC-4B94490E6E0A}"/>
              </a:ext>
            </a:extLst>
          </p:cNvPr>
          <p:cNvSpPr txBox="1"/>
          <p:nvPr/>
        </p:nvSpPr>
        <p:spPr>
          <a:xfrm>
            <a:off x="698206" y="1484784"/>
            <a:ext cx="10513243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latinLnBrk="1"/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也可以使用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Helvetica Neue"/>
              </a:rPr>
              <a:t>next()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函数：</a:t>
            </a:r>
            <a:endParaRPr lang="en-US" altLang="zh-CN" sz="28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70DDBA-BB46-3921-80AC-48DAB93200E8}"/>
              </a:ext>
            </a:extLst>
          </p:cNvPr>
          <p:cNvSpPr txBox="1"/>
          <p:nvPr/>
        </p:nvSpPr>
        <p:spPr>
          <a:xfrm>
            <a:off x="767408" y="2139122"/>
            <a:ext cx="4960620" cy="304698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008000"/>
                </a:solidFill>
                <a:effectLst/>
                <a:latin typeface="Menlo"/>
              </a:rPr>
              <a:t>import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sys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Menlo"/>
              </a:rPr>
              <a:t>引入 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Menlo"/>
              </a:rPr>
              <a:t>sys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Menlo"/>
              </a:rPr>
              <a:t>模块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list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=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[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Menlo"/>
              </a:rPr>
              <a:t>1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,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Menlo"/>
              </a:rPr>
              <a:t>2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,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Menlo"/>
              </a:rPr>
              <a:t>3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,</a:t>
            </a:r>
            <a:r>
              <a:rPr lang="en-US" altLang="zh-CN" sz="2400" b="0" i="0" dirty="0">
                <a:solidFill>
                  <a:srgbClr val="800000"/>
                </a:solidFill>
                <a:effectLst/>
                <a:latin typeface="Menlo"/>
              </a:rPr>
              <a:t>4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]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it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sz="2400" b="0" i="0" dirty="0">
                <a:solidFill>
                  <a:srgbClr val="008080"/>
                </a:solidFill>
                <a:effectLst/>
                <a:latin typeface="Menlo"/>
              </a:rPr>
              <a:t>iter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list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sz="2400" b="0" i="0" dirty="0">
                <a:solidFill>
                  <a:srgbClr val="AA5500"/>
                </a:solidFill>
                <a:effectLst/>
                <a:latin typeface="Menlo"/>
              </a:rPr>
              <a:t>创建迭代器对象</a:t>
            </a:r>
            <a:r>
              <a:rPr lang="zh-CN" altLang="en-US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endParaRPr lang="en-US" altLang="zh-CN" sz="2400" b="0" i="0" dirty="0">
              <a:solidFill>
                <a:srgbClr val="808080"/>
              </a:solidFill>
              <a:effectLst/>
              <a:latin typeface="Menlo"/>
            </a:endParaRPr>
          </a:p>
          <a:p>
            <a:r>
              <a:rPr lang="en-US" altLang="zh-CN" sz="2400" b="0" i="0" dirty="0">
                <a:solidFill>
                  <a:srgbClr val="008000"/>
                </a:solidFill>
                <a:effectLst/>
                <a:latin typeface="Menlo"/>
              </a:rPr>
              <a:t>while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Menlo"/>
              </a:rPr>
              <a:t>True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sz="2400" b="0" i="0" dirty="0">
                <a:solidFill>
                  <a:srgbClr val="008000"/>
                </a:solidFill>
                <a:effectLst/>
                <a:latin typeface="Menlo"/>
              </a:rPr>
              <a:t>           try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               print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next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it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))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sz="2400" b="0" i="0" dirty="0">
                <a:solidFill>
                  <a:srgbClr val="008000"/>
                </a:solidFill>
                <a:effectLst/>
                <a:latin typeface="Menlo"/>
              </a:rPr>
              <a:t>           except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sz="2400" b="0" i="0" dirty="0" err="1">
                <a:solidFill>
                  <a:srgbClr val="008000"/>
                </a:solidFill>
                <a:effectLst/>
                <a:latin typeface="Menlo"/>
              </a:rPr>
              <a:t>StopIteration</a:t>
            </a:r>
            <a:r>
              <a:rPr lang="en-US" altLang="zh-CN" sz="2400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sz="2400" b="0" i="0" dirty="0">
                <a:solidFill>
                  <a:srgbClr val="0055AA"/>
                </a:solidFill>
                <a:effectLst/>
                <a:latin typeface="Menlo"/>
              </a:rPr>
              <a:t>               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Menlo"/>
              </a:rPr>
              <a:t>sys</a:t>
            </a:r>
            <a:r>
              <a:rPr lang="en-US" altLang="zh-CN" sz="2400" b="0" i="0" dirty="0" err="1">
                <a:solidFill>
                  <a:srgbClr val="808080"/>
                </a:solidFill>
                <a:effectLst/>
                <a:latin typeface="Menlo"/>
              </a:rPr>
              <a:t>.</a:t>
            </a:r>
            <a:r>
              <a:rPr lang="en-US" altLang="zh-CN" sz="2400" b="0" i="0" dirty="0" err="1">
                <a:solidFill>
                  <a:srgbClr val="0055AA"/>
                </a:solidFill>
                <a:effectLst/>
                <a:latin typeface="Menlo"/>
              </a:rPr>
              <a:t>exit</a:t>
            </a:r>
            <a:r>
              <a:rPr lang="en-US" altLang="zh-CN" sz="2400" b="0" i="0" dirty="0">
                <a:solidFill>
                  <a:srgbClr val="808000"/>
                </a:solidFill>
                <a:effectLst/>
                <a:latin typeface="Menlo"/>
              </a:rPr>
              <a:t>() </a:t>
            </a:r>
            <a:endParaRPr lang="en-US" altLang="zh-CN" sz="24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EDE2D5-960D-AB9F-9F73-91DAF4637F3D}"/>
              </a:ext>
            </a:extLst>
          </p:cNvPr>
          <p:cNvSpPr txBox="1"/>
          <p:nvPr/>
        </p:nvSpPr>
        <p:spPr>
          <a:xfrm>
            <a:off x="7119079" y="2591852"/>
            <a:ext cx="2088232" cy="1938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sz="2400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</a:p>
          <a:p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2 </a:t>
            </a:r>
          </a:p>
          <a:p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3 </a:t>
            </a:r>
          </a:p>
          <a:p>
            <a:r>
              <a:rPr lang="en-US" altLang="zh-CN" sz="2400" b="1" dirty="0">
                <a:latin typeface="Consolas" panose="020B0609020204030204" pitchFamily="49" charset="0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66FD1F8-66EE-2B04-A703-2AEBB6F6D93D}"/>
              </a:ext>
            </a:extLst>
          </p:cNvPr>
          <p:cNvSpPr/>
          <p:nvPr/>
        </p:nvSpPr>
        <p:spPr>
          <a:xfrm>
            <a:off x="6319292" y="3662616"/>
            <a:ext cx="288698" cy="231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14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4A545-ACB9-C781-BBB4-11CEDBD6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8CD73DAC-BB41-BACD-82C4-290960445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5B116F30-7E45-7015-05A5-BFB872BDB386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1E3369-7EC2-3C88-B47E-5D73AC0C2178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7F10F9-0281-0106-0CA4-FC56BA039DA9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迭代器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227A60-DAEA-4243-ECD7-FD5C8057EFDA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71D197-B9D5-D1A5-A60A-C5CAA9C3EB86}"/>
              </a:ext>
            </a:extLst>
          </p:cNvPr>
          <p:cNvSpPr txBox="1"/>
          <p:nvPr/>
        </p:nvSpPr>
        <p:spPr>
          <a:xfrm>
            <a:off x="698206" y="1484784"/>
            <a:ext cx="10513243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atinLnBrk="1"/>
            <a:r>
              <a:rPr lang="zh-CN" altLang="en-US" sz="2800" b="1" i="0" dirty="0">
                <a:solidFill>
                  <a:srgbClr val="333333"/>
                </a:solidFill>
                <a:effectLst/>
                <a:latin typeface="Helvetica Neue"/>
              </a:rPr>
              <a:t>创建一个迭代器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：</a:t>
            </a:r>
            <a:endParaRPr lang="en-US" altLang="zh-CN" sz="28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7654AA-A5D4-2092-36D8-6BD2927EC79C}"/>
              </a:ext>
            </a:extLst>
          </p:cNvPr>
          <p:cNvSpPr txBox="1"/>
          <p:nvPr/>
        </p:nvSpPr>
        <p:spPr>
          <a:xfrm>
            <a:off x="767408" y="2139122"/>
            <a:ext cx="3456384" cy="424731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class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MyNumbers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def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__iter__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 err="1">
                <a:solidFill>
                  <a:srgbClr val="808080"/>
                </a:solidFill>
                <a:effectLst/>
                <a:latin typeface="Menlo"/>
              </a:rPr>
              <a:t>.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Menlo"/>
              </a:rPr>
              <a:t>1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return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def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__next__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x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 err="1">
                <a:solidFill>
                  <a:srgbClr val="808080"/>
                </a:solidFill>
                <a:effectLst/>
                <a:latin typeface="Menlo"/>
              </a:rPr>
              <a:t>.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 err="1">
                <a:solidFill>
                  <a:srgbClr val="808080"/>
                </a:solidFill>
                <a:effectLst/>
                <a:latin typeface="Menlo"/>
              </a:rPr>
              <a:t>.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+=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Menlo"/>
              </a:rPr>
              <a:t>1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return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x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myclass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MyNumbers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myiter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b="0" i="0" dirty="0">
                <a:solidFill>
                  <a:srgbClr val="008080"/>
                </a:solidFill>
                <a:effectLst/>
                <a:latin typeface="Menlo"/>
              </a:rPr>
              <a:t>iter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myclass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print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next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myiter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print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next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myiter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print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next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myiter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print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next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myiter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print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next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myiter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))</a:t>
            </a:r>
            <a:endParaRPr lang="en-US" altLang="zh-CN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F1A9715-B5DE-0DD4-4DC3-B8B023E53A53}"/>
              </a:ext>
            </a:extLst>
          </p:cNvPr>
          <p:cNvSpPr txBox="1"/>
          <p:nvPr/>
        </p:nvSpPr>
        <p:spPr>
          <a:xfrm>
            <a:off x="4848729" y="2153511"/>
            <a:ext cx="1660942" cy="175432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2 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3 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4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AEB75B61-37A5-12D5-0FB1-1972231A716D}"/>
              </a:ext>
            </a:extLst>
          </p:cNvPr>
          <p:cNvSpPr/>
          <p:nvPr/>
        </p:nvSpPr>
        <p:spPr>
          <a:xfrm>
            <a:off x="4382249" y="2864587"/>
            <a:ext cx="288698" cy="231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52B6498-43C1-3FCD-D321-818A410EE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920" y="1943100"/>
            <a:ext cx="329565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30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985D8-E131-45BA-0443-9A8C0F39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EFA893BA-B723-5DA4-3FE0-637445DE8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AED3EBE1-CECD-4759-DE5F-2C65C60825DD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EDFA6E-0020-9741-33C0-964E56CF5098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59D009-FA57-3A57-AE02-873657990CF7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迭代器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078D6D-D394-BDB6-CC2C-EC28DD2AB617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68EF0C-1F65-E6B9-D9AC-F86CE55C9C4D}"/>
              </a:ext>
            </a:extLst>
          </p:cNvPr>
          <p:cNvSpPr txBox="1"/>
          <p:nvPr/>
        </p:nvSpPr>
        <p:spPr>
          <a:xfrm>
            <a:off x="695324" y="1408684"/>
            <a:ext cx="10513243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atinLnBrk="1"/>
            <a:r>
              <a:rPr lang="en-US" altLang="zh-CN" sz="2400" b="0" i="0" dirty="0" err="1">
                <a:solidFill>
                  <a:srgbClr val="333333"/>
                </a:solidFill>
                <a:effectLst/>
                <a:latin typeface="Helvetica Neue"/>
              </a:rPr>
              <a:t>StopIteration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异常用于标识迭代的完成，防止出现无限循环的情况，在 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Helvetica Neue"/>
              </a:rPr>
              <a:t>__next__()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方法中我们可以设置在完成指定循环次数后触发 </a:t>
            </a:r>
            <a:r>
              <a:rPr lang="en-US" altLang="zh-CN" sz="2400" b="0" i="0" dirty="0" err="1">
                <a:solidFill>
                  <a:srgbClr val="333333"/>
                </a:solidFill>
                <a:effectLst/>
                <a:latin typeface="Helvetica Neue"/>
              </a:rPr>
              <a:t>StopIteration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异常来结束迭代</a:t>
            </a:r>
            <a:endParaRPr lang="en-US" altLang="zh-CN" sz="24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DB2DAC-81FD-57AB-1EAA-3482C11EEE2E}"/>
              </a:ext>
            </a:extLst>
          </p:cNvPr>
          <p:cNvSpPr txBox="1"/>
          <p:nvPr/>
        </p:nvSpPr>
        <p:spPr>
          <a:xfrm>
            <a:off x="695324" y="2545601"/>
            <a:ext cx="3456384" cy="424731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class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MyNumbers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def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__iter__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 err="1">
                <a:solidFill>
                  <a:srgbClr val="808080"/>
                </a:solidFill>
                <a:effectLst/>
                <a:latin typeface="Menlo"/>
              </a:rPr>
              <a:t>.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Menlo"/>
              </a:rPr>
              <a:t>1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return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def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__next__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if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 err="1">
                <a:solidFill>
                  <a:srgbClr val="808080"/>
                </a:solidFill>
                <a:effectLst/>
                <a:latin typeface="Menlo"/>
              </a:rPr>
              <a:t>.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&lt;= </a:t>
            </a:r>
            <a:r>
              <a:rPr lang="en-US" altLang="zh-CN" dirty="0">
                <a:solidFill>
                  <a:srgbClr val="800000"/>
                </a:solidFill>
                <a:latin typeface="Menlo"/>
              </a:rPr>
              <a:t>5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x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 err="1">
                <a:solidFill>
                  <a:srgbClr val="808080"/>
                </a:solidFill>
                <a:effectLst/>
                <a:latin typeface="Menlo"/>
              </a:rPr>
              <a:t>.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   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self</a:t>
            </a:r>
            <a:r>
              <a:rPr lang="en-US" altLang="zh-CN" b="0" i="0" dirty="0" err="1">
                <a:solidFill>
                  <a:srgbClr val="808080"/>
                </a:solidFill>
                <a:effectLst/>
                <a:latin typeface="Menlo"/>
              </a:rPr>
              <a:t>.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+=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Menlo"/>
              </a:rPr>
              <a:t>1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return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x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else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raise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 err="1">
                <a:solidFill>
                  <a:srgbClr val="008000"/>
                </a:solidFill>
                <a:effectLst/>
                <a:latin typeface="Menlo"/>
              </a:rPr>
              <a:t>StopIteration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myclass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MyNumbers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myiter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b="0" i="0" dirty="0">
                <a:solidFill>
                  <a:srgbClr val="008080"/>
                </a:solidFill>
                <a:effectLst/>
                <a:latin typeface="Menlo"/>
              </a:rPr>
              <a:t>iter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myclass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for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x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in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myiter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print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x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endParaRPr lang="en-US" altLang="zh-CN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19B5F5-108F-504E-CCFB-E92C1EB66538}"/>
              </a:ext>
            </a:extLst>
          </p:cNvPr>
          <p:cNvSpPr txBox="1"/>
          <p:nvPr/>
        </p:nvSpPr>
        <p:spPr>
          <a:xfrm>
            <a:off x="5210769" y="2813162"/>
            <a:ext cx="1660942" cy="175432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2 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3 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4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E4940EA6-76C5-11B0-562B-FDFBECC16D08}"/>
              </a:ext>
            </a:extLst>
          </p:cNvPr>
          <p:cNvSpPr/>
          <p:nvPr/>
        </p:nvSpPr>
        <p:spPr>
          <a:xfrm>
            <a:off x="4650951" y="3329426"/>
            <a:ext cx="288698" cy="231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4E0587A-07F6-14F3-260E-BF1E203F2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297" y="2363528"/>
            <a:ext cx="33909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6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69B5E-F46E-A64B-98AC-5B6E7BE49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6944AE34-AF81-3053-1E83-5BF040241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6E618B9-C55B-334E-1003-72996348CB26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224F6D-05AC-CB87-8C0D-32437CED174D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7BC0EF-055C-A7AF-CAC8-C708B616B942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生成器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31B02F-0FB8-E5F6-D0A1-CA73C3F2C519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D465AC-24B3-1CD2-9C3D-3D755B1E2238}"/>
              </a:ext>
            </a:extLst>
          </p:cNvPr>
          <p:cNvSpPr txBox="1"/>
          <p:nvPr/>
        </p:nvSpPr>
        <p:spPr>
          <a:xfrm>
            <a:off x="695324" y="1408684"/>
            <a:ext cx="10513243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latinLnBrk="1"/>
            <a:r>
              <a:rPr lang="en-US" altLang="zh-CN" sz="2400" b="1" i="0" dirty="0">
                <a:solidFill>
                  <a:srgbClr val="333333"/>
                </a:solidFill>
                <a:effectLst/>
                <a:latin typeface="Helvetica Neue"/>
              </a:rPr>
              <a:t>yield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 是一个关键字，用于定义生成器函数，生成器函数是一种特殊的函数，可以在迭代过程中逐步产生值，而不是一次性返回所有结果。</a:t>
            </a:r>
          </a:p>
          <a:p>
            <a:pPr algn="l" latinLnBrk="1"/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跟普通函数不同的是，生成器是一个返回迭代器的函数，只能用于迭代操作，更简单点理解生成器就是一个迭代器。</a:t>
            </a:r>
          </a:p>
          <a:p>
            <a:pPr algn="l" latinLnBrk="1"/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当在生成器函数中使用 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Helvetica Neue"/>
              </a:rPr>
              <a:t>yield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 语句时，函数的执行将会暂停，并将 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Helvetica Neue"/>
              </a:rPr>
              <a:t>yield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 后面的表达式作为当前迭代的值返回。</a:t>
            </a:r>
          </a:p>
          <a:p>
            <a:pPr algn="l" latinLnBrk="1"/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然后，每次调用生成器的 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Helvetica Neue"/>
              </a:rPr>
              <a:t>next()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 方法或使用 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Helvetica Neue"/>
              </a:rPr>
              <a:t>for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 循环进行迭代时，函数会从上次暂停的地方继续执行，直到再次遇到 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Helvetica Neue"/>
              </a:rPr>
              <a:t>yield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 语句。这样，生成器函数可以逐步产生值，而不需要一次性计算并返回所有结果。</a:t>
            </a:r>
          </a:p>
          <a:p>
            <a:pPr algn="l" latinLnBrk="1"/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调用一个生成器函数，返回的是一个迭代器对象。</a:t>
            </a:r>
          </a:p>
        </p:txBody>
      </p:sp>
    </p:spTree>
    <p:extLst>
      <p:ext uri="{BB962C8B-B14F-4D97-AF65-F5344CB8AC3E}">
        <p14:creationId xmlns:p14="http://schemas.microsoft.com/office/powerpoint/2010/main" val="255040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C06CD-88F3-F992-0925-D4AA3E6F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7A7330A6-6E88-716F-8D90-C86F50D0B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2AEDA7AD-5AE4-D7B2-9563-022880944B9A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6C8E4D-EA3B-6AA9-2171-37B01A01513F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13E6A1-07E9-75E8-8651-3134FA3CA850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生成器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5C11AA-C095-E5AA-5B15-16B964D54D0A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5C35E9-020A-714B-1F53-5FFF645D97F5}"/>
              </a:ext>
            </a:extLst>
          </p:cNvPr>
          <p:cNvSpPr txBox="1"/>
          <p:nvPr/>
        </p:nvSpPr>
        <p:spPr>
          <a:xfrm>
            <a:off x="695324" y="1408684"/>
            <a:ext cx="10513243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atinLnBrk="1"/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示例：</a:t>
            </a:r>
            <a:endParaRPr lang="en-US" altLang="zh-CN" sz="24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BFDE7D-6FEA-71AA-CAAB-1DCB3F740931}"/>
              </a:ext>
            </a:extLst>
          </p:cNvPr>
          <p:cNvSpPr txBox="1"/>
          <p:nvPr/>
        </p:nvSpPr>
        <p:spPr>
          <a:xfrm>
            <a:off x="708225" y="1959426"/>
            <a:ext cx="3456384" cy="369331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def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countdown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while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&gt;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Menlo"/>
              </a:rPr>
              <a:t>0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yield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  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-=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Menlo"/>
              </a:rPr>
              <a:t>1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b="0" i="0" dirty="0">
                <a:solidFill>
                  <a:srgbClr val="AA5500"/>
                </a:solidFill>
                <a:effectLst/>
                <a:latin typeface="Menlo"/>
              </a:rPr>
              <a:t>创建生成器对象</a:t>
            </a:r>
            <a:r>
              <a:rPr lang="zh-CN" altLang="en-US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endParaRPr lang="en-US" altLang="zh-CN" b="0" i="0" dirty="0">
              <a:solidFill>
                <a:srgbClr val="808080"/>
              </a:solidFill>
              <a:effectLst/>
              <a:latin typeface="Menlo"/>
            </a:endParaRPr>
          </a:p>
          <a:p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generator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countdown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Menlo"/>
              </a:rPr>
              <a:t>5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b="0" i="0" dirty="0">
                <a:solidFill>
                  <a:srgbClr val="AA5500"/>
                </a:solidFill>
                <a:effectLst/>
                <a:latin typeface="Menlo"/>
              </a:rPr>
              <a:t>通过迭代生成器获取值</a:t>
            </a:r>
            <a:r>
              <a:rPr lang="zh-CN" altLang="en-US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print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next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generator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b="0" i="0" dirty="0">
                <a:solidFill>
                  <a:srgbClr val="AA5500"/>
                </a:solidFill>
                <a:effectLst/>
                <a:latin typeface="Menlo"/>
              </a:rPr>
              <a:t>输出</a:t>
            </a:r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: 5</a:t>
            </a:r>
            <a:r>
              <a:rPr lang="zh-CN" altLang="en-US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print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next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generator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b="0" i="0" dirty="0">
                <a:solidFill>
                  <a:srgbClr val="AA5500"/>
                </a:solidFill>
                <a:effectLst/>
                <a:latin typeface="Menlo"/>
              </a:rPr>
              <a:t>输出</a:t>
            </a:r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: 4</a:t>
            </a:r>
            <a:r>
              <a:rPr lang="zh-CN" altLang="en-US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print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next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generator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b="0" i="0" dirty="0">
                <a:solidFill>
                  <a:srgbClr val="AA5500"/>
                </a:solidFill>
                <a:effectLst/>
                <a:latin typeface="Menlo"/>
              </a:rPr>
              <a:t>输出</a:t>
            </a:r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: 3</a:t>
            </a:r>
            <a:r>
              <a:rPr lang="zh-CN" altLang="en-US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endParaRPr lang="en-US" altLang="zh-CN" b="0" i="0" dirty="0">
              <a:solidFill>
                <a:srgbClr val="808080"/>
              </a:solidFill>
              <a:effectLst/>
              <a:latin typeface="Menlo"/>
            </a:endParaRPr>
          </a:p>
          <a:p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b="0" i="0" dirty="0">
                <a:solidFill>
                  <a:srgbClr val="AA5500"/>
                </a:solidFill>
                <a:effectLst/>
                <a:latin typeface="Menlo"/>
              </a:rPr>
              <a:t>使用 </a:t>
            </a:r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for </a:t>
            </a:r>
            <a:r>
              <a:rPr lang="zh-CN" altLang="en-US" b="0" i="0" dirty="0">
                <a:solidFill>
                  <a:srgbClr val="AA5500"/>
                </a:solidFill>
                <a:effectLst/>
                <a:latin typeface="Menlo"/>
              </a:rPr>
              <a:t>循环迭代生成器</a:t>
            </a:r>
            <a:r>
              <a:rPr lang="zh-CN" altLang="en-US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endParaRPr lang="en-US" altLang="zh-CN" b="0" i="0" dirty="0">
              <a:solidFill>
                <a:srgbClr val="808080"/>
              </a:solidFill>
              <a:effectLst/>
              <a:latin typeface="Menlo"/>
            </a:endParaRPr>
          </a:p>
          <a:p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for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value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in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generator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: </a:t>
            </a:r>
          </a:p>
          <a:p>
            <a:r>
              <a:rPr lang="en-US" altLang="zh-CN" dirty="0">
                <a:solidFill>
                  <a:srgbClr val="808080"/>
                </a:solidFill>
                <a:latin typeface="Menlo"/>
              </a:rPr>
              <a:t>    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print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value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# </a:t>
            </a:r>
            <a:r>
              <a:rPr lang="zh-CN" altLang="en-US" b="0" i="0" dirty="0">
                <a:solidFill>
                  <a:srgbClr val="AA5500"/>
                </a:solidFill>
                <a:effectLst/>
                <a:latin typeface="Menlo"/>
              </a:rPr>
              <a:t>输出</a:t>
            </a:r>
            <a:r>
              <a:rPr lang="en-US" altLang="zh-CN" b="0" i="0" dirty="0">
                <a:solidFill>
                  <a:srgbClr val="AA5500"/>
                </a:solidFill>
                <a:effectLst/>
                <a:latin typeface="Menlo"/>
              </a:rPr>
              <a:t>: 2 1</a:t>
            </a:r>
            <a:endParaRPr lang="en-US" altLang="zh-CN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00C2D6-44BD-2CF1-BD39-7BF6861D0510}"/>
              </a:ext>
            </a:extLst>
          </p:cNvPr>
          <p:cNvSpPr txBox="1"/>
          <p:nvPr/>
        </p:nvSpPr>
        <p:spPr>
          <a:xfrm>
            <a:off x="5210769" y="2813162"/>
            <a:ext cx="1660942" cy="175432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b="1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5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4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3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2</a:t>
            </a:r>
          </a:p>
          <a:p>
            <a:r>
              <a:rPr lang="en-US" altLang="zh-CN" b="1" dirty="0"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045A77A-C2D6-BE65-8DE4-91E722B9A1AC}"/>
              </a:ext>
            </a:extLst>
          </p:cNvPr>
          <p:cNvSpPr/>
          <p:nvPr/>
        </p:nvSpPr>
        <p:spPr>
          <a:xfrm>
            <a:off x="4650951" y="3329426"/>
            <a:ext cx="288698" cy="231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E1A9BE1-851C-826A-D4CF-A0C7E9740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013" y="2215410"/>
            <a:ext cx="33909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5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9BE97-0394-A751-22D8-300E4CB4B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9293AB30-00ED-FDFE-780E-683CA5EC4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835E6256-C594-3789-4CDD-BE632140A2C9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58DC15-7191-3FF0-B19E-CB533372AC7B}"/>
              </a:ext>
            </a:extLst>
          </p:cNvPr>
          <p:cNvSpPr txBox="1">
            <a:spLocks/>
          </p:cNvSpPr>
          <p:nvPr/>
        </p:nvSpPr>
        <p:spPr>
          <a:xfrm>
            <a:off x="851751" y="836712"/>
            <a:ext cx="7765321" cy="13263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b="1" dirty="0">
                <a:latin typeface="+mj-ea"/>
              </a:rPr>
              <a:t>异常处理</a:t>
            </a:r>
            <a:endParaRPr lang="en-US" altLang="zh-CN" b="1" dirty="0">
              <a:latin typeface="+mj-ea"/>
            </a:endParaRPr>
          </a:p>
          <a:p>
            <a:pPr fontAlgn="auto">
              <a:spcAft>
                <a:spcPts val="0"/>
              </a:spcAft>
            </a:pPr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9DA9F99-79F5-3240-36C4-1C45EBDD0235}"/>
              </a:ext>
            </a:extLst>
          </p:cNvPr>
          <p:cNvSpPr txBox="1">
            <a:spLocks/>
          </p:cNvSpPr>
          <p:nvPr/>
        </p:nvSpPr>
        <p:spPr>
          <a:xfrm>
            <a:off x="839416" y="1610745"/>
            <a:ext cx="8725244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405073-F5D0-9262-C77B-269167987349}"/>
              </a:ext>
            </a:extLst>
          </p:cNvPr>
          <p:cNvSpPr txBox="1"/>
          <p:nvPr/>
        </p:nvSpPr>
        <p:spPr>
          <a:xfrm>
            <a:off x="851751" y="1642072"/>
            <a:ext cx="10513168" cy="2116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异常概述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捕获异常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抛出异常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55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EFA56-A7A1-1DB8-7024-108DBA6A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1ADDA68E-7CDF-4A3C-87F1-2C7309A0F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5AFC7C7-3186-E2DD-8AC6-3F3F650E0154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5C9D51-D260-4F78-4FEB-61C0D42CFB3E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F15416-1E6D-7EB5-19A7-BD5EDAA0019E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异常概述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A934B6-CAE0-4178-A67D-486E08272ABB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CAED67-0F41-4F07-9CFA-28F1879EDAF4}"/>
              </a:ext>
            </a:extLst>
          </p:cNvPr>
          <p:cNvSpPr txBox="1"/>
          <p:nvPr/>
        </p:nvSpPr>
        <p:spPr>
          <a:xfrm>
            <a:off x="4727848" y="1468163"/>
            <a:ext cx="6402200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atinLnBrk="1"/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程序开发戒运行时可能出现异常， 开发人员和运维人员需要辨别程序的异常， 明确这些异常是源于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Helvetica Neue"/>
              </a:rPr>
              <a:t>程序本身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的设计问题， 还是由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Helvetica Neue"/>
              </a:rPr>
              <a:t>外界环境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的变化引起， 以便有针对性地处理异常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en-US" altLang="zh-CN" sz="2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latinLnBrk="1"/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程序运行出现异常时， 若程序中没有设置异常处理功能， 解释器会采用系统的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Helvetica Neue"/>
              </a:rPr>
              <a:t>默认方式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处理异常， 即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Helvetica Neue"/>
              </a:rPr>
              <a:t>返回异常信息、 终止程序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en-US" altLang="zh-CN" sz="28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6FE4564-F5C5-ED7C-C405-F191017A7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641" y="2119916"/>
            <a:ext cx="282892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1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D469E-0498-B01F-76BF-5822B5D00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DE9E20C3-34BB-798B-67A0-49337213F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9A38A926-58EE-F731-F51B-31AF9748AFC3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0A150F-2DF2-A002-2FD3-0C149F61652F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5DB981-947D-01C4-55B0-860ACC12E1DB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异常概述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7D62C0-2D36-31FA-CDC5-F417F6804F16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DB95E2-0553-7D6F-196D-087BBB041C96}"/>
              </a:ext>
            </a:extLst>
          </p:cNvPr>
          <p:cNvSpPr txBox="1"/>
          <p:nvPr/>
        </p:nvSpPr>
        <p:spPr>
          <a:xfrm>
            <a:off x="4594758" y="1526277"/>
            <a:ext cx="635685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atinLnBrk="1"/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异常信息中通常包含异常代码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Helvetica Neue"/>
              </a:rPr>
              <a:t>所在行号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、 异常的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Helvetica Neue"/>
              </a:rPr>
              <a:t>类型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和异常的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Helvetica Neue"/>
              </a:rPr>
              <a:t>描述信息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en-US" altLang="zh-CN" sz="24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0CBC7DB-42F7-DCDC-87B4-B42E2FAAB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071" y="2480384"/>
            <a:ext cx="2828925" cy="24384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7C8615F-7673-08DF-78B5-A0FC263B8B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758" y="3258011"/>
            <a:ext cx="66960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3028-C145-AA12-7658-9666E045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8B543380-B9F9-0818-E401-9047A3B2D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008F9A9-EC2D-BBC3-EDB5-578AD7B25766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CE2F0C-FE75-4959-13E8-5A7BE69BB242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03E44C-0D6A-2F71-46E1-CD390F4E57A7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异常概述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67C375-7852-A5B9-7C92-D5157C166CC0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6BBD0C5-97A5-3D86-75C4-833A7FE0A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02" y="1633380"/>
            <a:ext cx="10610850" cy="45910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44425DB-0897-EAAF-7CF2-0D49FB80A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164" y="4869160"/>
            <a:ext cx="2013022" cy="173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4515F-62F8-E02A-8327-629A2FCD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D119CD07-1522-3588-EEC5-682AC1360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45ABDAF-BF28-45CD-9D57-7062691D0429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51B52A-5F9F-A815-A2E3-EC589674E78B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714105-BED1-70C5-3415-DA12DDD61A35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异常概述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393C40-1809-5A35-781F-A04CB7BD98E6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ED47F7-DF98-81DF-36DE-B20D83F12AC2}"/>
              </a:ext>
            </a:extLst>
          </p:cNvPr>
          <p:cNvSpPr txBox="1"/>
          <p:nvPr/>
        </p:nvSpPr>
        <p:spPr>
          <a:xfrm>
            <a:off x="710038" y="1639213"/>
            <a:ext cx="102971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常见异常类型：</a:t>
            </a:r>
            <a:endParaRPr lang="en-US" altLang="zh-CN" sz="2400" dirty="0"/>
          </a:p>
          <a:p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NameError</a:t>
            </a:r>
            <a:endParaRPr lang="en-US" altLang="zh-CN" sz="2400" dirty="0"/>
          </a:p>
          <a:p>
            <a:r>
              <a:rPr lang="en-US" altLang="zh-CN" sz="2400" dirty="0"/>
              <a:t>• </a:t>
            </a:r>
            <a:r>
              <a:rPr lang="en-US" altLang="zh-CN" sz="2400" dirty="0" err="1"/>
              <a:t>NameError</a:t>
            </a:r>
            <a:r>
              <a:rPr lang="zh-CN" altLang="en-US" sz="2400" dirty="0"/>
              <a:t>是程序中使用了未定义的变量时会引发的异常。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IndexError</a:t>
            </a:r>
            <a:endParaRPr lang="en-US" altLang="zh-CN" sz="2400" dirty="0"/>
          </a:p>
          <a:p>
            <a:r>
              <a:rPr lang="en-US" altLang="zh-CN" sz="2400" dirty="0"/>
              <a:t>• </a:t>
            </a:r>
            <a:r>
              <a:rPr lang="en-US" altLang="zh-CN" sz="2400" dirty="0" err="1"/>
              <a:t>IndexError</a:t>
            </a:r>
            <a:r>
              <a:rPr lang="zh-CN" altLang="en-US" sz="2400" dirty="0"/>
              <a:t>是程序越界访问时会引发的异常。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AttributeError</a:t>
            </a:r>
            <a:endParaRPr lang="en-US" altLang="zh-CN" sz="2400" dirty="0"/>
          </a:p>
          <a:p>
            <a:r>
              <a:rPr lang="en-US" altLang="zh-CN" sz="2400" dirty="0"/>
              <a:t>• </a:t>
            </a:r>
            <a:r>
              <a:rPr lang="en-US" altLang="zh-CN" sz="2400" dirty="0" err="1"/>
              <a:t>AttributeError</a:t>
            </a:r>
            <a:r>
              <a:rPr lang="zh-CN" altLang="en-US" sz="2400" dirty="0"/>
              <a:t>是使用对象访问丌存在的属性时引发的异常。</a:t>
            </a:r>
            <a:endParaRPr lang="en-US" altLang="zh-CN" sz="2400" dirty="0"/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FileNotFoundError</a:t>
            </a:r>
            <a:endParaRPr lang="en-US" altLang="zh-CN" sz="2400" dirty="0"/>
          </a:p>
          <a:p>
            <a:r>
              <a:rPr lang="en-US" altLang="zh-CN" sz="2400" dirty="0"/>
              <a:t>• </a:t>
            </a:r>
            <a:r>
              <a:rPr lang="en-US" altLang="zh-CN" sz="2400" dirty="0" err="1"/>
              <a:t>FileNotFoundError</a:t>
            </a:r>
            <a:r>
              <a:rPr lang="zh-CN" altLang="en-US" sz="2400" dirty="0"/>
              <a:t>是未找到指定文件戒目录时引发的异常。</a:t>
            </a:r>
            <a:endParaRPr lang="en-US" altLang="zh-CN" sz="2400" dirty="0"/>
          </a:p>
          <a:p>
            <a:r>
              <a:rPr lang="en-US" altLang="zh-CN" sz="2400" dirty="0"/>
              <a:t>….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7742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DB64B-3FF7-DA8B-07C7-BF49978C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F66B576E-2E0B-3624-DCF2-FF90F933A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5CC30059-3C2A-835A-2343-98D13A347C5E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3FD59E-2DAD-6F2E-753C-A803E4B3FDA8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55EE34-E609-72AF-063C-B94F1105BEBD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异常捕获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2BBA58-6D78-4755-D1D0-253AEC2CD01E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8EDAF6-FBCB-B832-100F-4E344E0295E8}"/>
              </a:ext>
            </a:extLst>
          </p:cNvPr>
          <p:cNvSpPr txBox="1"/>
          <p:nvPr/>
        </p:nvSpPr>
        <p:spPr>
          <a:xfrm>
            <a:off x="710038" y="1639213"/>
            <a:ext cx="106424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Python</a:t>
            </a:r>
            <a:r>
              <a:rPr lang="zh-CN" altLang="en-US" sz="2400" dirty="0"/>
              <a:t>既可以直接通过</a:t>
            </a:r>
            <a:r>
              <a:rPr lang="en-US" altLang="zh-CN" sz="2400" dirty="0"/>
              <a:t>try-except</a:t>
            </a:r>
            <a:r>
              <a:rPr lang="zh-CN" altLang="en-US" sz="2400" dirty="0"/>
              <a:t>语句实现简单的异常捕获不处理的功能， 也可以将</a:t>
            </a:r>
            <a:r>
              <a:rPr lang="en-US" altLang="zh-CN" sz="2400" dirty="0"/>
              <a:t>try-except</a:t>
            </a:r>
            <a:r>
              <a:rPr lang="zh-CN" altLang="en-US" sz="2400" dirty="0"/>
              <a:t>语句不</a:t>
            </a:r>
            <a:r>
              <a:rPr lang="en-US" altLang="zh-CN" sz="2400" dirty="0"/>
              <a:t>else</a:t>
            </a:r>
            <a:r>
              <a:rPr lang="zh-CN" altLang="en-US" sz="2400" dirty="0"/>
              <a:t>戒</a:t>
            </a:r>
            <a:r>
              <a:rPr lang="en-US" altLang="zh-CN" sz="2400" dirty="0"/>
              <a:t>finally</a:t>
            </a:r>
            <a:r>
              <a:rPr lang="zh-CN" altLang="en-US" sz="2400" dirty="0"/>
              <a:t>子句组合实现更强大的异常捕获不处理的功能。</a:t>
            </a:r>
            <a:endParaRPr lang="en-US" altLang="zh-CN" sz="2400" dirty="0"/>
          </a:p>
          <a:p>
            <a:r>
              <a:rPr lang="en-US" altLang="zh-CN" sz="2400" dirty="0"/>
              <a:t>try-except</a:t>
            </a:r>
            <a:r>
              <a:rPr lang="zh-CN" altLang="en-US" sz="2400" dirty="0"/>
              <a:t>语句的语法格式如下：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try</a:t>
            </a:r>
            <a:r>
              <a:rPr lang="en-US" altLang="zh-CN" sz="2400" dirty="0"/>
              <a:t>:</a:t>
            </a:r>
          </a:p>
          <a:p>
            <a:r>
              <a:rPr lang="zh-CN" altLang="en-US" sz="2400" dirty="0"/>
              <a:t>     </a:t>
            </a:r>
            <a:r>
              <a:rPr lang="zh-CN" altLang="en-US" sz="2400" dirty="0">
                <a:solidFill>
                  <a:srgbClr val="00B0F0"/>
                </a:solidFill>
              </a:rPr>
              <a:t>可能出错的代码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except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[</a:t>
            </a:r>
            <a:r>
              <a:rPr lang="zh-CN" altLang="en-US" sz="2400" dirty="0">
                <a:solidFill>
                  <a:srgbClr val="00B0F0"/>
                </a:solidFill>
              </a:rPr>
              <a:t>异常类型 </a:t>
            </a:r>
            <a:r>
              <a:rPr lang="en-US" altLang="zh-CN" sz="2400" dirty="0">
                <a:solidFill>
                  <a:srgbClr val="00B050"/>
                </a:solidFill>
              </a:rPr>
              <a:t>[</a:t>
            </a:r>
            <a:r>
              <a:rPr lang="en-US" altLang="zh-CN" sz="2400" dirty="0">
                <a:solidFill>
                  <a:srgbClr val="00B0F0"/>
                </a:solidFill>
              </a:rPr>
              <a:t>as error</a:t>
            </a:r>
            <a:r>
              <a:rPr lang="en-US" altLang="zh-CN" sz="2400" dirty="0">
                <a:solidFill>
                  <a:srgbClr val="00B050"/>
                </a:solidFill>
              </a:rPr>
              <a:t>]]</a:t>
            </a:r>
            <a:r>
              <a:rPr lang="en-US" altLang="zh-CN" sz="2400" dirty="0"/>
              <a:t>: </a:t>
            </a:r>
            <a:r>
              <a:rPr lang="en-US" altLang="zh-CN" sz="2400" dirty="0">
                <a:solidFill>
                  <a:schemeClr val="bg2"/>
                </a:solidFill>
              </a:rPr>
              <a:t># </a:t>
            </a:r>
            <a:r>
              <a:rPr lang="zh-CN" altLang="en-US" sz="2400" dirty="0">
                <a:solidFill>
                  <a:schemeClr val="bg2"/>
                </a:solidFill>
              </a:rPr>
              <a:t>将捕获到的异常对象赋</a:t>
            </a:r>
            <a:r>
              <a:rPr lang="en-US" altLang="zh-CN" sz="2400" dirty="0">
                <a:solidFill>
                  <a:schemeClr val="bg2"/>
                </a:solidFill>
              </a:rPr>
              <a:t>error</a:t>
            </a:r>
          </a:p>
          <a:p>
            <a:r>
              <a:rPr lang="zh-CN" altLang="en-US" sz="2400" dirty="0"/>
              <a:t>     </a:t>
            </a:r>
            <a:r>
              <a:rPr lang="zh-CN" altLang="en-US" sz="2400" dirty="0">
                <a:solidFill>
                  <a:srgbClr val="00B0F0"/>
                </a:solidFill>
              </a:rPr>
              <a:t>捕获异常后的处理代码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256D6C-CC88-CC91-07AD-CE95B91F1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2978041"/>
            <a:ext cx="27241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7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9C201-5D8A-93D5-717F-866A2E30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3DEF82FE-2C50-C759-86A1-4794CC43E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B627642D-B9E5-C60B-DAB8-D94089507F33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8499E1-1B30-727C-5135-4781949F2EF4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F13F6B-8C67-6EFD-7F74-1737AB0B52B1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异常捕获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282EBD-CB32-CDA7-503F-1B4BB39A1E3C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F9BCB6-E57B-A897-4503-84225CBFB3C4}"/>
              </a:ext>
            </a:extLst>
          </p:cNvPr>
          <p:cNvSpPr txBox="1"/>
          <p:nvPr/>
        </p:nvSpPr>
        <p:spPr>
          <a:xfrm>
            <a:off x="697137" y="1325599"/>
            <a:ext cx="10642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try-except</a:t>
            </a:r>
            <a:r>
              <a:rPr lang="zh-CN" altLang="en-US" sz="2400" dirty="0"/>
              <a:t>语句可以捕获不处理程序的单个、 多个戒全部异常。</a:t>
            </a:r>
            <a:endParaRPr lang="en-US" altLang="zh-CN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909ED71-CF60-E541-960C-E7A087F5C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2712085"/>
            <a:ext cx="2724150" cy="2286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E790683-C8DA-CB90-E51C-43CA9E71BFF1}"/>
              </a:ext>
            </a:extLst>
          </p:cNvPr>
          <p:cNvSpPr txBox="1"/>
          <p:nvPr/>
        </p:nvSpPr>
        <p:spPr>
          <a:xfrm>
            <a:off x="695324" y="1844203"/>
            <a:ext cx="11220424" cy="452431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num_one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= int(input("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请输入被除数： 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"))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num_two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= int(input("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请输入除数： 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"))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单个异常类型</a:t>
            </a:r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try: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  print("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结果为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",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num_one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/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num_two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except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ZeroDivisionError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:       #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捕获单个异常</a:t>
            </a:r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  print("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出错了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")</a:t>
            </a:r>
            <a:endParaRPr lang="zh-CN" altLang="en-US" b="0" i="0" dirty="0">
              <a:effectLst/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多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个异常类型</a:t>
            </a:r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try:</a:t>
            </a: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  print("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结果为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", 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</a:rPr>
              <a:t>num_one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 / 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</a:rPr>
              <a:t>num_two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except (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</a:rPr>
              <a:t>ZeroDivisionError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</a:rPr>
              <a:t>ValueError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) as error: </a:t>
            </a:r>
            <a:r>
              <a:rPr lang="en-US" altLang="zh-CN" i="0" dirty="0">
                <a:effectLst/>
                <a:latin typeface="Consolas" panose="020B0609020204030204" pitchFamily="49" charset="0"/>
              </a:rPr>
              <a:t>#</a:t>
            </a:r>
            <a:r>
              <a:rPr lang="zh-CN" altLang="en-US" i="0" dirty="0">
                <a:effectLst/>
                <a:latin typeface="Consolas" panose="020B0609020204030204" pitchFamily="49" charset="0"/>
              </a:rPr>
              <a:t>捕获多个异常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  print("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出错了， 原因：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", error)</a:t>
            </a: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try:</a:t>
            </a: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  print("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结果为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", 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</a:rPr>
              <a:t>num_one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 / </a:t>
            </a:r>
            <a:r>
              <a:rPr lang="en-US" altLang="zh-CN" dirty="0" err="1">
                <a:latin typeface="Consolas" panose="020B0609020204030204" pitchFamily="49" charset="0"/>
                <a:ea typeface="微软雅黑" panose="020B0503020204020204" pitchFamily="34" charset="-122"/>
              </a:rPr>
              <a:t>num_two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except Exception as error:           </a:t>
            </a:r>
            <a:r>
              <a:rPr lang="en-US" altLang="zh-CN" i="0" dirty="0">
                <a:effectLst/>
                <a:latin typeface="Consolas" panose="020B0609020204030204" pitchFamily="49" charset="0"/>
              </a:rPr>
              <a:t>#</a:t>
            </a:r>
            <a:r>
              <a:rPr lang="zh-CN" altLang="en-US" i="0" dirty="0">
                <a:effectLst/>
                <a:latin typeface="Consolas" panose="020B0609020204030204" pitchFamily="49" charset="0"/>
              </a:rPr>
              <a:t>捕获全部异常，异常类型设置为</a:t>
            </a:r>
            <a:r>
              <a:rPr lang="en-US" altLang="zh-CN" i="0" dirty="0">
                <a:effectLst/>
                <a:latin typeface="Consolas" panose="020B0609020204030204" pitchFamily="49" charset="0"/>
              </a:rPr>
              <a:t>Exception</a:t>
            </a:r>
            <a:r>
              <a:rPr lang="zh-CN" altLang="en-US" i="0" dirty="0">
                <a:effectLst/>
                <a:latin typeface="Consolas" panose="020B0609020204030204" pitchFamily="49" charset="0"/>
              </a:rPr>
              <a:t>或省略不写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  print("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出错了， 原因：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", error)</a:t>
            </a:r>
          </a:p>
        </p:txBody>
      </p:sp>
    </p:spTree>
    <p:extLst>
      <p:ext uri="{BB962C8B-B14F-4D97-AF65-F5344CB8AC3E}">
        <p14:creationId xmlns:p14="http://schemas.microsoft.com/office/powerpoint/2010/main" val="54821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BAC89-8B1E-1BA7-C907-43698C307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5BB844E1-3547-FAD4-C040-E71366DE6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8C05245-F176-B221-89EF-3AEE899E9664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A34B06-1777-BE5A-BB7B-69F6BFCBBC72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94B58B-3C77-BF42-40AF-41EE85548CAA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异常捕获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E25042-991E-8A25-0091-DD38E66B1B91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348E7F-7492-8702-6EAF-3FA695FB51D6}"/>
              </a:ext>
            </a:extLst>
          </p:cNvPr>
          <p:cNvSpPr txBox="1"/>
          <p:nvPr/>
        </p:nvSpPr>
        <p:spPr>
          <a:xfrm>
            <a:off x="774754" y="1502816"/>
            <a:ext cx="10642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else</a:t>
            </a:r>
            <a:r>
              <a:rPr lang="zh-CN" altLang="en-US" sz="2400" dirty="0"/>
              <a:t>子句可以不</a:t>
            </a:r>
            <a:r>
              <a:rPr lang="en-US" altLang="zh-CN" sz="2400" dirty="0"/>
              <a:t>try-except</a:t>
            </a:r>
            <a:r>
              <a:rPr lang="zh-CN" altLang="en-US" sz="2400" dirty="0"/>
              <a:t>语句组合成</a:t>
            </a:r>
            <a:r>
              <a:rPr lang="en-US" altLang="zh-CN" sz="2400" dirty="0"/>
              <a:t>try-except-else</a:t>
            </a:r>
            <a:r>
              <a:rPr lang="zh-CN" altLang="en-US" sz="2400" dirty="0"/>
              <a:t>结构， 若</a:t>
            </a:r>
            <a:r>
              <a:rPr lang="en-US" altLang="zh-CN" sz="2400" dirty="0"/>
              <a:t>try</a:t>
            </a:r>
            <a:r>
              <a:rPr lang="zh-CN" altLang="en-US" sz="2400" dirty="0"/>
              <a:t>监控的代码没有异常， 程序会执行</a:t>
            </a:r>
            <a:r>
              <a:rPr lang="en-US" altLang="zh-CN" sz="2400" dirty="0"/>
              <a:t>else</a:t>
            </a:r>
            <a:r>
              <a:rPr lang="zh-CN" altLang="en-US" sz="2400" dirty="0"/>
              <a:t>子句后的代码。语法格式如下：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try:</a:t>
            </a:r>
          </a:p>
          <a:p>
            <a:r>
              <a:rPr lang="zh-CN" altLang="en-US" sz="2400" dirty="0">
                <a:solidFill>
                  <a:srgbClr val="00B0F0"/>
                </a:solidFill>
              </a:rPr>
              <a:t>     可能出错的代码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except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92D050"/>
                </a:solidFill>
              </a:rPr>
              <a:t>[</a:t>
            </a:r>
            <a:r>
              <a:rPr lang="zh-CN" altLang="en-US" sz="2400" dirty="0">
                <a:solidFill>
                  <a:srgbClr val="00B0F0"/>
                </a:solidFill>
              </a:rPr>
              <a:t>异常类型</a:t>
            </a:r>
            <a:r>
              <a:rPr lang="zh-CN" altLang="en-US" sz="2400" dirty="0">
                <a:solidFill>
                  <a:srgbClr val="92D050"/>
                </a:solidFill>
              </a:rPr>
              <a:t> </a:t>
            </a:r>
            <a:r>
              <a:rPr lang="en-US" altLang="zh-CN" sz="2400" dirty="0">
                <a:solidFill>
                  <a:srgbClr val="92D050"/>
                </a:solidFill>
              </a:rPr>
              <a:t>[</a:t>
            </a:r>
            <a:r>
              <a:rPr lang="en-US" altLang="zh-CN" sz="2400" dirty="0">
                <a:solidFill>
                  <a:srgbClr val="00B0F0"/>
                </a:solidFill>
              </a:rPr>
              <a:t>as error</a:t>
            </a:r>
            <a:r>
              <a:rPr lang="en-US" altLang="zh-CN" sz="2400" dirty="0">
                <a:solidFill>
                  <a:srgbClr val="92D050"/>
                </a:solidFill>
              </a:rPr>
              <a:t>]]</a:t>
            </a:r>
            <a:r>
              <a:rPr lang="en-US" altLang="zh-CN" sz="2400" dirty="0">
                <a:solidFill>
                  <a:srgbClr val="FF0000"/>
                </a:solidFill>
              </a:rPr>
              <a:t>:</a:t>
            </a:r>
            <a:r>
              <a:rPr lang="en-US" altLang="zh-CN" sz="2400" dirty="0"/>
              <a:t>      </a:t>
            </a:r>
            <a:r>
              <a:rPr lang="en-US" altLang="zh-CN" sz="2400" dirty="0">
                <a:solidFill>
                  <a:schemeClr val="bg2"/>
                </a:solidFill>
              </a:rPr>
              <a:t># </a:t>
            </a:r>
            <a:r>
              <a:rPr lang="zh-CN" altLang="en-US" sz="2400" dirty="0">
                <a:solidFill>
                  <a:schemeClr val="bg2"/>
                </a:solidFill>
              </a:rPr>
              <a:t>将捕获到的异常对象赋值</a:t>
            </a:r>
            <a:r>
              <a:rPr lang="en-US" altLang="zh-CN" sz="2400" dirty="0">
                <a:solidFill>
                  <a:schemeClr val="bg2"/>
                </a:solidFill>
              </a:rPr>
              <a:t>error</a:t>
            </a:r>
          </a:p>
          <a:p>
            <a:r>
              <a:rPr lang="zh-CN" altLang="en-US" sz="2400" dirty="0">
                <a:solidFill>
                  <a:srgbClr val="00B0F0"/>
                </a:solidFill>
              </a:rPr>
              <a:t>     捕获异常后的处理代码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else:</a:t>
            </a:r>
          </a:p>
          <a:p>
            <a:r>
              <a:rPr lang="zh-CN" altLang="en-US" sz="2400" dirty="0">
                <a:solidFill>
                  <a:srgbClr val="00B0F0"/>
                </a:solidFill>
              </a:rPr>
              <a:t>     未捕获异常后的处理代码</a:t>
            </a:r>
            <a:endParaRPr lang="en-US" altLang="zh-CN" sz="2400" dirty="0">
              <a:solidFill>
                <a:srgbClr val="00B0F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B3BE36A-7435-639F-FC9C-FAAA84863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2712085"/>
            <a:ext cx="27241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94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68AFE-19B6-9731-0EFD-5938ABBC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D972F6FE-FA94-CE14-525A-76ABFFE5D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BD35017-3DC1-7F72-4134-56BD9889C49D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A92214-3510-5F92-B6B5-94270B924F99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F931E9-8532-8BF5-CFCB-3BEDD3F0AA03}"/>
              </a:ext>
            </a:extLst>
          </p:cNvPr>
          <p:cNvSpPr txBox="1"/>
          <p:nvPr/>
        </p:nvSpPr>
        <p:spPr>
          <a:xfrm>
            <a:off x="623392" y="89134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异常捕获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4FE243-2BF5-348A-394E-BDF1B3DC26A6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5CBABD-A2E6-6234-B04E-95AD399ABFA9}"/>
              </a:ext>
            </a:extLst>
          </p:cNvPr>
          <p:cNvSpPr txBox="1"/>
          <p:nvPr/>
        </p:nvSpPr>
        <p:spPr>
          <a:xfrm>
            <a:off x="623392" y="1344311"/>
            <a:ext cx="106424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else</a:t>
            </a:r>
            <a:r>
              <a:rPr lang="zh-CN" altLang="en-US" sz="2400" dirty="0"/>
              <a:t>子句可以不</a:t>
            </a:r>
            <a:r>
              <a:rPr lang="en-US" altLang="zh-CN" sz="2400" dirty="0"/>
              <a:t>try-except</a:t>
            </a:r>
            <a:r>
              <a:rPr lang="zh-CN" altLang="en-US" sz="2400" dirty="0"/>
              <a:t>语句组合成</a:t>
            </a:r>
            <a:r>
              <a:rPr lang="en-US" altLang="zh-CN" sz="2400" dirty="0"/>
              <a:t>try-except-else</a:t>
            </a:r>
            <a:r>
              <a:rPr lang="zh-CN" altLang="en-US" sz="2400" dirty="0"/>
              <a:t>结构， 若</a:t>
            </a:r>
            <a:r>
              <a:rPr lang="en-US" altLang="zh-CN" sz="2400" dirty="0"/>
              <a:t>try</a:t>
            </a:r>
            <a:r>
              <a:rPr lang="zh-CN" altLang="en-US" sz="2400" dirty="0"/>
              <a:t>监控的代码没有异常， 程序会执行</a:t>
            </a:r>
            <a:r>
              <a:rPr lang="en-US" altLang="zh-CN" sz="2400" dirty="0"/>
              <a:t>else</a:t>
            </a:r>
            <a:r>
              <a:rPr lang="zh-CN" altLang="en-US" sz="2400" dirty="0"/>
              <a:t>子句后的代码。</a:t>
            </a:r>
            <a:endParaRPr lang="en-US" altLang="zh-CN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ADD1949-E8C2-7FA8-FDED-48593298B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2712085"/>
            <a:ext cx="2724150" cy="2286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F89C5A7-EF9F-2D93-A9EE-7221FC2388E5}"/>
              </a:ext>
            </a:extLst>
          </p:cNvPr>
          <p:cNvSpPr txBox="1"/>
          <p:nvPr/>
        </p:nvSpPr>
        <p:spPr>
          <a:xfrm>
            <a:off x="648963" y="2531744"/>
            <a:ext cx="7679285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first_num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= int(input("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请输入被除数： 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"))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second_num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= int(input("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请输入除数： 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"))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try: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res =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first_num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second_num</a:t>
            </a:r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except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ZeroDivisionError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as error: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print('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异常原因： 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',error)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else: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print(res)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083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445E2-06E0-8C96-0DEC-482D7A7D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F70A9403-425E-3B52-C583-F10AC2639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7BD066C5-A9D5-7A37-FAD9-808F305A1523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5F4647-9E6B-75C4-CBC6-468072798302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24DA14-A1FA-FED9-3A34-03A61D179453}"/>
              </a:ext>
            </a:extLst>
          </p:cNvPr>
          <p:cNvSpPr txBox="1"/>
          <p:nvPr/>
        </p:nvSpPr>
        <p:spPr>
          <a:xfrm>
            <a:off x="695324" y="87145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异常捕获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DBCE1B-1D93-7BB7-C80F-928A266B290E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807C46-CB7F-98FD-ED52-11F22CADFB00}"/>
              </a:ext>
            </a:extLst>
          </p:cNvPr>
          <p:cNvSpPr txBox="1"/>
          <p:nvPr/>
        </p:nvSpPr>
        <p:spPr>
          <a:xfrm>
            <a:off x="774754" y="1502816"/>
            <a:ext cx="106424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finally</a:t>
            </a:r>
            <a:r>
              <a:rPr lang="zh-CN" altLang="en-US" sz="2400" dirty="0"/>
              <a:t>子句可以和</a:t>
            </a:r>
            <a:r>
              <a:rPr lang="en-US" altLang="zh-CN" sz="2400" dirty="0"/>
              <a:t>try-except</a:t>
            </a:r>
            <a:r>
              <a:rPr lang="zh-CN" altLang="en-US" sz="2400" dirty="0"/>
              <a:t>一起使用， 语法格式如下：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try:</a:t>
            </a:r>
          </a:p>
          <a:p>
            <a:r>
              <a:rPr lang="zh-CN" altLang="en-US" sz="2400" dirty="0">
                <a:solidFill>
                  <a:srgbClr val="00B0F0"/>
                </a:solidFill>
              </a:rPr>
              <a:t>     可能出错的代码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except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92D050"/>
                </a:solidFill>
              </a:rPr>
              <a:t>[</a:t>
            </a:r>
            <a:r>
              <a:rPr lang="zh-CN" altLang="en-US" sz="2400" dirty="0">
                <a:solidFill>
                  <a:srgbClr val="00B0F0"/>
                </a:solidFill>
              </a:rPr>
              <a:t>异常类型</a:t>
            </a:r>
            <a:r>
              <a:rPr lang="zh-CN" altLang="en-US" sz="2400" dirty="0">
                <a:solidFill>
                  <a:srgbClr val="92D050"/>
                </a:solidFill>
              </a:rPr>
              <a:t> </a:t>
            </a:r>
            <a:r>
              <a:rPr lang="en-US" altLang="zh-CN" sz="2400" dirty="0">
                <a:solidFill>
                  <a:srgbClr val="92D050"/>
                </a:solidFill>
              </a:rPr>
              <a:t>[</a:t>
            </a:r>
            <a:r>
              <a:rPr lang="en-US" altLang="zh-CN" sz="2400" dirty="0">
                <a:solidFill>
                  <a:srgbClr val="00B0F0"/>
                </a:solidFill>
              </a:rPr>
              <a:t>as error</a:t>
            </a:r>
            <a:r>
              <a:rPr lang="en-US" altLang="zh-CN" sz="2400" dirty="0">
                <a:solidFill>
                  <a:srgbClr val="92D050"/>
                </a:solidFill>
              </a:rPr>
              <a:t>]]</a:t>
            </a:r>
            <a:r>
              <a:rPr lang="en-US" altLang="zh-CN" sz="2400" dirty="0">
                <a:solidFill>
                  <a:srgbClr val="FF0000"/>
                </a:solidFill>
              </a:rPr>
              <a:t>:</a:t>
            </a:r>
            <a:r>
              <a:rPr lang="en-US" altLang="zh-CN" sz="2400" dirty="0"/>
              <a:t>      </a:t>
            </a:r>
            <a:r>
              <a:rPr lang="en-US" altLang="zh-CN" sz="2400" dirty="0">
                <a:solidFill>
                  <a:schemeClr val="bg2"/>
                </a:solidFill>
              </a:rPr>
              <a:t># </a:t>
            </a:r>
            <a:r>
              <a:rPr lang="zh-CN" altLang="en-US" sz="2400" dirty="0">
                <a:solidFill>
                  <a:schemeClr val="bg2"/>
                </a:solidFill>
              </a:rPr>
              <a:t>将捕获到的异常对象赋值</a:t>
            </a:r>
            <a:r>
              <a:rPr lang="en-US" altLang="zh-CN" sz="2400" dirty="0">
                <a:solidFill>
                  <a:schemeClr val="bg2"/>
                </a:solidFill>
              </a:rPr>
              <a:t>error</a:t>
            </a:r>
          </a:p>
          <a:p>
            <a:r>
              <a:rPr lang="zh-CN" altLang="en-US" sz="2400" dirty="0">
                <a:solidFill>
                  <a:srgbClr val="00B0F0"/>
                </a:solidFill>
              </a:rPr>
              <a:t>     捕获异常后的处理代码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finally:</a:t>
            </a:r>
          </a:p>
          <a:p>
            <a:r>
              <a:rPr lang="zh-CN" altLang="en-US" sz="2400" dirty="0">
                <a:solidFill>
                  <a:srgbClr val="00B0F0"/>
                </a:solidFill>
              </a:rPr>
              <a:t>     一定执行的代码</a:t>
            </a:r>
            <a:endParaRPr lang="en-US" altLang="zh-CN" sz="2400" dirty="0">
              <a:solidFill>
                <a:srgbClr val="00B0F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4FD794-7AF9-91A2-E969-9CF8BE9B5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2712085"/>
            <a:ext cx="27241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95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F50CD-5083-5CD8-7C7B-7D7CB025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DE4F3D7A-BA09-67DA-40E5-8030FE367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7F153741-9744-5191-38D7-9B264C9D5F43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AE17E8-5922-B11B-4EFA-1AA9A2D8CC90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456E39-E64C-9A8A-8FE1-AADB9255D526}"/>
              </a:ext>
            </a:extLst>
          </p:cNvPr>
          <p:cNvSpPr txBox="1"/>
          <p:nvPr/>
        </p:nvSpPr>
        <p:spPr>
          <a:xfrm>
            <a:off x="623392" y="89134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异常捕获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5F6B87-BB8F-8D9B-548E-74DC5A62FDA4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87DFAA-9E26-FE63-F302-26FE7E521874}"/>
              </a:ext>
            </a:extLst>
          </p:cNvPr>
          <p:cNvSpPr txBox="1"/>
          <p:nvPr/>
        </p:nvSpPr>
        <p:spPr>
          <a:xfrm>
            <a:off x="623392" y="1344311"/>
            <a:ext cx="106424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• </a:t>
            </a:r>
            <a:r>
              <a:rPr lang="zh-CN" altLang="en-US" sz="2400" dirty="0"/>
              <a:t>无论</a:t>
            </a:r>
            <a:r>
              <a:rPr lang="en-US" altLang="zh-CN" sz="2400" dirty="0"/>
              <a:t>try</a:t>
            </a:r>
            <a:r>
              <a:rPr lang="zh-CN" altLang="en-US" sz="2400" dirty="0"/>
              <a:t>子句监控的代码是否产生异常， </a:t>
            </a:r>
            <a:r>
              <a:rPr lang="en-US" altLang="zh-CN" sz="2400" dirty="0"/>
              <a:t>finally</a:t>
            </a:r>
            <a:r>
              <a:rPr lang="zh-CN" altLang="en-US" sz="2400" dirty="0"/>
              <a:t>子句都会被执行</a:t>
            </a:r>
          </a:p>
          <a:p>
            <a:r>
              <a:rPr lang="en-US" altLang="zh-CN" sz="2400" dirty="0"/>
              <a:t>• finally</a:t>
            </a:r>
            <a:r>
              <a:rPr lang="zh-CN" altLang="en-US" sz="2400" dirty="0"/>
              <a:t>子句多用于预设资源的清理操作， 如关闭文件、 关闭网络连接</a:t>
            </a:r>
            <a:endParaRPr lang="en-US" altLang="zh-CN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235F15D-75C2-6621-93A4-C2F95C348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2712085"/>
            <a:ext cx="2724150" cy="2286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20A0B93-8D3D-FBBE-E85B-82CB26139E6A}"/>
              </a:ext>
            </a:extLst>
          </p:cNvPr>
          <p:cNvSpPr txBox="1"/>
          <p:nvPr/>
        </p:nvSpPr>
        <p:spPr>
          <a:xfrm>
            <a:off x="648963" y="2531744"/>
            <a:ext cx="7679285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try: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file = open('./file.txt', mode='r', encoding='utf-8’)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print(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file.read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except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FileNotFoundError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as error: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print(error)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finally: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file.close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print('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文件已关闭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')</a:t>
            </a:r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084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FC89D-A6B1-698A-F874-3734F8A59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8C911DD1-B10A-EB99-D4CD-52B5806D5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8EABE753-EA6D-CFC2-229E-96BDC6F18C34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C1D8EE-B133-51E0-7216-3B41892C3A10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50E27E-45E2-FE1E-5970-E73443BD1429}"/>
              </a:ext>
            </a:extLst>
          </p:cNvPr>
          <p:cNvSpPr txBox="1"/>
          <p:nvPr/>
        </p:nvSpPr>
        <p:spPr>
          <a:xfrm>
            <a:off x="623392" y="89134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抛出异常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50F7A5-70C7-CD61-4814-852AE59E2877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CCECA4-C6CE-C414-CF0B-794F63D7435E}"/>
              </a:ext>
            </a:extLst>
          </p:cNvPr>
          <p:cNvSpPr txBox="1"/>
          <p:nvPr/>
        </p:nvSpPr>
        <p:spPr>
          <a:xfrm>
            <a:off x="695400" y="2712085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Python</a:t>
            </a:r>
            <a:r>
              <a:rPr lang="zh-CN" altLang="en-US" sz="2400" dirty="0"/>
              <a:t>程序中的异常不仅可以自动触发异常， 而且还可以由开发人员使用</a:t>
            </a:r>
            <a:r>
              <a:rPr lang="en-US" altLang="zh-CN" sz="2400" dirty="0"/>
              <a:t>raise</a:t>
            </a:r>
            <a:r>
              <a:rPr lang="zh-CN" altLang="en-US" sz="2400" dirty="0"/>
              <a:t>和</a:t>
            </a:r>
            <a:r>
              <a:rPr lang="en-US" altLang="zh-CN" sz="2400" dirty="0"/>
              <a:t>assert</a:t>
            </a:r>
            <a:r>
              <a:rPr lang="zh-CN" altLang="en-US" sz="2400" dirty="0"/>
              <a:t>语句主动抛出异常。</a:t>
            </a:r>
            <a:endParaRPr lang="en-US" altLang="zh-CN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A4A0BF2-A347-E5BB-69C6-B0E7E8A26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862" y="2201968"/>
            <a:ext cx="38385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5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1A723-9C28-DCC4-6EF5-7A501EADC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61E23DB5-C0A8-D8DA-00D6-C42BDA872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876CEE8-7858-821B-A248-0DDAC35F2C4D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873B1D-ABB0-7AA1-B599-21C8083BC89E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140A62-1FB8-BBDF-09EB-5EFCAC429B27}"/>
              </a:ext>
            </a:extLst>
          </p:cNvPr>
          <p:cNvSpPr txBox="1"/>
          <p:nvPr/>
        </p:nvSpPr>
        <p:spPr>
          <a:xfrm>
            <a:off x="623392" y="89134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抛出异常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1A7D99-6FCA-9063-9C8A-069720BF975D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8C0127-36A9-A811-A8D6-79EF5C63E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58" y="1671678"/>
            <a:ext cx="101441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7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58383-6A30-4B42-DFA4-196E39CB3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E910C6CA-5FF1-B5A3-AF7C-330D38AE6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4ADF9425-6687-2F92-62CE-2E656CE9058E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8E8912-ABA9-B796-3E23-F5BD3177901C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3AACD6-7E42-9563-3C10-B8D1F23471ED}"/>
              </a:ext>
            </a:extLst>
          </p:cNvPr>
          <p:cNvSpPr txBox="1"/>
          <p:nvPr/>
        </p:nvSpPr>
        <p:spPr>
          <a:xfrm>
            <a:off x="623392" y="89134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抛出异常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BC1CBA-79FA-EEA2-0E3A-20C675EB15E9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2C9A10B-E780-BC47-2EA1-3A39E2AB3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1784157"/>
            <a:ext cx="103727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5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A6DB-EF83-617B-5AE1-8C5ED553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3AFFB6B6-2F95-DAF4-08A6-6786B9EB5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4A3AA827-A8E7-1F3E-D9C8-06EC882377E7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A3AFBE-FE3D-05BA-C67C-3C8294D4867E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C22D05-6649-E4F7-222F-0F1B08589575}"/>
              </a:ext>
            </a:extLst>
          </p:cNvPr>
          <p:cNvSpPr txBox="1"/>
          <p:nvPr/>
        </p:nvSpPr>
        <p:spPr>
          <a:xfrm>
            <a:off x="623392" y="89134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抛出异常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7F9775-4558-9597-F337-C41C22B5ABBB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801D2A4-576A-817D-F79D-7131C00BD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412776"/>
            <a:ext cx="9697219" cy="342254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61F0B95-D9F3-CD59-02E1-D207A18C0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297" y="4486304"/>
            <a:ext cx="8438412" cy="236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A504-9704-EF86-EEA0-B0D9565F0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AEBC0089-99ED-D0F9-46FA-DD00A7BE6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CE8F9194-1C6F-BC49-3392-42F40C06499C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F603D4-ADA2-5976-0B0F-D6D1253AC761}"/>
              </a:ext>
            </a:extLst>
          </p:cNvPr>
          <p:cNvSpPr txBox="1"/>
          <p:nvPr/>
        </p:nvSpPr>
        <p:spPr>
          <a:xfrm>
            <a:off x="4943911" y="170074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024379-8237-42D5-6908-1C1096C3BA79}"/>
              </a:ext>
            </a:extLst>
          </p:cNvPr>
          <p:cNvSpPr txBox="1"/>
          <p:nvPr/>
        </p:nvSpPr>
        <p:spPr>
          <a:xfrm>
            <a:off x="623392" y="891346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ym typeface="+mn-ea"/>
              </a:rPr>
              <a:t>自定义异常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F38043-8A6D-4845-17DC-377EB005176E}"/>
              </a:ext>
            </a:extLst>
          </p:cNvPr>
          <p:cNvSpPr txBox="1"/>
          <p:nvPr/>
        </p:nvSpPr>
        <p:spPr>
          <a:xfrm>
            <a:off x="839470" y="2712085"/>
            <a:ext cx="6096000" cy="1384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/>
            <a:endParaRPr lang="zh-CN" altLang="en-US" sz="2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0CCE64-2F49-19FA-2FF1-445E3C0A0930}"/>
              </a:ext>
            </a:extLst>
          </p:cNvPr>
          <p:cNvSpPr txBox="1"/>
          <p:nvPr/>
        </p:nvSpPr>
        <p:spPr>
          <a:xfrm>
            <a:off x="623392" y="1520040"/>
            <a:ext cx="9721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有时我们需要自定义异常类， 以满足当前程序的需求。 自定义异常的方法比较简单， 只需要创建一个继承Exception类戒Exception子类的类（ 类名一般以“Error” 为结尾） 即可。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54DFF5-720D-844B-E6BE-920351BB8E7A}"/>
              </a:ext>
            </a:extLst>
          </p:cNvPr>
          <p:cNvSpPr txBox="1"/>
          <p:nvPr/>
        </p:nvSpPr>
        <p:spPr>
          <a:xfrm>
            <a:off x="2063552" y="2276872"/>
            <a:ext cx="83929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class ShortInputError(Exception):</a:t>
            </a:r>
          </a:p>
          <a:p>
            <a:r>
              <a:rPr lang="zh-CN" altLang="en-US" dirty="0"/>
              <a:t>         '''自定义异常类'‘’</a:t>
            </a:r>
          </a:p>
          <a:p>
            <a:r>
              <a:rPr lang="zh-CN" altLang="en-US" dirty="0"/>
              <a:t>         def __init__(self, length, atleast):</a:t>
            </a:r>
          </a:p>
          <a:p>
            <a:r>
              <a:rPr lang="zh-CN" altLang="en-US" dirty="0"/>
              <a:t>                 self.length = length  # 输入的密码长度</a:t>
            </a:r>
          </a:p>
          <a:p>
            <a:r>
              <a:rPr lang="zh-CN" altLang="en-US" dirty="0"/>
              <a:t>                 self.atleast = atleast  # 限制的密码长度</a:t>
            </a:r>
            <a:endParaRPr lang="en-US" altLang="zh-CN" dirty="0"/>
          </a:p>
          <a:p>
            <a:r>
              <a:rPr lang="zh-CN" altLang="en-US" dirty="0"/>
              <a:t>try:</a:t>
            </a:r>
          </a:p>
          <a:p>
            <a:r>
              <a:rPr lang="zh-CN" altLang="en-US" dirty="0"/>
              <a:t>      text = input("请输入密码： ")</a:t>
            </a:r>
          </a:p>
          <a:p>
            <a:r>
              <a:rPr lang="zh-CN" altLang="en-US" dirty="0"/>
              <a:t>      if len(text) &lt; 3:</a:t>
            </a:r>
          </a:p>
          <a:p>
            <a:r>
              <a:rPr lang="zh-CN" altLang="en-US" dirty="0"/>
              <a:t>             raise ShortInputError(len(text), 3)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except ShortInputError as result:</a:t>
            </a:r>
          </a:p>
          <a:p>
            <a:r>
              <a:rPr lang="zh-CN" altLang="en-US" dirty="0"/>
              <a:t>      print("ShortInputError： 输入的长度是%d， 长度至少应是 % d" %</a:t>
            </a:r>
          </a:p>
          <a:p>
            <a:r>
              <a:rPr lang="zh-CN" altLang="en-US" dirty="0"/>
              <a:t>             (result.length, result.atleast))</a:t>
            </a:r>
          </a:p>
          <a:p>
            <a:r>
              <a:rPr lang="zh-CN" altLang="en-US" dirty="0"/>
              <a:t>else:</a:t>
            </a:r>
          </a:p>
          <a:p>
            <a:r>
              <a:rPr lang="zh-CN" altLang="en-US" dirty="0"/>
              <a:t>      print("密码设置成功"</a:t>
            </a:r>
          </a:p>
        </p:txBody>
      </p:sp>
    </p:spTree>
    <p:extLst>
      <p:ext uri="{BB962C8B-B14F-4D97-AF65-F5344CB8AC3E}">
        <p14:creationId xmlns:p14="http://schemas.microsoft.com/office/powerpoint/2010/main" val="167677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7307-8BA9-BA1F-3DAC-0DC109A3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6092AB53-05A7-9A6F-27A3-D5E773FA3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B1118967-C151-66C4-CD0F-997366662288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41720C8-653E-AF6D-0904-3ACB4A814F9B}"/>
              </a:ext>
            </a:extLst>
          </p:cNvPr>
          <p:cNvSpPr txBox="1">
            <a:spLocks/>
          </p:cNvSpPr>
          <p:nvPr/>
        </p:nvSpPr>
        <p:spPr>
          <a:xfrm>
            <a:off x="839416" y="1012779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/>
              <a:t>文件操作</a:t>
            </a:r>
            <a:endParaRPr lang="zh-CN" alt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9A8A73B-9B97-931C-DEA9-938A5359178D}"/>
              </a:ext>
            </a:extLst>
          </p:cNvPr>
          <p:cNvSpPr txBox="1">
            <a:spLocks/>
          </p:cNvSpPr>
          <p:nvPr/>
        </p:nvSpPr>
        <p:spPr>
          <a:xfrm>
            <a:off x="839416" y="2132856"/>
            <a:ext cx="1108923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ts val="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noProof="1"/>
              <a:t>按文件中数据的组织形式把文件分为文本文件和二进制文件两类。</a:t>
            </a:r>
          </a:p>
          <a:p>
            <a:pPr marL="619745" indent="-287013" fontAlgn="base"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charset="0"/>
              <a:buChar char="ü"/>
            </a:pPr>
            <a:r>
              <a:rPr lang="zh-CN" altLang="en-US" sz="2000" b="1" noProof="1"/>
              <a:t>文本文件</a:t>
            </a:r>
            <a:r>
              <a:rPr lang="zh-CN" altLang="en-US" sz="2000" noProof="1"/>
              <a:t>：文本文件存储的是常规字符串，由若干文本行组成，通常每行以换行符'\n'结尾。</a:t>
            </a:r>
            <a:r>
              <a:rPr lang="zh-CN" altLang="en-US" sz="2000" noProof="1">
                <a:solidFill>
                  <a:srgbClr val="FF0000"/>
                </a:solidFill>
              </a:rPr>
              <a:t>常规字符串是指记事本或其他文本编辑器能正常显示、编辑并且人类能够直接阅读和理解的字符串</a:t>
            </a:r>
            <a:r>
              <a:rPr lang="zh-CN" altLang="en-US" sz="2000" noProof="1"/>
              <a:t>，如英文字母、汉字、数字字符串。文本文件可以使用字处理软件如gedit、记事本进行编辑。</a:t>
            </a:r>
          </a:p>
          <a:p>
            <a:pPr marL="619745" indent="-287013" fontAlgn="base"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charset="0"/>
              <a:buChar char="ü"/>
            </a:pPr>
            <a:r>
              <a:rPr lang="zh-CN" altLang="en-US" sz="2000" b="1" noProof="1"/>
              <a:t>二进制文件</a:t>
            </a:r>
            <a:r>
              <a:rPr lang="zh-CN" altLang="en-US" sz="2000" noProof="1"/>
              <a:t>：</a:t>
            </a:r>
            <a:r>
              <a:rPr lang="zh-CN" altLang="en-US" sz="2000" noProof="1">
                <a:solidFill>
                  <a:srgbClr val="FF0000"/>
                </a:solidFill>
              </a:rPr>
              <a:t>二进制文件把对象内容以字节串(bytes)进行存储</a:t>
            </a:r>
            <a:r>
              <a:rPr lang="zh-CN" altLang="en-US" sz="2000" noProof="1"/>
              <a:t>，无法用记事本或其他普通字处理软件直接进行编辑，通常也无法被人类直接阅读和理解，</a:t>
            </a:r>
            <a:r>
              <a:rPr lang="zh-CN" altLang="en-US" sz="2000" noProof="1">
                <a:solidFill>
                  <a:srgbClr val="FF0000"/>
                </a:solidFill>
              </a:rPr>
              <a:t>需要使用专门的软件</a:t>
            </a:r>
            <a:r>
              <a:rPr lang="zh-CN" altLang="en-US" sz="2000" noProof="1"/>
              <a:t>进行解码后读取、显示、修改或执行。常见的如图形图像文件、音视频文件、可执行文件、资源文件、各种数据库文件、各类office文档等都属于二进制文件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9807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8194A-4076-6ECE-5AEC-8FFBEED6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BBAD7500-EC97-EDED-CBE3-6DAEA537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9B59B5AA-8E8E-BA93-CC15-86E9C70A0C99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E42D06A6-F620-2551-D2A2-51F67FBE9DB5}"/>
              </a:ext>
            </a:extLst>
          </p:cNvPr>
          <p:cNvSpPr txBox="1">
            <a:spLocks/>
          </p:cNvSpPr>
          <p:nvPr/>
        </p:nvSpPr>
        <p:spPr>
          <a:xfrm>
            <a:off x="580986" y="1236602"/>
            <a:ext cx="10483566" cy="44212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</a:rPr>
              <a:t>文件内容操作三步走：打开、读写、关闭。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endParaRPr lang="zh-CN" altLang="en-US" sz="1800">
              <a:latin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open(file, mode='r', buffering=-1, encoding=None, errors=None,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zh-CN" altLang="en-US" sz="2000">
                <a:latin typeface="Consolas" panose="020B0609020204030204" pitchFamily="49" charset="0"/>
              </a:rPr>
              <a:t>     newline=None, closefd=True, opener=None)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charset="0"/>
              <a:buChar char=""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</a:rPr>
              <a:t>file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</a:rPr>
              <a:t>参数</a:t>
            </a:r>
            <a:r>
              <a:rPr lang="zh-CN" altLang="en-US" sz="2000">
                <a:latin typeface="微软雅黑" panose="020B0503020204020204" pitchFamily="34" charset="-122"/>
              </a:rPr>
              <a:t>指定了被打开的文件名称。</a:t>
            </a:r>
          </a:p>
          <a:p>
            <a:pPr fontAlgn="auto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</a:rPr>
              <a:t>mode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</a:rPr>
              <a:t>参数</a:t>
            </a:r>
            <a:r>
              <a:rPr lang="zh-CN" altLang="en-US" sz="2000">
                <a:latin typeface="微软雅黑" panose="020B0503020204020204" pitchFamily="34" charset="-122"/>
              </a:rPr>
              <a:t>指定了打开文件后的处理方式。</a:t>
            </a: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</a:rPr>
              <a:t>buffering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</a:rPr>
              <a:t>参数</a:t>
            </a:r>
            <a:r>
              <a:rPr lang="zh-CN" altLang="en-US" sz="2000">
                <a:latin typeface="微软雅黑" panose="020B0503020204020204" pitchFamily="34" charset="-122"/>
              </a:rPr>
              <a:t>指定了读写文件的缓存模式。</a:t>
            </a:r>
            <a:r>
              <a:rPr lang="en-US" altLang="zh-CN" sz="2000">
                <a:latin typeface="微软雅黑" panose="020B0503020204020204" pitchFamily="34" charset="-122"/>
              </a:rPr>
              <a:t>0</a:t>
            </a:r>
            <a:r>
              <a:rPr lang="zh-CN" altLang="en-US" sz="2000">
                <a:latin typeface="微软雅黑" panose="020B0503020204020204" pitchFamily="34" charset="-122"/>
              </a:rPr>
              <a:t>表示不缓存，</a:t>
            </a:r>
            <a:r>
              <a:rPr lang="en-US" altLang="zh-CN" sz="2000">
                <a:latin typeface="微软雅黑" panose="020B0503020204020204" pitchFamily="34" charset="-122"/>
              </a:rPr>
              <a:t>1</a:t>
            </a:r>
            <a:r>
              <a:rPr lang="zh-CN" altLang="en-US" sz="2000">
                <a:latin typeface="微软雅黑" panose="020B0503020204020204" pitchFamily="34" charset="-122"/>
              </a:rPr>
              <a:t>表示缓存，如大于</a:t>
            </a:r>
            <a:r>
              <a:rPr lang="en-US" altLang="zh-CN" sz="2000">
                <a:latin typeface="微软雅黑" panose="020B0503020204020204" pitchFamily="34" charset="-122"/>
              </a:rPr>
              <a:t>1</a:t>
            </a:r>
            <a:r>
              <a:rPr lang="zh-CN" altLang="en-US" sz="2000">
                <a:latin typeface="微软雅黑" panose="020B0503020204020204" pitchFamily="34" charset="-122"/>
              </a:rPr>
              <a:t>则表示缓冲区的大小。默认值</a:t>
            </a:r>
            <a:r>
              <a:rPr lang="en-US" altLang="zh-CN" sz="2000">
                <a:latin typeface="微软雅黑" panose="020B0503020204020204" pitchFamily="34" charset="-122"/>
              </a:rPr>
              <a:t>-1</a:t>
            </a:r>
            <a:r>
              <a:rPr lang="zh-CN" altLang="en-US" sz="2000">
                <a:latin typeface="微软雅黑" panose="020B0503020204020204" pitchFamily="34" charset="-122"/>
              </a:rPr>
              <a:t>表示由系统管理缓存。</a:t>
            </a: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</a:rPr>
              <a:t>encoding参数</a:t>
            </a:r>
            <a:r>
              <a:rPr lang="zh-CN" altLang="en-US" sz="2000">
                <a:latin typeface="微软雅黑" panose="020B0503020204020204" pitchFamily="34" charset="-122"/>
              </a:rPr>
              <a:t>指定对文本进行编码和解码的方式，只适用于文本模式，可以使用Python支持的任何格式，如GBK、utf8、CP936等等。</a:t>
            </a:r>
            <a:endParaRPr lang="en-US" altLang="zh-CN" sz="2000"/>
          </a:p>
          <a:p>
            <a:pPr fontAlgn="auto">
              <a:spcAft>
                <a:spcPts val="0"/>
              </a:spcAft>
            </a:pP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7097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0BE4-0172-67D5-A8CF-A77F3110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5A3048EA-9B16-DA45-1E51-2CACA7B51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29B6653D-0C0A-5695-F1C1-424AB8E74164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930426E5-31EB-51C0-737B-3603A2B36FB9}"/>
              </a:ext>
            </a:extLst>
          </p:cNvPr>
          <p:cNvSpPr txBox="1">
            <a:spLocks/>
          </p:cNvSpPr>
          <p:nvPr/>
        </p:nvSpPr>
        <p:spPr>
          <a:xfrm>
            <a:off x="623392" y="1253330"/>
            <a:ext cx="10945216" cy="53440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en-US" altLang="zh-CN" noProof="1"/>
              <a:t>如果执行正常，open()函数返回1个文件对象，通过该文件对象可以对文件进行读写操作</a:t>
            </a:r>
            <a:r>
              <a:rPr lang="zh-CN" altLang="en-US" noProof="1"/>
              <a:t>。</a:t>
            </a:r>
            <a:r>
              <a:rPr lang="en-US" altLang="zh-CN" noProof="1"/>
              <a:t>如果指定</a:t>
            </a:r>
            <a:r>
              <a:rPr lang="en-US" altLang="zh-CN" noProof="1">
                <a:solidFill>
                  <a:srgbClr val="FF0000"/>
                </a:solidFill>
              </a:rPr>
              <a:t>文件不存在</a:t>
            </a:r>
            <a:r>
              <a:rPr lang="en-US" altLang="zh-CN" noProof="1"/>
              <a:t>、</a:t>
            </a:r>
            <a:r>
              <a:rPr lang="en-US" altLang="zh-CN" noProof="1">
                <a:solidFill>
                  <a:srgbClr val="FF0000"/>
                </a:solidFill>
              </a:rPr>
              <a:t>访问权限不够</a:t>
            </a:r>
            <a:r>
              <a:rPr lang="en-US" altLang="zh-CN" noProof="1"/>
              <a:t>、</a:t>
            </a:r>
            <a:r>
              <a:rPr lang="en-US" altLang="zh-CN" noProof="1">
                <a:solidFill>
                  <a:srgbClr val="FF0000"/>
                </a:solidFill>
              </a:rPr>
              <a:t>磁盘空间不</a:t>
            </a:r>
            <a:r>
              <a:rPr lang="zh-CN" altLang="en-US" noProof="1">
                <a:solidFill>
                  <a:srgbClr val="FF0000"/>
                </a:solidFill>
              </a:rPr>
              <a:t>足</a:t>
            </a:r>
            <a:r>
              <a:rPr lang="en-US" altLang="zh-CN" noProof="1"/>
              <a:t>或其他原因导致创建文件对象失败则抛出异常。</a:t>
            </a:r>
          </a:p>
          <a:p>
            <a:pPr marL="0" indent="0" fontAlgn="base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noProof="1"/>
          </a:p>
          <a:p>
            <a:pPr marL="0" indent="0" fontAlgn="base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400" noProof="1">
                <a:latin typeface="Consolas" panose="020B0609020204030204" pitchFamily="49" charset="0"/>
              </a:rPr>
              <a:t>  f1 = open('file1.txt', 'r')     # </a:t>
            </a:r>
            <a:r>
              <a:rPr lang="zh-CN" altLang="en-US" sz="2400" noProof="1">
                <a:latin typeface="Consolas" panose="020B0609020204030204" pitchFamily="49" charset="0"/>
              </a:rPr>
              <a:t>以读模式打开文件</a:t>
            </a:r>
          </a:p>
          <a:p>
            <a:pPr marL="0" indent="0" fontAlgn="base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400" noProof="1">
                <a:latin typeface="Consolas" panose="020B0609020204030204" pitchFamily="49" charset="0"/>
              </a:rPr>
              <a:t>  f2 = open('file2.txt', 'w')      # </a:t>
            </a:r>
            <a:r>
              <a:rPr lang="zh-CN" altLang="en-US" sz="2400" noProof="1">
                <a:latin typeface="Consolas" panose="020B0609020204030204" pitchFamily="49" charset="0"/>
              </a:rPr>
              <a:t>以写模式打开文件</a:t>
            </a:r>
            <a:endParaRPr lang="zh-CN" altLang="en-US" sz="2000" noProof="1">
              <a:latin typeface="Consolas" panose="020B0609020204030204" pitchFamily="49" charset="0"/>
            </a:endParaRPr>
          </a:p>
          <a:p>
            <a:pPr marL="0" indent="0" fontAlgn="base"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sz="2000" noProof="1"/>
          </a:p>
          <a:p>
            <a:pPr fontAlgn="base"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en-US" altLang="zh-CN" noProof="1"/>
              <a:t>当对文件内容操作完以后，</a:t>
            </a:r>
            <a:r>
              <a:rPr lang="en-US" altLang="zh-CN" noProof="1">
                <a:solidFill>
                  <a:srgbClr val="FF0000"/>
                </a:solidFill>
              </a:rPr>
              <a:t>一定要关闭文件对象</a:t>
            </a:r>
            <a:r>
              <a:rPr lang="en-US" altLang="zh-CN" noProof="1"/>
              <a:t>，这样才能保证所做的任何修改都确实被保存到文件中。</a:t>
            </a:r>
          </a:p>
          <a:p>
            <a:pPr marL="0" indent="0" fontAlgn="base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400" noProof="1">
                <a:latin typeface="Consolas" panose="020B0609020204030204" pitchFamily="49" charset="0"/>
              </a:rPr>
              <a:t>  f1.close()</a:t>
            </a:r>
          </a:p>
          <a:p>
            <a:pPr fontAlgn="auto">
              <a:spcAft>
                <a:spcPts val="0"/>
              </a:spcAft>
            </a:pP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20077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24306-C5E2-4858-4141-E080A3423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A19B44EC-F69A-392C-AA60-90BE305A7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71461BBF-22A9-5BB4-FD1B-F5D0635564CF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171ECF7-1FAB-ADB3-1705-807F16EA5554}"/>
              </a:ext>
            </a:extLst>
          </p:cNvPr>
          <p:cNvSpPr txBox="1">
            <a:spLocks/>
          </p:cNvSpPr>
          <p:nvPr/>
        </p:nvSpPr>
        <p:spPr>
          <a:xfrm>
            <a:off x="363772" y="837380"/>
            <a:ext cx="11996923" cy="569200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00000"/>
              </a:lnSpc>
              <a:spcAft>
                <a:spcPts val="0"/>
              </a:spcAft>
            </a:pPr>
            <a:r>
              <a:rPr lang="zh-CN" altLang="en-US" sz="2400"/>
              <a:t>但是</a:t>
            </a:r>
            <a:r>
              <a:rPr lang="en-US" altLang="en-US" sz="2400"/>
              <a:t>，</a:t>
            </a:r>
            <a:r>
              <a:rPr lang="en-US" altLang="en-US" sz="2400">
                <a:solidFill>
                  <a:srgbClr val="FF0000"/>
                </a:solidFill>
              </a:rPr>
              <a:t>即使写了关闭文件的代码，也无法保证文件一定能够正常关闭</a:t>
            </a:r>
            <a:r>
              <a:rPr lang="en-US" altLang="en-US" sz="2400"/>
              <a:t>。</a:t>
            </a:r>
          </a:p>
          <a:p>
            <a:pPr fontAlgn="auto">
              <a:lnSpc>
                <a:spcPct val="100000"/>
              </a:lnSpc>
              <a:spcAft>
                <a:spcPts val="0"/>
              </a:spcAft>
            </a:pPr>
            <a:r>
              <a:rPr lang="en-US" altLang="en-US" sz="2400"/>
              <a:t>例如，如果在打开文件之后和关闭文件之前发生了错误导致程序崩溃，这时文件就无法正常关闭。</a:t>
            </a:r>
          </a:p>
          <a:p>
            <a:pPr fontAlgn="auto">
              <a:lnSpc>
                <a:spcPct val="100000"/>
              </a:lnSpc>
              <a:spcAft>
                <a:spcPts val="0"/>
              </a:spcAft>
            </a:pPr>
            <a:r>
              <a:rPr lang="en-US" altLang="en-US" sz="2400"/>
              <a:t>在管理文件对象时</a:t>
            </a:r>
            <a:r>
              <a:rPr lang="en-US" altLang="en-US" sz="2400">
                <a:solidFill>
                  <a:srgbClr val="FF0000"/>
                </a:solidFill>
              </a:rPr>
              <a:t>推荐</a:t>
            </a:r>
            <a:r>
              <a:rPr lang="zh-CN" altLang="en-US" sz="2400">
                <a:solidFill>
                  <a:srgbClr val="FF0000"/>
                </a:solidFill>
              </a:rPr>
              <a:t>使用</a:t>
            </a:r>
            <a:r>
              <a:rPr lang="en-US" altLang="en-US" sz="2400">
                <a:solidFill>
                  <a:srgbClr val="FF0000"/>
                </a:solidFill>
              </a:rPr>
              <a:t>with关键字</a:t>
            </a:r>
            <a:r>
              <a:rPr lang="en-US" altLang="en-US" sz="2400"/>
              <a:t>，可以有效地避免这个问题。</a:t>
            </a:r>
          </a:p>
          <a:p>
            <a:pPr fontAlgn="base">
              <a:lnSpc>
                <a:spcPct val="100000"/>
              </a:lnSpc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en-US" altLang="zh-CN" sz="2400" noProof="1"/>
              <a:t>with语句的用法如下：</a:t>
            </a:r>
          </a:p>
          <a:p>
            <a:pPr marL="0" indent="0" fontAlgn="base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sz="1400" noProof="1"/>
          </a:p>
          <a:p>
            <a:pPr marL="0" indent="0" fontAlgn="base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400" noProof="1">
                <a:latin typeface="Consolas" panose="020B0609020204030204" pitchFamily="49" charset="0"/>
              </a:rPr>
              <a:t>with open(filename, mode, encoding) as fp:</a:t>
            </a:r>
          </a:p>
          <a:p>
            <a:pPr marL="0" indent="0" fontAlgn="base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400" noProof="1">
                <a:latin typeface="Consolas" panose="020B0609020204030204" pitchFamily="49" charset="0"/>
              </a:rPr>
              <a:t>    #这里写通过文件对象fp读写文件内容的语句</a:t>
            </a:r>
            <a:endParaRPr lang="en-US" altLang="zh-CN" sz="1400" noProof="1">
              <a:latin typeface="Consolas" panose="020B0609020204030204" pitchFamily="49" charset="0"/>
            </a:endParaRPr>
          </a:p>
          <a:p>
            <a:pPr marL="0" indent="0" fontAlgn="base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sz="1400" noProof="1"/>
          </a:p>
          <a:p>
            <a:pPr fontAlgn="base">
              <a:lnSpc>
                <a:spcPct val="100000"/>
              </a:lnSpc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en-US" altLang="zh-CN" sz="2400" noProof="1"/>
              <a:t>上下文管理语句with还支持下面的用法</a:t>
            </a:r>
            <a:r>
              <a:rPr lang="zh-CN" altLang="en-US" sz="2400" noProof="1"/>
              <a:t>：</a:t>
            </a:r>
          </a:p>
          <a:p>
            <a:pPr marL="0" indent="0" fontAlgn="base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sz="1400" noProof="1"/>
          </a:p>
          <a:p>
            <a:pPr marL="0" indent="0" fontAlgn="base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400" noProof="1">
                <a:latin typeface="Consolas" panose="020B0609020204030204" pitchFamily="49" charset="0"/>
              </a:rPr>
              <a:t>with open('test.txt', 'r') as src, open('test_new.txt', 'w') as dst:</a:t>
            </a:r>
          </a:p>
          <a:p>
            <a:pPr marL="0" indent="0" fontAlgn="base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400" noProof="1">
                <a:latin typeface="Consolas" panose="020B0609020204030204" pitchFamily="49" charset="0"/>
              </a:rPr>
              <a:t>    dst.write(src.read())</a:t>
            </a:r>
          </a:p>
          <a:p>
            <a:pPr fontAlgn="auto">
              <a:lnSpc>
                <a:spcPct val="100000"/>
              </a:lnSpc>
              <a:spcAft>
                <a:spcPts val="0"/>
              </a:spcAft>
            </a:pP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8712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FB88-4DD2-4CEE-D601-383399360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AF9EFCCB-1A5A-314A-5FD0-C0114E920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9E486C6E-8BA4-F939-39A3-E039D86C6E65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2A7CAD1B-1BEF-1577-EC44-FACCE0836C38}"/>
              </a:ext>
            </a:extLst>
          </p:cNvPr>
          <p:cNvSpPr txBox="1">
            <a:spLocks/>
          </p:cNvSpPr>
          <p:nvPr/>
        </p:nvSpPr>
        <p:spPr>
          <a:xfrm>
            <a:off x="1991544" y="1628800"/>
            <a:ext cx="78867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sz="2400"/>
              <a:t>文件打开方式</a:t>
            </a:r>
          </a:p>
          <a:p>
            <a:pPr fontAlgn="auto">
              <a:spcAft>
                <a:spcPts val="0"/>
              </a:spcAft>
            </a:pPr>
            <a:endParaRPr lang="zh-CN" altLang="en-US" sz="4000" dirty="0"/>
          </a:p>
        </p:txBody>
      </p:sp>
      <p:graphicFrame>
        <p:nvGraphicFramePr>
          <p:cNvPr id="5" name="表格 -1">
            <a:extLst>
              <a:ext uri="{FF2B5EF4-FFF2-40B4-BE49-F238E27FC236}">
                <a16:creationId xmlns:a16="http://schemas.microsoft.com/office/drawing/2014/main" id="{856C7DF7-0FF2-8441-7FC5-0268BD54FE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2407390"/>
              </p:ext>
            </p:extLst>
          </p:nvPr>
        </p:nvGraphicFramePr>
        <p:xfrm>
          <a:off x="2347407" y="2349318"/>
          <a:ext cx="6930762" cy="2906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8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9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600" b="1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模式</a:t>
                      </a:r>
                    </a:p>
                  </a:txBody>
                  <a:tcPr marL="0" marR="0" marT="0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600" b="1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3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</a:t>
                      </a:r>
                    </a:p>
                  </a:txBody>
                  <a:tcPr marL="27149" marR="0" marT="0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读模式（</a:t>
                      </a:r>
                      <a:r>
                        <a:rPr lang="zh-CN" altLang="en-US" sz="1600" b="0" u="none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默认模式</a:t>
                      </a:r>
                      <a:r>
                        <a:rPr lang="zh-CN" altLang="en-US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，可省略），如果文件不存在则抛出异常</a:t>
                      </a:r>
                    </a:p>
                  </a:txBody>
                  <a:tcPr marL="27149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</a:t>
                      </a:r>
                    </a:p>
                  </a:txBody>
                  <a:tcPr marL="27149" marR="0" marT="0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写模式，如果文件已存在，先清空原有内容</a:t>
                      </a:r>
                    </a:p>
                  </a:txBody>
                  <a:tcPr marL="27149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x</a:t>
                      </a:r>
                    </a:p>
                  </a:txBody>
                  <a:tcPr marL="27149" marR="0" marT="0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写模式，创建新文件，如果文件已存在则抛出异常</a:t>
                      </a:r>
                    </a:p>
                  </a:txBody>
                  <a:tcPr marL="27149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3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</a:t>
                      </a:r>
                    </a:p>
                  </a:txBody>
                  <a:tcPr marL="27149" marR="0" marT="0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追加模式，不覆盖文件中原有内容</a:t>
                      </a:r>
                    </a:p>
                  </a:txBody>
                  <a:tcPr marL="27149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2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</a:t>
                      </a:r>
                    </a:p>
                  </a:txBody>
                  <a:tcPr marL="27149" marR="0" marT="0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二进制模式（可与其他模式组合使用）</a:t>
                      </a:r>
                    </a:p>
                  </a:txBody>
                  <a:tcPr marL="27149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3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27149" marR="0" marT="0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文本模式（</a:t>
                      </a:r>
                      <a:r>
                        <a:rPr lang="zh-CN" altLang="en-US" sz="1600" b="0" u="none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默认模式</a:t>
                      </a:r>
                      <a:r>
                        <a:rPr lang="zh-CN" altLang="en-US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，可省略）</a:t>
                      </a:r>
                    </a:p>
                  </a:txBody>
                  <a:tcPr marL="27149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2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</a:t>
                      </a:r>
                    </a:p>
                  </a:txBody>
                  <a:tcPr marL="27149" marR="0" marT="0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n>
                            <a:noFill/>
                          </a:ln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读、写模式（可与其他模式组合使用）</a:t>
                      </a:r>
                    </a:p>
                  </a:txBody>
                  <a:tcPr marL="27149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08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32B7A-B9B7-C890-F67B-5B06873AE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C4095EB4-5E53-DC41-AE42-479C15860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26303E8A-C2D1-1196-D0A3-6BFA59ADD450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BCA6A8F-DD14-E9D9-A70F-34F3D9AFD2C4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11155982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zh-CN" altLang="en-US" noProof="1"/>
              <a:t>移动文件指针，然后读取并显示文本文件中的内容。</a:t>
            </a:r>
          </a:p>
          <a:p>
            <a:pPr marL="686418" indent="-342257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400" noProof="1"/>
              <a:t>seek()方法把文件指针定位到文件中</a:t>
            </a:r>
            <a:r>
              <a:rPr lang="zh-CN" altLang="en-US" sz="2400" noProof="1">
                <a:solidFill>
                  <a:srgbClr val="FF0000"/>
                </a:solidFill>
              </a:rPr>
              <a:t>指定字节的位置</a:t>
            </a:r>
            <a:r>
              <a:rPr lang="zh-CN" altLang="en-US" sz="2400" noProof="1"/>
              <a:t>。读取时遇到无法解码的字符会抛出异常。</a:t>
            </a:r>
          </a:p>
          <a:p>
            <a:pPr fontAlgn="auto">
              <a:spcAft>
                <a:spcPts val="0"/>
              </a:spcAft>
            </a:pP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75415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62E88-634B-CDAC-9F15-6A87C0D1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0E377A60-C19F-AEE1-E13C-D7F9043EF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6F895F6C-BB99-01C8-B984-AC7CF593324D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9ED18460-4E00-37FB-A405-C748C7800F96}"/>
              </a:ext>
            </a:extLst>
          </p:cNvPr>
          <p:cNvSpPr txBox="1">
            <a:spLocks/>
          </p:cNvSpPr>
          <p:nvPr/>
        </p:nvSpPr>
        <p:spPr>
          <a:xfrm>
            <a:off x="623392" y="1412776"/>
            <a:ext cx="1108923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Char char="§"/>
            </a:pPr>
            <a:r>
              <a:rPr lang="zh-CN" altLang="en-US" dirty="0"/>
              <a:t>向文本文件中写入内容，然后再读出。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fontAlgn="auto">
              <a:spcBef>
                <a:spcPct val="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s = 'Hello world\n文本文件的读取方法\n文本文件的写入方法\n'</a:t>
            </a:r>
          </a:p>
          <a:p>
            <a:pPr fontAlgn="auto">
              <a:spcBef>
                <a:spcPct val="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endParaRPr lang="zh-CN" altLang="en-US" sz="2400" dirty="0">
              <a:latin typeface="Consolas" panose="020B0609020204030204" pitchFamily="49" charset="0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with open('sample.txt', 'w') as fp:  #默认使用cp936编码</a:t>
            </a:r>
          </a:p>
          <a:p>
            <a:pPr fontAlgn="auto">
              <a:spcBef>
                <a:spcPct val="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fp.write(s)</a:t>
            </a:r>
          </a:p>
          <a:p>
            <a:pPr fontAlgn="auto">
              <a:spcBef>
                <a:spcPct val="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endParaRPr lang="zh-CN" altLang="en-US" sz="2400" dirty="0">
              <a:latin typeface="Consolas" panose="020B0609020204030204" pitchFamily="49" charset="0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with open('sample.txt') as fp:       #默认使用cp936编码</a:t>
            </a:r>
          </a:p>
          <a:p>
            <a:pPr fontAlgn="auto">
              <a:spcBef>
                <a:spcPct val="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print(fp.read())</a:t>
            </a:r>
          </a:p>
          <a:p>
            <a:pPr fontAlgn="auto">
              <a:spcAft>
                <a:spcPts val="0"/>
              </a:spcAft>
            </a:pP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59193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ACF6F-E806-3A86-E48E-361AA550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723524FB-3492-5975-5010-54EE964B7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3CF7778F-C985-D839-45A6-89D11B3064CD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5D318BC-76BB-FE03-4A3A-B345A0BAB38F}"/>
              </a:ext>
            </a:extLst>
          </p:cNvPr>
          <p:cNvSpPr txBox="1">
            <a:spLocks/>
          </p:cNvSpPr>
          <p:nvPr/>
        </p:nvSpPr>
        <p:spPr>
          <a:xfrm>
            <a:off x="983432" y="1628800"/>
            <a:ext cx="972108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/>
              <a:t>读取并显示文本文件的前5个字符。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endParaRPr lang="zh-CN" altLang="en-US" sz="1800"/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en-US" altLang="zh-CN" sz="3200">
                <a:latin typeface="Consolas" panose="020B0609020204030204" pitchFamily="49" charset="0"/>
              </a:rPr>
              <a:t>with </a:t>
            </a:r>
            <a:r>
              <a:rPr lang="zh-CN" altLang="en-US" sz="3200">
                <a:latin typeface="Consolas" panose="020B0609020204030204" pitchFamily="49" charset="0"/>
              </a:rPr>
              <a:t>open('sample.txt', 'r') </a:t>
            </a:r>
            <a:r>
              <a:rPr lang="en-US" altLang="zh-CN" sz="3200">
                <a:latin typeface="Consolas" panose="020B0609020204030204" pitchFamily="49" charset="0"/>
              </a:rPr>
              <a:t>as f: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 sz="3200">
                <a:latin typeface="Consolas" panose="020B0609020204030204" pitchFamily="49" charset="0"/>
              </a:rPr>
              <a:t>    s = f.read(5)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endParaRPr lang="zh-CN" altLang="en-US" sz="3200">
              <a:latin typeface="Consolas" panose="020B0609020204030204" pitchFamily="49" charset="0"/>
            </a:endParaRP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 sz="3200">
                <a:latin typeface="Consolas" panose="020B0609020204030204" pitchFamily="49" charset="0"/>
              </a:rPr>
              <a:t>print('s=',s)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 sz="3200">
                <a:latin typeface="Consolas" panose="020B0609020204030204" pitchFamily="49" charset="0"/>
              </a:rPr>
              <a:t>print('字符串s的长度(字符个数)=', len(s))</a:t>
            </a:r>
          </a:p>
          <a:p>
            <a:pPr fontAlgn="auto">
              <a:spcAft>
                <a:spcPts val="0"/>
              </a:spcAft>
            </a:pP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5984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8BF90-7AC2-D835-F5CA-E7E36E09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75928BFE-FB2B-7198-4384-596CDB6EC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A0F66E78-A364-1159-5E44-1815C0542261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A4DDEC54-2C68-8324-E6BA-48B89C5C20E6}"/>
              </a:ext>
            </a:extLst>
          </p:cNvPr>
          <p:cNvSpPr txBox="1">
            <a:spLocks/>
          </p:cNvSpPr>
          <p:nvPr/>
        </p:nvSpPr>
        <p:spPr>
          <a:xfrm>
            <a:off x="314325" y="1844824"/>
            <a:ext cx="1156335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Char char="§"/>
            </a:pPr>
            <a:r>
              <a:rPr lang="zh-CN" altLang="en-US" sz="3200"/>
              <a:t>读取并显示文本文件所有行。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endParaRPr lang="zh-CN" altLang="en-US" sz="2400"/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>
                <a:latin typeface="Consolas" panose="020B0609020204030204" pitchFamily="49" charset="0"/>
              </a:rPr>
              <a:t>with open('sample.txt') as fp:      #假设文件采用CP936编码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>
                <a:latin typeface="Consolas" panose="020B0609020204030204" pitchFamily="49" charset="0"/>
              </a:rPr>
              <a:t>    for line in fp:                 #文件对象可以直接迭代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>
                <a:latin typeface="Consolas" panose="020B0609020204030204" pitchFamily="49" charset="0"/>
              </a:rPr>
              <a:t>        print(line)</a:t>
            </a:r>
          </a:p>
          <a:p>
            <a:pPr fontAlgn="auto">
              <a:spcAft>
                <a:spcPts val="0"/>
              </a:spcAft>
            </a:pP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026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021B2-E42D-07E1-43D8-A453112F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4C14C799-516A-25F7-0A48-CAB0218B2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36E6590-DF96-A423-D0D6-6700726310A1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E3BCD0C-628B-E047-D6AC-49534986403D}"/>
              </a:ext>
            </a:extLst>
          </p:cNvPr>
          <p:cNvSpPr txBox="1">
            <a:spLocks/>
          </p:cNvSpPr>
          <p:nvPr/>
        </p:nvSpPr>
        <p:spPr>
          <a:xfrm>
            <a:off x="1461598" y="861962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目录操作 </a:t>
            </a:r>
            <a:r>
              <a:rPr lang="en-US" altLang="zh-CN" dirty="0" err="1"/>
              <a:t>os</a:t>
            </a:r>
            <a:endParaRPr lang="zh-CN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E8F648-08EE-DA08-A92C-2C56C236D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913454"/>
              </p:ext>
            </p:extLst>
          </p:nvPr>
        </p:nvGraphicFramePr>
        <p:xfrm>
          <a:off x="2423477" y="2060848"/>
          <a:ext cx="7345045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4625">
                  <a:extLst>
                    <a:ext uri="{9D8B030D-6E8A-4147-A177-3AD203B41FA5}">
                      <a16:colId xmlns:a16="http://schemas.microsoft.com/office/drawing/2014/main" val="10898283"/>
                    </a:ext>
                  </a:extLst>
                </a:gridCol>
                <a:gridCol w="3360420">
                  <a:extLst>
                    <a:ext uri="{9D8B030D-6E8A-4147-A177-3AD203B41FA5}">
                      <a16:colId xmlns:a16="http://schemas.microsoft.com/office/drawing/2014/main" val="2269405663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93577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charset="0"/>
                        </a:rPr>
                        <a:t>access(path, mode)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测试是否可以按照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mode</a:t>
                      </a: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指定的权限访问文件</a:t>
                      </a:r>
                      <a:endParaRPr lang="en-US" sz="1400" b="0" u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53405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4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chdir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(path)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把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path</a:t>
                      </a: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设为当前工作目录</a:t>
                      </a:r>
                      <a:endParaRPr lang="en-US" sz="1400" b="0" u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86385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4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chmod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(path, mode, *, </a:t>
                      </a:r>
                      <a:r>
                        <a:rPr lang="en-US" altLang="zh-CN" sz="14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dir_fd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=None, </a:t>
                      </a:r>
                      <a:r>
                        <a:rPr lang="en-US" altLang="zh-CN" sz="14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follow_symlinks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=True)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改变文件的访问权限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8422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4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curdir</a:t>
                      </a:r>
                      <a:endParaRPr lang="en-US" altLang="zh-CN" sz="1400" b="0" u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当前文件夹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5694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environ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包含系统环境变量和值的字典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72793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4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extsep</a:t>
                      </a:r>
                      <a:endParaRPr lang="en-US" altLang="zh-CN" sz="1400" b="0" u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当前操作系统所使用的文件扩展名分隔符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37904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4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get_exec_path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返回可执行文件的搜索路径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401316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4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getcwd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返回当前工作目录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55359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4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listdir</a:t>
                      </a:r>
                      <a:r>
                        <a:rPr lang="en-US" altLang="zh-CN" sz="14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(path)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4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path</a:t>
                      </a:r>
                      <a:r>
                        <a:rPr lang="zh-CN" altLang="en-US" sz="14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目录下的文件和目录列表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87758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open(path, flags, mode=0o777, *, </a:t>
                      </a:r>
                      <a:r>
                        <a:rPr lang="en-US" altLang="zh-CN" sz="14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dir_fd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=None)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按照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mode</a:t>
                      </a: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指定的权限打开文件，默认权限为可读、可写、可执行</a:t>
                      </a:r>
                      <a:endParaRPr lang="en-US" sz="1400" b="0" u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39102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4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popen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4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cmd</a:t>
                      </a:r>
                      <a:r>
                        <a:rPr lang="en-US" altLang="zh-CN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, mode='r', buffering=-1)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4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创建进程，启动外部程序</a:t>
                      </a:r>
                    </a:p>
                  </a:txBody>
                  <a:tcPr marL="27148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092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26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2C537-81E8-1297-45AC-8558EECC3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3EEC25A2-3CA3-E26C-1C55-D6126F351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43D125CF-B928-3A42-78D3-A9F1DAEB2F0F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1B6E7D-5A82-A2CE-7F2A-23CE30909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842103"/>
              </p:ext>
            </p:extLst>
          </p:nvPr>
        </p:nvGraphicFramePr>
        <p:xfrm>
          <a:off x="1859597" y="1700808"/>
          <a:ext cx="8472805" cy="3671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08045">
                  <a:extLst>
                    <a:ext uri="{9D8B030D-6E8A-4147-A177-3AD203B41FA5}">
                      <a16:colId xmlns:a16="http://schemas.microsoft.com/office/drawing/2014/main" val="1833712658"/>
                    </a:ext>
                  </a:extLst>
                </a:gridCol>
                <a:gridCol w="5064760">
                  <a:extLst>
                    <a:ext uri="{9D8B030D-6E8A-4147-A177-3AD203B41FA5}">
                      <a16:colId xmlns:a16="http://schemas.microsoft.com/office/drawing/2014/main" val="459678287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600" b="1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600" b="1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29801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remove(path)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删除指定的文件，要求用户拥有删除文件的权限，并且文件没有只读或其他特殊属性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8652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rename(</a:t>
                      </a: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src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, </a:t>
                      </a: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dst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)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重命名文件或目录，可以实现文件的移动，若目标文件已存在则抛出异常，不能跨越磁盘或分区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11838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replace(old, new)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重命名文件或目录，若目标文件已存在则直接覆盖，不能跨越磁盘或分区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11635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scandir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(path='.')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返回包含指定文件夹中所有</a:t>
                      </a: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DirEntry</a:t>
                      </a: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对象的迭代对象，遍历文件夹时比</a:t>
                      </a: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listdir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更加高效</a:t>
                      </a:r>
                      <a:endParaRPr lang="en-US" sz="1600" b="0" u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06344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sep</a:t>
                      </a:r>
                      <a:endParaRPr lang="en-US" altLang="zh-CN" sz="1600" b="0" u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当前操作系统所使用的路径分隔符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04586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startfile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filepath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[, operation])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使用关联的应用程序打开指定文件或启动指定应用程序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1123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stat(path)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返回文件的所有属性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26459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system()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启动外部程序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4219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truncate(path, length)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将文件截断，只保留指定长度的内容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8886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write(</a:t>
                      </a: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fd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, data)</a:t>
                      </a: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bytes</a:t>
                      </a: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对象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data</a:t>
                      </a: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写入文件</a:t>
                      </a: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fd</a:t>
                      </a:r>
                      <a:endParaRPr lang="en-US" sz="1600" b="0" u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7151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53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01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FD99-1D85-B601-7C77-BC88B4853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E9495AF9-AE96-B5C2-D2D9-23ED50129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F4B32475-6EF3-1987-40DF-327252AB6360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0A4550F-FAA3-C4BE-A889-6EEAE9870244}"/>
              </a:ext>
            </a:extLst>
          </p:cNvPr>
          <p:cNvSpPr txBox="1">
            <a:spLocks/>
          </p:cNvSpPr>
          <p:nvPr/>
        </p:nvSpPr>
        <p:spPr>
          <a:xfrm>
            <a:off x="839416" y="107778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目录操作 </a:t>
            </a:r>
            <a:r>
              <a:rPr lang="en-US" altLang="zh-CN" dirty="0" err="1"/>
              <a:t>os.path</a:t>
            </a:r>
            <a:endParaRPr lang="zh-CN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A4E00C-8D7E-CD9D-6ADB-14F33AB31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187947"/>
              </p:ext>
            </p:extLst>
          </p:nvPr>
        </p:nvGraphicFramePr>
        <p:xfrm>
          <a:off x="2423592" y="2852936"/>
          <a:ext cx="7167880" cy="268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8420">
                  <a:extLst>
                    <a:ext uri="{9D8B030D-6E8A-4147-A177-3AD203B41FA5}">
                      <a16:colId xmlns:a16="http://schemas.microsoft.com/office/drawing/2014/main" val="3939627375"/>
                    </a:ext>
                  </a:extLst>
                </a:gridCol>
                <a:gridCol w="4569460">
                  <a:extLst>
                    <a:ext uri="{9D8B030D-6E8A-4147-A177-3AD203B41FA5}">
                      <a16:colId xmlns:a16="http://schemas.microsoft.com/office/drawing/2014/main" val="2405370329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600" b="1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600" b="1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6183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abspath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(path)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返回给定路径的绝对路径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68419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basename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(path)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返回指定路径的最后一个组成部分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0794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commonpath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(paths)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返回给定的多个路径的最长公共路径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34277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commonprefix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(paths)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返回给定的多个路径的最长公共前缀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37009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dirname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(p)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返回给定路径的文件夹部分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1305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exists(path)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判断文件是否存在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45647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getatime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(filename)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返回文件的最后访问时间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19626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getctime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(filename)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返回文件的创建时间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2855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getmtime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(filename)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返回文件的最后修改时间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13827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getsize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(filename)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返回文件的大小</a:t>
                      </a:r>
                    </a:p>
                  </a:txBody>
                  <a:tcPr marL="27149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014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4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522A9-396F-EEDE-134F-43A2B76CF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84225B59-99DC-EB33-5253-CA376441B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52414346-F96C-B96D-D2F0-062C2E15B012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384674-9206-EA55-7DBF-6180F2BBE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695166"/>
              </p:ext>
            </p:extLst>
          </p:nvPr>
        </p:nvGraphicFramePr>
        <p:xfrm>
          <a:off x="2135560" y="1916832"/>
          <a:ext cx="8497570" cy="27082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2465">
                  <a:extLst>
                    <a:ext uri="{9D8B030D-6E8A-4147-A177-3AD203B41FA5}">
                      <a16:colId xmlns:a16="http://schemas.microsoft.com/office/drawing/2014/main" val="3115969310"/>
                    </a:ext>
                  </a:extLst>
                </a:gridCol>
                <a:gridCol w="6555105">
                  <a:extLst>
                    <a:ext uri="{9D8B030D-6E8A-4147-A177-3AD203B41FA5}">
                      <a16:colId xmlns:a16="http://schemas.microsoft.com/office/drawing/2014/main" val="28085793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600" b="1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600" b="1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86594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isabs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(path)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判断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path</a:t>
                      </a: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是否为绝对路径</a:t>
                      </a:r>
                      <a:endParaRPr lang="en-US" sz="1600" b="0" u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65634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isdir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(path)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判断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path</a:t>
                      </a: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是否为文件夹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8118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isfile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(path)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判断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path</a:t>
                      </a: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是否为文件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16380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join(path, *paths)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连接两个或多个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path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84136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realpath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(path)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返回给定路径的绝对路径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57115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relpath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(path)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返回给定路径的相对路径，不能跨越磁盘驱动器或分区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2411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samefile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(f1, f2)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测试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f1</a:t>
                      </a: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和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f2</a:t>
                      </a: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这两个路径是否引用的同一个文件</a:t>
                      </a:r>
                      <a:endParaRPr lang="en-US" sz="1600" b="0" u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81464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split(path)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以路径中的最后一个斜线为分隔符把路径分隔成两部分，以元组形式返回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11377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splitext</a:t>
                      </a:r>
                      <a:r>
                        <a:rPr lang="en-US" altLang="zh-CN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(path)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从路径中分隔文件的扩展名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44494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600" b="0" u="none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splitdrive</a:t>
                      </a: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(path)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从路径中分隔驱动器的名称</a:t>
                      </a:r>
                    </a:p>
                  </a:txBody>
                  <a:tcPr marL="27150" marR="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764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29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5A17B-1D01-2225-99A8-AD36CC115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48C52BF0-7C1F-6E5F-3F1E-223CE63F8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CF387734-088B-9319-D065-C9DC86EE5509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2A168E20-86D8-D561-4627-3D6F5E401297}"/>
              </a:ext>
            </a:extLst>
          </p:cNvPr>
          <p:cNvSpPr txBox="1">
            <a:spLocks/>
          </p:cNvSpPr>
          <p:nvPr/>
        </p:nvSpPr>
        <p:spPr>
          <a:xfrm>
            <a:off x="1919536" y="1916832"/>
            <a:ext cx="78867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/>
              <a:t>列出当前目录下所有扩展名为</a:t>
            </a:r>
            <a:r>
              <a:rPr lang="en-US" altLang="zh-CN" sz="2400"/>
              <a:t>pyc</a:t>
            </a:r>
            <a:r>
              <a:rPr lang="zh-CN" altLang="en-US" sz="2400"/>
              <a:t>的文件：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endParaRPr lang="en-US" altLang="zh-CN" sz="1600">
              <a:latin typeface="Consolas" panose="020B0609020204030204" pitchFamily="49" charset="0"/>
            </a:endParaRP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&gt;&gt;&gt; import os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&gt;&gt;&gt; [fname for fname in os.listdir(os.getcwd()) if   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en-US" altLang="zh-CN" sz="2000">
                <a:latin typeface="Consolas" panose="020B0609020204030204" pitchFamily="49" charset="0"/>
              </a:rPr>
              <a:t>     os.path.isfile(fname) and fname.endswith('.pyc')]</a:t>
            </a: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endParaRPr lang="en-US" altLang="zh-CN" sz="2000">
              <a:latin typeface="Consolas" panose="020B0609020204030204" pitchFamily="49" charset="0"/>
            </a:endParaRPr>
          </a:p>
          <a:p>
            <a:pPr fontAlgn="auto">
              <a:spcAft>
                <a:spcPts val="0"/>
              </a:spcAft>
              <a:buSzPct val="90000"/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</a:rPr>
              <a:t>['consts.pyc', 'database_demo.pyc', 'nqueens.pyc']</a:t>
            </a:r>
          </a:p>
          <a:p>
            <a:pPr fontAlgn="auto">
              <a:spcAft>
                <a:spcPts val="0"/>
              </a:spcAft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397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84045-E0E6-8C23-8E40-A8EE91A8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B42200DA-C14B-D774-D87D-ACAD3F441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C9F6C11D-211E-D23D-7D2E-8B58617D8E6E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53BC24B4-C42C-2F76-A726-1AD23619E22B}"/>
              </a:ext>
            </a:extLst>
          </p:cNvPr>
          <p:cNvSpPr txBox="1">
            <a:spLocks/>
          </p:cNvSpPr>
          <p:nvPr/>
        </p:nvSpPr>
        <p:spPr>
          <a:xfrm>
            <a:off x="1461598" y="1556792"/>
            <a:ext cx="9145016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80000"/>
              </a:lnSpc>
              <a:spcAft>
                <a:spcPts val="0"/>
              </a:spcAft>
              <a:buFont typeface="Wingdings" panose="05000000000000000000" charset="0"/>
              <a:buChar char="v"/>
            </a:pPr>
            <a:r>
              <a:rPr lang="zh-CN" altLang="en-US" sz="2400" noProof="1"/>
              <a:t>将当前目录中所有扩展名为</a:t>
            </a:r>
            <a:r>
              <a:rPr lang="en-US" altLang="zh-CN" sz="2400" noProof="1"/>
              <a:t>html</a:t>
            </a:r>
            <a:r>
              <a:rPr lang="zh-CN" altLang="en-US" sz="2400" noProof="1"/>
              <a:t>的文件重命名为</a:t>
            </a:r>
            <a:r>
              <a:rPr lang="en-US" altLang="zh-CN" sz="2400" noProof="1"/>
              <a:t>htm</a:t>
            </a:r>
            <a:r>
              <a:rPr lang="zh-CN" altLang="en-US" sz="2400" noProof="1"/>
              <a:t>的文件：</a:t>
            </a:r>
          </a:p>
          <a:p>
            <a:pPr marL="1905" indent="-344797" fontAlgn="base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sz="1600" noProof="1"/>
          </a:p>
          <a:p>
            <a:pPr marL="1905" indent="-344797" fontAlgn="base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import os</a:t>
            </a:r>
          </a:p>
          <a:p>
            <a:pPr marL="1905" indent="-344797" fontAlgn="base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zh-CN" sz="2000" noProof="1">
              <a:latin typeface="Consolas" panose="020B0609020204030204" pitchFamily="49" charset="0"/>
            </a:endParaRPr>
          </a:p>
          <a:p>
            <a:pPr marL="1905" indent="-344797" fontAlgn="base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file_list = [filename for filename in os.listdir(".")\</a:t>
            </a:r>
          </a:p>
          <a:p>
            <a:pPr marL="1905" indent="-344797" fontAlgn="base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             if filename.endswith('.html')]</a:t>
            </a:r>
          </a:p>
          <a:p>
            <a:pPr marL="1905" indent="-344797" fontAlgn="base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for filename in file_list:</a:t>
            </a:r>
          </a:p>
          <a:p>
            <a:pPr marL="1905" indent="-344797" fontAlgn="base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    newname = filename[:-4]+'htm'</a:t>
            </a:r>
          </a:p>
          <a:p>
            <a:pPr marL="1905" indent="-344797" fontAlgn="base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    os.rename(filename, newname)</a:t>
            </a:r>
          </a:p>
          <a:p>
            <a:pPr marL="1905" indent="-344797" fontAlgn="base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    print(filename+"</a:t>
            </a:r>
            <a:r>
              <a:rPr lang="zh-CN" altLang="en-US" sz="2000" noProof="1">
                <a:latin typeface="Consolas" panose="020B0609020204030204" pitchFamily="49" charset="0"/>
              </a:rPr>
              <a:t>更名为：</a:t>
            </a:r>
            <a:r>
              <a:rPr lang="en-US" altLang="zh-CN" sz="2000" noProof="1">
                <a:latin typeface="Consolas" panose="020B0609020204030204" pitchFamily="49" charset="0"/>
              </a:rPr>
              <a:t>"+newname)</a:t>
            </a:r>
          </a:p>
          <a:p>
            <a:pPr fontAlgn="auto">
              <a:spcAft>
                <a:spcPts val="0"/>
              </a:spcAft>
            </a:pP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6711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D0A67-CF0A-983E-3B10-1D59C8DB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9EA164F6-5029-9398-5E9D-6A6B19F7F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B09C06F-5CC4-2317-92FF-24AC1F65F7EA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083D1DA2-CC37-44AF-2B9A-0D16C085315C}"/>
              </a:ext>
            </a:extLst>
          </p:cNvPr>
          <p:cNvSpPr txBox="1">
            <a:spLocks/>
          </p:cNvSpPr>
          <p:nvPr/>
        </p:nvSpPr>
        <p:spPr>
          <a:xfrm>
            <a:off x="2567608" y="1772816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&gt;&gt;&gt; import os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&gt;&gt;&gt; os.getcwd()                         #</a:t>
            </a:r>
            <a:r>
              <a:rPr lang="zh-CN" altLang="en-US" sz="1600">
                <a:latin typeface="Consolas" panose="020B0609020204030204" pitchFamily="49" charset="0"/>
              </a:rPr>
              <a:t>返回当前工作目录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solidFill>
                  <a:srgbClr val="00B0F0"/>
                </a:solidFill>
                <a:latin typeface="Consolas" panose="020B0609020204030204" pitchFamily="49" charset="0"/>
              </a:rPr>
              <a:t>'C:\\Python35'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&gt;&gt;&gt; os.mkdir(os.getcwd()+'\\temp')      #</a:t>
            </a:r>
            <a:r>
              <a:rPr lang="zh-CN" altLang="en-US" sz="1600">
                <a:latin typeface="Consolas" panose="020B0609020204030204" pitchFamily="49" charset="0"/>
              </a:rPr>
              <a:t>创建目录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&gt;&gt;&gt; os.chdir(os.getcwd()+'\\temp')      #</a:t>
            </a:r>
            <a:r>
              <a:rPr lang="zh-CN" altLang="en-US" sz="1600">
                <a:latin typeface="Consolas" panose="020B0609020204030204" pitchFamily="49" charset="0"/>
              </a:rPr>
              <a:t>改变当前工作目录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&gt;&gt;&gt; os.getcwd()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solidFill>
                  <a:srgbClr val="00B0F0"/>
                </a:solidFill>
                <a:latin typeface="Consolas" panose="020B0609020204030204" pitchFamily="49" charset="0"/>
              </a:rPr>
              <a:t>'C:\\Python35\\temp'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&gt;&gt;&gt; os.mkdir(os.getcwd()+'\\test')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&gt;&gt;&gt; os.listdir('.')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solidFill>
                  <a:srgbClr val="00B0F0"/>
                </a:solidFill>
                <a:latin typeface="Consolas" panose="020B0609020204030204" pitchFamily="49" charset="0"/>
              </a:rPr>
              <a:t>['test']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&gt;&gt;&gt; os.rmdir('test')                    #</a:t>
            </a:r>
            <a:r>
              <a:rPr lang="zh-CN" altLang="en-US" sz="1600">
                <a:latin typeface="Consolas" panose="020B0609020204030204" pitchFamily="49" charset="0"/>
              </a:rPr>
              <a:t>删除目录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latin typeface="Consolas" panose="020B0609020204030204" pitchFamily="49" charset="0"/>
              </a:rPr>
              <a:t>&gt;&gt;&gt; os.listdir('.')</a:t>
            </a:r>
          </a:p>
          <a:p>
            <a:pPr marL="1905" indent="-344797" fontAlgn="auto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None/>
            </a:pPr>
            <a:r>
              <a:rPr lang="en-US" altLang="zh-CN" sz="1600">
                <a:solidFill>
                  <a:srgbClr val="00B0F0"/>
                </a:solidFill>
                <a:latin typeface="Consolas" panose="020B0609020204030204" pitchFamily="49" charset="0"/>
              </a:rPr>
              <a:t>[]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998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DD46A-EA1D-9025-1E0A-A6B54216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1968E348-5AB2-2E9A-AFB1-418864DDE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62446AC8-CC31-0D0D-7D0E-852817E35BBA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BB5BBCE-D116-3D4D-D7EC-1CF4427B0B2A}"/>
              </a:ext>
            </a:extLst>
          </p:cNvPr>
          <p:cNvSpPr txBox="1">
            <a:spLocks/>
          </p:cNvSpPr>
          <p:nvPr/>
        </p:nvSpPr>
        <p:spPr>
          <a:xfrm>
            <a:off x="767408" y="907489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模块安装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0375CF-930E-FF8F-22E5-EFDE4B4025D2}"/>
              </a:ext>
            </a:extLst>
          </p:cNvPr>
          <p:cNvSpPr txBox="1">
            <a:spLocks/>
          </p:cNvSpPr>
          <p:nvPr/>
        </p:nvSpPr>
        <p:spPr>
          <a:xfrm>
            <a:off x="911424" y="1988840"/>
            <a:ext cx="7915931" cy="326951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内建模块与外部模块</a:t>
            </a:r>
            <a:endParaRPr lang="en-US" altLang="zh-CN" sz="2000" dirty="0">
              <a:latin typeface="+mj-ea"/>
              <a:ea typeface="+mj-ea"/>
            </a:endParaRPr>
          </a:p>
          <a:p>
            <a:pPr lvl="1" fontAlgn="auto"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内建：</a:t>
            </a:r>
            <a:r>
              <a:rPr lang="en-US" altLang="zh-CN" sz="2000" dirty="0">
                <a:latin typeface="+mj-ea"/>
                <a:ea typeface="+mj-ea"/>
              </a:rPr>
              <a:t>math, </a:t>
            </a:r>
            <a:r>
              <a:rPr lang="en-US" altLang="zh-CN" sz="2000" dirty="0" err="1">
                <a:latin typeface="+mj-ea"/>
                <a:ea typeface="+mj-ea"/>
              </a:rPr>
              <a:t>os</a:t>
            </a:r>
            <a:r>
              <a:rPr lang="en-US" altLang="zh-CN" sz="2000" dirty="0">
                <a:latin typeface="+mj-ea"/>
                <a:ea typeface="+mj-ea"/>
              </a:rPr>
              <a:t>, sys </a:t>
            </a:r>
            <a:r>
              <a:rPr lang="zh-CN" altLang="en-US" sz="2000" dirty="0">
                <a:latin typeface="+mj-ea"/>
                <a:ea typeface="+mj-ea"/>
              </a:rPr>
              <a:t>等</a:t>
            </a:r>
            <a:endParaRPr lang="en-US" altLang="zh-CN" sz="2000" dirty="0">
              <a:latin typeface="+mj-ea"/>
              <a:ea typeface="+mj-ea"/>
            </a:endParaRPr>
          </a:p>
          <a:p>
            <a:pPr lvl="1" fontAlgn="auto"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外部：</a:t>
            </a:r>
            <a:r>
              <a:rPr lang="en-US" altLang="zh-CN" sz="2000" dirty="0">
                <a:latin typeface="+mj-ea"/>
                <a:ea typeface="+mj-ea"/>
              </a:rPr>
              <a:t>flask, </a:t>
            </a:r>
            <a:r>
              <a:rPr lang="en-US" altLang="zh-CN" sz="2000" dirty="0" err="1">
                <a:latin typeface="+mj-ea"/>
                <a:ea typeface="+mj-ea"/>
              </a:rPr>
              <a:t>opencv</a:t>
            </a:r>
            <a:r>
              <a:rPr lang="en-US" altLang="zh-CN" sz="2000" dirty="0">
                <a:latin typeface="+mj-ea"/>
                <a:ea typeface="+mj-ea"/>
              </a:rPr>
              <a:t>, </a:t>
            </a:r>
            <a:r>
              <a:rPr lang="en-US" altLang="zh-CN" sz="2000" dirty="0" err="1">
                <a:latin typeface="+mj-ea"/>
                <a:ea typeface="+mj-ea"/>
              </a:rPr>
              <a:t>tensorflow</a:t>
            </a:r>
            <a:endParaRPr lang="en-US" altLang="zh-CN" sz="2000" dirty="0">
              <a:latin typeface="+mj-ea"/>
              <a:ea typeface="+mj-ea"/>
            </a:endParaRPr>
          </a:p>
          <a:p>
            <a:pPr lvl="1" fontAlgn="auto">
              <a:spcAft>
                <a:spcPts val="0"/>
              </a:spcAft>
            </a:pPr>
            <a:endParaRPr lang="en-US" altLang="zh-CN" sz="2000" dirty="0">
              <a:latin typeface="+mj-ea"/>
              <a:ea typeface="+mj-ea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如何在</a:t>
            </a:r>
            <a:r>
              <a:rPr lang="en-US" altLang="zh-CN" sz="2000" dirty="0">
                <a:latin typeface="+mj-ea"/>
                <a:ea typeface="+mj-ea"/>
              </a:rPr>
              <a:t>anaconda</a:t>
            </a:r>
            <a:r>
              <a:rPr lang="zh-CN" altLang="en-US" sz="2000" dirty="0">
                <a:latin typeface="+mj-ea"/>
                <a:ea typeface="+mj-ea"/>
              </a:rPr>
              <a:t>里面加入新模块</a:t>
            </a:r>
            <a:endParaRPr lang="en-US" altLang="zh-CN" sz="2000" dirty="0">
              <a:latin typeface="+mj-ea"/>
              <a:ea typeface="+mj-ea"/>
            </a:endParaRPr>
          </a:p>
          <a:p>
            <a:pPr lvl="1" fontAlgn="auto">
              <a:spcAft>
                <a:spcPts val="0"/>
              </a:spcAft>
            </a:pPr>
            <a:r>
              <a:rPr lang="en-US" altLang="zh-CN" sz="2000" dirty="0" err="1">
                <a:latin typeface="+mj-ea"/>
                <a:ea typeface="+mj-ea"/>
              </a:rPr>
              <a:t>conda</a:t>
            </a:r>
            <a:r>
              <a:rPr lang="en-US" altLang="zh-CN" sz="2000" dirty="0">
                <a:latin typeface="+mj-ea"/>
                <a:ea typeface="+mj-ea"/>
              </a:rPr>
              <a:t> install </a:t>
            </a:r>
            <a:r>
              <a:rPr lang="en-US" altLang="zh-CN" sz="2000" dirty="0" err="1">
                <a:latin typeface="+mj-ea"/>
                <a:ea typeface="+mj-ea"/>
              </a:rPr>
              <a:t>module_name</a:t>
            </a:r>
            <a:endParaRPr lang="en-US" altLang="zh-CN" sz="2000" dirty="0">
              <a:latin typeface="+mj-ea"/>
              <a:ea typeface="+mj-ea"/>
            </a:endParaRPr>
          </a:p>
          <a:p>
            <a:pPr fontAlgn="auto">
              <a:spcAft>
                <a:spcPts val="0"/>
              </a:spcAft>
            </a:pPr>
            <a:endParaRPr lang="en-US" altLang="zh-CN" sz="2000" dirty="0">
              <a:latin typeface="+mj-ea"/>
              <a:ea typeface="+mj-ea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特殊的库</a:t>
            </a:r>
            <a:endParaRPr lang="en-US" altLang="zh-CN" sz="2000" dirty="0">
              <a:latin typeface="+mj-ea"/>
              <a:ea typeface="+mj-ea"/>
            </a:endParaRPr>
          </a:p>
          <a:p>
            <a:pPr lvl="1" fontAlgn="auto">
              <a:spcAft>
                <a:spcPts val="0"/>
              </a:spcAft>
            </a:pPr>
            <a:r>
              <a:rPr lang="en-US" altLang="zh-CN" sz="2000" dirty="0" err="1">
                <a:latin typeface="+mj-ea"/>
                <a:ea typeface="+mj-ea"/>
              </a:rPr>
              <a:t>conda</a:t>
            </a:r>
            <a:r>
              <a:rPr lang="en-US" altLang="zh-CN" sz="2000" dirty="0">
                <a:latin typeface="+mj-ea"/>
                <a:ea typeface="+mj-ea"/>
              </a:rPr>
              <a:t> install –c </a:t>
            </a:r>
            <a:r>
              <a:rPr lang="en-US" altLang="zh-CN" sz="2000" dirty="0" err="1">
                <a:latin typeface="+mj-ea"/>
                <a:ea typeface="+mj-ea"/>
              </a:rPr>
              <a:t>conda</a:t>
            </a:r>
            <a:r>
              <a:rPr lang="en-US" altLang="zh-CN" sz="2000" dirty="0">
                <a:latin typeface="+mj-ea"/>
                <a:ea typeface="+mj-ea"/>
              </a:rPr>
              <a:t>-forge </a:t>
            </a:r>
            <a:r>
              <a:rPr lang="en-US" altLang="zh-CN" sz="2000" dirty="0" err="1">
                <a:latin typeface="+mj-ea"/>
                <a:ea typeface="+mj-ea"/>
              </a:rPr>
              <a:t>opencv</a:t>
            </a:r>
            <a:endParaRPr lang="en-US" altLang="zh-CN" sz="2000" dirty="0">
              <a:latin typeface="+mj-ea"/>
              <a:ea typeface="+mj-ea"/>
            </a:endParaRPr>
          </a:p>
          <a:p>
            <a:pPr fontAlgn="auto">
              <a:spcAft>
                <a:spcPts val="0"/>
              </a:spcAft>
            </a:pPr>
            <a:endParaRPr lang="en-US" altLang="zh-CN" dirty="0"/>
          </a:p>
          <a:p>
            <a:pPr fontAlgn="auto">
              <a:spcAft>
                <a:spcPts val="0"/>
              </a:spcAft>
            </a:pPr>
            <a:endParaRPr lang="zh-CN" altLang="en-US" dirty="0"/>
          </a:p>
          <a:p>
            <a:pPr fontAlgn="auto">
              <a:spcAft>
                <a:spcPts val="0"/>
              </a:spcAft>
            </a:pP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6F277-1859-BD1D-3419-BD47AB57E2BB}"/>
              </a:ext>
            </a:extLst>
          </p:cNvPr>
          <p:cNvSpPr txBox="1"/>
          <p:nvPr/>
        </p:nvSpPr>
        <p:spPr>
          <a:xfrm>
            <a:off x="6672064" y="1844824"/>
            <a:ext cx="3652838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已经安装的模块</a:t>
            </a:r>
            <a:endParaRPr lang="en-US" altLang="zh-CN" sz="2000" dirty="0">
              <a:latin typeface="+mj-ea"/>
              <a:ea typeface="+mj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+mj-ea"/>
                <a:ea typeface="+mj-ea"/>
              </a:rPr>
              <a:t>conda</a:t>
            </a:r>
            <a:r>
              <a:rPr lang="en-US" altLang="zh-CN" sz="2000" dirty="0">
                <a:latin typeface="+mj-ea"/>
                <a:ea typeface="+mj-ea"/>
              </a:rPr>
              <a:t> list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j-ea"/>
                <a:ea typeface="+mj-ea"/>
              </a:rPr>
              <a:t>pip list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zh-CN" sz="20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用</a:t>
            </a:r>
            <a:r>
              <a:rPr lang="en-US" altLang="zh-CN" sz="2000" dirty="0">
                <a:latin typeface="+mj-ea"/>
                <a:ea typeface="+mj-ea"/>
              </a:rPr>
              <a:t>pip</a:t>
            </a:r>
            <a:r>
              <a:rPr lang="zh-CN" altLang="en-US" sz="2000" dirty="0">
                <a:latin typeface="+mj-ea"/>
                <a:ea typeface="+mj-ea"/>
              </a:rPr>
              <a:t>安装 （</a:t>
            </a:r>
            <a:r>
              <a:rPr lang="en-US" altLang="zh-CN" sz="2000" dirty="0">
                <a:latin typeface="+mj-ea"/>
                <a:ea typeface="+mj-ea"/>
              </a:rPr>
              <a:t>Anaconda</a:t>
            </a:r>
            <a:r>
              <a:rPr lang="zh-CN" altLang="en-US" sz="2000" dirty="0">
                <a:latin typeface="+mj-ea"/>
                <a:ea typeface="+mj-ea"/>
              </a:rPr>
              <a:t>包括</a:t>
            </a:r>
            <a:r>
              <a:rPr lang="en-US" altLang="zh-CN" sz="2000" dirty="0">
                <a:latin typeface="+mj-ea"/>
                <a:ea typeface="+mj-ea"/>
              </a:rPr>
              <a:t>pip</a:t>
            </a:r>
            <a:r>
              <a:rPr lang="zh-CN" altLang="en-US" sz="2000" dirty="0">
                <a:latin typeface="+mj-ea"/>
                <a:ea typeface="+mj-ea"/>
              </a:rPr>
              <a:t>）</a:t>
            </a:r>
            <a:endParaRPr lang="en-US" altLang="zh-CN" sz="2000" dirty="0">
              <a:latin typeface="+mj-ea"/>
              <a:ea typeface="+mj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j-ea"/>
                <a:ea typeface="+mj-ea"/>
              </a:rPr>
              <a:t>pip install flask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zh-CN" sz="20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</a:rPr>
              <a:t>删除模块</a:t>
            </a:r>
            <a:endParaRPr lang="en-US" altLang="zh-CN" sz="2000" dirty="0">
              <a:latin typeface="+mj-ea"/>
              <a:ea typeface="+mj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altLang="zh-CN" sz="2000" dirty="0">
                <a:latin typeface="+mj-ea"/>
                <a:ea typeface="+mj-ea"/>
              </a:rPr>
              <a:t>conda remove -n myenv scipy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j-ea"/>
                <a:ea typeface="+mj-ea"/>
              </a:rPr>
              <a:t>pip uninstall </a:t>
            </a:r>
            <a:r>
              <a:rPr lang="en-US" altLang="zh-CN" sz="2000" dirty="0" err="1">
                <a:latin typeface="+mj-ea"/>
                <a:ea typeface="+mj-ea"/>
              </a:rPr>
              <a:t>mypackage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78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BAE2D-AF20-72CC-7DBA-ACC0C59D3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2E1B3C30-967B-3520-2C4A-0C6202011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4375B3B4-FB5A-BEF5-5896-C77D2F13088F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380998-0794-49A1-22AC-BB9C79950FE2}"/>
              </a:ext>
            </a:extLst>
          </p:cNvPr>
          <p:cNvSpPr txBox="1">
            <a:spLocks/>
          </p:cNvSpPr>
          <p:nvPr/>
        </p:nvSpPr>
        <p:spPr>
          <a:xfrm>
            <a:off x="1637021" y="1017913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/>
              <a:t>标准模块</a:t>
            </a:r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7BAA53-7BB7-E022-7385-910400EF872B}"/>
              </a:ext>
            </a:extLst>
          </p:cNvPr>
          <p:cNvSpPr txBox="1">
            <a:spLocks/>
          </p:cNvSpPr>
          <p:nvPr/>
        </p:nvSpPr>
        <p:spPr>
          <a:xfrm>
            <a:off x="1637021" y="2478412"/>
            <a:ext cx="78867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2000"/>
              <a:t>math </a:t>
            </a:r>
            <a:r>
              <a:rPr lang="zh-CN" altLang="en-US" sz="2000"/>
              <a:t>模块</a:t>
            </a:r>
            <a:endParaRPr lang="en-US" altLang="zh-CN" sz="2000"/>
          </a:p>
          <a:p>
            <a:pPr fontAlgn="auto">
              <a:spcAft>
                <a:spcPts val="0"/>
              </a:spcAft>
            </a:pPr>
            <a:r>
              <a:rPr lang="en-US" altLang="zh-CN" sz="2000"/>
              <a:t>from math import *</a:t>
            </a:r>
          </a:p>
          <a:p>
            <a:pPr fontAlgn="auto">
              <a:spcAft>
                <a:spcPts val="0"/>
              </a:spcAft>
            </a:pPr>
            <a:r>
              <a:rPr lang="en-US" altLang="zh-CN" sz="2000"/>
              <a:t>import math</a:t>
            </a:r>
          </a:p>
          <a:p>
            <a:pPr fontAlgn="auto">
              <a:spcAft>
                <a:spcPts val="0"/>
              </a:spcAft>
            </a:pPr>
            <a:endParaRPr lang="en-US" altLang="zh-CN"/>
          </a:p>
          <a:p>
            <a:pPr fontAlgn="auto">
              <a:spcAft>
                <a:spcPts val="0"/>
              </a:spcAft>
            </a:pPr>
            <a:endParaRPr lang="en-US" altLang="zh-CN"/>
          </a:p>
          <a:p>
            <a:pPr fontAlgn="auto">
              <a:spcAft>
                <a:spcPts val="0"/>
              </a:spcAft>
            </a:pPr>
            <a:endParaRPr lang="en-US" altLang="zh-CN"/>
          </a:p>
          <a:p>
            <a:pPr fontAlgn="auto">
              <a:spcAft>
                <a:spcPts val="0"/>
              </a:spcAft>
            </a:pPr>
            <a:endParaRPr lang="en-US" altLang="zh-CN"/>
          </a:p>
          <a:p>
            <a:pPr fontAlgn="auto">
              <a:spcAft>
                <a:spcPts val="0"/>
              </a:spcAft>
            </a:pPr>
            <a:endParaRPr lang="en-US" altLang="zh-CN"/>
          </a:p>
          <a:p>
            <a:pPr fontAlgn="auto">
              <a:spcAft>
                <a:spcPts val="0"/>
              </a:spcAft>
            </a:pPr>
            <a:endParaRPr lang="en-US" altLang="zh-CN" dirty="0"/>
          </a:p>
        </p:txBody>
      </p:sp>
      <p:graphicFrame>
        <p:nvGraphicFramePr>
          <p:cNvPr id="6" name="Group 68">
            <a:extLst>
              <a:ext uri="{FF2B5EF4-FFF2-40B4-BE49-F238E27FC236}">
                <a16:creationId xmlns:a16="http://schemas.microsoft.com/office/drawing/2014/main" id="{E061E328-70AF-262C-82E6-56ABCA1B2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936368"/>
              </p:ext>
            </p:extLst>
          </p:nvPr>
        </p:nvGraphicFramePr>
        <p:xfrm>
          <a:off x="4903244" y="2293865"/>
          <a:ext cx="5191626" cy="3271044"/>
        </p:xfrm>
        <a:graphic>
          <a:graphicData uri="http://schemas.openxmlformats.org/drawingml/2006/table">
            <a:tbl>
              <a:tblPr/>
              <a:tblGrid>
                <a:gridCol w="2097892">
                  <a:extLst>
                    <a:ext uri="{9D8B030D-6E8A-4147-A177-3AD203B41FA5}">
                      <a16:colId xmlns:a16="http://schemas.microsoft.com/office/drawing/2014/main" val="355093275"/>
                    </a:ext>
                  </a:extLst>
                </a:gridCol>
                <a:gridCol w="3093734">
                  <a:extLst>
                    <a:ext uri="{9D8B030D-6E8A-4147-A177-3AD203B41FA5}">
                      <a16:colId xmlns:a16="http://schemas.microsoft.com/office/drawing/2014/main" val="1750110180"/>
                    </a:ext>
                  </a:extLst>
                </a:gridCol>
              </a:tblGrid>
              <a:tr h="27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Command name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699441"/>
                  </a:ext>
                </a:extLst>
              </a:tr>
              <a:tr h="27348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abs(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absolute value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702395"/>
                  </a:ext>
                </a:extLst>
              </a:tr>
              <a:tr h="27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ceil(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rounds up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774156"/>
                  </a:ext>
                </a:extLst>
              </a:tr>
              <a:tr h="27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cos(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cosine, in radians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37214"/>
                  </a:ext>
                </a:extLst>
              </a:tr>
              <a:tr h="27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floor(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rounds down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167875"/>
                  </a:ext>
                </a:extLst>
              </a:tr>
              <a:tr h="27348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log(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logarithm, base </a:t>
                      </a:r>
                      <a:r>
                        <a:rPr kumimoji="0" lang="en-US" altLang="zh-CN" sz="11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055723"/>
                  </a:ext>
                </a:extLst>
              </a:tr>
              <a:tr h="27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log10(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logarithm, base 10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805942"/>
                  </a:ext>
                </a:extLst>
              </a:tr>
              <a:tr h="27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max(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value1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value2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larger of two values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566895"/>
                  </a:ext>
                </a:extLst>
              </a:tr>
              <a:tr h="27348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min(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value1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value2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smaller of two values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40431"/>
                  </a:ext>
                </a:extLst>
              </a:tr>
              <a:tr h="27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round(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nearest whole number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347591"/>
                  </a:ext>
                </a:extLst>
              </a:tr>
              <a:tr h="27348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sin(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sine, in radians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851405"/>
                  </a:ext>
                </a:extLst>
              </a:tr>
              <a:tr h="27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sqrt(</a:t>
                      </a:r>
                      <a:r>
                        <a:rPr kumimoji="0" lang="en-US" altLang="zh-CN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square root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537576"/>
                  </a:ext>
                </a:extLst>
              </a:tr>
            </a:tbl>
          </a:graphicData>
        </a:graphic>
      </p:graphicFrame>
      <p:graphicFrame>
        <p:nvGraphicFramePr>
          <p:cNvPr id="7" name="Group 67">
            <a:extLst>
              <a:ext uri="{FF2B5EF4-FFF2-40B4-BE49-F238E27FC236}">
                <a16:creationId xmlns:a16="http://schemas.microsoft.com/office/drawing/2014/main" id="{E5622126-DF0B-432A-A4D5-A0647F600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422055"/>
              </p:ext>
            </p:extLst>
          </p:nvPr>
        </p:nvGraphicFramePr>
        <p:xfrm>
          <a:off x="2038285" y="4413099"/>
          <a:ext cx="2078831" cy="74295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1668064569"/>
                    </a:ext>
                  </a:extLst>
                </a:gridCol>
                <a:gridCol w="1164431">
                  <a:extLst>
                    <a:ext uri="{9D8B030D-6E8A-4147-A177-3AD203B41FA5}">
                      <a16:colId xmlns:a16="http://schemas.microsoft.com/office/drawing/2014/main" val="3439323819"/>
                    </a:ext>
                  </a:extLst>
                </a:gridCol>
              </a:tblGrid>
              <a:tr h="247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Constant 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449668"/>
                  </a:ext>
                </a:extLst>
              </a:tr>
              <a:tr h="247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2.7182818...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123687"/>
                  </a:ext>
                </a:extLst>
              </a:tr>
              <a:tr h="247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pi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60000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800000"/>
                        </a:buClr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0C0C0"/>
                        </a:buClr>
                        <a:buSzPct val="50000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C0C0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3.1415926...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009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208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1B4AD-EFB7-27A3-D71B-3E192029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E0CC0EAF-955A-606B-7FC2-D972ECA69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CC084CFB-4111-D843-B12D-F723A7F1E38A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A93849-8ED6-E65F-E11E-DA72A3E7FB7C}"/>
              </a:ext>
            </a:extLst>
          </p:cNvPr>
          <p:cNvSpPr txBox="1">
            <a:spLocks/>
          </p:cNvSpPr>
          <p:nvPr/>
        </p:nvSpPr>
        <p:spPr>
          <a:xfrm>
            <a:off x="839416" y="908720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虚拟环境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CA1C2E-B41D-9C87-C255-479D90DA6BF8}"/>
              </a:ext>
            </a:extLst>
          </p:cNvPr>
          <p:cNvSpPr txBox="1">
            <a:spLocks/>
          </p:cNvSpPr>
          <p:nvPr/>
        </p:nvSpPr>
        <p:spPr>
          <a:xfrm>
            <a:off x="551384" y="1988840"/>
            <a:ext cx="1051316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  <a:spcAft>
                <a:spcPts val="0"/>
              </a:spcAft>
            </a:pPr>
            <a:r>
              <a:rPr lang="en-US" altLang="zh-CN" sz="2000" dirty="0"/>
              <a:t>Python</a:t>
            </a:r>
            <a:r>
              <a:rPr lang="zh-CN" altLang="en-US" sz="2000" dirty="0"/>
              <a:t>应用程序通常会使用不在标准库内的软件包和模块。应用程序有时需要特定版本的库，因为应用程序可能需要修复特定的错误，或者可以使用库的过时版本的接口编写应用程序。</a:t>
            </a:r>
            <a:endParaRPr lang="en-US" altLang="zh-CN" sz="2000" dirty="0"/>
          </a:p>
          <a:p>
            <a:pPr fontAlgn="auto">
              <a:lnSpc>
                <a:spcPct val="120000"/>
              </a:lnSpc>
              <a:spcAft>
                <a:spcPts val="0"/>
              </a:spcAft>
            </a:pPr>
            <a:endParaRPr lang="en-US" altLang="zh-CN" sz="2000" dirty="0"/>
          </a:p>
          <a:p>
            <a:pPr fontAlgn="auto">
              <a:lnSpc>
                <a:spcPct val="120000"/>
              </a:lnSpc>
              <a:spcAft>
                <a:spcPts val="0"/>
              </a:spcAft>
            </a:pPr>
            <a:r>
              <a:rPr lang="zh-CN" altLang="en-US" sz="2000" dirty="0"/>
              <a:t>这意味着一个</a:t>
            </a:r>
            <a:r>
              <a:rPr lang="en-US" altLang="zh-CN" sz="2000" dirty="0"/>
              <a:t>Python</a:t>
            </a:r>
            <a:r>
              <a:rPr lang="zh-CN" altLang="en-US" sz="2000" dirty="0"/>
              <a:t>安装可能无法满足每个应用程序的要求。如果应用程序</a:t>
            </a:r>
            <a:r>
              <a:rPr lang="en-US" altLang="zh-CN" sz="2000" dirty="0"/>
              <a:t>A</a:t>
            </a:r>
            <a:r>
              <a:rPr lang="zh-CN" altLang="en-US" sz="2000" dirty="0"/>
              <a:t>需要特定模块的</a:t>
            </a:r>
            <a:r>
              <a:rPr lang="en-US" altLang="zh-CN" sz="2000" dirty="0"/>
              <a:t>1.0</a:t>
            </a:r>
            <a:r>
              <a:rPr lang="zh-CN" altLang="en-US" sz="2000" dirty="0"/>
              <a:t>版本但应用程序</a:t>
            </a:r>
            <a:r>
              <a:rPr lang="en-US" altLang="zh-CN" sz="2000" dirty="0"/>
              <a:t>B</a:t>
            </a:r>
            <a:r>
              <a:rPr lang="zh-CN" altLang="en-US" sz="2000" dirty="0"/>
              <a:t>需要</a:t>
            </a:r>
            <a:r>
              <a:rPr lang="en-US" altLang="zh-CN" sz="2000" dirty="0"/>
              <a:t>2.0</a:t>
            </a:r>
            <a:r>
              <a:rPr lang="zh-CN" altLang="en-US" sz="2000" dirty="0"/>
              <a:t>版本，则需求存在冲突，安装版本</a:t>
            </a:r>
            <a:r>
              <a:rPr lang="en-US" altLang="zh-CN" sz="2000" dirty="0"/>
              <a:t>1.0</a:t>
            </a:r>
            <a:r>
              <a:rPr lang="zh-CN" altLang="en-US" sz="2000" dirty="0"/>
              <a:t>或</a:t>
            </a:r>
            <a:r>
              <a:rPr lang="en-US" altLang="zh-CN" sz="2000" dirty="0"/>
              <a:t>2.0</a:t>
            </a:r>
            <a:r>
              <a:rPr lang="zh-CN" altLang="en-US" sz="2000" dirty="0"/>
              <a:t>将导致某一个应用程序无法运行。</a:t>
            </a:r>
            <a:endParaRPr lang="en-US" altLang="zh-CN" sz="2000" dirty="0"/>
          </a:p>
          <a:p>
            <a:pPr fontAlgn="auto">
              <a:lnSpc>
                <a:spcPct val="120000"/>
              </a:lnSpc>
              <a:spcAft>
                <a:spcPts val="0"/>
              </a:spcAft>
            </a:pPr>
            <a:endParaRPr lang="en-US" altLang="zh-CN" sz="2000" dirty="0"/>
          </a:p>
          <a:p>
            <a:pPr fontAlgn="auto">
              <a:lnSpc>
                <a:spcPct val="120000"/>
              </a:lnSpc>
              <a:spcAft>
                <a:spcPts val="0"/>
              </a:spcAft>
            </a:pPr>
            <a:r>
              <a:rPr lang="zh-CN" altLang="en-US" sz="2000" dirty="0"/>
              <a:t>这个问题的解决方案是创建一个虚拟环境 </a:t>
            </a:r>
            <a:r>
              <a:rPr lang="en-US" altLang="zh-CN" sz="2000" dirty="0">
                <a:hlinkClick r:id="rId3"/>
              </a:rPr>
              <a:t>virtual environment</a:t>
            </a:r>
            <a:r>
              <a:rPr lang="zh-CN" altLang="en-US" sz="2000" dirty="0"/>
              <a:t>，一个目录树，其中安装有特定</a:t>
            </a:r>
            <a:r>
              <a:rPr lang="en-US" altLang="zh-CN" sz="2000" dirty="0"/>
              <a:t>Python</a:t>
            </a:r>
            <a:r>
              <a:rPr lang="zh-CN" altLang="en-US" sz="2000" dirty="0"/>
              <a:t>版本，以及许多其他包。</a:t>
            </a:r>
          </a:p>
        </p:txBody>
      </p:sp>
    </p:spTree>
    <p:extLst>
      <p:ext uri="{BB962C8B-B14F-4D97-AF65-F5344CB8AC3E}">
        <p14:creationId xmlns:p14="http://schemas.microsoft.com/office/powerpoint/2010/main" val="232362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F235D-D52E-7400-526F-14DEA7DC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F2DB72A8-31BC-E0EC-7B34-3FA526E65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4F626307-B955-743D-2BA1-E7DD7EEC431D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29D34C-8E89-5998-E3EC-1D87C0652F20}"/>
              </a:ext>
            </a:extLst>
          </p:cNvPr>
          <p:cNvSpPr txBox="1">
            <a:spLocks/>
          </p:cNvSpPr>
          <p:nvPr/>
        </p:nvSpPr>
        <p:spPr>
          <a:xfrm>
            <a:off x="839416" y="1015638"/>
            <a:ext cx="7928999" cy="727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虚拟环境 </a:t>
            </a:r>
            <a:r>
              <a:rPr lang="en-US" altLang="zh-CN" dirty="0"/>
              <a:t>(</a:t>
            </a:r>
            <a:r>
              <a:rPr lang="zh-CN" altLang="en-US" dirty="0"/>
              <a:t>以</a:t>
            </a:r>
            <a:r>
              <a:rPr lang="en-US" altLang="zh-CN" dirty="0"/>
              <a:t>anaconda</a:t>
            </a:r>
            <a:r>
              <a:rPr lang="zh-CN" altLang="en-US" dirty="0"/>
              <a:t>为例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6B8E0DB-5C24-9CFA-A235-969920239464}"/>
              </a:ext>
            </a:extLst>
          </p:cNvPr>
          <p:cNvSpPr txBox="1">
            <a:spLocks/>
          </p:cNvSpPr>
          <p:nvPr/>
        </p:nvSpPr>
        <p:spPr>
          <a:xfrm>
            <a:off x="863436" y="1952894"/>
            <a:ext cx="4262766" cy="3286285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sz="7200" dirty="0">
                <a:latin typeface="+mj-ea"/>
                <a:ea typeface="+mj-ea"/>
              </a:rPr>
              <a:t>默认是名为</a:t>
            </a:r>
            <a:r>
              <a:rPr lang="en-US" altLang="zh-CN" sz="7200" dirty="0">
                <a:latin typeface="+mj-ea"/>
                <a:ea typeface="+mj-ea"/>
              </a:rPr>
              <a:t>base</a:t>
            </a:r>
            <a:r>
              <a:rPr lang="zh-CN" altLang="en-US" sz="7200" dirty="0">
                <a:latin typeface="+mj-ea"/>
                <a:ea typeface="+mj-ea"/>
              </a:rPr>
              <a:t>的虚拟环境</a:t>
            </a:r>
            <a:endParaRPr lang="en-US" altLang="zh-CN" sz="7200" dirty="0">
              <a:latin typeface="+mj-ea"/>
              <a:ea typeface="+mj-ea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7200" dirty="0">
                <a:latin typeface="+mj-ea"/>
                <a:ea typeface="+mj-ea"/>
              </a:rPr>
              <a:t>查看安装了哪些虚拟环境</a:t>
            </a:r>
            <a:endParaRPr lang="en-US" altLang="zh-CN" sz="7200" dirty="0">
              <a:latin typeface="+mj-ea"/>
              <a:ea typeface="+mj-ea"/>
            </a:endParaRPr>
          </a:p>
          <a:p>
            <a:pPr lvl="1" fontAlgn="auto">
              <a:spcAft>
                <a:spcPts val="0"/>
              </a:spcAft>
            </a:pPr>
            <a:r>
              <a:rPr lang="en-US" altLang="zh-CN" sz="7200" dirty="0" err="1">
                <a:latin typeface="+mj-ea"/>
                <a:ea typeface="+mj-ea"/>
              </a:rPr>
              <a:t>conda</a:t>
            </a:r>
            <a:r>
              <a:rPr lang="en-US" altLang="zh-CN" sz="7200" dirty="0">
                <a:latin typeface="+mj-ea"/>
                <a:ea typeface="+mj-ea"/>
              </a:rPr>
              <a:t> env list</a:t>
            </a:r>
          </a:p>
          <a:p>
            <a:pPr fontAlgn="auto">
              <a:spcAft>
                <a:spcPts val="0"/>
              </a:spcAft>
            </a:pPr>
            <a:r>
              <a:rPr lang="zh-CN" altLang="en-US" sz="7200" dirty="0">
                <a:latin typeface="+mj-ea"/>
                <a:ea typeface="+mj-ea"/>
              </a:rPr>
              <a:t>创建一个虚拟环境</a:t>
            </a:r>
            <a:endParaRPr lang="en-US" altLang="zh-CN" sz="7200" dirty="0">
              <a:latin typeface="+mj-ea"/>
              <a:ea typeface="+mj-ea"/>
            </a:endParaRPr>
          </a:p>
          <a:p>
            <a:pPr lvl="1" fontAlgn="auto">
              <a:spcAft>
                <a:spcPts val="0"/>
              </a:spcAft>
            </a:pPr>
            <a:r>
              <a:rPr lang="en-US" altLang="zh-CN" sz="7200" dirty="0" err="1">
                <a:latin typeface="+mj-ea"/>
                <a:ea typeface="+mj-ea"/>
              </a:rPr>
              <a:t>conda</a:t>
            </a:r>
            <a:r>
              <a:rPr lang="en-US" altLang="zh-CN" sz="7200" dirty="0">
                <a:latin typeface="+mj-ea"/>
                <a:ea typeface="+mj-ea"/>
              </a:rPr>
              <a:t> create –n </a:t>
            </a:r>
            <a:r>
              <a:rPr lang="en-US" altLang="zh-CN" sz="7200" dirty="0" err="1">
                <a:latin typeface="+mj-ea"/>
                <a:ea typeface="+mj-ea"/>
              </a:rPr>
              <a:t>env_name</a:t>
            </a:r>
            <a:r>
              <a:rPr lang="en-US" altLang="zh-CN" sz="7200" dirty="0">
                <a:latin typeface="+mj-ea"/>
                <a:ea typeface="+mj-ea"/>
              </a:rPr>
              <a:t> python=3.6</a:t>
            </a:r>
          </a:p>
          <a:p>
            <a:pPr lvl="1" fontAlgn="auto">
              <a:spcAft>
                <a:spcPts val="0"/>
              </a:spcAft>
            </a:pPr>
            <a:r>
              <a:rPr lang="en-US" altLang="zh-CN" sz="7200" dirty="0" err="1">
                <a:latin typeface="+mj-ea"/>
                <a:ea typeface="+mj-ea"/>
              </a:rPr>
              <a:t>conda</a:t>
            </a:r>
            <a:r>
              <a:rPr lang="en-US" altLang="zh-CN" sz="7200" dirty="0">
                <a:latin typeface="+mj-ea"/>
                <a:ea typeface="+mj-ea"/>
              </a:rPr>
              <a:t> create –n </a:t>
            </a:r>
            <a:r>
              <a:rPr lang="en-US" altLang="zh-CN" sz="7200" dirty="0" err="1">
                <a:latin typeface="+mj-ea"/>
                <a:ea typeface="+mj-ea"/>
              </a:rPr>
              <a:t>env_name</a:t>
            </a:r>
            <a:r>
              <a:rPr lang="en-US" altLang="zh-CN" sz="7200" dirty="0">
                <a:latin typeface="+mj-ea"/>
                <a:ea typeface="+mj-ea"/>
              </a:rPr>
              <a:t> </a:t>
            </a:r>
            <a:r>
              <a:rPr lang="en-US" altLang="zh-CN" sz="7200" dirty="0" err="1">
                <a:latin typeface="+mj-ea"/>
                <a:ea typeface="+mj-ea"/>
              </a:rPr>
              <a:t>numpy</a:t>
            </a:r>
            <a:r>
              <a:rPr lang="en-US" altLang="zh-CN" sz="7200" dirty="0">
                <a:latin typeface="+mj-ea"/>
                <a:ea typeface="+mj-ea"/>
              </a:rPr>
              <a:t> python=2.7</a:t>
            </a:r>
          </a:p>
          <a:p>
            <a:pPr fontAlgn="auto">
              <a:spcAft>
                <a:spcPts val="0"/>
              </a:spcAft>
            </a:pPr>
            <a:r>
              <a:rPr lang="zh-CN" altLang="en-US" sz="7200" dirty="0">
                <a:latin typeface="+mj-ea"/>
                <a:ea typeface="+mj-ea"/>
              </a:rPr>
              <a:t>激活虚拟环境</a:t>
            </a:r>
            <a:endParaRPr lang="en-US" altLang="zh-CN" sz="7200" dirty="0">
              <a:latin typeface="+mj-ea"/>
              <a:ea typeface="+mj-ea"/>
            </a:endParaRPr>
          </a:p>
          <a:p>
            <a:pPr lvl="1" fontAlgn="auto">
              <a:spcAft>
                <a:spcPts val="0"/>
              </a:spcAft>
            </a:pPr>
            <a:r>
              <a:rPr lang="en-US" altLang="zh-CN" sz="7200" dirty="0">
                <a:latin typeface="+mj-ea"/>
                <a:ea typeface="+mj-ea"/>
              </a:rPr>
              <a:t>Linux</a:t>
            </a:r>
          </a:p>
          <a:p>
            <a:pPr lvl="2" fontAlgn="auto">
              <a:spcAft>
                <a:spcPts val="0"/>
              </a:spcAft>
            </a:pPr>
            <a:r>
              <a:rPr lang="en-US" altLang="zh-CN" sz="7200" dirty="0">
                <a:latin typeface="+mj-ea"/>
                <a:ea typeface="+mj-ea"/>
              </a:rPr>
              <a:t>source activate </a:t>
            </a:r>
            <a:r>
              <a:rPr lang="en-US" altLang="zh-CN" sz="7200" dirty="0" err="1">
                <a:latin typeface="+mj-ea"/>
                <a:ea typeface="+mj-ea"/>
              </a:rPr>
              <a:t>your_env_name</a:t>
            </a:r>
            <a:endParaRPr lang="en-US" altLang="zh-CN" sz="7200" dirty="0">
              <a:latin typeface="+mj-ea"/>
              <a:ea typeface="+mj-ea"/>
            </a:endParaRPr>
          </a:p>
          <a:p>
            <a:pPr lvl="1" fontAlgn="auto">
              <a:spcAft>
                <a:spcPts val="0"/>
              </a:spcAft>
            </a:pPr>
            <a:r>
              <a:rPr lang="en-US" altLang="zh-CN" sz="7200" dirty="0">
                <a:latin typeface="+mj-ea"/>
                <a:ea typeface="+mj-ea"/>
              </a:rPr>
              <a:t>windows</a:t>
            </a:r>
          </a:p>
          <a:p>
            <a:pPr lvl="2" fontAlgn="auto">
              <a:spcAft>
                <a:spcPts val="0"/>
              </a:spcAft>
            </a:pPr>
            <a:r>
              <a:rPr lang="en-US" altLang="zh-CN" sz="7200" dirty="0">
                <a:latin typeface="+mj-ea"/>
                <a:ea typeface="+mj-ea"/>
              </a:rPr>
              <a:t> activate </a:t>
            </a:r>
            <a:r>
              <a:rPr lang="en-US" altLang="zh-CN" sz="7200" dirty="0" err="1">
                <a:latin typeface="+mj-ea"/>
                <a:ea typeface="+mj-ea"/>
              </a:rPr>
              <a:t>your_env_name</a:t>
            </a:r>
            <a:endParaRPr lang="en-US" altLang="zh-CN" sz="7200" dirty="0">
              <a:latin typeface="+mj-ea"/>
              <a:ea typeface="+mj-ea"/>
            </a:endParaRPr>
          </a:p>
          <a:p>
            <a:pPr lvl="1" fontAlgn="auto">
              <a:spcAft>
                <a:spcPts val="0"/>
              </a:spcAft>
            </a:pPr>
            <a:r>
              <a:rPr lang="en-US" altLang="zh-CN" sz="7200" dirty="0" err="1">
                <a:latin typeface="+mj-ea"/>
                <a:ea typeface="+mj-ea"/>
              </a:rPr>
              <a:t>conda</a:t>
            </a:r>
            <a:r>
              <a:rPr lang="en-US" altLang="zh-CN" sz="7200" dirty="0">
                <a:latin typeface="+mj-ea"/>
                <a:ea typeface="+mj-ea"/>
              </a:rPr>
              <a:t> activate </a:t>
            </a:r>
            <a:r>
              <a:rPr lang="en-US" altLang="zh-CN" sz="7200" dirty="0" err="1">
                <a:latin typeface="+mj-ea"/>
                <a:ea typeface="+mj-ea"/>
              </a:rPr>
              <a:t>your_env_name</a:t>
            </a:r>
            <a:r>
              <a:rPr lang="en-US" altLang="zh-CN" sz="7200" dirty="0">
                <a:latin typeface="+mj-ea"/>
                <a:ea typeface="+mj-ea"/>
              </a:rPr>
              <a:t> ( for </a:t>
            </a:r>
            <a:r>
              <a:rPr lang="en-US" altLang="zh-CN" sz="7200" dirty="0" err="1">
                <a:latin typeface="+mj-ea"/>
                <a:ea typeface="+mj-ea"/>
              </a:rPr>
              <a:t>conda</a:t>
            </a:r>
            <a:r>
              <a:rPr lang="en-US" altLang="zh-CN" sz="7200" dirty="0">
                <a:latin typeface="+mj-ea"/>
                <a:ea typeface="+mj-ea"/>
              </a:rPr>
              <a:t>&gt;=4.6)</a:t>
            </a:r>
          </a:p>
          <a:p>
            <a:pPr lvl="1" fontAlgn="auto">
              <a:spcAft>
                <a:spcPts val="0"/>
              </a:spcAft>
            </a:pP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BE588-BB5D-E2DC-9CE0-01AB31DE87CE}"/>
              </a:ext>
            </a:extLst>
          </p:cNvPr>
          <p:cNvSpPr txBox="1"/>
          <p:nvPr/>
        </p:nvSpPr>
        <p:spPr>
          <a:xfrm>
            <a:off x="5807968" y="1915571"/>
            <a:ext cx="48244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j-ea"/>
                <a:ea typeface="+mj-ea"/>
              </a:rPr>
              <a:t>退出虚拟环境</a:t>
            </a:r>
            <a:endParaRPr lang="en-US" altLang="zh-CN" dirty="0">
              <a:latin typeface="+mj-ea"/>
              <a:ea typeface="+mj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j-ea"/>
                <a:ea typeface="+mj-ea"/>
              </a:rPr>
              <a:t>Linux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j-ea"/>
                <a:ea typeface="+mj-ea"/>
              </a:rPr>
              <a:t>source deactivate </a:t>
            </a:r>
            <a:r>
              <a:rPr lang="en-US" altLang="zh-CN" dirty="0" err="1">
                <a:latin typeface="+mj-ea"/>
                <a:ea typeface="+mj-ea"/>
              </a:rPr>
              <a:t>your_env_name</a:t>
            </a:r>
            <a:endParaRPr lang="en-US" altLang="zh-CN" dirty="0">
              <a:latin typeface="+mj-ea"/>
              <a:ea typeface="+mj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j-ea"/>
                <a:ea typeface="+mj-ea"/>
              </a:rPr>
              <a:t>windows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j-ea"/>
                <a:ea typeface="+mj-ea"/>
              </a:rPr>
              <a:t> deactivate </a:t>
            </a:r>
            <a:r>
              <a:rPr lang="en-US" altLang="zh-CN" dirty="0" err="1">
                <a:latin typeface="+mj-ea"/>
                <a:ea typeface="+mj-ea"/>
              </a:rPr>
              <a:t>your_env_name</a:t>
            </a:r>
            <a:endParaRPr lang="en-US" altLang="zh-CN" dirty="0">
              <a:latin typeface="+mj-ea"/>
              <a:ea typeface="+mj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+mj-ea"/>
                <a:ea typeface="+mj-ea"/>
              </a:rPr>
              <a:t>conda</a:t>
            </a:r>
            <a:r>
              <a:rPr lang="en-US" altLang="zh-CN" dirty="0">
                <a:latin typeface="+mj-ea"/>
                <a:ea typeface="+mj-ea"/>
              </a:rPr>
              <a:t> deactivate </a:t>
            </a:r>
            <a:r>
              <a:rPr lang="en-US" altLang="zh-CN" dirty="0" err="1">
                <a:latin typeface="+mj-ea"/>
                <a:ea typeface="+mj-ea"/>
              </a:rPr>
              <a:t>your_env_name</a:t>
            </a:r>
            <a:r>
              <a:rPr lang="en-US" altLang="zh-CN" dirty="0">
                <a:latin typeface="+mj-ea"/>
                <a:ea typeface="+mj-ea"/>
              </a:rPr>
              <a:t> (for </a:t>
            </a:r>
            <a:r>
              <a:rPr lang="en-US" altLang="zh-CN" dirty="0" err="1">
                <a:latin typeface="+mj-ea"/>
                <a:ea typeface="+mj-ea"/>
              </a:rPr>
              <a:t>conda</a:t>
            </a:r>
            <a:r>
              <a:rPr lang="en-US" altLang="zh-CN" dirty="0">
                <a:latin typeface="+mj-ea"/>
                <a:ea typeface="+mj-ea"/>
              </a:rPr>
              <a:t>&gt;=4.6)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j-ea"/>
                <a:ea typeface="+mj-ea"/>
              </a:rPr>
              <a:t>删除环境</a:t>
            </a:r>
            <a:endParaRPr lang="en-US" altLang="zh-CN" dirty="0">
              <a:latin typeface="+mj-ea"/>
              <a:ea typeface="+mj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+mj-ea"/>
                <a:ea typeface="+mj-ea"/>
              </a:rPr>
              <a:t>conda</a:t>
            </a:r>
            <a:r>
              <a:rPr lang="en-US" altLang="zh-CN" dirty="0">
                <a:latin typeface="+mj-ea"/>
                <a:ea typeface="+mj-ea"/>
              </a:rPr>
              <a:t> remove –n </a:t>
            </a:r>
            <a:r>
              <a:rPr lang="en-US" altLang="zh-CN" dirty="0" err="1">
                <a:latin typeface="+mj-ea"/>
                <a:ea typeface="+mj-ea"/>
              </a:rPr>
              <a:t>your_env_name</a:t>
            </a:r>
            <a:r>
              <a:rPr lang="en-US" altLang="zh-CN" dirty="0">
                <a:latin typeface="+mj-ea"/>
                <a:ea typeface="+mj-ea"/>
              </a:rPr>
              <a:t> -–all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j-ea"/>
                <a:ea typeface="+mj-ea"/>
              </a:rPr>
              <a:t>删除虚拟环境中的包</a:t>
            </a:r>
            <a:endParaRPr lang="en-US" altLang="zh-CN" dirty="0">
              <a:latin typeface="+mj-ea"/>
              <a:ea typeface="+mj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+mj-ea"/>
                <a:ea typeface="+mj-ea"/>
              </a:rPr>
              <a:t>conda</a:t>
            </a:r>
            <a:r>
              <a:rPr lang="en-US" altLang="zh-CN" dirty="0">
                <a:latin typeface="+mj-ea"/>
                <a:ea typeface="+mj-ea"/>
              </a:rPr>
              <a:t> remove –-name </a:t>
            </a:r>
            <a:r>
              <a:rPr lang="en-US" altLang="zh-CN" dirty="0" err="1">
                <a:latin typeface="+mj-ea"/>
                <a:ea typeface="+mj-ea"/>
              </a:rPr>
              <a:t>your_env_name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en-US" altLang="zh-CN" dirty="0" err="1">
                <a:latin typeface="+mj-ea"/>
                <a:ea typeface="+mj-ea"/>
              </a:rPr>
              <a:t>package_name</a:t>
            </a:r>
            <a:endParaRPr lang="en-US" altLang="zh-CN" dirty="0">
              <a:latin typeface="+mj-ea"/>
              <a:ea typeface="+mj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336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C8C3-5189-1055-D412-EB9A0272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565F1B53-C253-515D-CCCE-A7DA4E301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D319AF3A-492B-42DF-39CD-FCE1090C947A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6BAB34-CA1B-B8BF-2E6D-FF613EFB0DA1}"/>
              </a:ext>
            </a:extLst>
          </p:cNvPr>
          <p:cNvSpPr txBox="1">
            <a:spLocks/>
          </p:cNvSpPr>
          <p:nvPr/>
        </p:nvSpPr>
        <p:spPr>
          <a:xfrm>
            <a:off x="839416" y="901298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模块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4E963B-2FC6-6BD9-60C5-8B65F717695D}"/>
              </a:ext>
            </a:extLst>
          </p:cNvPr>
          <p:cNvSpPr txBox="1">
            <a:spLocks/>
          </p:cNvSpPr>
          <p:nvPr/>
        </p:nvSpPr>
        <p:spPr>
          <a:xfrm>
            <a:off x="1919536" y="1859289"/>
            <a:ext cx="78867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/>
              <a:t>Anaconda</a:t>
            </a:r>
            <a:r>
              <a:rPr lang="zh-CN" altLang="en-US"/>
              <a:t>模块列表</a:t>
            </a:r>
            <a:endParaRPr lang="en-US" altLang="zh-CN"/>
          </a:p>
          <a:p>
            <a:pPr fontAlgn="auto">
              <a:spcAft>
                <a:spcPts val="0"/>
              </a:spcAft>
            </a:pPr>
            <a:r>
              <a:rPr lang="en-US" altLang="zh-CN">
                <a:hlinkClick r:id="rId3"/>
              </a:rPr>
              <a:t>https://docs.anaconda.com/anaconda/packages/py3.8_win-64/</a:t>
            </a:r>
            <a:endParaRPr lang="en-US" altLang="zh-CN"/>
          </a:p>
          <a:p>
            <a:pPr fontAlgn="auto">
              <a:spcAft>
                <a:spcPts val="0"/>
              </a:spcAft>
            </a:pPr>
            <a:endParaRPr lang="en-US" altLang="zh-CN"/>
          </a:p>
          <a:p>
            <a:pPr fontAlgn="auto">
              <a:spcAft>
                <a:spcPts val="0"/>
              </a:spcAft>
            </a:pPr>
            <a:endParaRPr lang="en-US" altLang="zh-CN"/>
          </a:p>
          <a:p>
            <a:pPr fontAlgn="auto">
              <a:spcAft>
                <a:spcPts val="0"/>
              </a:spcAft>
            </a:pPr>
            <a:endParaRPr lang="en-US" altLang="zh-CN"/>
          </a:p>
          <a:p>
            <a:pPr fontAlgn="auto">
              <a:spcAft>
                <a:spcPts val="0"/>
              </a:spcAft>
            </a:pPr>
            <a:endParaRPr lang="en-US" altLang="zh-CN"/>
          </a:p>
          <a:p>
            <a:pPr fontAlgn="auto">
              <a:spcAft>
                <a:spcPts val="0"/>
              </a:spcAft>
            </a:pPr>
            <a:endParaRPr lang="en-US" altLang="zh-CN"/>
          </a:p>
          <a:p>
            <a:pPr fontAlgn="auto">
              <a:spcAft>
                <a:spcPts val="0"/>
              </a:spcAft>
            </a:pP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1278D8-A9B8-2308-89A5-69832372B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3995" y="3388027"/>
            <a:ext cx="6263334" cy="309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3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870DD-F0BE-A982-D1C6-C0CD007A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A318C9C0-0BEB-F907-6AB3-25233352B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23FD0C44-34BC-DA61-9520-66C4B2D3C953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108D13-4956-BC6A-0A72-B550F01069BD}"/>
              </a:ext>
            </a:extLst>
          </p:cNvPr>
          <p:cNvSpPr txBox="1">
            <a:spLocks/>
          </p:cNvSpPr>
          <p:nvPr/>
        </p:nvSpPr>
        <p:spPr>
          <a:xfrm>
            <a:off x="839416" y="962689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/>
              <a:t>常用模块</a:t>
            </a:r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AF247A-8DF5-92B6-5A4E-656EABF3E6F9}"/>
              </a:ext>
            </a:extLst>
          </p:cNvPr>
          <p:cNvSpPr txBox="1">
            <a:spLocks/>
          </p:cNvSpPr>
          <p:nvPr/>
        </p:nvSpPr>
        <p:spPr>
          <a:xfrm>
            <a:off x="1127448" y="1916832"/>
            <a:ext cx="7915931" cy="3325271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图像处理</a:t>
            </a:r>
            <a:endParaRPr lang="en-US" altLang="zh-CN" dirty="0"/>
          </a:p>
          <a:p>
            <a:pPr lvl="1" fontAlgn="auto">
              <a:spcAft>
                <a:spcPts val="0"/>
              </a:spcAft>
            </a:pPr>
            <a:r>
              <a:rPr lang="en-US" altLang="zh-CN" dirty="0"/>
              <a:t>PIL</a:t>
            </a:r>
            <a:r>
              <a:rPr lang="zh-CN" altLang="en-US" dirty="0"/>
              <a:t>， </a:t>
            </a:r>
            <a:r>
              <a:rPr lang="en-US" altLang="zh-CN" dirty="0"/>
              <a:t>OpenCV</a:t>
            </a:r>
          </a:p>
          <a:p>
            <a:pPr fontAlgn="auto">
              <a:spcAft>
                <a:spcPts val="0"/>
              </a:spcAft>
            </a:pPr>
            <a:r>
              <a:rPr lang="en-US" altLang="zh-CN" dirty="0"/>
              <a:t>GUI</a:t>
            </a:r>
          </a:p>
          <a:p>
            <a:pPr lvl="1" fontAlgn="auto">
              <a:spcAft>
                <a:spcPts val="0"/>
              </a:spcAft>
            </a:pPr>
            <a:r>
              <a:rPr lang="en-US" altLang="zh-CN" dirty="0"/>
              <a:t>Pyqt4/5, </a:t>
            </a:r>
            <a:r>
              <a:rPr lang="en-US" altLang="zh-CN" dirty="0" err="1"/>
              <a:t>tkinter</a:t>
            </a:r>
            <a:r>
              <a:rPr lang="en-US" altLang="zh-CN" dirty="0"/>
              <a:t>, </a:t>
            </a:r>
            <a:r>
              <a:rPr lang="en-US" altLang="zh-CN" dirty="0" err="1"/>
              <a:t>pygtk</a:t>
            </a:r>
            <a:endParaRPr lang="en-US" altLang="zh-CN" dirty="0"/>
          </a:p>
          <a:p>
            <a:pPr fontAlgn="auto">
              <a:spcAft>
                <a:spcPts val="0"/>
              </a:spcAft>
            </a:pPr>
            <a:r>
              <a:rPr lang="zh-CN" altLang="en-US" dirty="0"/>
              <a:t>网络相关</a:t>
            </a:r>
            <a:endParaRPr lang="en-US" altLang="zh-CN" dirty="0"/>
          </a:p>
          <a:p>
            <a:pPr lvl="1" fontAlgn="auto">
              <a:spcAft>
                <a:spcPts val="0"/>
              </a:spcAft>
            </a:pPr>
            <a:r>
              <a:rPr lang="en-US" altLang="zh-CN" dirty="0"/>
              <a:t>Requests, flask, </a:t>
            </a:r>
            <a:r>
              <a:rPr lang="en-US" altLang="zh-CN" dirty="0" err="1"/>
              <a:t>urllib</a:t>
            </a:r>
            <a:r>
              <a:rPr lang="en-US" altLang="zh-CN" dirty="0"/>
              <a:t>, </a:t>
            </a:r>
            <a:r>
              <a:rPr lang="en-US" altLang="zh-CN" dirty="0" err="1"/>
              <a:t>beautifulsoup</a:t>
            </a:r>
            <a:endParaRPr lang="en-US" altLang="zh-CN" dirty="0"/>
          </a:p>
          <a:p>
            <a:pPr fontAlgn="auto">
              <a:spcAft>
                <a:spcPts val="0"/>
              </a:spcAft>
            </a:pPr>
            <a:r>
              <a:rPr lang="zh-CN" altLang="en-US" dirty="0"/>
              <a:t>游戏相关</a:t>
            </a:r>
            <a:endParaRPr lang="en-US" altLang="zh-CN" dirty="0"/>
          </a:p>
          <a:p>
            <a:pPr lvl="1" fontAlgn="auto">
              <a:spcAft>
                <a:spcPts val="0"/>
              </a:spcAft>
            </a:pPr>
            <a:r>
              <a:rPr lang="en-US" altLang="zh-CN" dirty="0" err="1"/>
              <a:t>Pygame</a:t>
            </a:r>
            <a:endParaRPr lang="en-US" altLang="zh-CN" dirty="0"/>
          </a:p>
          <a:p>
            <a:pPr fontAlgn="auto">
              <a:spcAft>
                <a:spcPts val="0"/>
              </a:spcAft>
            </a:pPr>
            <a:r>
              <a:rPr lang="zh-CN" altLang="en-US" dirty="0"/>
              <a:t>更详尽的列表，请见</a:t>
            </a:r>
            <a:endParaRPr lang="en-US" altLang="zh-CN" dirty="0"/>
          </a:p>
          <a:p>
            <a:pPr fontAlgn="auto">
              <a:spcAft>
                <a:spcPts val="0"/>
              </a:spcAft>
            </a:pPr>
            <a:r>
              <a:rPr lang="en-US" altLang="zh-CN" dirty="0"/>
              <a:t>https://www.zhihu.com/question/24590883</a:t>
            </a:r>
          </a:p>
          <a:p>
            <a:pPr fontAlgn="auto">
              <a:spcAft>
                <a:spcPts val="0"/>
              </a:spcAft>
            </a:pP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55AB41-3A7F-A795-DFA1-5C0427149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60" y="2204864"/>
            <a:ext cx="3859738" cy="28918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300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85B39-FF66-7BAF-121C-18C86C687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305AF0-D625-C6FB-2533-4BD4B4ECF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00" y="3212976"/>
            <a:ext cx="3859738" cy="28918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7E9F07F8-52A5-390A-03ED-D1C6E6266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3D70561-7B4A-453A-93D2-81F859C6B47A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62667B-38F5-D3C3-AA87-F48B5E6DA0F4}"/>
              </a:ext>
            </a:extLst>
          </p:cNvPr>
          <p:cNvSpPr txBox="1">
            <a:spLocks/>
          </p:cNvSpPr>
          <p:nvPr/>
        </p:nvSpPr>
        <p:spPr>
          <a:xfrm>
            <a:off x="767408" y="88110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/>
              <a:t>Python</a:t>
            </a:r>
            <a:r>
              <a:rPr lang="zh-CN" altLang="en-US" dirty="0"/>
              <a:t>与数据科学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9F4A8B-2696-02B1-63AC-739A1B358023}"/>
              </a:ext>
            </a:extLst>
          </p:cNvPr>
          <p:cNvSpPr txBox="1">
            <a:spLocks/>
          </p:cNvSpPr>
          <p:nvPr/>
        </p:nvSpPr>
        <p:spPr>
          <a:xfrm>
            <a:off x="974034" y="1988840"/>
            <a:ext cx="10450558" cy="3325271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b="1" dirty="0"/>
              <a:t>Python</a:t>
            </a:r>
            <a:r>
              <a:rPr lang="zh-CN" altLang="en-US" dirty="0"/>
              <a:t> 是一种广泛用于数据科学的编程语言，因其简洁的语法、强大的库支持和广泛的社区而受到欢迎。数据科学涉及数据的收集、清理、分析、可视化和建模，</a:t>
            </a:r>
            <a:r>
              <a:rPr lang="en-US" altLang="zh-CN" dirty="0"/>
              <a:t>Python </a:t>
            </a:r>
            <a:r>
              <a:rPr lang="zh-CN" altLang="en-US" dirty="0"/>
              <a:t>提供了多个强大的库来支持这些任务，例如：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NumPy</a:t>
            </a:r>
            <a:r>
              <a:rPr lang="zh-CN" altLang="en-US" dirty="0"/>
              <a:t>：用于数值计算和数组操作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Pandas</a:t>
            </a:r>
            <a:r>
              <a:rPr lang="zh-CN" altLang="en-US" dirty="0"/>
              <a:t>：用于数据处理和分析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Matplotlib / Seaborn</a:t>
            </a:r>
            <a:r>
              <a:rPr lang="zh-CN" altLang="en-US" dirty="0"/>
              <a:t>：用于数据可视化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Scikit-learn</a:t>
            </a:r>
            <a:r>
              <a:rPr lang="zh-CN" altLang="en-US" dirty="0"/>
              <a:t>：用于机器学习建模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TensorFlow / </a:t>
            </a:r>
            <a:r>
              <a:rPr lang="en-US" altLang="zh-CN" b="1" dirty="0" err="1"/>
              <a:t>PyTorch</a:t>
            </a:r>
            <a:r>
              <a:rPr lang="zh-CN" altLang="en-US" dirty="0"/>
              <a:t>：用于深度学习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710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85A83-860F-97A3-3BAD-D73FE3094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5BC9A1AE-76C7-4FD5-4B79-806514C16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9D352EC8-7AE2-B89F-ED77-189D713B6602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7779C4-D7B3-6B14-A63A-2EB30BEF7F47}"/>
              </a:ext>
            </a:extLst>
          </p:cNvPr>
          <p:cNvSpPr txBox="1">
            <a:spLocks/>
          </p:cNvSpPr>
          <p:nvPr/>
        </p:nvSpPr>
        <p:spPr>
          <a:xfrm>
            <a:off x="767408" y="88110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/>
              <a:t>Python</a:t>
            </a:r>
            <a:r>
              <a:rPr lang="zh-CN" altLang="en-US" dirty="0"/>
              <a:t>与数据科学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4B6B60-2AF5-AEB2-ACD1-E592C50845C5}"/>
              </a:ext>
            </a:extLst>
          </p:cNvPr>
          <p:cNvSpPr txBox="1">
            <a:spLocks/>
          </p:cNvSpPr>
          <p:nvPr/>
        </p:nvSpPr>
        <p:spPr>
          <a:xfrm>
            <a:off x="801617" y="1766364"/>
            <a:ext cx="10450558" cy="33252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dirty="0"/>
              <a:t>示例：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B31AFA-4A3A-A181-9CC0-2841872AAF0C}"/>
              </a:ext>
            </a:extLst>
          </p:cNvPr>
          <p:cNvSpPr txBox="1"/>
          <p:nvPr/>
        </p:nvSpPr>
        <p:spPr>
          <a:xfrm>
            <a:off x="2351584" y="2206670"/>
            <a:ext cx="7679285" cy="424731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import pandas as pd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import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matplotlib.pyplot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as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plt</a:t>
            </a:r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创建一个简单的数据集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data = {'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年份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': [2018, 2019, 2020, 2021, 2022],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     '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销售额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': [100, 120, 150, 130, 180]}</a:t>
            </a: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df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pd.DataFrame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(data)</a:t>
            </a: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绘制折线图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plt.plot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df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['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年份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'],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df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['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销售额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'], marker='o',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linestyle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='-')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plt.xlabel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('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年份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')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plt.ylabel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('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销售额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')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plt.title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('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年度销售额变化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')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plt.show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0574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5971E-F19E-70F4-6D22-8E409AB78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AA553603-5577-2639-E51A-EDDA10A15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A74ADB11-5546-40E6-D0AE-104660A0A38D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CEC9E8-4561-1462-2ABE-B679693EB0E0}"/>
              </a:ext>
            </a:extLst>
          </p:cNvPr>
          <p:cNvSpPr txBox="1">
            <a:spLocks/>
          </p:cNvSpPr>
          <p:nvPr/>
        </p:nvSpPr>
        <p:spPr>
          <a:xfrm>
            <a:off x="767408" y="88110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/>
              <a:t>Python</a:t>
            </a:r>
            <a:r>
              <a:rPr lang="zh-CN" altLang="en-US" dirty="0"/>
              <a:t>与面向网络编程（爬虫）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6F3887-45F9-4A2D-46DE-0250223BAA60}"/>
              </a:ext>
            </a:extLst>
          </p:cNvPr>
          <p:cNvSpPr txBox="1">
            <a:spLocks/>
          </p:cNvSpPr>
          <p:nvPr/>
        </p:nvSpPr>
        <p:spPr>
          <a:xfrm>
            <a:off x="623392" y="1844824"/>
            <a:ext cx="4833934" cy="33252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Python </a:t>
            </a:r>
            <a:r>
              <a:rPr lang="zh-CN" altLang="en-US" sz="2000" dirty="0"/>
              <a:t>在网络编程和爬虫领域有广泛应用，主要用于：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b="1" dirty="0"/>
              <a:t>Web </a:t>
            </a:r>
            <a:r>
              <a:rPr lang="zh-CN" altLang="en-US" sz="2000" b="1" dirty="0"/>
              <a:t>爬虫</a:t>
            </a:r>
            <a:r>
              <a:rPr lang="zh-CN" altLang="en-US" sz="2000" dirty="0"/>
              <a:t>：从网站抓取数据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dirty="0"/>
              <a:t>网络通信</a:t>
            </a:r>
            <a:r>
              <a:rPr lang="zh-CN" altLang="en-US" sz="2000" dirty="0"/>
              <a:t>：使用 </a:t>
            </a:r>
            <a:r>
              <a:rPr lang="en-US" altLang="zh-CN" sz="2000" dirty="0"/>
              <a:t>HTTP</a:t>
            </a:r>
            <a:r>
              <a:rPr lang="zh-CN" altLang="en-US" sz="2000" dirty="0"/>
              <a:t>、</a:t>
            </a:r>
            <a:r>
              <a:rPr lang="en-US" altLang="zh-CN" sz="2000" dirty="0"/>
              <a:t>WebSocket </a:t>
            </a:r>
            <a:r>
              <a:rPr lang="zh-CN" altLang="en-US" sz="2000" dirty="0"/>
              <a:t>等协议进行数据传输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b="1" dirty="0"/>
              <a:t>API </a:t>
            </a:r>
            <a:r>
              <a:rPr lang="zh-CN" altLang="en-US" sz="2000" b="1" dirty="0"/>
              <a:t>调用</a:t>
            </a:r>
            <a:r>
              <a:rPr lang="zh-CN" altLang="en-US" sz="2000" dirty="0"/>
              <a:t>：请求和处理 </a:t>
            </a:r>
            <a:r>
              <a:rPr lang="en-US" altLang="zh-CN" sz="2000" dirty="0"/>
              <a:t>Web API </a:t>
            </a:r>
            <a:r>
              <a:rPr lang="zh-CN" altLang="en-US" sz="2000" dirty="0"/>
              <a:t>数据（如 </a:t>
            </a:r>
            <a:r>
              <a:rPr lang="en-US" altLang="zh-CN" sz="2000" dirty="0"/>
              <a:t>RESTful API</a:t>
            </a:r>
            <a:r>
              <a:rPr lang="zh-CN" altLang="en-US" sz="2000" dirty="0"/>
              <a:t>）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zh-CN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B103020-0085-B0F6-9063-CBB47CDAF865}"/>
              </a:ext>
            </a:extLst>
          </p:cNvPr>
          <p:cNvSpPr txBox="1">
            <a:spLocks/>
          </p:cNvSpPr>
          <p:nvPr/>
        </p:nvSpPr>
        <p:spPr>
          <a:xfrm>
            <a:off x="5735960" y="1844823"/>
            <a:ext cx="4833934" cy="33252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Python </a:t>
            </a:r>
            <a:r>
              <a:rPr lang="zh-CN" altLang="en-US" sz="1800" dirty="0"/>
              <a:t>提供了多个强大的库来支持这些任务，例如：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 b="1" dirty="0"/>
              <a:t>requests</a:t>
            </a:r>
            <a:r>
              <a:rPr lang="zh-CN" altLang="en-US" sz="1800" dirty="0"/>
              <a:t>：用于发送 </a:t>
            </a:r>
            <a:r>
              <a:rPr lang="en-US" altLang="zh-CN" sz="1800" dirty="0"/>
              <a:t>HTTP </a:t>
            </a:r>
            <a:r>
              <a:rPr lang="zh-CN" altLang="en-US" sz="1800" dirty="0"/>
              <a:t>请求（获取网页数据）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 b="1" dirty="0" err="1"/>
              <a:t>BeautifulSoup</a:t>
            </a:r>
            <a:r>
              <a:rPr lang="zh-CN" altLang="en-US" sz="1800" dirty="0"/>
              <a:t>：用于解析 </a:t>
            </a:r>
            <a:r>
              <a:rPr lang="en-US" altLang="zh-CN" sz="1800" dirty="0"/>
              <a:t>HTML/XML </a:t>
            </a:r>
            <a:r>
              <a:rPr lang="zh-CN" altLang="en-US" sz="1800" dirty="0"/>
              <a:t>结构化数据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 b="1" dirty="0"/>
              <a:t>Scrapy</a:t>
            </a:r>
            <a:r>
              <a:rPr lang="zh-CN" altLang="en-US" sz="1800" dirty="0"/>
              <a:t>：一个强大的爬虫框架，适用于大规模爬取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800" b="1" dirty="0"/>
              <a:t>Selenium</a:t>
            </a:r>
            <a:r>
              <a:rPr lang="zh-CN" altLang="en-US" sz="1800" dirty="0"/>
              <a:t>：用于模拟浏览器操作，适用于动态页面爬取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290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566BC-FF4F-CFA8-C9AD-A2EC965A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015E81F7-49C7-8D21-87AF-4EF662043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E89772C5-F019-4F8B-9746-4A210E6DA293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8EC495-D243-F197-A27D-CC7A88306830}"/>
              </a:ext>
            </a:extLst>
          </p:cNvPr>
          <p:cNvSpPr txBox="1">
            <a:spLocks/>
          </p:cNvSpPr>
          <p:nvPr/>
        </p:nvSpPr>
        <p:spPr>
          <a:xfrm>
            <a:off x="767408" y="88110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/>
              <a:t>Python</a:t>
            </a:r>
            <a:r>
              <a:rPr lang="zh-CN" altLang="en-US" dirty="0"/>
              <a:t>与面向网络编程（爬虫）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BC2F25-83BA-3E9D-E81F-8F3B356156E3}"/>
              </a:ext>
            </a:extLst>
          </p:cNvPr>
          <p:cNvSpPr txBox="1">
            <a:spLocks/>
          </p:cNvSpPr>
          <p:nvPr/>
        </p:nvSpPr>
        <p:spPr>
          <a:xfrm>
            <a:off x="801617" y="1766364"/>
            <a:ext cx="10450558" cy="33252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dirty="0"/>
              <a:t>示例：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E21F2F-713F-3707-7579-8CAE66789E29}"/>
              </a:ext>
            </a:extLst>
          </p:cNvPr>
          <p:cNvSpPr txBox="1"/>
          <p:nvPr/>
        </p:nvSpPr>
        <p:spPr>
          <a:xfrm>
            <a:off x="2423592" y="1988840"/>
            <a:ext cx="7679285" cy="452431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import requests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from bs4 import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BeautifulSoup</a:t>
            </a:r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目标网址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= "https://example.com"</a:t>
            </a: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发送 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GET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请求获取网页内容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response =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requests.get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解析网页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soup =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BeautifulSoup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response.text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, "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html.parser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")</a:t>
            </a: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获取网页标题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title =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soup.title.text</a:t>
            </a:r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print("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网页标题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:", title)</a:t>
            </a:r>
          </a:p>
        </p:txBody>
      </p:sp>
    </p:spTree>
    <p:extLst>
      <p:ext uri="{BB962C8B-B14F-4D97-AF65-F5344CB8AC3E}">
        <p14:creationId xmlns:p14="http://schemas.microsoft.com/office/powerpoint/2010/main" val="389980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7347-505B-7D2E-DAFF-4C1E8697E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B55FA596-971A-B2C1-B742-6582BB0E6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3B97793-F3A2-86C5-9B7C-9CA052F8C6E2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94A059-9A87-0345-B978-A13D638E1460}"/>
              </a:ext>
            </a:extLst>
          </p:cNvPr>
          <p:cNvSpPr txBox="1">
            <a:spLocks/>
          </p:cNvSpPr>
          <p:nvPr/>
        </p:nvSpPr>
        <p:spPr>
          <a:xfrm>
            <a:off x="767408" y="88110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/>
              <a:t>Python</a:t>
            </a:r>
            <a:r>
              <a:rPr lang="zh-CN" altLang="en-US" dirty="0"/>
              <a:t>与图像处理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CC146A-B32D-4699-9787-B0072BC4B9BE}"/>
              </a:ext>
            </a:extLst>
          </p:cNvPr>
          <p:cNvSpPr txBox="1">
            <a:spLocks/>
          </p:cNvSpPr>
          <p:nvPr/>
        </p:nvSpPr>
        <p:spPr>
          <a:xfrm>
            <a:off x="623392" y="1844824"/>
            <a:ext cx="4833934" cy="33252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Python </a:t>
            </a:r>
            <a:r>
              <a:rPr lang="zh-CN" altLang="en-US" sz="2400" dirty="0"/>
              <a:t>在图像处理领域有广泛的应用，常用于：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基本图像操作</a:t>
            </a:r>
            <a:r>
              <a:rPr lang="zh-CN" altLang="en-US" sz="2400" dirty="0"/>
              <a:t>（裁剪、旋转、调整大小）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图像滤波</a:t>
            </a:r>
            <a:r>
              <a:rPr lang="zh-CN" altLang="en-US" sz="2400" dirty="0"/>
              <a:t>（锐化、模糊、边缘检测）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特征提取</a:t>
            </a:r>
            <a:r>
              <a:rPr lang="zh-CN" altLang="en-US" sz="2400" dirty="0"/>
              <a:t>（人脸检测、图像识别）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计算机视觉</a:t>
            </a:r>
            <a:r>
              <a:rPr lang="zh-CN" altLang="en-US" sz="2400" dirty="0"/>
              <a:t>（目标检测、</a:t>
            </a:r>
            <a:r>
              <a:rPr lang="en-US" altLang="zh-CN" sz="2400" dirty="0"/>
              <a:t>OCR </a:t>
            </a:r>
            <a:r>
              <a:rPr lang="zh-CN" altLang="en-US" sz="2400" dirty="0"/>
              <a:t>文字识别）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zh-CN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512A89-9384-2CE5-75E7-35A2337CB98A}"/>
              </a:ext>
            </a:extLst>
          </p:cNvPr>
          <p:cNvSpPr txBox="1">
            <a:spLocks/>
          </p:cNvSpPr>
          <p:nvPr/>
        </p:nvSpPr>
        <p:spPr>
          <a:xfrm>
            <a:off x="5735960" y="1844823"/>
            <a:ext cx="4833934" cy="33252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/>
              <a:t>常用库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/>
              <a:t>Pillow (PIL)</a:t>
            </a:r>
            <a:r>
              <a:rPr lang="zh-CN" altLang="en-US" sz="2400" dirty="0"/>
              <a:t>：用于基本图像处理，如打开、编辑、保存图像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/>
              <a:t>OpenCV</a:t>
            </a:r>
            <a:r>
              <a:rPr lang="zh-CN" altLang="en-US" sz="2400" dirty="0"/>
              <a:t>：用于计算机视觉，支持高级图像处理，如边缘检测、人脸识别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/>
              <a:t>Matplotlib</a:t>
            </a:r>
            <a:r>
              <a:rPr lang="zh-CN" altLang="en-US" sz="2400" dirty="0"/>
              <a:t>：用于图像可视化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/>
              <a:t>NumPy</a:t>
            </a:r>
            <a:r>
              <a:rPr lang="zh-CN" altLang="en-US" sz="2400" dirty="0"/>
              <a:t>：用于处理图像矩阵数据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77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512AA-88A7-B8F2-287B-CC2305C00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ADEBECA1-9141-0BA7-0317-414FBC5F1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849F836-380F-92B8-972F-F7CB99941698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3B9376-E246-C3F1-9B1E-48521C997B78}"/>
              </a:ext>
            </a:extLst>
          </p:cNvPr>
          <p:cNvSpPr txBox="1">
            <a:spLocks/>
          </p:cNvSpPr>
          <p:nvPr/>
        </p:nvSpPr>
        <p:spPr>
          <a:xfrm>
            <a:off x="767408" y="88110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/>
              <a:t>Python</a:t>
            </a:r>
            <a:r>
              <a:rPr lang="zh-CN" altLang="en-US" dirty="0"/>
              <a:t>与图像处理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3699EE-C805-450A-8313-0AA9A51BF9CA}"/>
              </a:ext>
            </a:extLst>
          </p:cNvPr>
          <p:cNvSpPr txBox="1">
            <a:spLocks/>
          </p:cNvSpPr>
          <p:nvPr/>
        </p:nvSpPr>
        <p:spPr>
          <a:xfrm>
            <a:off x="801617" y="1766364"/>
            <a:ext cx="10450558" cy="33252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dirty="0"/>
              <a:t>示例：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224BFD-0516-9A19-3855-AF512016FB99}"/>
              </a:ext>
            </a:extLst>
          </p:cNvPr>
          <p:cNvSpPr txBox="1"/>
          <p:nvPr/>
        </p:nvSpPr>
        <p:spPr>
          <a:xfrm>
            <a:off x="1919536" y="1844824"/>
            <a:ext cx="7679285" cy="452431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from PIL import Image</a:t>
            </a: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打开图片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img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Image.open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("example.jpg")</a:t>
            </a: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调整图片大小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resized_img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img.resize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((200, 200))</a:t>
            </a: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转换为灰度图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gray_img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resized_img.convert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("L")</a:t>
            </a: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显示处理后的图片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gray_img.show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()</a:t>
            </a: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保存图片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gray_img.save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("gray_example.jpg")</a:t>
            </a:r>
          </a:p>
        </p:txBody>
      </p:sp>
    </p:spTree>
    <p:extLst>
      <p:ext uri="{BB962C8B-B14F-4D97-AF65-F5344CB8AC3E}">
        <p14:creationId xmlns:p14="http://schemas.microsoft.com/office/powerpoint/2010/main" val="110772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244F1-CCD4-6732-F9C5-E27F60B6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852D74F8-06AD-8BEC-4C1C-B56D133A9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637885B9-56A6-821B-723A-A2A41224C6CB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AECA13-F836-36C7-1F15-D66B0295B2B7}"/>
              </a:ext>
            </a:extLst>
          </p:cNvPr>
          <p:cNvSpPr txBox="1">
            <a:spLocks/>
          </p:cNvSpPr>
          <p:nvPr/>
        </p:nvSpPr>
        <p:spPr>
          <a:xfrm>
            <a:off x="767408" y="881107"/>
            <a:ext cx="97210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/>
              <a:t>Python</a:t>
            </a:r>
            <a:r>
              <a:rPr lang="zh-CN" altLang="en-US" dirty="0"/>
              <a:t>与图形界面开发（</a:t>
            </a:r>
            <a:r>
              <a:rPr lang="en-US" altLang="zh-CN" dirty="0"/>
              <a:t>GUI</a:t>
            </a:r>
            <a:r>
              <a:rPr lang="zh-CN" altLang="en-US" dirty="0"/>
              <a:t>）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96CDB0-C375-AE7C-961B-FE8A1CE2C984}"/>
              </a:ext>
            </a:extLst>
          </p:cNvPr>
          <p:cNvSpPr txBox="1">
            <a:spLocks/>
          </p:cNvSpPr>
          <p:nvPr/>
        </p:nvSpPr>
        <p:spPr>
          <a:xfrm>
            <a:off x="623392" y="1844824"/>
            <a:ext cx="10369152" cy="33252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j-ea"/>
                <a:ea typeface="+mj-ea"/>
              </a:rPr>
              <a:t>Python </a:t>
            </a:r>
            <a:r>
              <a:rPr lang="zh-CN" altLang="en-US" dirty="0">
                <a:latin typeface="+mj-ea"/>
                <a:ea typeface="+mj-ea"/>
              </a:rPr>
              <a:t>提供了多个库用于开发图形用户界面（</a:t>
            </a:r>
            <a:r>
              <a:rPr lang="en-US" altLang="zh-CN" dirty="0">
                <a:latin typeface="+mj-ea"/>
                <a:ea typeface="+mj-ea"/>
              </a:rPr>
              <a:t>GUI</a:t>
            </a:r>
            <a:r>
              <a:rPr lang="zh-CN" altLang="en-US" dirty="0">
                <a:latin typeface="+mj-ea"/>
                <a:ea typeface="+mj-ea"/>
              </a:rPr>
              <a:t>），可以创建窗口、按钮、输入框等交互式界面。</a:t>
            </a:r>
          </a:p>
          <a:p>
            <a:r>
              <a:rPr lang="zh-CN" altLang="en-US" b="1" dirty="0">
                <a:latin typeface="+mj-ea"/>
                <a:ea typeface="+mj-ea"/>
              </a:rPr>
              <a:t>常见 </a:t>
            </a:r>
            <a:r>
              <a:rPr lang="en-US" altLang="zh-CN" b="1" dirty="0">
                <a:latin typeface="+mj-ea"/>
                <a:ea typeface="+mj-ea"/>
              </a:rPr>
              <a:t>GUI </a:t>
            </a:r>
            <a:r>
              <a:rPr lang="zh-CN" altLang="en-US" b="1" dirty="0">
                <a:latin typeface="+mj-ea"/>
                <a:ea typeface="+mj-ea"/>
              </a:rPr>
              <a:t>库：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+mj-ea"/>
                <a:ea typeface="+mj-ea"/>
              </a:rPr>
              <a:t>Tkinter</a:t>
            </a:r>
            <a:r>
              <a:rPr lang="zh-CN" altLang="en-US" dirty="0">
                <a:latin typeface="+mj-ea"/>
                <a:ea typeface="+mj-ea"/>
              </a:rPr>
              <a:t>（</a:t>
            </a:r>
            <a:r>
              <a:rPr lang="en-US" altLang="zh-CN" dirty="0">
                <a:latin typeface="+mj-ea"/>
                <a:ea typeface="+mj-ea"/>
              </a:rPr>
              <a:t>Python </a:t>
            </a:r>
            <a:r>
              <a:rPr lang="zh-CN" altLang="en-US" dirty="0">
                <a:latin typeface="+mj-ea"/>
                <a:ea typeface="+mj-ea"/>
              </a:rPr>
              <a:t>内置，适用于简单 </a:t>
            </a:r>
            <a:r>
              <a:rPr lang="en-US" altLang="zh-CN" dirty="0">
                <a:latin typeface="+mj-ea"/>
                <a:ea typeface="+mj-ea"/>
              </a:rPr>
              <a:t>GUI</a:t>
            </a:r>
            <a:r>
              <a:rPr lang="zh-CN" altLang="en-US" dirty="0">
                <a:latin typeface="+mj-ea"/>
                <a:ea typeface="+mj-ea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+mj-ea"/>
                <a:ea typeface="+mj-ea"/>
              </a:rPr>
              <a:t>PyQt</a:t>
            </a:r>
            <a:r>
              <a:rPr lang="en-US" altLang="zh-CN" b="1" dirty="0">
                <a:latin typeface="+mj-ea"/>
                <a:ea typeface="+mj-ea"/>
              </a:rPr>
              <a:t> / </a:t>
            </a:r>
            <a:r>
              <a:rPr lang="en-US" altLang="zh-CN" b="1" dirty="0" err="1">
                <a:latin typeface="+mj-ea"/>
                <a:ea typeface="+mj-ea"/>
              </a:rPr>
              <a:t>PySide</a:t>
            </a:r>
            <a:r>
              <a:rPr lang="zh-CN" altLang="en-US" dirty="0">
                <a:latin typeface="+mj-ea"/>
                <a:ea typeface="+mj-ea"/>
              </a:rPr>
              <a:t>（功能强大，基于 </a:t>
            </a:r>
            <a:r>
              <a:rPr lang="en-US" altLang="zh-CN" dirty="0">
                <a:latin typeface="+mj-ea"/>
                <a:ea typeface="+mj-ea"/>
              </a:rPr>
              <a:t>Qt </a:t>
            </a:r>
            <a:r>
              <a:rPr lang="zh-CN" altLang="en-US" dirty="0">
                <a:latin typeface="+mj-ea"/>
                <a:ea typeface="+mj-ea"/>
              </a:rPr>
              <a:t>框架）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+mj-ea"/>
                <a:ea typeface="+mj-ea"/>
              </a:rPr>
              <a:t>Kivy</a:t>
            </a:r>
            <a:r>
              <a:rPr lang="zh-CN" altLang="en-US" dirty="0">
                <a:latin typeface="+mj-ea"/>
                <a:ea typeface="+mj-ea"/>
              </a:rPr>
              <a:t>（适用于触摸屏应用，支持多平台）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+mj-ea"/>
                <a:ea typeface="+mj-ea"/>
              </a:rPr>
              <a:t>PyGTK</a:t>
            </a:r>
            <a:r>
              <a:rPr lang="en-US" altLang="zh-CN" b="1" dirty="0">
                <a:latin typeface="+mj-ea"/>
                <a:ea typeface="+mj-ea"/>
              </a:rPr>
              <a:t> / </a:t>
            </a:r>
            <a:r>
              <a:rPr lang="en-US" altLang="zh-CN" b="1" dirty="0" err="1">
                <a:latin typeface="+mj-ea"/>
                <a:ea typeface="+mj-ea"/>
              </a:rPr>
              <a:t>wxPython</a:t>
            </a:r>
            <a:r>
              <a:rPr lang="zh-CN" altLang="en-US" dirty="0">
                <a:latin typeface="+mj-ea"/>
                <a:ea typeface="+mj-ea"/>
              </a:rPr>
              <a:t>（适用于不同操作系统的本地 </a:t>
            </a:r>
            <a:r>
              <a:rPr lang="en-US" altLang="zh-CN" dirty="0">
                <a:latin typeface="+mj-ea"/>
                <a:ea typeface="+mj-ea"/>
              </a:rPr>
              <a:t>GUI</a:t>
            </a:r>
            <a:r>
              <a:rPr lang="zh-CN" altLang="en-US" dirty="0">
                <a:latin typeface="+mj-ea"/>
                <a:ea typeface="+mj-ea"/>
              </a:rPr>
              <a:t>）</a:t>
            </a:r>
          </a:p>
          <a:p>
            <a:pPr marL="0" indent="0">
              <a:buNone/>
            </a:pPr>
            <a:endParaRPr lang="zh-CN" altLang="en-US" sz="2400" dirty="0"/>
          </a:p>
          <a:p>
            <a:pPr marL="0" indent="0" fontAlgn="auto">
              <a:spcAft>
                <a:spcPts val="0"/>
              </a:spcAft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462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3172E-5C61-37C9-6E4E-009816F0C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7C5D5F6C-E390-26AA-72FF-CEE30EB90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8406B231-0543-634C-31F0-5DD7ACECF76D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402A63-E417-A24C-30C6-22BA2B6F4FDC}"/>
              </a:ext>
            </a:extLst>
          </p:cNvPr>
          <p:cNvSpPr txBox="1">
            <a:spLocks/>
          </p:cNvSpPr>
          <p:nvPr/>
        </p:nvSpPr>
        <p:spPr>
          <a:xfrm>
            <a:off x="767408" y="881107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/>
              <a:t>Python</a:t>
            </a:r>
            <a:r>
              <a:rPr lang="zh-CN" altLang="en-US" dirty="0"/>
              <a:t>与图形界面开发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E88500D-D80F-6CB2-AC34-3E110C62FFF5}"/>
              </a:ext>
            </a:extLst>
          </p:cNvPr>
          <p:cNvSpPr txBox="1">
            <a:spLocks/>
          </p:cNvSpPr>
          <p:nvPr/>
        </p:nvSpPr>
        <p:spPr>
          <a:xfrm>
            <a:off x="795061" y="1543888"/>
            <a:ext cx="10450558" cy="33252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dirty="0"/>
              <a:t>示例：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3A9BC5-B902-AC19-F1B0-F4D1092505EA}"/>
              </a:ext>
            </a:extLst>
          </p:cNvPr>
          <p:cNvSpPr txBox="1"/>
          <p:nvPr/>
        </p:nvSpPr>
        <p:spPr>
          <a:xfrm>
            <a:off x="1991544" y="1643856"/>
            <a:ext cx="7679285" cy="507831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import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tkinter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as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tk</a:t>
            </a:r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from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tkinter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import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messagebox</a:t>
            </a:r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创建主窗口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root =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tk.Tk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root.title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("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简单 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GUI")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root.geometry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("300x200")  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设置窗口大小</a:t>
            </a:r>
          </a:p>
          <a:p>
            <a:endParaRPr lang="zh-CN" altLang="en-US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定义按钮点击事件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def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on_click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messagebox.showinfo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("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提示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", "Hello, World!")</a:t>
            </a:r>
          </a:p>
          <a:p>
            <a:endParaRPr lang="en-US" altLang="zh-CN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创建按钮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btn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tk.Button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(root, text="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点击我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", command=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on_click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btn.pack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pady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=50)  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设置按钮位置</a:t>
            </a:r>
          </a:p>
          <a:p>
            <a:endParaRPr lang="zh-CN" altLang="en-US" b="0" i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i="0" dirty="0">
                <a:effectLst/>
                <a:latin typeface="Consolas" panose="020B0609020204030204" pitchFamily="49" charset="0"/>
              </a:rPr>
              <a:t>运行主循环</a:t>
            </a:r>
          </a:p>
          <a:p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root.mainloop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8676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ED37A-79B5-19FA-FA9A-92E738F9F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中国科学技术大学- 维基百科，自由的百科全书">
            <a:extLst>
              <a:ext uri="{FF2B5EF4-FFF2-40B4-BE49-F238E27FC236}">
                <a16:creationId xmlns:a16="http://schemas.microsoft.com/office/drawing/2014/main" id="{34FAFE81-2CA5-CB8E-A341-4F5A2E598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65082"/>
            <a:ext cx="622182" cy="62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7BB43965-7961-A9CC-89A8-297014E7E3FC}"/>
              </a:ext>
            </a:extLst>
          </p:cNvPr>
          <p:cNvSpPr txBox="1"/>
          <p:nvPr/>
        </p:nvSpPr>
        <p:spPr>
          <a:xfrm>
            <a:off x="1606700" y="124146"/>
            <a:ext cx="5679321" cy="50405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/>
              <a:t>Python语言的高级特性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E3F811-2D5B-6AB7-00E3-8925F3FE3D5E}"/>
              </a:ext>
            </a:extLst>
          </p:cNvPr>
          <p:cNvSpPr txBox="1">
            <a:spLocks/>
          </p:cNvSpPr>
          <p:nvPr/>
        </p:nvSpPr>
        <p:spPr>
          <a:xfrm>
            <a:off x="839416" y="898400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 err="1"/>
              <a:t>Leetcode</a:t>
            </a:r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7035514-7D1C-F944-70FB-5266B3C31BD6}"/>
              </a:ext>
            </a:extLst>
          </p:cNvPr>
          <p:cNvSpPr txBox="1">
            <a:spLocks/>
          </p:cNvSpPr>
          <p:nvPr/>
        </p:nvSpPr>
        <p:spPr>
          <a:xfrm>
            <a:off x="2063552" y="1844824"/>
            <a:ext cx="7524003" cy="36365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dirty="0" err="1"/>
              <a:t>LeetCode</a:t>
            </a:r>
            <a:r>
              <a:rPr lang="zh-CN" altLang="en-US" dirty="0"/>
              <a:t>简介</a:t>
            </a:r>
            <a:endParaRPr lang="en-US" altLang="zh-CN" dirty="0"/>
          </a:p>
          <a:p>
            <a:pPr fontAlgn="auto">
              <a:spcAft>
                <a:spcPts val="0"/>
              </a:spcAft>
            </a:pPr>
            <a:r>
              <a:rPr lang="zh-CN" altLang="en-US" dirty="0"/>
              <a:t>可以使用</a:t>
            </a:r>
            <a:r>
              <a:rPr lang="en-US" altLang="zh-CN" dirty="0" err="1"/>
              <a:t>LeetCode</a:t>
            </a:r>
            <a:r>
              <a:rPr lang="zh-CN" altLang="en-US" dirty="0"/>
              <a:t>练习</a:t>
            </a:r>
            <a:r>
              <a:rPr lang="en-US" altLang="zh-CN" dirty="0"/>
              <a:t>Python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92AA2-7AC4-F02A-00CB-FDAC0D7C4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044" y="3523540"/>
            <a:ext cx="5211017" cy="195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3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00076,50000077]}"/>
  <p:tag name="COMMONDATA" val="eyJoZGlkIjoiYWRhNmU4ZTM4OTM4Nzk2OGExZTZhNDQ2MGU2ZmQwOWUifQ=="/>
</p:tagLst>
</file>

<file path=ppt/theme/theme1.xml><?xml version="1.0" encoding="utf-8"?>
<a:theme xmlns:a="http://schemas.openxmlformats.org/drawingml/2006/main" name="Office Theme">
  <a:themeElements>
    <a:clrScheme name="红色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Microsoft YaHei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8069</TotalTime>
  <Words>9384</Words>
  <Application>Microsoft Office PowerPoint</Application>
  <PresentationFormat>宽屏</PresentationFormat>
  <Paragraphs>1251</Paragraphs>
  <Slides>142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142</vt:i4>
      </vt:variant>
    </vt:vector>
  </HeadingPairs>
  <TitlesOfParts>
    <vt:vector size="157" baseType="lpstr">
      <vt:lpstr>FZSSJW--GB1-0</vt:lpstr>
      <vt:lpstr>Helvetica Neue</vt:lpstr>
      <vt:lpstr>Menlo</vt:lpstr>
      <vt:lpstr>Microsoft YaHei UI</vt:lpstr>
      <vt:lpstr>SFMono-Regular</vt:lpstr>
      <vt:lpstr>宋体</vt:lpstr>
      <vt:lpstr>微软雅黑</vt:lpstr>
      <vt:lpstr>Arial</vt:lpstr>
      <vt:lpstr>Arial Black</vt:lpstr>
      <vt:lpstr>Calibri</vt:lpstr>
      <vt:lpstr>Consolas</vt:lpstr>
      <vt:lpstr>Courier New</vt:lpstr>
      <vt:lpstr>Verdana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2017岗位竞聘报告PPT-01</dc:title>
  <dc:creator>kingpub</dc:creator>
  <cp:lastModifiedBy>世成 王</cp:lastModifiedBy>
  <cp:revision>1841</cp:revision>
  <dcterms:created xsi:type="dcterms:W3CDTF">2020-03-03T14:52:00Z</dcterms:created>
  <dcterms:modified xsi:type="dcterms:W3CDTF">2025-03-10T06:19:57Z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8878311A14C1431D939BC6C074D96048_13</vt:lpwstr>
  </property>
  <property fmtid="{D5CDD505-2E9C-101B-9397-08002B2CF9AE}" pid="4" name="MSIP_Label_51a6c3db-1667-4f49-995a-8b9973972958_Enabled">
    <vt:lpwstr>true</vt:lpwstr>
  </property>
  <property fmtid="{D5CDD505-2E9C-101B-9397-08002B2CF9AE}" pid="5" name="MSIP_Label_51a6c3db-1667-4f49-995a-8b9973972958_SetDate">
    <vt:lpwstr>2024-09-29T02:19:31Z</vt:lpwstr>
  </property>
  <property fmtid="{D5CDD505-2E9C-101B-9397-08002B2CF9AE}" pid="6" name="MSIP_Label_51a6c3db-1667-4f49-995a-8b9973972958_Method">
    <vt:lpwstr>Standard</vt:lpwstr>
  </property>
  <property fmtid="{D5CDD505-2E9C-101B-9397-08002B2CF9AE}" pid="7" name="MSIP_Label_51a6c3db-1667-4f49-995a-8b9973972958_Name">
    <vt:lpwstr>UTS-Internal</vt:lpwstr>
  </property>
  <property fmtid="{D5CDD505-2E9C-101B-9397-08002B2CF9AE}" pid="8" name="MSIP_Label_51a6c3db-1667-4f49-995a-8b9973972958_SiteId">
    <vt:lpwstr>e8911c26-cf9f-4a9c-878e-527807be8791</vt:lpwstr>
  </property>
  <property fmtid="{D5CDD505-2E9C-101B-9397-08002B2CF9AE}" pid="9" name="MSIP_Label_51a6c3db-1667-4f49-995a-8b9973972958_ActionId">
    <vt:lpwstr>c9311723-dda3-4b19-be18-3c92c94464d8</vt:lpwstr>
  </property>
  <property fmtid="{D5CDD505-2E9C-101B-9397-08002B2CF9AE}" pid="10" name="MSIP_Label_51a6c3db-1667-4f49-995a-8b9973972958_ContentBits">
    <vt:lpwstr>0</vt:lpwstr>
  </property>
</Properties>
</file>