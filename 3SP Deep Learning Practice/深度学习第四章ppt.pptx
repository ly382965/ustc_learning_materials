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1"/>
  </p:notesMasterIdLst>
  <p:handoutMasterIdLst>
    <p:handoutMasterId r:id="rId122"/>
  </p:handoutMasterIdLst>
  <p:sldIdLst>
    <p:sldId id="1315" r:id="rId2"/>
    <p:sldId id="1351" r:id="rId3"/>
    <p:sldId id="1352" r:id="rId4"/>
    <p:sldId id="1393" r:id="rId5"/>
    <p:sldId id="1394" r:id="rId6"/>
    <p:sldId id="1396" r:id="rId7"/>
    <p:sldId id="1397" r:id="rId8"/>
    <p:sldId id="1395" r:id="rId9"/>
    <p:sldId id="1385" r:id="rId10"/>
    <p:sldId id="1383" r:id="rId11"/>
    <p:sldId id="1386" r:id="rId12"/>
    <p:sldId id="1382" r:id="rId13"/>
    <p:sldId id="1387" r:id="rId14"/>
    <p:sldId id="1390" r:id="rId15"/>
    <p:sldId id="1392" r:id="rId16"/>
    <p:sldId id="1350" r:id="rId17"/>
    <p:sldId id="1316" r:id="rId18"/>
    <p:sldId id="1318" r:id="rId19"/>
    <p:sldId id="1319" r:id="rId20"/>
    <p:sldId id="1320" r:id="rId21"/>
    <p:sldId id="1317" r:id="rId22"/>
    <p:sldId id="1323" r:id="rId23"/>
    <p:sldId id="1324" r:id="rId24"/>
    <p:sldId id="1326" r:id="rId25"/>
    <p:sldId id="1327" r:id="rId26"/>
    <p:sldId id="1220" r:id="rId27"/>
    <p:sldId id="1328" r:id="rId28"/>
    <p:sldId id="1329" r:id="rId29"/>
    <p:sldId id="1330" r:id="rId30"/>
    <p:sldId id="1332" r:id="rId31"/>
    <p:sldId id="1333" r:id="rId32"/>
    <p:sldId id="1334" r:id="rId33"/>
    <p:sldId id="1335" r:id="rId34"/>
    <p:sldId id="1336" r:id="rId35"/>
    <p:sldId id="1337" r:id="rId36"/>
    <p:sldId id="1338" r:id="rId37"/>
    <p:sldId id="1339" r:id="rId38"/>
    <p:sldId id="1340" r:id="rId39"/>
    <p:sldId id="1342" r:id="rId40"/>
    <p:sldId id="1345" r:id="rId41"/>
    <p:sldId id="1349" r:id="rId42"/>
    <p:sldId id="1347" r:id="rId43"/>
    <p:sldId id="1348" r:id="rId44"/>
    <p:sldId id="1346" r:id="rId45"/>
    <p:sldId id="1353" r:id="rId46"/>
    <p:sldId id="1354" r:id="rId47"/>
    <p:sldId id="1355" r:id="rId48"/>
    <p:sldId id="1356" r:id="rId49"/>
    <p:sldId id="1357" r:id="rId50"/>
    <p:sldId id="1358" r:id="rId51"/>
    <p:sldId id="1360" r:id="rId52"/>
    <p:sldId id="1361" r:id="rId53"/>
    <p:sldId id="1362" r:id="rId54"/>
    <p:sldId id="1363" r:id="rId55"/>
    <p:sldId id="1364" r:id="rId56"/>
    <p:sldId id="1365" r:id="rId57"/>
    <p:sldId id="1359" r:id="rId58"/>
    <p:sldId id="1367" r:id="rId59"/>
    <p:sldId id="1366" r:id="rId60"/>
    <p:sldId id="1368" r:id="rId61"/>
    <p:sldId id="1369" r:id="rId62"/>
    <p:sldId id="1370" r:id="rId63"/>
    <p:sldId id="1371" r:id="rId64"/>
    <p:sldId id="1372" r:id="rId65"/>
    <p:sldId id="1373" r:id="rId66"/>
    <p:sldId id="1374" r:id="rId67"/>
    <p:sldId id="1375" r:id="rId68"/>
    <p:sldId id="1376" r:id="rId69"/>
    <p:sldId id="1377" r:id="rId70"/>
    <p:sldId id="1378" r:id="rId71"/>
    <p:sldId id="1379" r:id="rId72"/>
    <p:sldId id="1380" r:id="rId73"/>
    <p:sldId id="1401" r:id="rId74"/>
    <p:sldId id="1402" r:id="rId75"/>
    <p:sldId id="1403" r:id="rId76"/>
    <p:sldId id="1404" r:id="rId77"/>
    <p:sldId id="1405" r:id="rId78"/>
    <p:sldId id="1398" r:id="rId79"/>
    <p:sldId id="1399" r:id="rId80"/>
    <p:sldId id="1400" r:id="rId81"/>
    <p:sldId id="1406" r:id="rId82"/>
    <p:sldId id="1407" r:id="rId83"/>
    <p:sldId id="1408" r:id="rId84"/>
    <p:sldId id="1409" r:id="rId85"/>
    <p:sldId id="1410" r:id="rId86"/>
    <p:sldId id="1411" r:id="rId87"/>
    <p:sldId id="1414" r:id="rId88"/>
    <p:sldId id="1412" r:id="rId89"/>
    <p:sldId id="1418" r:id="rId90"/>
    <p:sldId id="1413" r:id="rId91"/>
    <p:sldId id="1419" r:id="rId92"/>
    <p:sldId id="1420" r:id="rId93"/>
    <p:sldId id="1421" r:id="rId94"/>
    <p:sldId id="1422" r:id="rId95"/>
    <p:sldId id="1423" r:id="rId96"/>
    <p:sldId id="1424" r:id="rId97"/>
    <p:sldId id="1425" r:id="rId98"/>
    <p:sldId id="1426" r:id="rId99"/>
    <p:sldId id="1427" r:id="rId100"/>
    <p:sldId id="1428" r:id="rId101"/>
    <p:sldId id="1429" r:id="rId102"/>
    <p:sldId id="1430" r:id="rId103"/>
    <p:sldId id="1431" r:id="rId104"/>
    <p:sldId id="1432" r:id="rId105"/>
    <p:sldId id="1433" r:id="rId106"/>
    <p:sldId id="1434" r:id="rId107"/>
    <p:sldId id="1435" r:id="rId108"/>
    <p:sldId id="1436" r:id="rId109"/>
    <p:sldId id="1437" r:id="rId110"/>
    <p:sldId id="1438" r:id="rId111"/>
    <p:sldId id="1439" r:id="rId112"/>
    <p:sldId id="1440" r:id="rId113"/>
    <p:sldId id="1441" r:id="rId114"/>
    <p:sldId id="1442" r:id="rId115"/>
    <p:sldId id="1443" r:id="rId116"/>
    <p:sldId id="1444" r:id="rId117"/>
    <p:sldId id="1445" r:id="rId118"/>
    <p:sldId id="1446" r:id="rId119"/>
    <p:sldId id="1447" r:id="rId120"/>
  </p:sldIdLst>
  <p:sldSz cx="12192000" cy="6858000"/>
  <p:notesSz cx="6858000" cy="9144000"/>
  <p:custDataLst>
    <p:tags r:id="rId123"/>
  </p:custDataLst>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609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1219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2438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3048000" algn="l" defTabSz="12192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3657600" algn="l" defTabSz="12192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4267200" algn="l" defTabSz="12192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4876800" algn="l" defTabSz="12192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59" userDrawn="1">
          <p15:clr>
            <a:srgbClr val="A4A3A4"/>
          </p15:clr>
        </p15:guide>
        <p15:guide id="2" pos="120" userDrawn="1">
          <p15:clr>
            <a:srgbClr val="A4A3A4"/>
          </p15:clr>
        </p15:guide>
        <p15:guide id="3" pos="528" userDrawn="1">
          <p15:clr>
            <a:srgbClr val="A4A3A4"/>
          </p15:clr>
        </p15:guide>
        <p15:guide id="4"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CECD"/>
    <a:srgbClr val="5285A8"/>
    <a:srgbClr val="BADCEE"/>
    <a:srgbClr val="E4EFDB"/>
    <a:srgbClr val="61B66D"/>
    <a:srgbClr val="F7E6D7"/>
    <a:srgbClr val="E3935C"/>
    <a:srgbClr val="9276A4"/>
    <a:srgbClr val="99AFD2"/>
    <a:srgbClr val="DDE8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61" autoAdjust="0"/>
    <p:restoredTop sz="85838" autoAdjust="0"/>
  </p:normalViewPr>
  <p:slideViewPr>
    <p:cSldViewPr showGuides="1">
      <p:cViewPr varScale="1">
        <p:scale>
          <a:sx n="132" d="100"/>
          <a:sy n="132" d="100"/>
        </p:scale>
        <p:origin x="1290" y="120"/>
      </p:cViewPr>
      <p:guideLst>
        <p:guide orient="horz" pos="2159"/>
        <p:guide pos="120"/>
        <p:guide pos="528"/>
        <p:guide pos="3840"/>
      </p:guideLst>
    </p:cSldViewPr>
  </p:slideViewPr>
  <p:notesTextViewPr>
    <p:cViewPr>
      <p:scale>
        <a:sx n="125" d="100"/>
        <a:sy n="125"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ags" Target="tags/tag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2025/4/7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73B58EF-4ABD-40F4-ACA4-FE81D742E6DD}" type="datetimeFigureOut">
              <a:rPr lang="zh-CN" altLang="en-US" smtClean="0"/>
              <a:t>2025/4/7</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11FC198-2D83-4DFC-8CDD-7D23AF44D41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zh-CN" b="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7F7507C5-9851-4EF6-82C9-5647805156C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zh-CN" alt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a:defRPr/>
            </a:pPr>
            <a:fld id="{D2CC5073-A55C-4F3C-8D7B-130473455D17}"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1_节标题">
    <p:spTree>
      <p:nvGrpSpPr>
        <p:cNvPr id="1" name=""/>
        <p:cNvGrpSpPr/>
        <p:nvPr/>
      </p:nvGrpSpPr>
      <p:grpSpPr>
        <a:xfrm>
          <a:off x="0" y="0"/>
          <a:ext cx="0" cy="0"/>
          <a:chOff x="0" y="0"/>
          <a:chExt cx="0" cy="0"/>
        </a:xfrm>
      </p:grpSpPr>
      <p:sp>
        <p:nvSpPr>
          <p:cNvPr id="14" name="Freeform 6"/>
          <p:cNvSpPr/>
          <p:nvPr userDrawn="1"/>
        </p:nvSpPr>
        <p:spPr bwMode="auto">
          <a:xfrm>
            <a:off x="279400" y="266568"/>
            <a:ext cx="11899901" cy="474133"/>
          </a:xfrm>
          <a:custGeom>
            <a:avLst/>
            <a:gdLst>
              <a:gd name="T0" fmla="*/ 1060 w 24841"/>
              <a:gd name="T1" fmla="*/ 988 h 988"/>
              <a:gd name="T2" fmla="*/ 732 w 24841"/>
              <a:gd name="T3" fmla="*/ 988 h 988"/>
              <a:gd name="T4" fmla="*/ 0 w 24841"/>
              <a:gd name="T5" fmla="*/ 0 h 988"/>
              <a:gd name="T6" fmla="*/ 323 w 24841"/>
              <a:gd name="T7" fmla="*/ 0 h 988"/>
              <a:gd name="T8" fmla="*/ 998 w 24841"/>
              <a:gd name="T9" fmla="*/ 922 h 988"/>
              <a:gd name="T10" fmla="*/ 24841 w 24841"/>
              <a:gd name="T11" fmla="*/ 922 h 988"/>
              <a:gd name="T12" fmla="*/ 24841 w 24841"/>
              <a:gd name="T13" fmla="*/ 988 h 988"/>
              <a:gd name="T14" fmla="*/ 1060 w 24841"/>
              <a:gd name="T15" fmla="*/ 988 h 9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841" h="988">
                <a:moveTo>
                  <a:pt x="1060" y="988"/>
                </a:moveTo>
                <a:lnTo>
                  <a:pt x="732" y="988"/>
                </a:lnTo>
                <a:lnTo>
                  <a:pt x="0" y="0"/>
                </a:lnTo>
                <a:lnTo>
                  <a:pt x="323" y="0"/>
                </a:lnTo>
                <a:lnTo>
                  <a:pt x="998" y="922"/>
                </a:lnTo>
                <a:lnTo>
                  <a:pt x="24841" y="922"/>
                </a:lnTo>
                <a:lnTo>
                  <a:pt x="24841" y="988"/>
                </a:lnTo>
                <a:lnTo>
                  <a:pt x="1060" y="988"/>
                </a:lnTo>
                <a:close/>
              </a:path>
            </a:pathLst>
          </a:custGeom>
          <a:solidFill>
            <a:srgbClr val="BC2431"/>
          </a:solidFill>
          <a:ln>
            <a:noFill/>
          </a:ln>
          <a:extLst>
            <a:ext uri="{91240B29-F687-4F45-9708-019B960494DF}">
              <a14:hiddenLine xmlns:a14="http://schemas.microsoft.com/office/drawing/2010/main" w="9525">
                <a:solidFill>
                  <a:srgbClr val="000000"/>
                </a:solidFill>
                <a:round/>
              </a14:hiddenLine>
            </a:ext>
          </a:extLst>
        </p:spPr>
        <p:txBody>
          <a:bodyPr vert="horz" wrap="square" lIns="121917" tIns="60958" rIns="121917" bIns="60958" numCol="1" anchor="t" anchorCtr="0" compatLnSpc="1"/>
          <a:lstStyle/>
          <a:p>
            <a:endParaRPr lang="zh-CN" altLang="en-US" dirty="0"/>
          </a:p>
        </p:txBody>
      </p:sp>
      <p:sp>
        <p:nvSpPr>
          <p:cNvPr id="15" name="Freeform 7"/>
          <p:cNvSpPr/>
          <p:nvPr userDrawn="1"/>
        </p:nvSpPr>
        <p:spPr bwMode="auto">
          <a:xfrm>
            <a:off x="4" y="266568"/>
            <a:ext cx="573617" cy="474133"/>
          </a:xfrm>
          <a:custGeom>
            <a:avLst/>
            <a:gdLst>
              <a:gd name="T0" fmla="*/ 0 w 1197"/>
              <a:gd name="T1" fmla="*/ 0 h 988"/>
              <a:gd name="T2" fmla="*/ 469 w 1197"/>
              <a:gd name="T3" fmla="*/ 0 h 988"/>
              <a:gd name="T4" fmla="*/ 1197 w 1197"/>
              <a:gd name="T5" fmla="*/ 988 h 988"/>
              <a:gd name="T6" fmla="*/ 0 w 1197"/>
              <a:gd name="T7" fmla="*/ 988 h 988"/>
              <a:gd name="T8" fmla="*/ 0 w 1197"/>
              <a:gd name="T9" fmla="*/ 0 h 988"/>
            </a:gdLst>
            <a:ahLst/>
            <a:cxnLst>
              <a:cxn ang="0">
                <a:pos x="T0" y="T1"/>
              </a:cxn>
              <a:cxn ang="0">
                <a:pos x="T2" y="T3"/>
              </a:cxn>
              <a:cxn ang="0">
                <a:pos x="T4" y="T5"/>
              </a:cxn>
              <a:cxn ang="0">
                <a:pos x="T6" y="T7"/>
              </a:cxn>
              <a:cxn ang="0">
                <a:pos x="T8" y="T9"/>
              </a:cxn>
            </a:cxnLst>
            <a:rect l="0" t="0" r="r" b="b"/>
            <a:pathLst>
              <a:path w="1197" h="988">
                <a:moveTo>
                  <a:pt x="0" y="0"/>
                </a:moveTo>
                <a:lnTo>
                  <a:pt x="469" y="0"/>
                </a:lnTo>
                <a:lnTo>
                  <a:pt x="1197" y="988"/>
                </a:lnTo>
                <a:lnTo>
                  <a:pt x="0" y="988"/>
                </a:lnTo>
                <a:lnTo>
                  <a:pt x="0" y="0"/>
                </a:lnTo>
                <a:close/>
              </a:path>
            </a:pathLst>
          </a:custGeom>
          <a:solidFill>
            <a:srgbClr val="504F4E"/>
          </a:solidFill>
          <a:ln>
            <a:noFill/>
          </a:ln>
          <a:extLst>
            <a:ext uri="{91240B29-F687-4F45-9708-019B960494DF}">
              <a14:hiddenLine xmlns:a14="http://schemas.microsoft.com/office/drawing/2010/main" w="9525">
                <a:solidFill>
                  <a:srgbClr val="000000"/>
                </a:solidFill>
                <a:round/>
              </a14:hiddenLine>
            </a:ext>
          </a:extLst>
        </p:spPr>
        <p:txBody>
          <a:bodyPr vert="horz" wrap="square" lIns="121917" tIns="60958" rIns="121917" bIns="60958" numCol="1" anchor="t" anchorCtr="0" compatLnSpc="1"/>
          <a:lstStyle/>
          <a:p>
            <a:endParaRPr lang="zh-CN" altLang="en-US"/>
          </a:p>
        </p:txBody>
      </p:sp>
      <p:sp>
        <p:nvSpPr>
          <p:cNvPr id="19" name="TextBox 18"/>
          <p:cNvSpPr txBox="1"/>
          <p:nvPr userDrawn="1"/>
        </p:nvSpPr>
        <p:spPr>
          <a:xfrm>
            <a:off x="11280576" y="6381328"/>
            <a:ext cx="647328" cy="276999"/>
          </a:xfrm>
          <a:prstGeom prst="rect">
            <a:avLst/>
          </a:prstGeom>
          <a:noFill/>
        </p:spPr>
        <p:txBody>
          <a:bodyPr wrap="square" rtlCol="0">
            <a:spAutoFit/>
          </a:bodyPr>
          <a:lstStyle/>
          <a:p>
            <a:pPr algn="ctr"/>
            <a:fld id="{E33E7C02-82D1-42DA-AA8B-2AEC9E450366}" type="slidenum">
              <a:rPr lang="zh-CN" altLang="en-US" sz="1200" b="1" smtClean="0">
                <a:solidFill>
                  <a:schemeClr val="tx1"/>
                </a:solidFill>
                <a:latin typeface="微软雅黑" panose="020B0503020204020204" pitchFamily="34" charset="-122"/>
                <a:ea typeface="微软雅黑" panose="020B0503020204020204" pitchFamily="34" charset="-122"/>
              </a:rPr>
              <a:t>‹#›</a:t>
            </a:fld>
            <a:endParaRPr lang="zh-CN" altLang="en-US" sz="1200" b="1"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5" name="标题 1"/>
          <p:cNvSpPr>
            <a:spLocks noGrp="1"/>
          </p:cNvSpPr>
          <p:nvPr>
            <p:ph type="title"/>
          </p:nvPr>
        </p:nvSpPr>
        <p:spPr>
          <a:xfrm>
            <a:off x="0" y="46844"/>
            <a:ext cx="12192000" cy="663575"/>
          </a:xfrm>
        </p:spPr>
        <p:txBody>
          <a:bodyPr>
            <a:normAutofit/>
          </a:bodyPr>
          <a:lstStyle>
            <a:lvl1pPr algn="ctr">
              <a:defRPr sz="2800" b="1">
                <a:solidFill>
                  <a:schemeClr val="tx1"/>
                </a:solidFill>
                <a:latin typeface="+mn-ea"/>
                <a:ea typeface="+mn-ea"/>
              </a:defRPr>
            </a:lvl1pPr>
          </a:lstStyle>
          <a:p>
            <a:r>
              <a:rPr lang="zh-CN" altLang="en-US" dirty="0"/>
              <a:t>单击此处编辑母版标题样式</a:t>
            </a:r>
          </a:p>
        </p:txBody>
      </p:sp>
      <p:sp>
        <p:nvSpPr>
          <p:cNvPr id="2" name="日期占位符 1"/>
          <p:cNvSpPr>
            <a:spLocks noGrp="1"/>
          </p:cNvSpPr>
          <p:nvPr>
            <p:ph type="dt" sz="half" idx="10"/>
          </p:nvPr>
        </p:nvSpPr>
        <p:spPr/>
        <p:txBody>
          <a:bodyPr/>
          <a:lstStyle/>
          <a:p>
            <a:pPr>
              <a:defRPr/>
            </a:pPr>
            <a:endParaRPr lang="zh-CN" altLang="en-US"/>
          </a:p>
        </p:txBody>
      </p:sp>
      <p:sp>
        <p:nvSpPr>
          <p:cNvPr id="3" name="页脚占位符 2"/>
          <p:cNvSpPr>
            <a:spLocks noGrp="1"/>
          </p:cNvSpPr>
          <p:nvPr>
            <p:ph type="ftr" sz="quarter" idx="11"/>
          </p:nvPr>
        </p:nvSpPr>
        <p:spPr/>
        <p:txBody>
          <a:bodyPr/>
          <a:lstStyle/>
          <a:p>
            <a:pPr>
              <a:defRPr/>
            </a:pPr>
            <a:endParaRPr lang="zh-CN" altLang="en-US"/>
          </a:p>
        </p:txBody>
      </p:sp>
      <p:sp>
        <p:nvSpPr>
          <p:cNvPr id="4" name="灯片编号占位符 3"/>
          <p:cNvSpPr>
            <a:spLocks noGrp="1"/>
          </p:cNvSpPr>
          <p:nvPr>
            <p:ph type="sldNum" sz="quarter" idx="12"/>
          </p:nvPr>
        </p:nvSpPr>
        <p:spPr/>
        <p:txBody>
          <a:bodyPr/>
          <a:lstStyle/>
          <a:p>
            <a:pPr>
              <a:defRPr/>
            </a:pPr>
            <a:fld id="{4AC6EAE7-8652-497A-B0B9-2516C5BD65F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AC6EAE7-8652-497A-B0B9-2516C5BD65FF}" type="slidenum">
              <a:rPr lang="zh-CN" altLang="en-US" smtClean="0"/>
              <a:t>‹#›</a:t>
            </a:fld>
            <a:endParaRPr lang="zh-CN" altLang="en-US"/>
          </a:p>
        </p:txBody>
      </p:sp>
      <p:pic>
        <p:nvPicPr>
          <p:cNvPr id="7" name="图片 6"/>
          <p:cNvPicPr>
            <a:picLocks noChangeAspect="1"/>
          </p:cNvPicPr>
          <p:nvPr userDrawn="1"/>
        </p:nvPicPr>
        <p:blipFill>
          <a:blip r:embed="rId6" cstate="print">
            <a:extLst>
              <a:ext uri="{BEBA8EAE-BF5A-486C-A8C5-ECC9F3942E4B}">
                <a14:imgProps xmlns:a14="http://schemas.microsoft.com/office/drawing/2010/main">
                  <a14:imgLayer r:embed="rId7">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矩形 7"/>
          <p:cNvSpPr/>
          <p:nvPr userDrawn="1"/>
        </p:nvSpPr>
        <p:spPr>
          <a:xfrm>
            <a:off x="0" y="0"/>
            <a:ext cx="12192000" cy="6858000"/>
          </a:xfrm>
          <a:prstGeom prst="rect">
            <a:avLst/>
          </a:prstGeom>
          <a:gradFill flip="none" rotWithShape="1">
            <a:gsLst>
              <a:gs pos="0">
                <a:schemeClr val="bg1">
                  <a:alpha val="55000"/>
                </a:schemeClr>
              </a:gs>
              <a:gs pos="71000">
                <a:schemeClr val="bg1">
                  <a:lumMod val="95000"/>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a:p>
        </p:txBody>
      </p:sp>
      <p:pic>
        <p:nvPicPr>
          <p:cNvPr id="9" name="Picture 7"/>
          <p:cNvPicPr>
            <a:picLocks noChangeAspect="1"/>
          </p:cNvPicPr>
          <p:nvPr userDrawn="1"/>
        </p:nvPicPr>
        <p:blipFill rotWithShape="1">
          <a:blip r:embed="rId8" cstate="print">
            <a:duotone>
              <a:schemeClr val="accent5">
                <a:shade val="45000"/>
                <a:satMod val="135000"/>
              </a:schemeClr>
              <a:prstClr val="white"/>
            </a:duotone>
            <a:extLst>
              <a:ext uri="{28A0092B-C50C-407E-A947-70E740481C1C}">
                <a14:useLocalDpi xmlns:a14="http://schemas.microsoft.com/office/drawing/2010/main" val="0"/>
              </a:ext>
            </a:extLst>
          </a:blip>
          <a:srcRect t="7310" b="7647"/>
          <a:stretch>
            <a:fillRect/>
          </a:stretch>
        </p:blipFill>
        <p:spPr>
          <a:xfrm>
            <a:off x="3" y="0"/>
            <a:ext cx="12191999" cy="6858000"/>
          </a:xfrm>
          <a:prstGeom prst="rect">
            <a:avLst/>
          </a:prstGeom>
        </p:spPr>
      </p:pic>
      <p:pic>
        <p:nvPicPr>
          <p:cNvPr id="10" name="图片 9"/>
          <p:cNvPicPr>
            <a:picLocks noChangeAspect="1"/>
          </p:cNvPicPr>
          <p:nvPr userDrawn="1"/>
        </p:nvPicPr>
        <p:blipFill>
          <a:blip r:embed="rId9" cstate="print"/>
          <a:stretch>
            <a:fillRect/>
          </a:stretch>
        </p:blipFill>
        <p:spPr>
          <a:xfrm>
            <a:off x="1524" y="0"/>
            <a:ext cx="12188952" cy="6858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40.png"/></Relationships>
</file>

<file path=ppt/slides/_rels/slide5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5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46.png"/></Relationships>
</file>

<file path=ppt/slides/_rels/slide6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54.png"/></Relationships>
</file>

<file path=ppt/slides/_rels/slide7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57.png"/></Relationships>
</file>

<file path=ppt/slides/_rels/slide7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59.png"/></Relationships>
</file>

<file path=ppt/slides/_rels/slide7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62.png"/><Relationship Id="rId4" Type="http://schemas.openxmlformats.org/officeDocument/2006/relationships/image" Target="../media/image61.wmf"/></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63.png"/><Relationship Id="rId4" Type="http://schemas.openxmlformats.org/officeDocument/2006/relationships/image" Target="../media/image61.wmf"/></Relationships>
</file>

<file path=ppt/slides/_rels/slide7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70.png"/></Relationships>
</file>

<file path=ppt/slides/_rels/slide9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78.png"/></Relationships>
</file>

<file path=ppt/slides/_rels/slide10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81.png"/></Relationships>
</file>

<file path=ppt/slides/_rels/slide10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84.png"/></Relationships>
</file>

<file path=ppt/slides/_rels/slide10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86.png"/></Relationships>
</file>

<file path=ppt/slides/_rels/slide10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88.png"/></Relationships>
</file>

<file path=ppt/slides/_rels/slide10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90.png"/></Relationships>
</file>

<file path=ppt/slides/_rels/slide108.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5.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0" y="1591945"/>
            <a:ext cx="12192000" cy="2197735"/>
          </a:xfrm>
          <a:prstGeom prst="rect">
            <a:avLst/>
          </a:prstGeom>
          <a:solidFill>
            <a:srgbClr val="083481"/>
          </a:solidFill>
          <a:ln>
            <a:noFill/>
          </a:ln>
          <a:scene3d>
            <a:camera prst="obliqueTopRight"/>
            <a:lightRig rig="threePt" dir="t"/>
          </a:scene3d>
          <a:sp3d prstMaterial="matte">
            <a:bevelB w="0" h="0"/>
          </a:sp3d>
        </p:spPr>
        <p:style>
          <a:lnRef idx="0">
            <a:scrgbClr r="0" g="0" b="0"/>
          </a:lnRef>
          <a:fillRef idx="0">
            <a:scrgbClr r="0" g="0" b="0"/>
          </a:fillRef>
          <a:effectRef idx="0">
            <a:scrgbClr r="0" g="0" b="0"/>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sp>
        <p:nvSpPr>
          <p:cNvPr id="14" name="文本框 53"/>
          <p:cNvSpPr txBox="1">
            <a:spLocks noChangeArrowheads="1"/>
          </p:cNvSpPr>
          <p:nvPr/>
        </p:nvSpPr>
        <p:spPr bwMode="auto">
          <a:xfrm>
            <a:off x="2022062" y="1717667"/>
            <a:ext cx="8157882" cy="1077481"/>
          </a:xfrm>
          <a:prstGeom prst="rect">
            <a:avLst/>
          </a:prstGeom>
          <a:noFill/>
          <a:ln w="9525">
            <a:noFill/>
            <a:miter lim="800000"/>
          </a:ln>
        </p:spPr>
        <p:txBody>
          <a:bodyPr wrap="square" lIns="61221" tIns="30610" rIns="61221" bIns="30610" anchor="ctr" anchorCtr="0">
            <a:spAutoFit/>
          </a:bodyPr>
          <a:lstStyle/>
          <a:p>
            <a:pPr marL="0" marR="0" lvl="0" indent="0" algn="ctr" defTabSz="815975" rtl="0" eaLnBrk="1" fontAlgn="auto" latinLnBrk="0" hangingPunct="1">
              <a:lnSpc>
                <a:spcPct val="100000"/>
              </a:lnSpc>
              <a:spcBef>
                <a:spcPts val="0"/>
              </a:spcBef>
              <a:spcAft>
                <a:spcPts val="600"/>
              </a:spcAft>
              <a:buClr>
                <a:srgbClr val="C00000"/>
              </a:buClr>
              <a:buSzPct val="80000"/>
              <a:buFontTx/>
              <a:buNone/>
              <a:defRPr/>
            </a:pPr>
            <a:r>
              <a:rPr kumimoji="0" lang="zh-CN" altLang="en-AU" sz="6600" b="1" i="0" u="none" strike="noStrike" kern="1200" cap="none" spc="30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深度</a:t>
            </a:r>
            <a:r>
              <a:rPr kumimoji="0" lang="zh-CN" altLang="en-US" sz="6600" b="1" i="0" u="none" strike="noStrike" kern="1200" cap="none" spc="30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学习实践</a:t>
            </a:r>
          </a:p>
        </p:txBody>
      </p:sp>
      <p:sp>
        <p:nvSpPr>
          <p:cNvPr id="41" name="文本框 40"/>
          <p:cNvSpPr txBox="1"/>
          <p:nvPr/>
        </p:nvSpPr>
        <p:spPr>
          <a:xfrm>
            <a:off x="3330442" y="4149080"/>
            <a:ext cx="5531115" cy="460375"/>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600"/>
              </a:spcAft>
              <a:buClrTx/>
              <a:buSzTx/>
              <a:buFontTx/>
              <a:buNone/>
              <a:defRPr/>
            </a:pPr>
            <a:r>
              <a:rPr kumimoji="0" lang="zh-CN" altLang="en-AU" sz="2400" b="1" i="0" u="none" strike="noStrike" kern="1200" cap="none" spc="0" normalizeH="0" baseline="0" noProof="0" dirty="0">
                <a:ln>
                  <a:noFill/>
                </a:ln>
                <a:solidFill>
                  <a:srgbClr val="09327D"/>
                </a:solidFill>
                <a:effectLst/>
                <a:uLnTx/>
                <a:uFillTx/>
                <a:latin typeface="Arial" panose="020B0604020202020204"/>
                <a:ea typeface="微软雅黑" panose="020B0503020204020204" pitchFamily="34" charset="-122"/>
                <a:cs typeface="+mn-cs"/>
              </a:rPr>
              <a:t>常</a:t>
            </a:r>
            <a:r>
              <a:rPr kumimoji="0" lang="zh-CN" altLang="en-US" sz="2400" b="1" i="0" u="none" strike="noStrike" kern="1200" cap="none" spc="0" normalizeH="0" baseline="0" noProof="0" dirty="0">
                <a:ln>
                  <a:noFill/>
                </a:ln>
                <a:solidFill>
                  <a:srgbClr val="09327D"/>
                </a:solidFill>
                <a:effectLst/>
                <a:uLnTx/>
                <a:uFillTx/>
                <a:latin typeface="Arial" panose="020B0604020202020204"/>
                <a:ea typeface="微软雅黑" panose="020B0503020204020204" pitchFamily="34" charset="-122"/>
                <a:cs typeface="+mn-cs"/>
              </a:rPr>
              <a:t>晓军 教授</a:t>
            </a:r>
          </a:p>
        </p:txBody>
      </p:sp>
      <p:sp>
        <p:nvSpPr>
          <p:cNvPr id="42" name="矩形 41"/>
          <p:cNvSpPr/>
          <p:nvPr/>
        </p:nvSpPr>
        <p:spPr>
          <a:xfrm>
            <a:off x="2596196" y="4941168"/>
            <a:ext cx="6999605" cy="1289905"/>
          </a:xfrm>
          <a:prstGeom prst="rect">
            <a:avLst/>
          </a:prstGeom>
          <a:noFill/>
        </p:spPr>
        <p:txBody>
          <a:bodyPr wrap="square">
            <a:spAutoFit/>
          </a:bodyPr>
          <a:lstStyle/>
          <a:p>
            <a:pPr marL="0" marR="0" lvl="0" indent="0" algn="ctr" defTabSz="457200" rtl="0" eaLnBrk="1" fontAlgn="auto" latinLnBrk="0" hangingPunct="1">
              <a:lnSpc>
                <a:spcPct val="150000"/>
              </a:lnSpc>
              <a:spcBef>
                <a:spcPts val="0"/>
              </a:spcBef>
              <a:spcAft>
                <a:spcPts val="0"/>
              </a:spcAft>
              <a:buClrTx/>
              <a:buSzTx/>
              <a:buFontTx/>
              <a:buNone/>
              <a:defRPr/>
            </a:pPr>
            <a:r>
              <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黑体" panose="02010609060101010101" charset="-122"/>
              </a:rPr>
              <a:t>中国科学技术大学信息科学技术学院</a:t>
            </a:r>
            <a:endParaRPr kumimoji="1" lang="en-AU"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黑体" panose="02010609060101010101" charset="-122"/>
            </a:endParaRPr>
          </a:p>
          <a:p>
            <a:pPr marL="0" marR="0" lvl="0" indent="0" algn="ctr" defTabSz="457200" rtl="0" eaLnBrk="1" fontAlgn="auto" latinLnBrk="0" hangingPunct="1">
              <a:lnSpc>
                <a:spcPct val="150000"/>
              </a:lnSpc>
              <a:spcBef>
                <a:spcPts val="0"/>
              </a:spcBef>
              <a:spcAft>
                <a:spcPts val="0"/>
              </a:spcAft>
              <a:buClrTx/>
              <a:buSzTx/>
              <a:buFontTx/>
              <a:buNone/>
              <a:defRPr/>
            </a:pPr>
            <a:r>
              <a:rPr kumimoji="1" lang="zh-CN" altLang="en-US" b="1" dirty="0">
                <a:solidFill>
                  <a:srgbClr val="000000"/>
                </a:solidFill>
                <a:latin typeface="微软雅黑" panose="020B0503020204020204" pitchFamily="34" charset="-122"/>
                <a:ea typeface="微软雅黑" panose="020B0503020204020204" pitchFamily="34" charset="-122"/>
                <a:cs typeface="黑体" panose="02010609060101010101" charset="-122"/>
              </a:rPr>
              <a:t>未来媒体计算实验室</a:t>
            </a:r>
            <a:endParaRPr kumimoji="1" lang="en-AU"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黑体" panose="02010609060101010101" charset="-122"/>
            </a:endParaRPr>
          </a:p>
          <a:p>
            <a:pPr marL="0" marR="0" lvl="0" indent="0" algn="ctr" defTabSz="457200" rtl="0" eaLnBrk="1" fontAlgn="auto" latinLnBrk="0" hangingPunct="1">
              <a:lnSpc>
                <a:spcPct val="150000"/>
              </a:lnSpc>
              <a:spcBef>
                <a:spcPts val="0"/>
              </a:spcBef>
              <a:spcAft>
                <a:spcPts val="0"/>
              </a:spcAft>
              <a:buClrTx/>
              <a:buSzTx/>
              <a:buFontTx/>
              <a:buNone/>
              <a:defRPr/>
            </a:pPr>
            <a:r>
              <a:rPr kumimoji="1"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黑体" panose="02010609060101010101" charset="-122"/>
              </a:rPr>
              <a:t>2025</a:t>
            </a:r>
            <a:r>
              <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黑体" panose="02010609060101010101" charset="-122"/>
              </a:rPr>
              <a:t>年</a:t>
            </a:r>
            <a:r>
              <a:rPr kumimoji="1" lang="en-US" altLang="zh-CN" b="1" dirty="0">
                <a:solidFill>
                  <a:srgbClr val="000000"/>
                </a:solidFill>
                <a:latin typeface="微软雅黑" panose="020B0503020204020204" pitchFamily="34" charset="-122"/>
                <a:ea typeface="微软雅黑" panose="020B0503020204020204" pitchFamily="34" charset="-122"/>
                <a:cs typeface="黑体" panose="02010609060101010101" charset="-122"/>
              </a:rPr>
              <a:t>3</a:t>
            </a:r>
            <a:r>
              <a:rPr kumimoji="1"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黑体" panose="02010609060101010101" charset="-122"/>
              </a:rPr>
              <a:t>月</a:t>
            </a:r>
          </a:p>
        </p:txBody>
      </p:sp>
      <p:pic>
        <p:nvPicPr>
          <p:cNvPr id="1026" name="Picture 2" descr="中国科学技术大学- 维基百科，自由的百科全书"/>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6291" y="190134"/>
            <a:ext cx="1340768" cy="134076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3143672" y="2957520"/>
            <a:ext cx="6131490" cy="615816"/>
          </a:xfrm>
          <a:prstGeom prst="rect">
            <a:avLst/>
          </a:prstGeom>
          <a:noFill/>
          <a:ln w="9525">
            <a:noFill/>
            <a:miter lim="800000"/>
          </a:ln>
        </p:spPr>
        <p:txBody>
          <a:bodyPr wrap="square" lIns="61221" tIns="30610" rIns="61221" bIns="30610" anchor="ctr" anchorCtr="0">
            <a:spAutoFit/>
          </a:bodyPr>
          <a:lstStyle>
            <a:defPPr>
              <a:defRPr lang="zh-CN"/>
            </a:defPPr>
            <a:lvl1pPr marL="0" marR="0" lvl="0" indent="0" algn="ctr" defTabSz="815975" eaLnBrk="1" fontAlgn="auto" latinLnBrk="0" hangingPunct="1">
              <a:lnSpc>
                <a:spcPct val="100000"/>
              </a:lnSpc>
              <a:spcBef>
                <a:spcPts val="0"/>
              </a:spcBef>
              <a:spcAft>
                <a:spcPts val="600"/>
              </a:spcAft>
              <a:buClr>
                <a:srgbClr val="C00000"/>
              </a:buClr>
              <a:buSzPct val="80000"/>
              <a:buFontTx/>
              <a:buNone/>
              <a:defRPr kumimoji="0" sz="3600" b="1" i="0" u="none" strike="noStrike" cap="none" spc="300" normalizeH="0" baseline="0">
                <a:ln>
                  <a:noFill/>
                </a:ln>
                <a:solidFill>
                  <a:srgbClr val="FFFFFF"/>
                </a:solidFill>
                <a:effectLst/>
                <a:uLnTx/>
                <a:uFillTx/>
                <a:latin typeface="微软雅黑" panose="020B0503020204020204" pitchFamily="34" charset="-122"/>
                <a:ea typeface="微软雅黑" panose="020B0503020204020204" pitchFamily="34" charset="-122"/>
              </a:defRPr>
            </a:lvl1pPr>
          </a:lstStyle>
          <a:p>
            <a:r>
              <a:rPr lang="zh-CN" altLang="en-US" sz="3600" b="1" dirty="0">
                <a:latin typeface="微软雅黑" panose="020B0503020204020204" pitchFamily="34" charset="-122"/>
                <a:ea typeface="微软雅黑" panose="020B0503020204020204" pitchFamily="34" charset="-122"/>
                <a:sym typeface="+mn-ea"/>
              </a:rPr>
              <a:t>深度学习框架</a:t>
            </a:r>
            <a:endParaRPr lang="en-AU" altLang="zh-CN" sz="3600" b="1" dirty="0">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59710" y="124146"/>
            <a:ext cx="5679321" cy="504055"/>
          </a:xfrm>
          <a:prstGeom prst="rect">
            <a:avLst/>
          </a:prstGeom>
        </p:spPr>
        <p:txBody>
          <a:bodyPr/>
          <a:lstStyle/>
          <a:p>
            <a:r>
              <a:rPr lang="zh-CN" altLang="en-US" sz="3200" b="1" dirty="0"/>
              <a:t>深度学习框架</a:t>
            </a:r>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Pytorch</a:t>
            </a:r>
            <a:r>
              <a:rPr lang="zh-CN" altLang="en-US" sz="3200" dirty="0"/>
              <a:t>生态简介</a:t>
            </a:r>
          </a:p>
        </p:txBody>
      </p:sp>
      <p:sp>
        <p:nvSpPr>
          <p:cNvPr id="10" name="文本框 9"/>
          <p:cNvSpPr txBox="1"/>
          <p:nvPr/>
        </p:nvSpPr>
        <p:spPr>
          <a:xfrm>
            <a:off x="4727575" y="2708910"/>
            <a:ext cx="6096000" cy="1597025"/>
          </a:xfrm>
          <a:prstGeom prst="rect">
            <a:avLst/>
          </a:prstGeom>
          <a:noFill/>
        </p:spPr>
        <p:txBody>
          <a:bodyPr wrap="square" rtlCol="0" anchor="t">
            <a:noAutofit/>
          </a:bodyPr>
          <a:lstStyle/>
          <a:p>
            <a:endParaRPr lang="zh-CN" altLang="en-US"/>
          </a:p>
        </p:txBody>
      </p:sp>
      <p:sp>
        <p:nvSpPr>
          <p:cNvPr id="7" name="文本框 6"/>
          <p:cNvSpPr txBox="1"/>
          <p:nvPr/>
        </p:nvSpPr>
        <p:spPr>
          <a:xfrm>
            <a:off x="1461770" y="1700530"/>
            <a:ext cx="8179435" cy="2861310"/>
          </a:xfrm>
          <a:prstGeom prst="rect">
            <a:avLst/>
          </a:prstGeom>
          <a:noFill/>
        </p:spPr>
        <p:txBody>
          <a:bodyPr wrap="square" rtlCol="0">
            <a:spAutoFit/>
          </a:bodyPr>
          <a:lstStyle/>
          <a:p>
            <a:pPr indent="457200"/>
            <a:r>
              <a:rPr lang="en-US" altLang="zh-CN"/>
              <a:t>2017 </a:t>
            </a:r>
            <a:r>
              <a:rPr lang="zh-CN" altLang="en-US"/>
              <a:t>年</a:t>
            </a:r>
            <a:r>
              <a:rPr lang="en-US" altLang="zh-CN"/>
              <a:t> 1 </a:t>
            </a:r>
            <a:r>
              <a:rPr lang="zh-CN" altLang="en-US"/>
              <a:t>月，</a:t>
            </a:r>
            <a:r>
              <a:rPr lang="en-US" altLang="zh-CN"/>
              <a:t>FAIR</a:t>
            </a:r>
            <a:r>
              <a:rPr lang="zh-CN" altLang="en-US"/>
              <a:t>（</a:t>
            </a:r>
            <a:r>
              <a:rPr lang="en-US" altLang="zh-CN"/>
              <a:t>Facebook AI Research</a:t>
            </a:r>
            <a:r>
              <a:rPr lang="zh-CN" altLang="en-US"/>
              <a:t>）发布了</a:t>
            </a:r>
            <a:r>
              <a:rPr lang="en-US" altLang="zh-CN"/>
              <a:t> PyTorch</a:t>
            </a:r>
            <a:r>
              <a:rPr lang="zh-CN" altLang="en-US"/>
              <a:t>。</a:t>
            </a:r>
            <a:r>
              <a:rPr lang="en-US" altLang="zh-CN"/>
              <a:t>PyTorch </a:t>
            </a:r>
            <a:r>
              <a:rPr lang="zh-CN" altLang="en-US"/>
              <a:t>是在</a:t>
            </a:r>
            <a:r>
              <a:rPr lang="en-US" altLang="zh-CN"/>
              <a:t> Torch </a:t>
            </a:r>
            <a:r>
              <a:rPr lang="zh-CN" altLang="en-US"/>
              <a:t>基础上用</a:t>
            </a:r>
            <a:r>
              <a:rPr lang="en-US" altLang="zh-CN"/>
              <a:t> python </a:t>
            </a:r>
            <a:r>
              <a:rPr lang="zh-CN" altLang="en-US"/>
              <a:t>语言重新打造的一款深度学习框架。</a:t>
            </a:r>
          </a:p>
          <a:p>
            <a:pPr indent="457200"/>
            <a:endParaRPr lang="zh-CN" altLang="en-US"/>
          </a:p>
          <a:p>
            <a:pPr indent="457200"/>
            <a:r>
              <a:rPr lang="en-US" altLang="zh-CN">
                <a:sym typeface="+mn-ea"/>
              </a:rPr>
              <a:t>•</a:t>
            </a:r>
            <a:r>
              <a:rPr lang="zh-CN" altLang="en-US" b="1">
                <a:solidFill>
                  <a:schemeClr val="accent1"/>
                </a:solidFill>
                <a:effectLst>
                  <a:outerShdw blurRad="38100" dist="25400" dir="5400000" algn="ctr" rotWithShape="0">
                    <a:srgbClr val="6E747A">
                      <a:alpha val="43000"/>
                    </a:srgbClr>
                  </a:outerShdw>
                </a:effectLst>
              </a:rPr>
              <a:t>更加简洁</a:t>
            </a:r>
            <a:r>
              <a:rPr lang="zh-CN" altLang="en-US"/>
              <a:t>，相比于其他的框架，</a:t>
            </a:r>
            <a:r>
              <a:rPr lang="en-US" altLang="zh-CN"/>
              <a:t>PyTorch</a:t>
            </a:r>
            <a:r>
              <a:rPr lang="zh-CN" altLang="en-US"/>
              <a:t>的框架更加简洁，易于理解。</a:t>
            </a:r>
          </a:p>
          <a:p>
            <a:pPr indent="457200"/>
            <a:r>
              <a:rPr lang="en-US" altLang="zh-CN">
                <a:sym typeface="+mn-ea"/>
              </a:rPr>
              <a:t>•</a:t>
            </a:r>
            <a:r>
              <a:rPr lang="zh-CN" altLang="en-US">
                <a:solidFill>
                  <a:schemeClr val="accent1"/>
                </a:solidFill>
                <a:effectLst>
                  <a:outerShdw blurRad="38100" dist="25400" dir="5400000" algn="ctr" rotWithShape="0">
                    <a:srgbClr val="6E747A">
                      <a:alpha val="43000"/>
                    </a:srgbClr>
                  </a:outerShdw>
                </a:effectLst>
              </a:rPr>
              <a:t>上手快</a:t>
            </a:r>
            <a:r>
              <a:rPr lang="zh-CN" altLang="en-US"/>
              <a:t>，掌握</a:t>
            </a:r>
            <a:r>
              <a:rPr lang="en-US" altLang="zh-CN"/>
              <a:t>numpy</a:t>
            </a:r>
            <a:r>
              <a:rPr lang="zh-CN" altLang="en-US"/>
              <a:t>和基本的深度学习知识就可以上手。</a:t>
            </a:r>
          </a:p>
          <a:p>
            <a:pPr indent="457200"/>
            <a:r>
              <a:rPr lang="en-US" altLang="zh-CN">
                <a:sym typeface="+mn-ea"/>
              </a:rPr>
              <a:t>•</a:t>
            </a:r>
            <a:r>
              <a:rPr lang="en-US" altLang="zh-CN"/>
              <a:t>PyTorch</a:t>
            </a:r>
            <a:r>
              <a:rPr lang="zh-CN" altLang="en-US"/>
              <a:t>有着良好的</a:t>
            </a:r>
            <a:r>
              <a:rPr lang="zh-CN" altLang="en-US">
                <a:solidFill>
                  <a:schemeClr val="accent1"/>
                </a:solidFill>
                <a:effectLst>
                  <a:outerShdw blurRad="38100" dist="25400" dir="5400000" algn="ctr" rotWithShape="0">
                    <a:srgbClr val="6E747A">
                      <a:alpha val="43000"/>
                    </a:srgbClr>
                  </a:outerShdw>
                </a:effectLst>
              </a:rPr>
              <a:t>文档和社区支持</a:t>
            </a:r>
            <a:r>
              <a:rPr lang="zh-CN" altLang="en-US"/>
              <a:t>，作者亲自维护的论坛供用户交流和求教问题。</a:t>
            </a:r>
          </a:p>
          <a:p>
            <a:pPr indent="457200"/>
            <a:r>
              <a:rPr lang="en-US" altLang="zh-CN">
                <a:sym typeface="+mn-ea"/>
              </a:rPr>
              <a:t>•</a:t>
            </a:r>
            <a:r>
              <a:rPr lang="zh-CN" altLang="en-US">
                <a:solidFill>
                  <a:schemeClr val="accent1"/>
                </a:solidFill>
                <a:effectLst>
                  <a:outerShdw blurRad="38100" dist="25400" dir="5400000" algn="ctr" rotWithShape="0">
                    <a:srgbClr val="6E747A">
                      <a:alpha val="43000"/>
                    </a:srgbClr>
                  </a:outerShdw>
                </a:effectLst>
              </a:rPr>
              <a:t>项目开源</a:t>
            </a:r>
            <a:r>
              <a:rPr lang="zh-CN" altLang="en-US"/>
              <a:t>，在</a:t>
            </a:r>
            <a:r>
              <a:rPr lang="en-US" altLang="zh-CN"/>
              <a:t>Github</a:t>
            </a:r>
            <a:r>
              <a:rPr lang="zh-CN" altLang="en-US"/>
              <a:t>上有越来越多的开源代码是使用</a:t>
            </a:r>
            <a:r>
              <a:rPr lang="en-US" altLang="zh-CN"/>
              <a:t>PyTorch</a:t>
            </a:r>
            <a:r>
              <a:rPr lang="zh-CN" altLang="en-US"/>
              <a:t>进行开发。</a:t>
            </a:r>
          </a:p>
          <a:p>
            <a:pPr indent="457200"/>
            <a:r>
              <a:rPr lang="en-US" altLang="zh-CN">
                <a:sym typeface="+mn-ea"/>
              </a:rPr>
              <a:t>•</a:t>
            </a:r>
            <a:r>
              <a:rPr lang="zh-CN" altLang="en-US"/>
              <a:t>可以更好的</a:t>
            </a:r>
            <a:r>
              <a:rPr lang="zh-CN" altLang="en-US">
                <a:solidFill>
                  <a:schemeClr val="accent1"/>
                </a:solidFill>
                <a:effectLst>
                  <a:outerShdw blurRad="38100" dist="25400" dir="5400000" algn="ctr" rotWithShape="0">
                    <a:srgbClr val="6E747A">
                      <a:alpha val="43000"/>
                    </a:srgbClr>
                  </a:outerShdw>
                </a:effectLst>
              </a:rPr>
              <a:t>调试代码</a:t>
            </a:r>
            <a:r>
              <a:rPr lang="zh-CN" altLang="en-US"/>
              <a:t>，</a:t>
            </a:r>
            <a:r>
              <a:rPr lang="en-US" altLang="zh-CN"/>
              <a:t>PyTorch</a:t>
            </a:r>
            <a:r>
              <a:rPr lang="zh-CN" altLang="en-US"/>
              <a:t>可以让我们逐行执行我们的脚本。</a:t>
            </a:r>
          </a:p>
          <a:p>
            <a:pPr indent="457200"/>
            <a:r>
              <a:rPr lang="en-US" altLang="zh-CN">
                <a:sym typeface="+mn-ea"/>
              </a:rPr>
              <a:t>•</a:t>
            </a:r>
            <a:r>
              <a:rPr lang="zh-CN" altLang="en-US"/>
              <a:t>越来越完善的扩展库，活力旺盛，正处在</a:t>
            </a:r>
            <a:r>
              <a:rPr lang="zh-CN" altLang="en-US">
                <a:solidFill>
                  <a:schemeClr val="accent1"/>
                </a:solidFill>
                <a:effectLst>
                  <a:outerShdw blurRad="38100" dist="25400" dir="5400000" algn="ctr" rotWithShape="0">
                    <a:srgbClr val="6E747A">
                      <a:alpha val="43000"/>
                    </a:srgbClr>
                  </a:outerShdw>
                </a:effectLst>
              </a:rPr>
              <a:t>当打之年。</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Pytorch</a:t>
            </a:r>
            <a:r>
              <a:rPr lang="zh-CN" altLang="en-US" sz="3200" dirty="0"/>
              <a:t>生态简介</a:t>
            </a:r>
          </a:p>
        </p:txBody>
      </p:sp>
      <p:sp>
        <p:nvSpPr>
          <p:cNvPr id="10" name="文本框 9"/>
          <p:cNvSpPr txBox="1"/>
          <p:nvPr/>
        </p:nvSpPr>
        <p:spPr>
          <a:xfrm>
            <a:off x="4727575" y="2708910"/>
            <a:ext cx="6096000" cy="1597025"/>
          </a:xfrm>
          <a:prstGeom prst="rect">
            <a:avLst/>
          </a:prstGeom>
          <a:noFill/>
        </p:spPr>
        <p:txBody>
          <a:bodyPr wrap="square" rtlCol="0" anchor="t">
            <a:noAutofit/>
          </a:bodyPr>
          <a:lstStyle/>
          <a:p>
            <a:endParaRPr lang="zh-CN" altLang="en-US"/>
          </a:p>
        </p:txBody>
      </p:sp>
      <p:sp>
        <p:nvSpPr>
          <p:cNvPr id="7" name="文本框 6"/>
          <p:cNvSpPr txBox="1"/>
          <p:nvPr/>
        </p:nvSpPr>
        <p:spPr>
          <a:xfrm>
            <a:off x="1461770" y="1700530"/>
            <a:ext cx="8179435" cy="922020"/>
          </a:xfrm>
          <a:prstGeom prst="rect">
            <a:avLst/>
          </a:prstGeom>
          <a:noFill/>
        </p:spPr>
        <p:txBody>
          <a:bodyPr wrap="square" rtlCol="0">
            <a:spAutoFit/>
          </a:bodyPr>
          <a:lstStyle/>
          <a:p>
            <a:pPr indent="457200"/>
            <a:r>
              <a:rPr lang="zh-CN" altLang="en-US"/>
              <a:t>下图来自</a:t>
            </a:r>
            <a:r>
              <a:rPr lang="en-US" altLang="zh-CN"/>
              <a:t>Paper with code</a:t>
            </a:r>
            <a:r>
              <a:rPr lang="zh-CN" altLang="en-US"/>
              <a:t>网站，颜色面积代表使用该框架的论文公开代码库的数量，我们可以发现截至</a:t>
            </a:r>
            <a:r>
              <a:rPr lang="en-US" altLang="zh-CN"/>
              <a:t>2024</a:t>
            </a:r>
            <a:r>
              <a:rPr lang="zh-CN" altLang="en-US"/>
              <a:t>年</a:t>
            </a:r>
            <a:r>
              <a:rPr lang="en-US" altLang="zh-CN"/>
              <a:t>12</a:t>
            </a:r>
            <a:r>
              <a:rPr lang="zh-CN" altLang="en-US"/>
              <a:t>月</a:t>
            </a:r>
            <a:r>
              <a:rPr lang="zh-CN" altLang="en-US">
                <a:sym typeface="+mn-ea"/>
              </a:rPr>
              <a:t>，红色部分的</a:t>
            </a:r>
            <a:r>
              <a:rPr lang="en-US" altLang="zh-CN">
                <a:sym typeface="+mn-ea"/>
              </a:rPr>
              <a:t>PyTorch</a:t>
            </a:r>
            <a:r>
              <a:rPr lang="zh-CN" altLang="en-US">
                <a:sym typeface="+mn-ea"/>
              </a:rPr>
              <a:t>正在取代</a:t>
            </a:r>
            <a:r>
              <a:rPr lang="en-US" altLang="zh-CN">
                <a:sym typeface="+mn-ea"/>
              </a:rPr>
              <a:t>TensorFlow</a:t>
            </a:r>
            <a:r>
              <a:rPr lang="zh-CN" altLang="en-US">
                <a:sym typeface="+mn-ea"/>
              </a:rPr>
              <a:t>称霸学术圈。</a:t>
            </a:r>
            <a:endParaRPr lang="zh-CN" altLang="en-US">
              <a:solidFill>
                <a:schemeClr val="accent1"/>
              </a:solidFill>
              <a:effectLst>
                <a:outerShdw blurRad="38100" dist="25400" dir="5400000" algn="ctr" rotWithShape="0">
                  <a:srgbClr val="6E747A">
                    <a:alpha val="43000"/>
                  </a:srgbClr>
                </a:outerShdw>
              </a:effectLst>
            </a:endParaRPr>
          </a:p>
        </p:txBody>
      </p:sp>
      <p:pic>
        <p:nvPicPr>
          <p:cNvPr id="5" name="图片 4"/>
          <p:cNvPicPr>
            <a:picLocks noChangeAspect="1"/>
          </p:cNvPicPr>
          <p:nvPr/>
        </p:nvPicPr>
        <p:blipFill>
          <a:blip r:embed="rId3"/>
          <a:stretch>
            <a:fillRect/>
          </a:stretch>
        </p:blipFill>
        <p:spPr>
          <a:xfrm>
            <a:off x="1810385" y="2872740"/>
            <a:ext cx="6953250" cy="342392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Pytorch</a:t>
            </a:r>
            <a:r>
              <a:rPr lang="zh-CN" altLang="en-US" sz="3200" dirty="0"/>
              <a:t>生态简介</a:t>
            </a:r>
          </a:p>
        </p:txBody>
      </p:sp>
      <p:sp>
        <p:nvSpPr>
          <p:cNvPr id="10" name="文本框 9"/>
          <p:cNvSpPr txBox="1"/>
          <p:nvPr/>
        </p:nvSpPr>
        <p:spPr>
          <a:xfrm>
            <a:off x="4727575" y="2708910"/>
            <a:ext cx="6096000" cy="1597025"/>
          </a:xfrm>
          <a:prstGeom prst="rect">
            <a:avLst/>
          </a:prstGeom>
          <a:noFill/>
        </p:spPr>
        <p:txBody>
          <a:bodyPr wrap="square" rtlCol="0" anchor="t">
            <a:noAutofit/>
          </a:bodyPr>
          <a:lstStyle/>
          <a:p>
            <a:endParaRPr lang="zh-CN" altLang="en-US"/>
          </a:p>
        </p:txBody>
      </p:sp>
      <p:sp>
        <p:nvSpPr>
          <p:cNvPr id="7" name="文本框 6"/>
          <p:cNvSpPr txBox="1"/>
          <p:nvPr/>
        </p:nvSpPr>
        <p:spPr>
          <a:xfrm>
            <a:off x="1461770" y="1700530"/>
            <a:ext cx="8179435" cy="1291590"/>
          </a:xfrm>
          <a:prstGeom prst="rect">
            <a:avLst/>
          </a:prstGeom>
          <a:noFill/>
        </p:spPr>
        <p:txBody>
          <a:bodyPr wrap="square" rtlCol="0">
            <a:spAutoFit/>
          </a:bodyPr>
          <a:lstStyle/>
          <a:p>
            <a:pPr indent="457200"/>
            <a:r>
              <a:rPr lang="en-US" altLang="zh-CN" sz="2400">
                <a:solidFill>
                  <a:schemeClr val="tx1"/>
                </a:solidFill>
                <a:effectLst>
                  <a:outerShdw blurRad="38100" dist="25400" dir="5400000" algn="ctr" rotWithShape="0">
                    <a:srgbClr val="6E747A">
                      <a:alpha val="43000"/>
                    </a:srgbClr>
                  </a:outerShdw>
                </a:effectLst>
                <a:latin typeface="宋体" panose="02010600030101010101" pitchFamily="2" charset="-122"/>
              </a:rPr>
              <a:t>torchvision</a:t>
            </a:r>
          </a:p>
          <a:p>
            <a:pPr indent="457200"/>
            <a:r>
              <a:rPr lang="en-US" altLang="zh-CN">
                <a:solidFill>
                  <a:schemeClr val="tx1"/>
                </a:solidFill>
                <a:effectLst>
                  <a:outerShdw blurRad="38100" dist="25400" dir="5400000" algn="ctr" rotWithShape="0">
                    <a:srgbClr val="6E747A">
                      <a:alpha val="43000"/>
                    </a:srgbClr>
                  </a:outerShdw>
                </a:effectLst>
              </a:rPr>
              <a:t>torchvision</a:t>
            </a:r>
            <a:r>
              <a:rPr lang="zh-CN" altLang="en-US">
                <a:solidFill>
                  <a:schemeClr val="tx1"/>
                </a:solidFill>
                <a:effectLst>
                  <a:outerShdw blurRad="38100" dist="25400" dir="5400000" algn="ctr" rotWithShape="0">
                    <a:srgbClr val="6E747A">
                      <a:alpha val="43000"/>
                    </a:srgbClr>
                  </a:outerShdw>
                </a:effectLst>
              </a:rPr>
              <a:t>包含了在计算机视觉中常常用到的数据集，模型和图像处理的方式，而具体的</a:t>
            </a:r>
            <a:r>
              <a:rPr lang="en-US" altLang="zh-CN">
                <a:solidFill>
                  <a:schemeClr val="tx1"/>
                </a:solidFill>
                <a:effectLst>
                  <a:outerShdw blurRad="38100" dist="25400" dir="5400000" algn="ctr" rotWithShape="0">
                    <a:srgbClr val="6E747A">
                      <a:alpha val="43000"/>
                    </a:srgbClr>
                  </a:outerShdw>
                </a:effectLst>
              </a:rPr>
              <a:t>torchvision</a:t>
            </a:r>
            <a:r>
              <a:rPr lang="zh-CN" altLang="en-US">
                <a:solidFill>
                  <a:schemeClr val="tx1"/>
                </a:solidFill>
                <a:effectLst>
                  <a:outerShdw blurRad="38100" dist="25400" dir="5400000" algn="ctr" rotWithShape="0">
                    <a:srgbClr val="6E747A">
                      <a:alpha val="43000"/>
                    </a:srgbClr>
                  </a:outerShdw>
                </a:effectLst>
              </a:rPr>
              <a:t>则包括了下面这几部分，带</a:t>
            </a:r>
            <a:r>
              <a:rPr lang="en-US" altLang="zh-CN">
                <a:solidFill>
                  <a:schemeClr val="tx1"/>
                </a:solidFill>
                <a:effectLst>
                  <a:outerShdw blurRad="38100" dist="25400" dir="5400000" algn="ctr" rotWithShape="0">
                    <a:srgbClr val="6E747A">
                      <a:alpha val="43000"/>
                    </a:srgbClr>
                  </a:outerShdw>
                </a:effectLst>
              </a:rPr>
              <a:t> * </a:t>
            </a:r>
            <a:r>
              <a:rPr lang="zh-CN" altLang="en-US">
                <a:solidFill>
                  <a:schemeClr val="tx1"/>
                </a:solidFill>
                <a:effectLst>
                  <a:outerShdw blurRad="38100" dist="25400" dir="5400000" algn="ctr" rotWithShape="0">
                    <a:srgbClr val="6E747A">
                      <a:alpha val="43000"/>
                    </a:srgbClr>
                  </a:outerShdw>
                </a:effectLst>
              </a:rPr>
              <a:t>的部分是我们经常会使用到的一些库。</a:t>
            </a:r>
          </a:p>
        </p:txBody>
      </p:sp>
      <p:pic>
        <p:nvPicPr>
          <p:cNvPr id="6" name="图片 5"/>
          <p:cNvPicPr>
            <a:picLocks noChangeAspect="1"/>
          </p:cNvPicPr>
          <p:nvPr/>
        </p:nvPicPr>
        <p:blipFill>
          <a:blip r:embed="rId3"/>
          <a:stretch>
            <a:fillRect/>
          </a:stretch>
        </p:blipFill>
        <p:spPr>
          <a:xfrm>
            <a:off x="1703705" y="2924810"/>
            <a:ext cx="6767830" cy="20828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Pytorch</a:t>
            </a:r>
            <a:r>
              <a:rPr lang="zh-CN" altLang="en-US" sz="3200" dirty="0"/>
              <a:t>生态简介</a:t>
            </a:r>
          </a:p>
        </p:txBody>
      </p:sp>
      <p:sp>
        <p:nvSpPr>
          <p:cNvPr id="10" name="文本框 9"/>
          <p:cNvSpPr txBox="1"/>
          <p:nvPr/>
        </p:nvSpPr>
        <p:spPr>
          <a:xfrm>
            <a:off x="4727575" y="2708910"/>
            <a:ext cx="6096000" cy="1597025"/>
          </a:xfrm>
          <a:prstGeom prst="rect">
            <a:avLst/>
          </a:prstGeom>
          <a:noFill/>
        </p:spPr>
        <p:txBody>
          <a:bodyPr wrap="square" rtlCol="0" anchor="t">
            <a:noAutofit/>
          </a:bodyPr>
          <a:lstStyle/>
          <a:p>
            <a:endParaRPr lang="zh-CN" altLang="en-US"/>
          </a:p>
        </p:txBody>
      </p:sp>
      <p:sp>
        <p:nvSpPr>
          <p:cNvPr id="7" name="文本框 6"/>
          <p:cNvSpPr txBox="1"/>
          <p:nvPr/>
        </p:nvSpPr>
        <p:spPr>
          <a:xfrm>
            <a:off x="1461770" y="1700530"/>
            <a:ext cx="8179435" cy="1014730"/>
          </a:xfrm>
          <a:prstGeom prst="rect">
            <a:avLst/>
          </a:prstGeom>
          <a:noFill/>
        </p:spPr>
        <p:txBody>
          <a:bodyPr wrap="square" rtlCol="0">
            <a:spAutoFit/>
          </a:bodyPr>
          <a:lstStyle/>
          <a:p>
            <a:pPr indent="457200"/>
            <a:r>
              <a:rPr lang="en-US" altLang="zh-CN" sz="2400">
                <a:solidFill>
                  <a:schemeClr val="tx1"/>
                </a:solidFill>
                <a:effectLst>
                  <a:outerShdw blurRad="38100" dist="25400" dir="5400000" algn="ctr" rotWithShape="0">
                    <a:srgbClr val="6E747A">
                      <a:alpha val="43000"/>
                    </a:srgbClr>
                  </a:outerShdw>
                </a:effectLst>
                <a:latin typeface="宋体" panose="02010600030101010101" pitchFamily="2" charset="-122"/>
              </a:rPr>
              <a:t>torchvision</a:t>
            </a:r>
          </a:p>
          <a:p>
            <a:pPr indent="457200"/>
            <a:r>
              <a:rPr lang="en-US" altLang="zh-CN">
                <a:solidFill>
                  <a:schemeClr val="tx1"/>
                </a:solidFill>
                <a:effectLst>
                  <a:outerShdw blurRad="38100" dist="25400" dir="5400000" algn="ctr" rotWithShape="0">
                    <a:srgbClr val="6E747A">
                      <a:alpha val="43000"/>
                    </a:srgbClr>
                  </a:outerShdw>
                </a:effectLst>
              </a:rPr>
              <a:t>torchvision.datasets</a:t>
            </a:r>
            <a:r>
              <a:rPr lang="zh-CN" altLang="en-US">
                <a:solidFill>
                  <a:schemeClr val="tx1"/>
                </a:solidFill>
                <a:effectLst>
                  <a:outerShdw blurRad="38100" dist="25400" dir="5400000" algn="ctr" rotWithShape="0">
                    <a:srgbClr val="6E747A">
                      <a:alpha val="43000"/>
                    </a:srgbClr>
                  </a:outerShdw>
                </a:effectLst>
              </a:rPr>
              <a:t>主要包含了一些我们在计算机视觉中常见的数据集，在</a:t>
            </a:r>
            <a:r>
              <a:rPr lang="en-US" altLang="zh-CN">
                <a:solidFill>
                  <a:schemeClr val="tx1"/>
                </a:solidFill>
                <a:effectLst>
                  <a:outerShdw blurRad="38100" dist="25400" dir="5400000" algn="ctr" rotWithShape="0">
                    <a:srgbClr val="6E747A">
                      <a:alpha val="43000"/>
                    </a:srgbClr>
                  </a:outerShdw>
                </a:effectLst>
              </a:rPr>
              <a:t>==0.10.0</a:t>
            </a:r>
            <a:r>
              <a:rPr lang="zh-CN" altLang="en-US">
                <a:solidFill>
                  <a:schemeClr val="tx1"/>
                </a:solidFill>
                <a:effectLst>
                  <a:outerShdw blurRad="38100" dist="25400" dir="5400000" algn="ctr" rotWithShape="0">
                    <a:srgbClr val="6E747A">
                      <a:alpha val="43000"/>
                    </a:srgbClr>
                  </a:outerShdw>
                </a:effectLst>
              </a:rPr>
              <a:t>版本</a:t>
            </a:r>
            <a:r>
              <a:rPr lang="en-US" altLang="zh-CN">
                <a:solidFill>
                  <a:schemeClr val="tx1"/>
                </a:solidFill>
                <a:effectLst>
                  <a:outerShdw blurRad="38100" dist="25400" dir="5400000" algn="ctr" rotWithShape="0">
                    <a:srgbClr val="6E747A">
                      <a:alpha val="43000"/>
                    </a:srgbClr>
                  </a:outerShdw>
                </a:effectLst>
              </a:rPr>
              <a:t>==</a:t>
            </a:r>
            <a:r>
              <a:rPr lang="zh-CN" altLang="en-US">
                <a:solidFill>
                  <a:schemeClr val="tx1"/>
                </a:solidFill>
                <a:effectLst>
                  <a:outerShdw blurRad="38100" dist="25400" dir="5400000" algn="ctr" rotWithShape="0">
                    <a:srgbClr val="6E747A">
                      <a:alpha val="43000"/>
                    </a:srgbClr>
                  </a:outerShdw>
                </a:effectLst>
              </a:rPr>
              <a:t>的</a:t>
            </a:r>
            <a:r>
              <a:rPr lang="en-US" altLang="zh-CN">
                <a:solidFill>
                  <a:schemeClr val="tx1"/>
                </a:solidFill>
                <a:effectLst>
                  <a:outerShdw blurRad="38100" dist="25400" dir="5400000" algn="ctr" rotWithShape="0">
                    <a:srgbClr val="6E747A">
                      <a:alpha val="43000"/>
                    </a:srgbClr>
                  </a:outerShdw>
                </a:effectLst>
              </a:rPr>
              <a:t>torchvision</a:t>
            </a:r>
            <a:r>
              <a:rPr lang="zh-CN" altLang="en-US">
                <a:solidFill>
                  <a:schemeClr val="tx1"/>
                </a:solidFill>
                <a:effectLst>
                  <a:outerShdw blurRad="38100" dist="25400" dir="5400000" algn="ctr" rotWithShape="0">
                    <a:srgbClr val="6E747A">
                      <a:alpha val="43000"/>
                    </a:srgbClr>
                  </a:outerShdw>
                </a:effectLst>
              </a:rPr>
              <a:t>下，有以下的数据集。</a:t>
            </a:r>
          </a:p>
        </p:txBody>
      </p:sp>
      <p:pic>
        <p:nvPicPr>
          <p:cNvPr id="5" name="图片 4"/>
          <p:cNvPicPr>
            <a:picLocks noChangeAspect="1"/>
          </p:cNvPicPr>
          <p:nvPr/>
        </p:nvPicPr>
        <p:blipFill>
          <a:blip r:embed="rId3"/>
          <a:stretch>
            <a:fillRect/>
          </a:stretch>
        </p:blipFill>
        <p:spPr>
          <a:xfrm>
            <a:off x="2135505" y="2801620"/>
            <a:ext cx="6981825" cy="30099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Pytorch</a:t>
            </a:r>
            <a:r>
              <a:rPr lang="zh-CN" altLang="en-US" sz="3200" dirty="0"/>
              <a:t>生态简介</a:t>
            </a:r>
          </a:p>
        </p:txBody>
      </p:sp>
      <p:sp>
        <p:nvSpPr>
          <p:cNvPr id="10" name="文本框 9"/>
          <p:cNvSpPr txBox="1"/>
          <p:nvPr/>
        </p:nvSpPr>
        <p:spPr>
          <a:xfrm>
            <a:off x="4727575" y="2708910"/>
            <a:ext cx="6096000" cy="1597025"/>
          </a:xfrm>
          <a:prstGeom prst="rect">
            <a:avLst/>
          </a:prstGeom>
          <a:noFill/>
        </p:spPr>
        <p:txBody>
          <a:bodyPr wrap="square" rtlCol="0" anchor="t">
            <a:noAutofit/>
          </a:bodyPr>
          <a:lstStyle/>
          <a:p>
            <a:endParaRPr lang="zh-CN" altLang="en-US"/>
          </a:p>
        </p:txBody>
      </p:sp>
      <p:sp>
        <p:nvSpPr>
          <p:cNvPr id="7" name="文本框 6"/>
          <p:cNvSpPr txBox="1"/>
          <p:nvPr/>
        </p:nvSpPr>
        <p:spPr>
          <a:xfrm>
            <a:off x="1461770" y="1700530"/>
            <a:ext cx="8740775" cy="1014730"/>
          </a:xfrm>
          <a:prstGeom prst="rect">
            <a:avLst/>
          </a:prstGeom>
          <a:noFill/>
        </p:spPr>
        <p:txBody>
          <a:bodyPr wrap="square" rtlCol="0">
            <a:spAutoFit/>
          </a:bodyPr>
          <a:lstStyle/>
          <a:p>
            <a:pPr indent="457200"/>
            <a:r>
              <a:rPr lang="en-US" altLang="zh-CN" sz="2400">
                <a:solidFill>
                  <a:schemeClr val="tx1"/>
                </a:solidFill>
                <a:effectLst>
                  <a:outerShdw blurRad="38100" dist="25400" dir="5400000" algn="ctr" rotWithShape="0">
                    <a:srgbClr val="6E747A">
                      <a:alpha val="43000"/>
                    </a:srgbClr>
                  </a:outerShdw>
                </a:effectLst>
                <a:latin typeface="宋体" panose="02010600030101010101" pitchFamily="2" charset="-122"/>
              </a:rPr>
              <a:t>torchvision</a:t>
            </a:r>
          </a:p>
          <a:p>
            <a:pPr indent="457200"/>
            <a:r>
              <a:rPr lang="zh-CN" altLang="en-US">
                <a:solidFill>
                  <a:schemeClr val="tx1"/>
                </a:solidFill>
                <a:effectLst>
                  <a:outerShdw blurRad="38100" dist="25400" dir="5400000" algn="ctr" rotWithShape="0">
                    <a:srgbClr val="6E747A">
                      <a:alpha val="43000"/>
                    </a:srgbClr>
                  </a:outerShdw>
                </a:effectLst>
              </a:rPr>
              <a:t>为了提高训练效率，减少不必要的重复劳动，</a:t>
            </a:r>
            <a:r>
              <a:rPr lang="en-US" altLang="zh-CN">
                <a:solidFill>
                  <a:schemeClr val="tx1"/>
                </a:solidFill>
                <a:effectLst>
                  <a:outerShdw blurRad="38100" dist="25400" dir="5400000" algn="ctr" rotWithShape="0">
                    <a:srgbClr val="6E747A">
                      <a:alpha val="43000"/>
                    </a:srgbClr>
                  </a:outerShdw>
                </a:effectLst>
              </a:rPr>
              <a:t>PyTorch</a:t>
            </a:r>
            <a:r>
              <a:rPr lang="zh-CN" altLang="en-US">
                <a:solidFill>
                  <a:schemeClr val="tx1"/>
                </a:solidFill>
                <a:effectLst>
                  <a:outerShdw blurRad="38100" dist="25400" dir="5400000" algn="ctr" rotWithShape="0">
                    <a:srgbClr val="6E747A">
                      <a:alpha val="43000"/>
                    </a:srgbClr>
                  </a:outerShdw>
                </a:effectLst>
              </a:rPr>
              <a:t>官方在</a:t>
            </a:r>
            <a:r>
              <a:rPr lang="en-US" altLang="zh-CN">
                <a:solidFill>
                  <a:schemeClr val="tx1"/>
                </a:solidFill>
                <a:effectLst>
                  <a:outerShdw blurRad="38100" dist="25400" dir="5400000" algn="ctr" rotWithShape="0">
                    <a:srgbClr val="6E747A">
                      <a:alpha val="43000"/>
                    </a:srgbClr>
                  </a:outerShdw>
                </a:effectLst>
              </a:rPr>
              <a:t>torchvision.models</a:t>
            </a:r>
            <a:r>
              <a:rPr lang="zh-CN" altLang="en-US">
                <a:solidFill>
                  <a:schemeClr val="tx1"/>
                </a:solidFill>
                <a:effectLst>
                  <a:outerShdw blurRad="38100" dist="25400" dir="5400000" algn="ctr" rotWithShape="0">
                    <a:srgbClr val="6E747A">
                      <a:alpha val="43000"/>
                    </a:srgbClr>
                  </a:outerShdw>
                </a:effectLst>
              </a:rPr>
              <a:t>也提供了一些预训练好的模型供我们使用。</a:t>
            </a:r>
          </a:p>
        </p:txBody>
      </p:sp>
      <p:sp>
        <p:nvSpPr>
          <p:cNvPr id="8" name="文本框 7"/>
          <p:cNvSpPr txBox="1"/>
          <p:nvPr/>
        </p:nvSpPr>
        <p:spPr>
          <a:xfrm>
            <a:off x="1919605" y="2924810"/>
            <a:ext cx="4064000" cy="368300"/>
          </a:xfrm>
          <a:prstGeom prst="rect">
            <a:avLst/>
          </a:prstGeom>
          <a:noFill/>
        </p:spPr>
        <p:txBody>
          <a:bodyPr wrap="square" rtlCol="0">
            <a:spAutoFit/>
          </a:bodyPr>
          <a:lstStyle/>
          <a:p>
            <a:r>
              <a:rPr lang="en-US" altLang="zh-CN">
                <a:sym typeface="+mn-ea"/>
              </a:rPr>
              <a:t>•</a:t>
            </a:r>
            <a:r>
              <a:rPr lang="en-US" altLang="zh-CN"/>
              <a:t>Classification</a:t>
            </a:r>
          </a:p>
        </p:txBody>
      </p:sp>
      <p:sp>
        <p:nvSpPr>
          <p:cNvPr id="9" name="文本框 8"/>
          <p:cNvSpPr txBox="1"/>
          <p:nvPr/>
        </p:nvSpPr>
        <p:spPr>
          <a:xfrm>
            <a:off x="2063750" y="3357245"/>
            <a:ext cx="8058150" cy="645160"/>
          </a:xfrm>
          <a:prstGeom prst="rect">
            <a:avLst/>
          </a:prstGeom>
          <a:noFill/>
        </p:spPr>
        <p:txBody>
          <a:bodyPr wrap="square" rtlCol="0">
            <a:spAutoFit/>
          </a:bodyPr>
          <a:lstStyle/>
          <a:p>
            <a:r>
              <a:rPr lang="zh-CN" altLang="en-US"/>
              <a:t>在图像分类里面，</a:t>
            </a:r>
            <a:r>
              <a:rPr lang="en-US" altLang="zh-CN"/>
              <a:t>PyTorch</a:t>
            </a:r>
            <a:r>
              <a:rPr lang="zh-CN" altLang="en-US"/>
              <a:t>官方提供了以下模型，并正在不断增多，这些模型是在</a:t>
            </a:r>
            <a:r>
              <a:rPr lang="en-US" altLang="zh-CN"/>
              <a:t>ImageNet-1k</a:t>
            </a:r>
            <a:r>
              <a:rPr lang="zh-CN" altLang="en-US"/>
              <a:t>进行预训练好的。</a:t>
            </a:r>
          </a:p>
        </p:txBody>
      </p:sp>
      <p:pic>
        <p:nvPicPr>
          <p:cNvPr id="11" name="图片 10"/>
          <p:cNvPicPr>
            <a:picLocks noChangeAspect="1"/>
          </p:cNvPicPr>
          <p:nvPr/>
        </p:nvPicPr>
        <p:blipFill>
          <a:blip r:embed="rId3"/>
          <a:stretch>
            <a:fillRect/>
          </a:stretch>
        </p:blipFill>
        <p:spPr>
          <a:xfrm>
            <a:off x="2207895" y="4220845"/>
            <a:ext cx="7010400" cy="20955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Pytorch</a:t>
            </a:r>
            <a:r>
              <a:rPr lang="zh-CN" altLang="en-US" sz="3200" dirty="0"/>
              <a:t>生态简介</a:t>
            </a:r>
          </a:p>
        </p:txBody>
      </p:sp>
      <p:sp>
        <p:nvSpPr>
          <p:cNvPr id="10" name="文本框 9"/>
          <p:cNvSpPr txBox="1"/>
          <p:nvPr/>
        </p:nvSpPr>
        <p:spPr>
          <a:xfrm>
            <a:off x="4727575" y="2708910"/>
            <a:ext cx="6096000" cy="1597025"/>
          </a:xfrm>
          <a:prstGeom prst="rect">
            <a:avLst/>
          </a:prstGeom>
          <a:noFill/>
        </p:spPr>
        <p:txBody>
          <a:bodyPr wrap="square" rtlCol="0" anchor="t">
            <a:noAutofit/>
          </a:bodyPr>
          <a:lstStyle/>
          <a:p>
            <a:endParaRPr lang="zh-CN" altLang="en-US"/>
          </a:p>
        </p:txBody>
      </p:sp>
      <p:sp>
        <p:nvSpPr>
          <p:cNvPr id="7" name="文本框 6"/>
          <p:cNvSpPr txBox="1"/>
          <p:nvPr/>
        </p:nvSpPr>
        <p:spPr>
          <a:xfrm>
            <a:off x="1461770" y="1700530"/>
            <a:ext cx="8740775" cy="1014730"/>
          </a:xfrm>
          <a:prstGeom prst="rect">
            <a:avLst/>
          </a:prstGeom>
          <a:noFill/>
        </p:spPr>
        <p:txBody>
          <a:bodyPr wrap="square" rtlCol="0">
            <a:spAutoFit/>
          </a:bodyPr>
          <a:lstStyle/>
          <a:p>
            <a:pPr indent="457200"/>
            <a:r>
              <a:rPr lang="en-US" altLang="zh-CN" sz="2400">
                <a:solidFill>
                  <a:schemeClr val="tx1"/>
                </a:solidFill>
                <a:effectLst>
                  <a:outerShdw blurRad="38100" dist="25400" dir="5400000" algn="ctr" rotWithShape="0">
                    <a:srgbClr val="6E747A">
                      <a:alpha val="43000"/>
                    </a:srgbClr>
                  </a:outerShdw>
                </a:effectLst>
                <a:latin typeface="宋体" panose="02010600030101010101" pitchFamily="2" charset="-122"/>
              </a:rPr>
              <a:t>torchvision</a:t>
            </a:r>
          </a:p>
          <a:p>
            <a:pPr indent="457200"/>
            <a:r>
              <a:rPr lang="zh-CN" altLang="en-US">
                <a:solidFill>
                  <a:schemeClr val="tx1"/>
                </a:solidFill>
                <a:effectLst>
                  <a:outerShdw blurRad="38100" dist="25400" dir="5400000" algn="ctr" rotWithShape="0">
                    <a:srgbClr val="6E747A">
                      <a:alpha val="43000"/>
                    </a:srgbClr>
                  </a:outerShdw>
                </a:effectLst>
              </a:rPr>
              <a:t>为了提高训练效率，减少不必要的重复劳动，</a:t>
            </a:r>
            <a:r>
              <a:rPr lang="en-US" altLang="zh-CN">
                <a:solidFill>
                  <a:schemeClr val="tx1"/>
                </a:solidFill>
                <a:effectLst>
                  <a:outerShdw blurRad="38100" dist="25400" dir="5400000" algn="ctr" rotWithShape="0">
                    <a:srgbClr val="6E747A">
                      <a:alpha val="43000"/>
                    </a:srgbClr>
                  </a:outerShdw>
                </a:effectLst>
              </a:rPr>
              <a:t>PyTorch</a:t>
            </a:r>
            <a:r>
              <a:rPr lang="zh-CN" altLang="en-US">
                <a:solidFill>
                  <a:schemeClr val="tx1"/>
                </a:solidFill>
                <a:effectLst>
                  <a:outerShdw blurRad="38100" dist="25400" dir="5400000" algn="ctr" rotWithShape="0">
                    <a:srgbClr val="6E747A">
                      <a:alpha val="43000"/>
                    </a:srgbClr>
                  </a:outerShdw>
                </a:effectLst>
              </a:rPr>
              <a:t>官方在</a:t>
            </a:r>
            <a:r>
              <a:rPr lang="en-US" altLang="zh-CN">
                <a:solidFill>
                  <a:schemeClr val="tx1"/>
                </a:solidFill>
                <a:effectLst>
                  <a:outerShdw blurRad="38100" dist="25400" dir="5400000" algn="ctr" rotWithShape="0">
                    <a:srgbClr val="6E747A">
                      <a:alpha val="43000"/>
                    </a:srgbClr>
                  </a:outerShdw>
                </a:effectLst>
              </a:rPr>
              <a:t>torchvision.models</a:t>
            </a:r>
            <a:r>
              <a:rPr lang="zh-CN" altLang="en-US">
                <a:solidFill>
                  <a:schemeClr val="tx1"/>
                </a:solidFill>
                <a:effectLst>
                  <a:outerShdw blurRad="38100" dist="25400" dir="5400000" algn="ctr" rotWithShape="0">
                    <a:srgbClr val="6E747A">
                      <a:alpha val="43000"/>
                    </a:srgbClr>
                  </a:outerShdw>
                </a:effectLst>
              </a:rPr>
              <a:t>也提供了一些预训练好的模型供我们使用。</a:t>
            </a:r>
          </a:p>
        </p:txBody>
      </p:sp>
      <p:sp>
        <p:nvSpPr>
          <p:cNvPr id="8" name="文本框 7"/>
          <p:cNvSpPr txBox="1"/>
          <p:nvPr/>
        </p:nvSpPr>
        <p:spPr>
          <a:xfrm>
            <a:off x="1919605" y="2924810"/>
            <a:ext cx="4064000" cy="368300"/>
          </a:xfrm>
          <a:prstGeom prst="rect">
            <a:avLst/>
          </a:prstGeom>
          <a:noFill/>
        </p:spPr>
        <p:txBody>
          <a:bodyPr wrap="square" rtlCol="0">
            <a:spAutoFit/>
          </a:bodyPr>
          <a:lstStyle/>
          <a:p>
            <a:r>
              <a:rPr lang="en-US" altLang="zh-CN">
                <a:sym typeface="+mn-ea"/>
              </a:rPr>
              <a:t>•</a:t>
            </a:r>
            <a:r>
              <a:rPr lang="en-US" altLang="zh-CN"/>
              <a:t>Semantic Segmentation</a:t>
            </a:r>
          </a:p>
        </p:txBody>
      </p:sp>
      <p:sp>
        <p:nvSpPr>
          <p:cNvPr id="9" name="文本框 8"/>
          <p:cNvSpPr txBox="1"/>
          <p:nvPr/>
        </p:nvSpPr>
        <p:spPr>
          <a:xfrm>
            <a:off x="2063750" y="3357245"/>
            <a:ext cx="8058150" cy="645160"/>
          </a:xfrm>
          <a:prstGeom prst="rect">
            <a:avLst/>
          </a:prstGeom>
          <a:noFill/>
        </p:spPr>
        <p:txBody>
          <a:bodyPr wrap="square" rtlCol="0">
            <a:spAutoFit/>
          </a:bodyPr>
          <a:lstStyle/>
          <a:p>
            <a:r>
              <a:rPr lang="zh-CN" altLang="en-US"/>
              <a:t>语义分割的预训练模型是在</a:t>
            </a:r>
            <a:r>
              <a:rPr lang="en-US" altLang="zh-CN"/>
              <a:t>COCO train2017</a:t>
            </a:r>
            <a:r>
              <a:rPr lang="zh-CN" altLang="en-US"/>
              <a:t>的子集上进行训练的，提供了</a:t>
            </a:r>
            <a:r>
              <a:rPr lang="en-US" altLang="zh-CN"/>
              <a:t>20</a:t>
            </a:r>
            <a:r>
              <a:rPr lang="zh-CN" altLang="en-US"/>
              <a:t>个类别。</a:t>
            </a:r>
          </a:p>
        </p:txBody>
      </p:sp>
      <p:pic>
        <p:nvPicPr>
          <p:cNvPr id="5" name="图片 4"/>
          <p:cNvPicPr>
            <a:picLocks noChangeAspect="1"/>
          </p:cNvPicPr>
          <p:nvPr/>
        </p:nvPicPr>
        <p:blipFill>
          <a:blip r:embed="rId3"/>
          <a:stretch>
            <a:fillRect/>
          </a:stretch>
        </p:blipFill>
        <p:spPr>
          <a:xfrm>
            <a:off x="2207895" y="4149090"/>
            <a:ext cx="6991350" cy="176212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Pytorch</a:t>
            </a:r>
            <a:r>
              <a:rPr lang="zh-CN" altLang="en-US" sz="3200" dirty="0"/>
              <a:t>生态简介</a:t>
            </a:r>
          </a:p>
        </p:txBody>
      </p:sp>
      <p:sp>
        <p:nvSpPr>
          <p:cNvPr id="10" name="文本框 9"/>
          <p:cNvSpPr txBox="1"/>
          <p:nvPr/>
        </p:nvSpPr>
        <p:spPr>
          <a:xfrm>
            <a:off x="4727575" y="2708910"/>
            <a:ext cx="6096000" cy="1597025"/>
          </a:xfrm>
          <a:prstGeom prst="rect">
            <a:avLst/>
          </a:prstGeom>
          <a:noFill/>
        </p:spPr>
        <p:txBody>
          <a:bodyPr wrap="square" rtlCol="0" anchor="t">
            <a:noAutofit/>
          </a:bodyPr>
          <a:lstStyle/>
          <a:p>
            <a:endParaRPr lang="zh-CN" altLang="en-US"/>
          </a:p>
        </p:txBody>
      </p:sp>
      <p:sp>
        <p:nvSpPr>
          <p:cNvPr id="7" name="文本框 6"/>
          <p:cNvSpPr txBox="1"/>
          <p:nvPr/>
        </p:nvSpPr>
        <p:spPr>
          <a:xfrm>
            <a:off x="1461770" y="1700530"/>
            <a:ext cx="8179435" cy="1291590"/>
          </a:xfrm>
          <a:prstGeom prst="rect">
            <a:avLst/>
          </a:prstGeom>
          <a:noFill/>
        </p:spPr>
        <p:txBody>
          <a:bodyPr wrap="square" rtlCol="0">
            <a:spAutoFit/>
          </a:bodyPr>
          <a:lstStyle/>
          <a:p>
            <a:pPr indent="457200"/>
            <a:r>
              <a:rPr lang="en-US" altLang="zh-CN" sz="2400">
                <a:solidFill>
                  <a:schemeClr val="tx1"/>
                </a:solidFill>
                <a:effectLst>
                  <a:outerShdw blurRad="38100" dist="25400" dir="5400000" algn="ctr" rotWithShape="0">
                    <a:srgbClr val="6E747A">
                      <a:alpha val="43000"/>
                    </a:srgbClr>
                  </a:outerShdw>
                </a:effectLst>
                <a:latin typeface="宋体" panose="02010600030101010101" pitchFamily="2" charset="-122"/>
              </a:rPr>
              <a:t>torchvision</a:t>
            </a:r>
          </a:p>
          <a:p>
            <a:pPr indent="457200"/>
            <a:r>
              <a:rPr lang="en-US" altLang="zh-CN">
                <a:solidFill>
                  <a:schemeClr val="tx1"/>
                </a:solidFill>
                <a:effectLst>
                  <a:outerShdw blurRad="38100" dist="25400" dir="5400000" algn="ctr" rotWithShape="0">
                    <a:srgbClr val="6E747A">
                      <a:alpha val="43000"/>
                    </a:srgbClr>
                  </a:outerShdw>
                </a:effectLst>
              </a:rPr>
              <a:t>torchvision</a:t>
            </a:r>
            <a:r>
              <a:rPr lang="zh-CN" altLang="en-US">
                <a:solidFill>
                  <a:schemeClr val="tx1"/>
                </a:solidFill>
                <a:effectLst>
                  <a:outerShdw blurRad="38100" dist="25400" dir="5400000" algn="ctr" rotWithShape="0">
                    <a:srgbClr val="6E747A">
                      <a:alpha val="43000"/>
                    </a:srgbClr>
                  </a:outerShdw>
                </a:effectLst>
              </a:rPr>
              <a:t>包含了在计算机视觉中常常用到的数据集，模型和图像处理的方式，而具体的</a:t>
            </a:r>
            <a:r>
              <a:rPr lang="en-US" altLang="zh-CN">
                <a:solidFill>
                  <a:schemeClr val="tx1"/>
                </a:solidFill>
                <a:effectLst>
                  <a:outerShdw blurRad="38100" dist="25400" dir="5400000" algn="ctr" rotWithShape="0">
                    <a:srgbClr val="6E747A">
                      <a:alpha val="43000"/>
                    </a:srgbClr>
                  </a:outerShdw>
                </a:effectLst>
              </a:rPr>
              <a:t>torchvision</a:t>
            </a:r>
            <a:r>
              <a:rPr lang="zh-CN" altLang="en-US">
                <a:solidFill>
                  <a:schemeClr val="tx1"/>
                </a:solidFill>
                <a:effectLst>
                  <a:outerShdw blurRad="38100" dist="25400" dir="5400000" algn="ctr" rotWithShape="0">
                    <a:srgbClr val="6E747A">
                      <a:alpha val="43000"/>
                    </a:srgbClr>
                  </a:outerShdw>
                </a:effectLst>
              </a:rPr>
              <a:t>则包括了下面这几部分，带</a:t>
            </a:r>
            <a:r>
              <a:rPr lang="en-US" altLang="zh-CN">
                <a:solidFill>
                  <a:schemeClr val="tx1"/>
                </a:solidFill>
                <a:effectLst>
                  <a:outerShdw blurRad="38100" dist="25400" dir="5400000" algn="ctr" rotWithShape="0">
                    <a:srgbClr val="6E747A">
                      <a:alpha val="43000"/>
                    </a:srgbClr>
                  </a:outerShdw>
                </a:effectLst>
              </a:rPr>
              <a:t> * </a:t>
            </a:r>
            <a:r>
              <a:rPr lang="zh-CN" altLang="en-US">
                <a:solidFill>
                  <a:schemeClr val="tx1"/>
                </a:solidFill>
                <a:effectLst>
                  <a:outerShdw blurRad="38100" dist="25400" dir="5400000" algn="ctr" rotWithShape="0">
                    <a:srgbClr val="6E747A">
                      <a:alpha val="43000"/>
                    </a:srgbClr>
                  </a:outerShdw>
                </a:effectLst>
              </a:rPr>
              <a:t>的部分是我们经常会使用到的一些库。</a:t>
            </a:r>
          </a:p>
        </p:txBody>
      </p:sp>
      <p:pic>
        <p:nvPicPr>
          <p:cNvPr id="6" name="图片 5"/>
          <p:cNvPicPr>
            <a:picLocks noChangeAspect="1"/>
          </p:cNvPicPr>
          <p:nvPr/>
        </p:nvPicPr>
        <p:blipFill>
          <a:blip r:embed="rId3"/>
          <a:stretch>
            <a:fillRect/>
          </a:stretch>
        </p:blipFill>
        <p:spPr>
          <a:xfrm>
            <a:off x="1703705" y="2924810"/>
            <a:ext cx="6767830" cy="20828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Pytorch</a:t>
            </a:r>
            <a:r>
              <a:rPr lang="zh-CN" altLang="en-US" sz="3200" dirty="0"/>
              <a:t>生态简介</a:t>
            </a:r>
          </a:p>
        </p:txBody>
      </p:sp>
      <p:sp>
        <p:nvSpPr>
          <p:cNvPr id="10" name="文本框 9"/>
          <p:cNvSpPr txBox="1"/>
          <p:nvPr/>
        </p:nvSpPr>
        <p:spPr>
          <a:xfrm>
            <a:off x="4727575" y="2708910"/>
            <a:ext cx="6096000" cy="1597025"/>
          </a:xfrm>
          <a:prstGeom prst="rect">
            <a:avLst/>
          </a:prstGeom>
          <a:noFill/>
        </p:spPr>
        <p:txBody>
          <a:bodyPr wrap="square" rtlCol="0" anchor="t">
            <a:noAutofit/>
          </a:bodyPr>
          <a:lstStyle/>
          <a:p>
            <a:endParaRPr lang="zh-CN" altLang="en-US"/>
          </a:p>
        </p:txBody>
      </p:sp>
      <p:sp>
        <p:nvSpPr>
          <p:cNvPr id="7" name="文本框 6"/>
          <p:cNvSpPr txBox="1"/>
          <p:nvPr/>
        </p:nvSpPr>
        <p:spPr>
          <a:xfrm>
            <a:off x="1055370" y="1700530"/>
            <a:ext cx="8179435" cy="460375"/>
          </a:xfrm>
          <a:prstGeom prst="rect">
            <a:avLst/>
          </a:prstGeom>
          <a:noFill/>
        </p:spPr>
        <p:txBody>
          <a:bodyPr wrap="square" rtlCol="0">
            <a:spAutoFit/>
          </a:bodyPr>
          <a:lstStyle/>
          <a:p>
            <a:pPr indent="457200"/>
            <a:r>
              <a:rPr lang="en-US" altLang="zh-CN" sz="2400">
                <a:solidFill>
                  <a:schemeClr val="tx1"/>
                </a:solidFill>
                <a:effectLst>
                  <a:outerShdw blurRad="38100" dist="25400" dir="5400000" algn="ctr" rotWithShape="0">
                    <a:srgbClr val="6E747A">
                      <a:alpha val="43000"/>
                    </a:srgbClr>
                  </a:outerShdw>
                </a:effectLst>
                <a:latin typeface="宋体" panose="02010600030101010101" pitchFamily="2" charset="-122"/>
              </a:rPr>
              <a:t>pytorchvideo</a:t>
            </a:r>
          </a:p>
        </p:txBody>
      </p:sp>
      <p:sp>
        <p:nvSpPr>
          <p:cNvPr id="6" name="文本框 5"/>
          <p:cNvSpPr txBox="1"/>
          <p:nvPr/>
        </p:nvSpPr>
        <p:spPr>
          <a:xfrm>
            <a:off x="1487805" y="2277110"/>
            <a:ext cx="9228455" cy="922020"/>
          </a:xfrm>
          <a:prstGeom prst="rect">
            <a:avLst/>
          </a:prstGeom>
          <a:noFill/>
        </p:spPr>
        <p:txBody>
          <a:bodyPr wrap="square" rtlCol="0">
            <a:spAutoFit/>
          </a:bodyPr>
          <a:lstStyle/>
          <a:p>
            <a:r>
              <a:rPr lang="zh-CN" altLang="en-US"/>
              <a:t>随着传播媒介和视频平台的发展，视频正在取代图片成为下一代的主流媒体，这也使得有关视频的深度学习模型正在获得越来越多的关注。然而，有关视频的深度学习模型仍然有着许多缺点：</a:t>
            </a:r>
          </a:p>
        </p:txBody>
      </p:sp>
      <p:sp>
        <p:nvSpPr>
          <p:cNvPr id="8" name="文本框 7"/>
          <p:cNvSpPr txBox="1"/>
          <p:nvPr/>
        </p:nvSpPr>
        <p:spPr>
          <a:xfrm>
            <a:off x="1919605" y="3233420"/>
            <a:ext cx="7837170" cy="1753235"/>
          </a:xfrm>
          <a:prstGeom prst="rect">
            <a:avLst/>
          </a:prstGeom>
          <a:noFill/>
        </p:spPr>
        <p:txBody>
          <a:bodyPr wrap="square" rtlCol="0">
            <a:spAutoFit/>
          </a:bodyPr>
          <a:lstStyle/>
          <a:p>
            <a:r>
              <a:rPr lang="en-US" altLang="zh-CN">
                <a:sym typeface="+mn-ea"/>
              </a:rPr>
              <a:t>•</a:t>
            </a:r>
            <a:r>
              <a:rPr lang="zh-CN" altLang="en-US"/>
              <a:t>计算资源耗费更多，并且没有</a:t>
            </a:r>
            <a:r>
              <a:rPr lang="zh-CN" altLang="en-US">
                <a:solidFill>
                  <a:schemeClr val="accent1"/>
                </a:solidFill>
                <a:effectLst>
                  <a:outerShdw blurRad="38100" dist="25400" dir="5400000" algn="ctr" rotWithShape="0">
                    <a:srgbClr val="6E747A">
                      <a:alpha val="43000"/>
                    </a:srgbClr>
                  </a:outerShdw>
                </a:effectLst>
              </a:rPr>
              <a:t>高质量的</a:t>
            </a:r>
            <a:r>
              <a:rPr lang="en-US" altLang="zh-CN">
                <a:solidFill>
                  <a:schemeClr val="accent1"/>
                </a:solidFill>
                <a:effectLst>
                  <a:outerShdw blurRad="38100" dist="25400" dir="5400000" algn="ctr" rotWithShape="0">
                    <a:srgbClr val="6E747A">
                      <a:alpha val="43000"/>
                    </a:srgbClr>
                  </a:outerShdw>
                </a:effectLst>
              </a:rPr>
              <a:t>model zoo</a:t>
            </a:r>
            <a:r>
              <a:rPr lang="zh-CN" altLang="en-US"/>
              <a:t>，不能像图片一样进行</a:t>
            </a:r>
            <a:r>
              <a:rPr lang="zh-CN" altLang="en-US">
                <a:solidFill>
                  <a:schemeClr val="accent1"/>
                </a:solidFill>
                <a:effectLst>
                  <a:outerShdw blurRad="38100" dist="25400" dir="5400000" algn="ctr" rotWithShape="0">
                    <a:srgbClr val="6E747A">
                      <a:alpha val="43000"/>
                    </a:srgbClr>
                  </a:outerShdw>
                </a:effectLst>
              </a:rPr>
              <a:t>迁移学习</a:t>
            </a:r>
            <a:r>
              <a:rPr lang="zh-CN" altLang="en-US"/>
              <a:t>和论文复现。</a:t>
            </a:r>
          </a:p>
          <a:p>
            <a:endParaRPr lang="en-US" altLang="zh-CN">
              <a:sym typeface="+mn-ea"/>
            </a:endParaRPr>
          </a:p>
          <a:p>
            <a:r>
              <a:rPr lang="en-US" altLang="zh-CN">
                <a:sym typeface="+mn-ea"/>
              </a:rPr>
              <a:t>•</a:t>
            </a:r>
            <a:r>
              <a:rPr lang="zh-CN" altLang="en-US">
                <a:solidFill>
                  <a:schemeClr val="accent1"/>
                </a:solidFill>
                <a:effectLst>
                  <a:outerShdw blurRad="38100" dist="25400" dir="5400000" algn="ctr" rotWithShape="0">
                    <a:srgbClr val="6E747A">
                      <a:alpha val="43000"/>
                    </a:srgbClr>
                  </a:outerShdw>
                </a:effectLst>
              </a:rPr>
              <a:t>数据集处理</a:t>
            </a:r>
            <a:r>
              <a:rPr lang="zh-CN" altLang="en-US"/>
              <a:t>较麻烦，但没有一个很好的</a:t>
            </a:r>
            <a:r>
              <a:rPr lang="zh-CN" altLang="en-US">
                <a:solidFill>
                  <a:schemeClr val="accent1"/>
                </a:solidFill>
                <a:effectLst>
                  <a:outerShdw blurRad="38100" dist="25400" dir="5400000" algn="ctr" rotWithShape="0">
                    <a:srgbClr val="6E747A">
                      <a:alpha val="43000"/>
                    </a:srgbClr>
                  </a:outerShdw>
                </a:effectLst>
              </a:rPr>
              <a:t>视频处理工具</a:t>
            </a:r>
            <a:r>
              <a:rPr lang="zh-CN" altLang="en-US"/>
              <a:t>。</a:t>
            </a:r>
          </a:p>
          <a:p>
            <a:endParaRPr lang="en-US" altLang="zh-CN"/>
          </a:p>
          <a:p>
            <a:r>
              <a:rPr lang="en-US" altLang="zh-CN">
                <a:sym typeface="+mn-ea"/>
              </a:rPr>
              <a:t>•</a:t>
            </a:r>
            <a:r>
              <a:rPr lang="zh-CN" altLang="en-US"/>
              <a:t>随着多模态越来越流行，亟需一个工具来处理其他模态。</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Pytorch</a:t>
            </a:r>
            <a:r>
              <a:rPr lang="zh-CN" altLang="en-US" sz="3200" dirty="0"/>
              <a:t>生态简介</a:t>
            </a:r>
          </a:p>
        </p:txBody>
      </p:sp>
      <p:sp>
        <p:nvSpPr>
          <p:cNvPr id="10" name="文本框 9"/>
          <p:cNvSpPr txBox="1"/>
          <p:nvPr/>
        </p:nvSpPr>
        <p:spPr>
          <a:xfrm>
            <a:off x="4727575" y="2708910"/>
            <a:ext cx="6096000" cy="1597025"/>
          </a:xfrm>
          <a:prstGeom prst="rect">
            <a:avLst/>
          </a:prstGeom>
          <a:noFill/>
        </p:spPr>
        <p:txBody>
          <a:bodyPr wrap="square" rtlCol="0" anchor="t">
            <a:noAutofit/>
          </a:bodyPr>
          <a:lstStyle/>
          <a:p>
            <a:endParaRPr lang="zh-CN" altLang="en-US"/>
          </a:p>
        </p:txBody>
      </p:sp>
      <p:sp>
        <p:nvSpPr>
          <p:cNvPr id="7" name="文本框 6"/>
          <p:cNvSpPr txBox="1"/>
          <p:nvPr/>
        </p:nvSpPr>
        <p:spPr>
          <a:xfrm>
            <a:off x="1055370" y="1700530"/>
            <a:ext cx="8179435" cy="460375"/>
          </a:xfrm>
          <a:prstGeom prst="rect">
            <a:avLst/>
          </a:prstGeom>
          <a:noFill/>
        </p:spPr>
        <p:txBody>
          <a:bodyPr wrap="square" rtlCol="0">
            <a:spAutoFit/>
          </a:bodyPr>
          <a:lstStyle/>
          <a:p>
            <a:pPr indent="457200"/>
            <a:r>
              <a:rPr lang="en-US" altLang="zh-CN" sz="2400">
                <a:solidFill>
                  <a:schemeClr val="tx1"/>
                </a:solidFill>
                <a:effectLst>
                  <a:outerShdw blurRad="38100" dist="25400" dir="5400000" algn="ctr" rotWithShape="0">
                    <a:srgbClr val="6E747A">
                      <a:alpha val="43000"/>
                    </a:srgbClr>
                  </a:outerShdw>
                </a:effectLst>
                <a:latin typeface="宋体" panose="02010600030101010101" pitchFamily="2" charset="-122"/>
              </a:rPr>
              <a:t>pytorchvideo</a:t>
            </a:r>
          </a:p>
        </p:txBody>
      </p:sp>
      <p:sp>
        <p:nvSpPr>
          <p:cNvPr id="6" name="文本框 5"/>
          <p:cNvSpPr txBox="1"/>
          <p:nvPr/>
        </p:nvSpPr>
        <p:spPr>
          <a:xfrm>
            <a:off x="1487805" y="2277110"/>
            <a:ext cx="9228455" cy="922020"/>
          </a:xfrm>
          <a:prstGeom prst="rect">
            <a:avLst/>
          </a:prstGeom>
          <a:noFill/>
        </p:spPr>
        <p:txBody>
          <a:bodyPr wrap="square" rtlCol="0">
            <a:spAutoFit/>
          </a:bodyPr>
          <a:lstStyle/>
          <a:p>
            <a:r>
              <a:rPr lang="zh-CN" altLang="en-US"/>
              <a:t>除此之外，还有部署优化等问题，为了解决这些问题，</a:t>
            </a:r>
            <a:r>
              <a:rPr lang="en-US" altLang="zh-CN"/>
              <a:t>Meta</a:t>
            </a:r>
            <a:r>
              <a:rPr lang="zh-CN" altLang="en-US"/>
              <a:t>推出了</a:t>
            </a:r>
            <a:r>
              <a:rPr lang="en-US" altLang="zh-CN">
                <a:ln/>
                <a:solidFill>
                  <a:schemeClr val="accent1"/>
                </a:solidFill>
                <a:effectLst>
                  <a:outerShdw blurRad="38100" dist="25400" dir="5400000" algn="ctr" rotWithShape="0">
                    <a:srgbClr val="6E747A">
                      <a:alpha val="43000"/>
                    </a:srgbClr>
                  </a:outerShdw>
                </a:effectLst>
              </a:rPr>
              <a:t>PyTorchVideo</a:t>
            </a:r>
            <a:r>
              <a:rPr lang="zh-CN" altLang="en-US"/>
              <a:t>深度学习库，</a:t>
            </a:r>
            <a:r>
              <a:rPr lang="en-US" altLang="zh-CN"/>
              <a:t>PyTorchVideo </a:t>
            </a:r>
            <a:r>
              <a:rPr lang="zh-CN" altLang="en-US"/>
              <a:t>是一个专注于视频理解工作的深度学习库。</a:t>
            </a:r>
            <a:r>
              <a:rPr lang="en-US" altLang="zh-CN"/>
              <a:t>PytorchVideo </a:t>
            </a:r>
            <a:r>
              <a:rPr lang="zh-CN" altLang="en-US"/>
              <a:t>提供了加速视频理解研究所需的可重用、模块化和高效的组件。</a:t>
            </a:r>
          </a:p>
        </p:txBody>
      </p:sp>
      <p:pic>
        <p:nvPicPr>
          <p:cNvPr id="9" name="图片 8"/>
          <p:cNvPicPr>
            <a:picLocks noChangeAspect="1"/>
          </p:cNvPicPr>
          <p:nvPr/>
        </p:nvPicPr>
        <p:blipFill>
          <a:blip r:embed="rId3"/>
          <a:stretch>
            <a:fillRect/>
          </a:stretch>
        </p:blipFill>
        <p:spPr>
          <a:xfrm>
            <a:off x="1847850" y="3587750"/>
            <a:ext cx="7800975" cy="178943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Pytorch</a:t>
            </a:r>
            <a:r>
              <a:rPr lang="zh-CN" altLang="en-US" sz="3200" dirty="0"/>
              <a:t>生态简介</a:t>
            </a:r>
          </a:p>
        </p:txBody>
      </p:sp>
      <p:sp>
        <p:nvSpPr>
          <p:cNvPr id="10" name="文本框 9"/>
          <p:cNvSpPr txBox="1"/>
          <p:nvPr/>
        </p:nvSpPr>
        <p:spPr>
          <a:xfrm>
            <a:off x="4799965" y="4077335"/>
            <a:ext cx="6096000" cy="1597025"/>
          </a:xfrm>
          <a:prstGeom prst="rect">
            <a:avLst/>
          </a:prstGeom>
          <a:noFill/>
        </p:spPr>
        <p:txBody>
          <a:bodyPr wrap="square" rtlCol="0" anchor="t">
            <a:noAutofit/>
          </a:bodyPr>
          <a:lstStyle/>
          <a:p>
            <a:endParaRPr lang="zh-CN" altLang="en-US"/>
          </a:p>
        </p:txBody>
      </p:sp>
      <p:sp>
        <p:nvSpPr>
          <p:cNvPr id="7" name="文本框 6"/>
          <p:cNvSpPr txBox="1"/>
          <p:nvPr/>
        </p:nvSpPr>
        <p:spPr>
          <a:xfrm>
            <a:off x="1055370" y="1700530"/>
            <a:ext cx="8179435" cy="460375"/>
          </a:xfrm>
          <a:prstGeom prst="rect">
            <a:avLst/>
          </a:prstGeom>
          <a:noFill/>
        </p:spPr>
        <p:txBody>
          <a:bodyPr wrap="square" rtlCol="0">
            <a:spAutoFit/>
          </a:bodyPr>
          <a:lstStyle/>
          <a:p>
            <a:pPr indent="457200"/>
            <a:r>
              <a:rPr lang="en-US" altLang="zh-CN" sz="2400">
                <a:solidFill>
                  <a:schemeClr val="tx1"/>
                </a:solidFill>
                <a:effectLst>
                  <a:outerShdw blurRad="38100" dist="25400" dir="5400000" algn="ctr" rotWithShape="0">
                    <a:srgbClr val="6E747A">
                      <a:alpha val="43000"/>
                    </a:srgbClr>
                  </a:outerShdw>
                </a:effectLst>
                <a:latin typeface="宋体" panose="02010600030101010101" pitchFamily="2" charset="-122"/>
              </a:rPr>
              <a:t>pytorchvideo</a:t>
            </a:r>
          </a:p>
        </p:txBody>
      </p:sp>
      <p:sp>
        <p:nvSpPr>
          <p:cNvPr id="6" name="文本框 5"/>
          <p:cNvSpPr txBox="1"/>
          <p:nvPr/>
        </p:nvSpPr>
        <p:spPr>
          <a:xfrm>
            <a:off x="1487805" y="2204720"/>
            <a:ext cx="9228455" cy="922020"/>
          </a:xfrm>
          <a:prstGeom prst="rect">
            <a:avLst/>
          </a:prstGeom>
          <a:noFill/>
        </p:spPr>
        <p:txBody>
          <a:bodyPr wrap="square" rtlCol="0">
            <a:spAutoFit/>
          </a:bodyPr>
          <a:lstStyle/>
          <a:p>
            <a:r>
              <a:rPr lang="en-US" altLang="zh-CN"/>
              <a:t>PytorchVideo </a:t>
            </a:r>
            <a:r>
              <a:rPr lang="zh-CN" altLang="en-US"/>
              <a:t>提供了加速视频理解研究所需的</a:t>
            </a:r>
            <a:r>
              <a:rPr lang="zh-CN" altLang="en-US">
                <a:ln/>
                <a:solidFill>
                  <a:schemeClr val="accent1"/>
                </a:solidFill>
                <a:effectLst>
                  <a:outerShdw blurRad="38100" dist="25400" dir="5400000" algn="ctr" rotWithShape="0">
                    <a:srgbClr val="6E747A">
                      <a:alpha val="43000"/>
                    </a:srgbClr>
                  </a:outerShdw>
                </a:effectLst>
              </a:rPr>
              <a:t>模块化</a:t>
            </a:r>
            <a:r>
              <a:rPr lang="zh-CN" altLang="en-US"/>
              <a:t>和高效的</a:t>
            </a:r>
            <a:r>
              <a:rPr lang="en-US" altLang="zh-CN"/>
              <a:t>API</a:t>
            </a:r>
            <a:r>
              <a:rPr lang="zh-CN" altLang="en-US"/>
              <a:t>。它还支持不同的深度学习视频组件，如视频模型、视频数据集和视频特定转换，最重要的是，</a:t>
            </a:r>
            <a:r>
              <a:rPr lang="en-US" altLang="zh-CN"/>
              <a:t>PytorchVideo</a:t>
            </a:r>
            <a:r>
              <a:rPr lang="zh-CN" altLang="en-US"/>
              <a:t>也提供了</a:t>
            </a:r>
            <a:r>
              <a:rPr lang="en-US" altLang="zh-CN">
                <a:ln/>
                <a:solidFill>
                  <a:schemeClr val="accent1"/>
                </a:solidFill>
                <a:effectLst>
                  <a:outerShdw blurRad="38100" dist="25400" dir="5400000" algn="ctr" rotWithShape="0">
                    <a:srgbClr val="6E747A">
                      <a:alpha val="43000"/>
                    </a:srgbClr>
                  </a:outerShdw>
                </a:effectLst>
              </a:rPr>
              <a:t>model zoo</a:t>
            </a:r>
            <a:r>
              <a:rPr lang="zh-CN" altLang="en-US"/>
              <a:t>，使得人们可以使用各种先进的预训练视频模型及其评判基准。</a:t>
            </a:r>
          </a:p>
        </p:txBody>
      </p:sp>
      <p:sp>
        <p:nvSpPr>
          <p:cNvPr id="14" name="文本框 13"/>
          <p:cNvSpPr txBox="1"/>
          <p:nvPr/>
        </p:nvSpPr>
        <p:spPr>
          <a:xfrm>
            <a:off x="1775460" y="3213100"/>
            <a:ext cx="9561830" cy="11692890"/>
          </a:xfrm>
          <a:prstGeom prst="rect">
            <a:avLst/>
          </a:prstGeom>
          <a:noFill/>
        </p:spPr>
        <p:txBody>
          <a:bodyPr wrap="square" rtlCol="0">
            <a:noAutofit/>
          </a:bodyPr>
          <a:lstStyle/>
          <a:p>
            <a:r>
              <a:rPr lang="en-US" altLang="zh-CN">
                <a:sym typeface="+mn-ea"/>
              </a:rPr>
              <a:t>•</a:t>
            </a:r>
            <a:r>
              <a:rPr lang="zh-CN" altLang="en-US"/>
              <a:t>基于</a:t>
            </a:r>
            <a:r>
              <a:rPr lang="en-US" altLang="zh-CN"/>
              <a:t> PyTorch</a:t>
            </a:r>
            <a:r>
              <a:rPr lang="zh-CN" altLang="en-US"/>
              <a:t>：使用</a:t>
            </a:r>
            <a:r>
              <a:rPr lang="en-US" altLang="zh-CN"/>
              <a:t> PyTorch </a:t>
            </a:r>
            <a:r>
              <a:rPr lang="zh-CN" altLang="en-US"/>
              <a:t>构建。</a:t>
            </a:r>
            <a:endParaRPr lang="en-US" altLang="zh-CN"/>
          </a:p>
          <a:p>
            <a:r>
              <a:rPr lang="en-US" altLang="zh-CN">
                <a:sym typeface="+mn-ea"/>
              </a:rPr>
              <a:t>•</a:t>
            </a:r>
            <a:r>
              <a:rPr lang="en-US" altLang="zh-CN"/>
              <a:t>Model Zoo</a:t>
            </a:r>
            <a:r>
              <a:rPr lang="zh-CN" altLang="en-US"/>
              <a:t>：</a:t>
            </a:r>
            <a:r>
              <a:rPr lang="en-US" altLang="zh-CN"/>
              <a:t>PyTorchVideo</a:t>
            </a:r>
            <a:r>
              <a:rPr lang="zh-CN" altLang="en-US"/>
              <a:t>提供了包含</a:t>
            </a:r>
            <a:r>
              <a:rPr lang="en-US" altLang="zh-CN"/>
              <a:t>I3D</a:t>
            </a:r>
            <a:r>
              <a:rPr lang="zh-CN" altLang="en-US"/>
              <a:t>、</a:t>
            </a:r>
            <a:r>
              <a:rPr lang="en-US" altLang="zh-CN"/>
              <a:t>R(2+1)D</a:t>
            </a:r>
            <a:r>
              <a:rPr lang="zh-CN" altLang="en-US"/>
              <a:t>、</a:t>
            </a:r>
            <a:r>
              <a:rPr lang="en-US" altLang="zh-CN"/>
              <a:t>SlowFast</a:t>
            </a:r>
            <a:r>
              <a:rPr lang="zh-CN" altLang="en-US"/>
              <a:t>、</a:t>
            </a:r>
            <a:r>
              <a:rPr lang="en-US" altLang="zh-CN"/>
              <a:t>X3D</a:t>
            </a:r>
            <a:r>
              <a:rPr lang="zh-CN" altLang="en-US"/>
              <a:t>、</a:t>
            </a:r>
            <a:r>
              <a:rPr lang="en-US" altLang="zh-CN"/>
              <a:t>MViT</a:t>
            </a:r>
            <a:r>
              <a:rPr lang="zh-CN" altLang="en-US"/>
              <a:t>等</a:t>
            </a:r>
            <a:r>
              <a:rPr lang="en-US" altLang="zh-CN"/>
              <a:t>SOTA</a:t>
            </a:r>
            <a:r>
              <a:rPr lang="zh-CN" altLang="en-US"/>
              <a:t>模型的高质量</a:t>
            </a:r>
            <a:r>
              <a:rPr lang="en-US" altLang="zh-CN"/>
              <a:t>model zoo</a:t>
            </a:r>
          </a:p>
          <a:p>
            <a:r>
              <a:rPr lang="en-US" altLang="zh-CN">
                <a:sym typeface="+mn-ea"/>
              </a:rPr>
              <a:t>•</a:t>
            </a:r>
            <a:r>
              <a:rPr lang="zh-CN" altLang="en-US"/>
              <a:t>数据预处理和常见数据，</a:t>
            </a:r>
            <a:r>
              <a:rPr lang="en-US" altLang="zh-CN"/>
              <a:t>PyTorchVideo</a:t>
            </a:r>
            <a:r>
              <a:rPr lang="zh-CN" altLang="en-US"/>
              <a:t>支持主流数据集和相应的数据预处理，</a:t>
            </a:r>
          </a:p>
          <a:p>
            <a:r>
              <a:rPr lang="en-US" altLang="zh-CN">
                <a:sym typeface="+mn-ea"/>
              </a:rPr>
              <a:t>•</a:t>
            </a:r>
            <a:r>
              <a:rPr lang="zh-CN" altLang="en-US"/>
              <a:t>模块化设计：</a:t>
            </a:r>
            <a:r>
              <a:rPr lang="en-US" altLang="zh-CN"/>
              <a:t>PyTorchVideo</a:t>
            </a:r>
            <a:r>
              <a:rPr lang="zh-CN" altLang="en-US"/>
              <a:t>的设计类似于</a:t>
            </a:r>
            <a:r>
              <a:rPr lang="en-US" altLang="zh-CN"/>
              <a:t>torchvision</a:t>
            </a:r>
            <a:r>
              <a:rPr lang="zh-CN" altLang="en-US"/>
              <a:t>，也是提供许多模块方便用户调用修改，</a:t>
            </a:r>
          </a:p>
          <a:p>
            <a:r>
              <a:rPr lang="en-US" altLang="zh-CN">
                <a:sym typeface="+mn-ea"/>
              </a:rPr>
              <a:t>•</a:t>
            </a:r>
            <a:r>
              <a:rPr lang="zh-CN" altLang="en-US"/>
              <a:t>支持多模态：</a:t>
            </a:r>
            <a:r>
              <a:rPr lang="en-US" altLang="zh-CN"/>
              <a:t>PyTorchVideo</a:t>
            </a:r>
            <a:r>
              <a:rPr lang="zh-CN" altLang="en-US"/>
              <a:t>现在对多模态的支持包括了</a:t>
            </a:r>
            <a:r>
              <a:rPr lang="en-US" altLang="zh-CN"/>
              <a:t>visual</a:t>
            </a:r>
            <a:r>
              <a:rPr lang="zh-CN" altLang="en-US"/>
              <a:t>和</a:t>
            </a:r>
            <a:r>
              <a:rPr lang="en-US" altLang="zh-CN"/>
              <a:t>audio</a:t>
            </a:r>
            <a:r>
              <a:rPr lang="zh-CN" altLang="en-US"/>
              <a:t>，未来会支持更多模态。</a:t>
            </a:r>
          </a:p>
          <a:p>
            <a:r>
              <a:rPr lang="en-US" altLang="zh-CN">
                <a:sym typeface="+mn-ea"/>
              </a:rPr>
              <a:t>•</a:t>
            </a:r>
            <a:r>
              <a:rPr lang="zh-CN" altLang="en-US"/>
              <a:t>移动端部署优化：</a:t>
            </a:r>
            <a:r>
              <a:rPr lang="en-US" altLang="zh-CN"/>
              <a:t>PyTorchVideo</a:t>
            </a:r>
            <a:r>
              <a:rPr lang="zh-CN" altLang="en-US"/>
              <a:t>支持针对移动端模型的部署优化（使用前述的</a:t>
            </a:r>
            <a:r>
              <a:rPr lang="en-US" altLang="zh-CN"/>
              <a:t>PyTorchVideo/accelerator</a:t>
            </a:r>
            <a:r>
              <a:rPr lang="zh-CN" altLang="en-US"/>
              <a:t>模块），</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Pytorch</a:t>
            </a:r>
            <a:r>
              <a:rPr lang="zh-CN" altLang="en-US" sz="3200" dirty="0"/>
              <a:t>生态简介</a:t>
            </a:r>
          </a:p>
        </p:txBody>
      </p:sp>
      <p:sp>
        <p:nvSpPr>
          <p:cNvPr id="10" name="文本框 9"/>
          <p:cNvSpPr txBox="1"/>
          <p:nvPr/>
        </p:nvSpPr>
        <p:spPr>
          <a:xfrm>
            <a:off x="4727575" y="2708910"/>
            <a:ext cx="6096000" cy="1597025"/>
          </a:xfrm>
          <a:prstGeom prst="rect">
            <a:avLst/>
          </a:prstGeom>
          <a:noFill/>
        </p:spPr>
        <p:txBody>
          <a:bodyPr wrap="square" rtlCol="0" anchor="t">
            <a:noAutofit/>
          </a:bodyPr>
          <a:lstStyle/>
          <a:p>
            <a:endParaRPr lang="zh-CN" altLang="en-US"/>
          </a:p>
        </p:txBody>
      </p:sp>
      <p:sp>
        <p:nvSpPr>
          <p:cNvPr id="7" name="文本框 6"/>
          <p:cNvSpPr txBox="1"/>
          <p:nvPr/>
        </p:nvSpPr>
        <p:spPr>
          <a:xfrm>
            <a:off x="767715" y="1744345"/>
            <a:ext cx="8179435" cy="460375"/>
          </a:xfrm>
          <a:prstGeom prst="rect">
            <a:avLst/>
          </a:prstGeom>
          <a:noFill/>
        </p:spPr>
        <p:txBody>
          <a:bodyPr wrap="square" rtlCol="0">
            <a:spAutoFit/>
          </a:bodyPr>
          <a:lstStyle/>
          <a:p>
            <a:pPr indent="457200"/>
            <a:r>
              <a:rPr lang="en-US" altLang="zh-CN" sz="2400">
                <a:solidFill>
                  <a:schemeClr val="tx1"/>
                </a:solidFill>
                <a:effectLst>
                  <a:outerShdw blurRad="38100" dist="25400" dir="5400000" algn="ctr" rotWithShape="0">
                    <a:srgbClr val="6E747A">
                      <a:alpha val="43000"/>
                    </a:srgbClr>
                  </a:outerShdw>
                </a:effectLst>
                <a:latin typeface="宋体" panose="02010600030101010101" pitchFamily="2" charset="-122"/>
              </a:rPr>
              <a:t>torchtext</a:t>
            </a:r>
          </a:p>
        </p:txBody>
      </p:sp>
      <p:sp>
        <p:nvSpPr>
          <p:cNvPr id="6" name="文本框 5"/>
          <p:cNvSpPr txBox="1"/>
          <p:nvPr/>
        </p:nvSpPr>
        <p:spPr>
          <a:xfrm>
            <a:off x="1415415" y="2204720"/>
            <a:ext cx="8176260" cy="1198880"/>
          </a:xfrm>
          <a:prstGeom prst="rect">
            <a:avLst/>
          </a:prstGeom>
          <a:noFill/>
        </p:spPr>
        <p:txBody>
          <a:bodyPr wrap="square" rtlCol="0">
            <a:spAutoFit/>
          </a:bodyPr>
          <a:lstStyle/>
          <a:p>
            <a:r>
              <a:rPr lang="en-US" altLang="zh-CN"/>
              <a:t>torchtext</a:t>
            </a:r>
            <a:r>
              <a:rPr lang="zh-CN" altLang="en-US"/>
              <a:t>是</a:t>
            </a:r>
            <a:r>
              <a:rPr lang="en-US" altLang="zh-CN"/>
              <a:t>PyTorch</a:t>
            </a:r>
            <a:r>
              <a:rPr lang="zh-CN" altLang="en-US"/>
              <a:t>官方用于自然语言处理（</a:t>
            </a:r>
            <a:r>
              <a:rPr lang="en-US" altLang="zh-CN"/>
              <a:t>NLP</a:t>
            </a:r>
            <a:r>
              <a:rPr lang="zh-CN" altLang="en-US"/>
              <a:t>）的工具包，自然语言处理也是深度学习的一大应用场景，近年来随着</a:t>
            </a:r>
            <a:r>
              <a:rPr lang="zh-CN" altLang="en-US">
                <a:ln/>
                <a:solidFill>
                  <a:schemeClr val="accent1"/>
                </a:solidFill>
                <a:effectLst>
                  <a:outerShdw blurRad="38100" dist="25400" dir="5400000" algn="ctr" rotWithShape="0">
                    <a:srgbClr val="6E747A">
                      <a:alpha val="43000"/>
                    </a:srgbClr>
                  </a:outerShdw>
                </a:effectLst>
              </a:rPr>
              <a:t>大规模预训练模型</a:t>
            </a:r>
            <a:r>
              <a:rPr lang="zh-CN" altLang="en-US"/>
              <a:t>的应用，使得</a:t>
            </a:r>
            <a:r>
              <a:rPr lang="en-US" altLang="zh-CN"/>
              <a:t>NLP</a:t>
            </a:r>
            <a:r>
              <a:rPr lang="zh-CN" altLang="en-US"/>
              <a:t>相关的深度学习模型获得了越来越多的关注，由于</a:t>
            </a:r>
            <a:r>
              <a:rPr lang="en-US" altLang="zh-CN"/>
              <a:t>NLP</a:t>
            </a:r>
            <a:r>
              <a:rPr lang="zh-CN" altLang="en-US"/>
              <a:t>和</a:t>
            </a:r>
            <a:r>
              <a:rPr lang="en-US" altLang="zh-CN"/>
              <a:t>CV</a:t>
            </a:r>
            <a:r>
              <a:rPr lang="zh-CN" altLang="en-US"/>
              <a:t>在数据预处理中的不同，因此</a:t>
            </a:r>
            <a:r>
              <a:rPr lang="en-US" altLang="zh-CN"/>
              <a:t>NLP</a:t>
            </a:r>
            <a:r>
              <a:rPr lang="zh-CN" altLang="en-US"/>
              <a:t>的工具包</a:t>
            </a:r>
            <a:r>
              <a:rPr lang="en-US" altLang="zh-CN"/>
              <a:t>torchtext</a:t>
            </a:r>
            <a:r>
              <a:rPr lang="zh-CN" altLang="en-US"/>
              <a:t>和</a:t>
            </a:r>
            <a:r>
              <a:rPr lang="en-US" altLang="zh-CN"/>
              <a:t>torchvision</a:t>
            </a:r>
            <a:r>
              <a:rPr lang="zh-CN" altLang="en-US"/>
              <a:t>等</a:t>
            </a:r>
            <a:r>
              <a:rPr lang="en-US" altLang="zh-CN"/>
              <a:t>CV</a:t>
            </a:r>
            <a:r>
              <a:rPr lang="zh-CN" altLang="en-US">
                <a:ln/>
                <a:solidFill>
                  <a:schemeClr val="accent1"/>
                </a:solidFill>
                <a:effectLst>
                  <a:outerShdw blurRad="38100" dist="25400" dir="5400000" algn="ctr" rotWithShape="0">
                    <a:srgbClr val="6E747A">
                      <a:alpha val="43000"/>
                    </a:srgbClr>
                  </a:outerShdw>
                </a:effectLst>
              </a:rPr>
              <a:t>相关工具包</a:t>
            </a:r>
            <a:r>
              <a:rPr lang="zh-CN" altLang="en-US"/>
              <a:t>也有一些</a:t>
            </a:r>
            <a:r>
              <a:rPr lang="zh-CN" altLang="en-US">
                <a:ln/>
                <a:solidFill>
                  <a:schemeClr val="accent1"/>
                </a:solidFill>
                <a:effectLst>
                  <a:outerShdw blurRad="38100" dist="25400" dir="5400000" algn="ctr" rotWithShape="0">
                    <a:srgbClr val="6E747A">
                      <a:alpha val="43000"/>
                    </a:srgbClr>
                  </a:outerShdw>
                </a:effectLst>
              </a:rPr>
              <a:t>功能上的差异</a:t>
            </a:r>
            <a:r>
              <a:rPr lang="zh-CN" altLang="en-US"/>
              <a:t>：</a:t>
            </a:r>
          </a:p>
        </p:txBody>
      </p:sp>
      <p:sp>
        <p:nvSpPr>
          <p:cNvPr id="8" name="文本框 7"/>
          <p:cNvSpPr txBox="1"/>
          <p:nvPr/>
        </p:nvSpPr>
        <p:spPr>
          <a:xfrm>
            <a:off x="1703705" y="3644900"/>
            <a:ext cx="4064000" cy="1476375"/>
          </a:xfrm>
          <a:prstGeom prst="rect">
            <a:avLst/>
          </a:prstGeom>
          <a:noFill/>
        </p:spPr>
        <p:txBody>
          <a:bodyPr wrap="square" rtlCol="0">
            <a:spAutoFit/>
          </a:bodyPr>
          <a:lstStyle/>
          <a:p>
            <a:r>
              <a:rPr lang="en-US" altLang="zh-CN">
                <a:sym typeface="+mn-ea"/>
              </a:rPr>
              <a:t>•</a:t>
            </a:r>
            <a:r>
              <a:rPr lang="zh-CN" altLang="en-US"/>
              <a:t>数据集（</a:t>
            </a:r>
            <a:r>
              <a:rPr lang="en-US" altLang="zh-CN"/>
              <a:t>dataset</a:t>
            </a:r>
            <a:r>
              <a:rPr lang="zh-CN" altLang="en-US"/>
              <a:t>）定义方式不同</a:t>
            </a:r>
          </a:p>
          <a:p>
            <a:endParaRPr lang="en-US" altLang="zh-CN"/>
          </a:p>
          <a:p>
            <a:r>
              <a:rPr lang="en-US" altLang="zh-CN">
                <a:sym typeface="+mn-ea"/>
              </a:rPr>
              <a:t>•</a:t>
            </a:r>
            <a:r>
              <a:rPr lang="zh-CN" altLang="en-US"/>
              <a:t>数据预处理工具</a:t>
            </a:r>
          </a:p>
          <a:p>
            <a:endParaRPr lang="en-US" altLang="zh-CN"/>
          </a:p>
          <a:p>
            <a:r>
              <a:rPr lang="en-US" altLang="zh-CN">
                <a:sym typeface="+mn-ea"/>
              </a:rPr>
              <a:t>•</a:t>
            </a:r>
            <a:r>
              <a:rPr lang="zh-CN" altLang="en-US"/>
              <a:t>没有琳琅满目的</a:t>
            </a:r>
            <a:r>
              <a:rPr lang="en-US" altLang="zh-CN"/>
              <a:t>model zoo</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Pytorch</a:t>
            </a:r>
            <a:r>
              <a:rPr lang="zh-CN" altLang="en-US" sz="3200" dirty="0"/>
              <a:t>生态简介</a:t>
            </a:r>
          </a:p>
        </p:txBody>
      </p:sp>
      <p:sp>
        <p:nvSpPr>
          <p:cNvPr id="10" name="文本框 9"/>
          <p:cNvSpPr txBox="1"/>
          <p:nvPr/>
        </p:nvSpPr>
        <p:spPr>
          <a:xfrm>
            <a:off x="4727575" y="2708910"/>
            <a:ext cx="6096000" cy="1597025"/>
          </a:xfrm>
          <a:prstGeom prst="rect">
            <a:avLst/>
          </a:prstGeom>
          <a:noFill/>
        </p:spPr>
        <p:txBody>
          <a:bodyPr wrap="square" rtlCol="0" anchor="t">
            <a:noAutofit/>
          </a:bodyPr>
          <a:lstStyle/>
          <a:p>
            <a:endParaRPr lang="zh-CN" altLang="en-US"/>
          </a:p>
        </p:txBody>
      </p:sp>
      <p:sp>
        <p:nvSpPr>
          <p:cNvPr id="7" name="文本框 6"/>
          <p:cNvSpPr txBox="1"/>
          <p:nvPr/>
        </p:nvSpPr>
        <p:spPr>
          <a:xfrm>
            <a:off x="767715" y="1744345"/>
            <a:ext cx="8179435" cy="460375"/>
          </a:xfrm>
          <a:prstGeom prst="rect">
            <a:avLst/>
          </a:prstGeom>
          <a:noFill/>
        </p:spPr>
        <p:txBody>
          <a:bodyPr wrap="square" rtlCol="0">
            <a:spAutoFit/>
          </a:bodyPr>
          <a:lstStyle/>
          <a:p>
            <a:pPr indent="457200"/>
            <a:r>
              <a:rPr lang="en-US" altLang="zh-CN" sz="2400">
                <a:solidFill>
                  <a:schemeClr val="tx1"/>
                </a:solidFill>
                <a:effectLst>
                  <a:outerShdw blurRad="38100" dist="25400" dir="5400000" algn="ctr" rotWithShape="0">
                    <a:srgbClr val="6E747A">
                      <a:alpha val="43000"/>
                    </a:srgbClr>
                  </a:outerShdw>
                </a:effectLst>
                <a:latin typeface="宋体" panose="02010600030101010101" pitchFamily="2" charset="-122"/>
              </a:rPr>
              <a:t>torchtext</a:t>
            </a:r>
          </a:p>
        </p:txBody>
      </p:sp>
      <p:sp>
        <p:nvSpPr>
          <p:cNvPr id="6" name="文本框 5"/>
          <p:cNvSpPr txBox="1"/>
          <p:nvPr/>
        </p:nvSpPr>
        <p:spPr>
          <a:xfrm>
            <a:off x="1415415" y="2204720"/>
            <a:ext cx="8176260" cy="645160"/>
          </a:xfrm>
          <a:prstGeom prst="rect">
            <a:avLst/>
          </a:prstGeom>
          <a:noFill/>
        </p:spPr>
        <p:txBody>
          <a:bodyPr wrap="square" rtlCol="0">
            <a:spAutoFit/>
          </a:bodyPr>
          <a:lstStyle/>
          <a:p>
            <a:r>
              <a:rPr lang="en-US" altLang="zh-CN"/>
              <a:t>torchtext</a:t>
            </a:r>
            <a:r>
              <a:rPr lang="zh-CN" altLang="en-US"/>
              <a:t>可以方便的对文本进行预处理，例如</a:t>
            </a:r>
            <a:r>
              <a:rPr lang="zh-CN" altLang="en-US">
                <a:ln/>
                <a:solidFill>
                  <a:schemeClr val="accent1"/>
                </a:solidFill>
                <a:effectLst>
                  <a:outerShdw blurRad="38100" dist="25400" dir="5400000" algn="ctr" rotWithShape="0">
                    <a:srgbClr val="6E747A">
                      <a:alpha val="43000"/>
                    </a:srgbClr>
                  </a:outerShdw>
                </a:effectLst>
              </a:rPr>
              <a:t>截断补长</a:t>
            </a:r>
            <a:r>
              <a:rPr lang="zh-CN" altLang="en-US"/>
              <a:t>、</a:t>
            </a:r>
            <a:r>
              <a:rPr lang="zh-CN" altLang="en-US">
                <a:ln/>
                <a:solidFill>
                  <a:schemeClr val="accent1"/>
                </a:solidFill>
                <a:effectLst>
                  <a:outerShdw blurRad="38100" dist="25400" dir="5400000" algn="ctr" rotWithShape="0">
                    <a:srgbClr val="6E747A">
                      <a:alpha val="43000"/>
                    </a:srgbClr>
                  </a:outerShdw>
                </a:effectLst>
              </a:rPr>
              <a:t>构建词表</a:t>
            </a:r>
            <a:r>
              <a:rPr lang="zh-CN" altLang="en-US"/>
              <a:t>等。</a:t>
            </a:r>
            <a:r>
              <a:rPr lang="en-US" altLang="zh-CN"/>
              <a:t>torchtext</a:t>
            </a:r>
            <a:r>
              <a:rPr lang="zh-CN" altLang="en-US"/>
              <a:t>主要包含了以下的主要组成部分：</a:t>
            </a:r>
          </a:p>
        </p:txBody>
      </p:sp>
      <p:sp>
        <p:nvSpPr>
          <p:cNvPr id="8" name="文本框 7"/>
          <p:cNvSpPr txBox="1"/>
          <p:nvPr/>
        </p:nvSpPr>
        <p:spPr>
          <a:xfrm>
            <a:off x="1631315" y="3140710"/>
            <a:ext cx="7150735" cy="2030095"/>
          </a:xfrm>
          <a:prstGeom prst="rect">
            <a:avLst/>
          </a:prstGeom>
          <a:noFill/>
        </p:spPr>
        <p:txBody>
          <a:bodyPr wrap="square" rtlCol="0">
            <a:spAutoFit/>
          </a:bodyPr>
          <a:lstStyle/>
          <a:p>
            <a:r>
              <a:rPr lang="en-US" altLang="zh-CN">
                <a:sym typeface="+mn-ea"/>
              </a:rPr>
              <a:t>•</a:t>
            </a:r>
            <a:r>
              <a:rPr lang="zh-CN" altLang="en-US"/>
              <a:t>数据处理工具</a:t>
            </a:r>
            <a:r>
              <a:rPr lang="en-US" altLang="zh-CN"/>
              <a:t> torchtext.data.functional</a:t>
            </a:r>
            <a:r>
              <a:rPr lang="zh-CN" altLang="en-US"/>
              <a:t>、</a:t>
            </a:r>
            <a:r>
              <a:rPr lang="en-US" altLang="zh-CN"/>
              <a:t>torchtext.data.utils</a:t>
            </a:r>
          </a:p>
          <a:p>
            <a:endParaRPr lang="en-US" altLang="zh-CN"/>
          </a:p>
          <a:p>
            <a:r>
              <a:rPr lang="en-US" altLang="zh-CN">
                <a:sym typeface="+mn-ea"/>
              </a:rPr>
              <a:t>•</a:t>
            </a:r>
            <a:r>
              <a:rPr lang="zh-CN" altLang="en-US"/>
              <a:t>数据集</a:t>
            </a:r>
            <a:r>
              <a:rPr lang="en-US" altLang="zh-CN"/>
              <a:t> torchtext.data.datasets</a:t>
            </a:r>
          </a:p>
          <a:p>
            <a:endParaRPr lang="en-US" altLang="zh-CN"/>
          </a:p>
          <a:p>
            <a:r>
              <a:rPr lang="en-US" altLang="zh-CN">
                <a:sym typeface="+mn-ea"/>
              </a:rPr>
              <a:t>•</a:t>
            </a:r>
            <a:r>
              <a:rPr lang="zh-CN" altLang="en-US"/>
              <a:t>词表工具</a:t>
            </a:r>
            <a:r>
              <a:rPr lang="en-US" altLang="zh-CN"/>
              <a:t> torchtext.vocab</a:t>
            </a:r>
          </a:p>
          <a:p>
            <a:endParaRPr lang="en-US" altLang="zh-CN"/>
          </a:p>
          <a:p>
            <a:r>
              <a:rPr lang="en-US" altLang="zh-CN">
                <a:sym typeface="+mn-ea"/>
              </a:rPr>
              <a:t>•</a:t>
            </a:r>
            <a:r>
              <a:rPr lang="zh-CN" altLang="en-US"/>
              <a:t>评测指标</a:t>
            </a:r>
            <a:r>
              <a:rPr lang="en-US" altLang="zh-CN"/>
              <a:t> torchtext.metrics</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Pytorch</a:t>
            </a:r>
            <a:r>
              <a:rPr lang="zh-CN" altLang="en-US" sz="3200" dirty="0"/>
              <a:t>生态简介</a:t>
            </a:r>
          </a:p>
        </p:txBody>
      </p:sp>
      <p:sp>
        <p:nvSpPr>
          <p:cNvPr id="10" name="文本框 9"/>
          <p:cNvSpPr txBox="1"/>
          <p:nvPr/>
        </p:nvSpPr>
        <p:spPr>
          <a:xfrm>
            <a:off x="4727575" y="2708910"/>
            <a:ext cx="6096000" cy="1597025"/>
          </a:xfrm>
          <a:prstGeom prst="rect">
            <a:avLst/>
          </a:prstGeom>
          <a:noFill/>
        </p:spPr>
        <p:txBody>
          <a:bodyPr wrap="square" rtlCol="0" anchor="t">
            <a:noAutofit/>
          </a:bodyPr>
          <a:lstStyle/>
          <a:p>
            <a:endParaRPr lang="zh-CN" altLang="en-US"/>
          </a:p>
        </p:txBody>
      </p:sp>
      <p:sp>
        <p:nvSpPr>
          <p:cNvPr id="7" name="文本框 6"/>
          <p:cNvSpPr txBox="1"/>
          <p:nvPr/>
        </p:nvSpPr>
        <p:spPr>
          <a:xfrm>
            <a:off x="767715" y="1744345"/>
            <a:ext cx="8179435" cy="460375"/>
          </a:xfrm>
          <a:prstGeom prst="rect">
            <a:avLst/>
          </a:prstGeom>
          <a:noFill/>
        </p:spPr>
        <p:txBody>
          <a:bodyPr wrap="square" rtlCol="0">
            <a:spAutoFit/>
          </a:bodyPr>
          <a:lstStyle/>
          <a:p>
            <a:pPr indent="457200"/>
            <a:r>
              <a:rPr lang="en-US" altLang="zh-CN" sz="2400">
                <a:solidFill>
                  <a:schemeClr val="tx1"/>
                </a:solidFill>
                <a:effectLst>
                  <a:outerShdw blurRad="38100" dist="25400" dir="5400000" algn="ctr" rotWithShape="0">
                    <a:srgbClr val="6E747A">
                      <a:alpha val="43000"/>
                    </a:srgbClr>
                  </a:outerShdw>
                </a:effectLst>
                <a:latin typeface="宋体" panose="02010600030101010101" pitchFamily="2" charset="-122"/>
              </a:rPr>
              <a:t>torchaudio</a:t>
            </a:r>
          </a:p>
        </p:txBody>
      </p:sp>
      <p:sp>
        <p:nvSpPr>
          <p:cNvPr id="6" name="文本框 5"/>
          <p:cNvSpPr txBox="1"/>
          <p:nvPr/>
        </p:nvSpPr>
        <p:spPr>
          <a:xfrm>
            <a:off x="1415415" y="2204720"/>
            <a:ext cx="8176260" cy="1198880"/>
          </a:xfrm>
          <a:prstGeom prst="rect">
            <a:avLst/>
          </a:prstGeom>
          <a:noFill/>
        </p:spPr>
        <p:txBody>
          <a:bodyPr wrap="square" rtlCol="0">
            <a:spAutoFit/>
          </a:bodyPr>
          <a:lstStyle/>
          <a:p>
            <a:r>
              <a:rPr lang="en-US" altLang="zh-CN"/>
              <a:t>torchaduio</a:t>
            </a:r>
            <a:r>
              <a:rPr lang="zh-CN" altLang="en-US"/>
              <a:t>是介绍</a:t>
            </a:r>
            <a:r>
              <a:rPr lang="en-US" altLang="zh-CN"/>
              <a:t>PyTorch</a:t>
            </a:r>
            <a:r>
              <a:rPr lang="zh-CN" altLang="en-US"/>
              <a:t>官方用于语音处理的工具包，语音的处理也是深度学习的一大应用场景，包括</a:t>
            </a:r>
            <a:r>
              <a:rPr lang="zh-CN" altLang="en-US">
                <a:ln/>
                <a:solidFill>
                  <a:schemeClr val="accent1"/>
                </a:solidFill>
                <a:effectLst>
                  <a:outerShdw blurRad="38100" dist="25400" dir="5400000" algn="ctr" rotWithShape="0">
                    <a:srgbClr val="6E747A">
                      <a:alpha val="43000"/>
                    </a:srgbClr>
                  </a:outerShdw>
                </a:effectLst>
              </a:rPr>
              <a:t>说话人识别</a:t>
            </a:r>
            <a:r>
              <a:rPr lang="en-US" altLang="zh-CN"/>
              <a:t>(Speaker Identification)</a:t>
            </a:r>
            <a:r>
              <a:rPr lang="zh-CN" altLang="en-US"/>
              <a:t>，</a:t>
            </a:r>
            <a:r>
              <a:rPr lang="zh-CN" altLang="en-US">
                <a:ln/>
                <a:solidFill>
                  <a:schemeClr val="accent1"/>
                </a:solidFill>
                <a:effectLst>
                  <a:outerShdw blurRad="38100" dist="25400" dir="5400000" algn="ctr" rotWithShape="0">
                    <a:srgbClr val="6E747A">
                      <a:alpha val="43000"/>
                    </a:srgbClr>
                  </a:outerShdw>
                </a:effectLst>
              </a:rPr>
              <a:t>说话人分离</a:t>
            </a:r>
            <a:r>
              <a:rPr lang="en-US" altLang="zh-CN"/>
              <a:t>(Speaker Diarization)</a:t>
            </a:r>
            <a:r>
              <a:rPr lang="zh-CN" altLang="en-US"/>
              <a:t>，</a:t>
            </a:r>
            <a:r>
              <a:rPr lang="zh-CN" altLang="en-US">
                <a:ln/>
                <a:solidFill>
                  <a:schemeClr val="accent1"/>
                </a:solidFill>
                <a:effectLst>
                  <a:outerShdw blurRad="38100" dist="25400" dir="5400000" algn="ctr" rotWithShape="0">
                    <a:srgbClr val="6E747A">
                      <a:alpha val="43000"/>
                    </a:srgbClr>
                  </a:outerShdw>
                </a:effectLst>
              </a:rPr>
              <a:t>音素识别</a:t>
            </a:r>
            <a:r>
              <a:rPr lang="en-US" altLang="zh-CN"/>
              <a:t>(Phoneme Recognition)</a:t>
            </a:r>
            <a:r>
              <a:rPr lang="zh-CN" altLang="en-US"/>
              <a:t>，</a:t>
            </a:r>
            <a:r>
              <a:rPr lang="zh-CN" altLang="en-US">
                <a:ln/>
                <a:solidFill>
                  <a:schemeClr val="accent1"/>
                </a:solidFill>
                <a:effectLst>
                  <a:outerShdw blurRad="38100" dist="25400" dir="5400000" algn="ctr" rotWithShape="0">
                    <a:srgbClr val="6E747A">
                      <a:alpha val="43000"/>
                    </a:srgbClr>
                  </a:outerShdw>
                </a:effectLst>
              </a:rPr>
              <a:t>语音识别</a:t>
            </a:r>
            <a:r>
              <a:rPr lang="en-US" altLang="zh-CN"/>
              <a:t>(Automatic Speech Recognition)</a:t>
            </a:r>
            <a:r>
              <a:rPr lang="zh-CN" altLang="en-US"/>
              <a:t>，</a:t>
            </a:r>
            <a:r>
              <a:rPr lang="zh-CN" altLang="en-US">
                <a:ln/>
                <a:solidFill>
                  <a:schemeClr val="accent1"/>
                </a:solidFill>
                <a:effectLst>
                  <a:outerShdw blurRad="38100" dist="25400" dir="5400000" algn="ctr" rotWithShape="0">
                    <a:srgbClr val="6E747A">
                      <a:alpha val="43000"/>
                    </a:srgbClr>
                  </a:outerShdw>
                </a:effectLst>
              </a:rPr>
              <a:t>语音分离</a:t>
            </a:r>
            <a:r>
              <a:rPr lang="en-US" altLang="zh-CN"/>
              <a:t>(Speech Separation)</a:t>
            </a:r>
            <a:r>
              <a:rPr lang="zh-CN" altLang="en-US"/>
              <a:t>，</a:t>
            </a:r>
            <a:r>
              <a:rPr lang="zh-CN" altLang="en-US">
                <a:ln/>
                <a:solidFill>
                  <a:schemeClr val="accent1"/>
                </a:solidFill>
                <a:effectLst>
                  <a:outerShdw blurRad="38100" dist="25400" dir="5400000" algn="ctr" rotWithShape="0">
                    <a:srgbClr val="6E747A">
                      <a:alpha val="43000"/>
                    </a:srgbClr>
                  </a:outerShdw>
                </a:effectLst>
              </a:rPr>
              <a:t>文本转语音</a:t>
            </a:r>
            <a:r>
              <a:rPr lang="en-US" altLang="zh-CN"/>
              <a:t>(TTS)</a:t>
            </a:r>
            <a:r>
              <a:rPr lang="zh-CN" altLang="en-US"/>
              <a:t>等任务。</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Pytorch</a:t>
            </a:r>
            <a:r>
              <a:rPr lang="zh-CN" altLang="en-US" sz="3200" dirty="0"/>
              <a:t>生态简介</a:t>
            </a:r>
          </a:p>
        </p:txBody>
      </p:sp>
      <p:sp>
        <p:nvSpPr>
          <p:cNvPr id="10" name="文本框 9"/>
          <p:cNvSpPr txBox="1"/>
          <p:nvPr/>
        </p:nvSpPr>
        <p:spPr>
          <a:xfrm>
            <a:off x="4727575" y="2708910"/>
            <a:ext cx="6096000" cy="1597025"/>
          </a:xfrm>
          <a:prstGeom prst="rect">
            <a:avLst/>
          </a:prstGeom>
          <a:noFill/>
        </p:spPr>
        <p:txBody>
          <a:bodyPr wrap="square" rtlCol="0" anchor="t">
            <a:noAutofit/>
          </a:bodyPr>
          <a:lstStyle/>
          <a:p>
            <a:endParaRPr lang="zh-CN" altLang="en-US"/>
          </a:p>
        </p:txBody>
      </p:sp>
      <p:sp>
        <p:nvSpPr>
          <p:cNvPr id="7" name="文本框 6"/>
          <p:cNvSpPr txBox="1"/>
          <p:nvPr/>
        </p:nvSpPr>
        <p:spPr>
          <a:xfrm>
            <a:off x="767715" y="1744345"/>
            <a:ext cx="8179435" cy="460375"/>
          </a:xfrm>
          <a:prstGeom prst="rect">
            <a:avLst/>
          </a:prstGeom>
          <a:noFill/>
        </p:spPr>
        <p:txBody>
          <a:bodyPr wrap="square" rtlCol="0">
            <a:spAutoFit/>
          </a:bodyPr>
          <a:lstStyle/>
          <a:p>
            <a:pPr indent="457200"/>
            <a:r>
              <a:rPr lang="en-US" altLang="zh-CN" sz="2400">
                <a:solidFill>
                  <a:schemeClr val="tx1"/>
                </a:solidFill>
                <a:effectLst>
                  <a:outerShdw blurRad="38100" dist="25400" dir="5400000" algn="ctr" rotWithShape="0">
                    <a:srgbClr val="6E747A">
                      <a:alpha val="43000"/>
                    </a:srgbClr>
                  </a:outerShdw>
                </a:effectLst>
                <a:latin typeface="宋体" panose="02010600030101010101" pitchFamily="2" charset="-122"/>
              </a:rPr>
              <a:t>torchaudio</a:t>
            </a:r>
          </a:p>
        </p:txBody>
      </p:sp>
      <p:sp>
        <p:nvSpPr>
          <p:cNvPr id="6" name="文本框 5"/>
          <p:cNvSpPr txBox="1"/>
          <p:nvPr/>
        </p:nvSpPr>
        <p:spPr>
          <a:xfrm>
            <a:off x="1415415" y="2204720"/>
            <a:ext cx="8176260" cy="368300"/>
          </a:xfrm>
          <a:prstGeom prst="rect">
            <a:avLst/>
          </a:prstGeom>
          <a:noFill/>
        </p:spPr>
        <p:txBody>
          <a:bodyPr wrap="square" rtlCol="0">
            <a:spAutoFit/>
          </a:bodyPr>
          <a:lstStyle/>
          <a:p>
            <a:r>
              <a:rPr lang="en-US" altLang="zh-CN"/>
              <a:t>torchaduio</a:t>
            </a:r>
            <a:r>
              <a:rPr lang="zh-CN" altLang="en-US"/>
              <a:t>主要包括以下几个部分：</a:t>
            </a:r>
          </a:p>
        </p:txBody>
      </p:sp>
      <p:pic>
        <p:nvPicPr>
          <p:cNvPr id="5" name="图片 4"/>
          <p:cNvPicPr>
            <a:picLocks noChangeAspect="1"/>
          </p:cNvPicPr>
          <p:nvPr/>
        </p:nvPicPr>
        <p:blipFill>
          <a:blip r:embed="rId3"/>
          <a:stretch>
            <a:fillRect/>
          </a:stretch>
        </p:blipFill>
        <p:spPr>
          <a:xfrm>
            <a:off x="1631315" y="2564765"/>
            <a:ext cx="7267575" cy="416242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Tensor</a:t>
            </a:r>
            <a:r>
              <a:rPr lang="zh-CN" altLang="en-US" sz="3200" dirty="0"/>
              <a:t>张量</a:t>
            </a:r>
          </a:p>
        </p:txBody>
      </p:sp>
      <p:sp>
        <p:nvSpPr>
          <p:cNvPr id="10" name="文本框 9"/>
          <p:cNvSpPr txBox="1"/>
          <p:nvPr/>
        </p:nvSpPr>
        <p:spPr>
          <a:xfrm>
            <a:off x="4727575" y="2708910"/>
            <a:ext cx="6096000" cy="1597025"/>
          </a:xfrm>
          <a:prstGeom prst="rect">
            <a:avLst/>
          </a:prstGeom>
          <a:noFill/>
        </p:spPr>
        <p:txBody>
          <a:bodyPr wrap="square" rtlCol="0" anchor="t">
            <a:noAutofit/>
          </a:bodyPr>
          <a:lstStyle/>
          <a:p>
            <a:endParaRPr lang="zh-CN" altLang="en-US"/>
          </a:p>
        </p:txBody>
      </p:sp>
      <p:sp>
        <p:nvSpPr>
          <p:cNvPr id="7" name="文本框 6"/>
          <p:cNvSpPr txBox="1"/>
          <p:nvPr/>
        </p:nvSpPr>
        <p:spPr>
          <a:xfrm>
            <a:off x="1461770" y="1700530"/>
            <a:ext cx="8179435" cy="368300"/>
          </a:xfrm>
          <a:prstGeom prst="rect">
            <a:avLst/>
          </a:prstGeom>
          <a:noFill/>
        </p:spPr>
        <p:txBody>
          <a:bodyPr wrap="square" rtlCol="0">
            <a:spAutoFit/>
          </a:bodyPr>
          <a:lstStyle/>
          <a:p>
            <a:r>
              <a:rPr lang="en-US" altLang="zh-CN"/>
              <a:t>Tensor</a:t>
            </a:r>
            <a:r>
              <a:rPr lang="zh-CN" altLang="en-US"/>
              <a:t>实质上就是一个多维数组，其目的是能够创造更高维度的矩阵、向量。</a:t>
            </a:r>
            <a:endParaRPr lang="en-US" altLang="zh-CN"/>
          </a:p>
        </p:txBody>
      </p:sp>
      <p:pic>
        <p:nvPicPr>
          <p:cNvPr id="9" name="图片 8"/>
          <p:cNvPicPr>
            <a:picLocks noChangeAspect="1"/>
          </p:cNvPicPr>
          <p:nvPr/>
        </p:nvPicPr>
        <p:blipFill>
          <a:blip r:embed="rId3"/>
          <a:stretch>
            <a:fillRect/>
          </a:stretch>
        </p:blipFill>
        <p:spPr>
          <a:xfrm>
            <a:off x="1271270" y="2132330"/>
            <a:ext cx="8639175" cy="429577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Tensor</a:t>
            </a:r>
            <a:r>
              <a:rPr lang="zh-CN" altLang="en-US" sz="3200" dirty="0"/>
              <a:t>张量</a:t>
            </a:r>
          </a:p>
        </p:txBody>
      </p:sp>
      <p:sp>
        <p:nvSpPr>
          <p:cNvPr id="10" name="文本框 9"/>
          <p:cNvSpPr txBox="1"/>
          <p:nvPr/>
        </p:nvSpPr>
        <p:spPr>
          <a:xfrm>
            <a:off x="4727575" y="2708910"/>
            <a:ext cx="6096000" cy="1597025"/>
          </a:xfrm>
          <a:prstGeom prst="rect">
            <a:avLst/>
          </a:prstGeom>
          <a:noFill/>
        </p:spPr>
        <p:txBody>
          <a:bodyPr wrap="square" rtlCol="0" anchor="t">
            <a:noAutofit/>
          </a:bodyPr>
          <a:lstStyle/>
          <a:p>
            <a:endParaRPr lang="zh-CN" altLang="en-US"/>
          </a:p>
        </p:txBody>
      </p:sp>
      <p:sp>
        <p:nvSpPr>
          <p:cNvPr id="7" name="文本框 6"/>
          <p:cNvSpPr txBox="1"/>
          <p:nvPr/>
        </p:nvSpPr>
        <p:spPr>
          <a:xfrm>
            <a:off x="1415415" y="1700530"/>
            <a:ext cx="9177655" cy="1198880"/>
          </a:xfrm>
          <a:prstGeom prst="rect">
            <a:avLst/>
          </a:prstGeom>
          <a:noFill/>
        </p:spPr>
        <p:txBody>
          <a:bodyPr wrap="square" rtlCol="0">
            <a:spAutoFit/>
          </a:bodyPr>
          <a:lstStyle/>
          <a:p>
            <a:pPr indent="457200"/>
            <a:r>
              <a:rPr lang="en-US" altLang="zh-CN"/>
              <a:t>Tensor</a:t>
            </a:r>
            <a:r>
              <a:rPr lang="zh-CN" altLang="en-US"/>
              <a:t>张量是一种特殊的数据结构，与数组和矩阵非常相似。在</a:t>
            </a:r>
            <a:r>
              <a:rPr lang="en-US" altLang="zh-CN"/>
              <a:t>PyTorch</a:t>
            </a:r>
            <a:r>
              <a:rPr lang="zh-CN" altLang="en-US"/>
              <a:t>中，我们使用张量来编码模型的输入和输出，以及模型的参数。</a:t>
            </a:r>
          </a:p>
          <a:p>
            <a:pPr indent="457200"/>
            <a:r>
              <a:rPr lang="zh-CN" altLang="en-US"/>
              <a:t>张量类似于</a:t>
            </a:r>
            <a:r>
              <a:rPr lang="en-US" altLang="zh-CN"/>
              <a:t>NumPy</a:t>
            </a:r>
            <a:r>
              <a:rPr lang="zh-CN" altLang="en-US"/>
              <a:t>的</a:t>
            </a:r>
            <a:r>
              <a:rPr lang="en-US" altLang="zh-CN"/>
              <a:t>ndarrays</a:t>
            </a:r>
            <a:r>
              <a:rPr lang="zh-CN" altLang="en-US"/>
              <a:t>，只是张量可以在</a:t>
            </a:r>
            <a:r>
              <a:rPr lang="en-US" altLang="zh-CN"/>
              <a:t>GPU</a:t>
            </a:r>
            <a:r>
              <a:rPr lang="zh-CN" altLang="en-US"/>
              <a:t>或其他硬件加速器上运行。事实上，张量和</a:t>
            </a:r>
            <a:r>
              <a:rPr lang="en-US" altLang="zh-CN"/>
              <a:t>NumPy</a:t>
            </a:r>
            <a:r>
              <a:rPr lang="zh-CN" altLang="en-US"/>
              <a:t>数组通常可以共享相同的底层内存，从而无需复制数据。</a:t>
            </a:r>
          </a:p>
        </p:txBody>
      </p:sp>
      <p:pic>
        <p:nvPicPr>
          <p:cNvPr id="11" name="图片 10"/>
          <p:cNvPicPr>
            <a:picLocks noChangeAspect="1"/>
          </p:cNvPicPr>
          <p:nvPr/>
        </p:nvPicPr>
        <p:blipFill>
          <a:blip r:embed="rId3"/>
          <a:stretch>
            <a:fillRect/>
          </a:stretch>
        </p:blipFill>
        <p:spPr>
          <a:xfrm>
            <a:off x="3071495" y="3140710"/>
            <a:ext cx="4990465" cy="293941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Tensor</a:t>
            </a:r>
            <a:r>
              <a:rPr lang="zh-CN" altLang="en-US" sz="3200" dirty="0"/>
              <a:t>张量</a:t>
            </a:r>
          </a:p>
        </p:txBody>
      </p:sp>
      <p:sp>
        <p:nvSpPr>
          <p:cNvPr id="10" name="文本框 9"/>
          <p:cNvSpPr txBox="1"/>
          <p:nvPr/>
        </p:nvSpPr>
        <p:spPr>
          <a:xfrm>
            <a:off x="4727575" y="2708910"/>
            <a:ext cx="6096000" cy="1597025"/>
          </a:xfrm>
          <a:prstGeom prst="rect">
            <a:avLst/>
          </a:prstGeom>
          <a:noFill/>
        </p:spPr>
        <p:txBody>
          <a:bodyPr wrap="square" rtlCol="0" anchor="t">
            <a:noAutofit/>
          </a:bodyPr>
          <a:lstStyle/>
          <a:p>
            <a:endParaRPr lang="zh-CN" altLang="en-US"/>
          </a:p>
        </p:txBody>
      </p:sp>
      <p:sp>
        <p:nvSpPr>
          <p:cNvPr id="7" name="文本框 6"/>
          <p:cNvSpPr txBox="1"/>
          <p:nvPr/>
        </p:nvSpPr>
        <p:spPr>
          <a:xfrm>
            <a:off x="1415415" y="1772285"/>
            <a:ext cx="4064000" cy="368300"/>
          </a:xfrm>
          <a:prstGeom prst="rect">
            <a:avLst/>
          </a:prstGeom>
          <a:noFill/>
        </p:spPr>
        <p:txBody>
          <a:bodyPr wrap="square" rtlCol="0">
            <a:spAutoFit/>
          </a:bodyPr>
          <a:lstStyle/>
          <a:p>
            <a:r>
              <a:rPr lang="zh-CN" altLang="en-US"/>
              <a:t>初始化张量</a:t>
            </a:r>
          </a:p>
        </p:txBody>
      </p:sp>
      <p:sp>
        <p:nvSpPr>
          <p:cNvPr id="8" name="文本框 7"/>
          <p:cNvSpPr txBox="1"/>
          <p:nvPr/>
        </p:nvSpPr>
        <p:spPr>
          <a:xfrm>
            <a:off x="1606550" y="5372735"/>
            <a:ext cx="7922260" cy="368300"/>
          </a:xfrm>
          <a:prstGeom prst="rect">
            <a:avLst/>
          </a:prstGeom>
        </p:spPr>
        <p:txBody>
          <a:bodyPr wrap="square">
            <a:spAutoFit/>
          </a:bodyPr>
          <a:lstStyle/>
          <a:p>
            <a:pPr marL="0" indent="0"/>
            <a:r>
              <a:rPr lang="en-US" altLang="zh-CN" sz="1600" b="1" i="0">
                <a:solidFill>
                  <a:srgbClr val="4D4D4D"/>
                </a:solidFill>
                <a:latin typeface="-apple-system"/>
                <a:ea typeface="-apple-system"/>
              </a:rPr>
              <a:t> </a:t>
            </a:r>
            <a:r>
              <a:rPr lang="zh-CN" altLang="en-US" sz="1800" i="0">
                <a:solidFill>
                  <a:srgbClr val="4D4D4D"/>
                </a:solidFill>
                <a:latin typeface="宋体" panose="02010600030101010101" pitchFamily="2" charset="-122"/>
              </a:rPr>
              <a:t>直接从数据中初始化，张量可以直接从数据中创建，数据类型是自动推断的</a:t>
            </a:r>
          </a:p>
        </p:txBody>
      </p:sp>
      <p:pic>
        <p:nvPicPr>
          <p:cNvPr id="11" name="图片 10"/>
          <p:cNvPicPr/>
          <p:nvPr/>
        </p:nvPicPr>
        <p:blipFill>
          <a:blip r:embed="rId3"/>
          <a:stretch>
            <a:fillRect/>
          </a:stretch>
        </p:blipFill>
        <p:spPr>
          <a:xfrm>
            <a:off x="3033395" y="2492375"/>
            <a:ext cx="5588635" cy="250507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Tensor</a:t>
            </a:r>
            <a:r>
              <a:rPr lang="zh-CN" altLang="en-US" sz="3200" dirty="0"/>
              <a:t>张量</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7" name="文本框 6"/>
          <p:cNvSpPr txBox="1"/>
          <p:nvPr/>
        </p:nvSpPr>
        <p:spPr>
          <a:xfrm>
            <a:off x="1415415" y="1772285"/>
            <a:ext cx="4064000" cy="368300"/>
          </a:xfrm>
          <a:prstGeom prst="rect">
            <a:avLst/>
          </a:prstGeom>
          <a:noFill/>
        </p:spPr>
        <p:txBody>
          <a:bodyPr wrap="square" rtlCol="0">
            <a:spAutoFit/>
          </a:bodyPr>
          <a:lstStyle/>
          <a:p>
            <a:r>
              <a:rPr lang="zh-CN" altLang="en-US"/>
              <a:t>初始化张量</a:t>
            </a:r>
          </a:p>
        </p:txBody>
      </p:sp>
      <p:sp>
        <p:nvSpPr>
          <p:cNvPr id="8" name="文本框 7"/>
          <p:cNvSpPr txBox="1"/>
          <p:nvPr/>
        </p:nvSpPr>
        <p:spPr>
          <a:xfrm>
            <a:off x="1847215" y="2340610"/>
            <a:ext cx="6035040" cy="368300"/>
          </a:xfrm>
          <a:prstGeom prst="rect">
            <a:avLst/>
          </a:prstGeom>
        </p:spPr>
        <p:txBody>
          <a:bodyPr wrap="square">
            <a:spAutoFit/>
          </a:bodyPr>
          <a:lstStyle/>
          <a:p>
            <a:pPr marL="0" indent="0"/>
            <a:r>
              <a:rPr lang="en-US" altLang="zh-CN" sz="1800">
                <a:sym typeface="+mn-ea"/>
              </a:rPr>
              <a:t>•</a:t>
            </a:r>
            <a:r>
              <a:rPr lang="zh-CN" altLang="en-US" sz="1800" b="1" i="0">
                <a:solidFill>
                  <a:schemeClr val="tx1"/>
                </a:solidFill>
                <a:effectLst/>
                <a:latin typeface="宋体" panose="02010600030101010101" pitchFamily="2" charset="-122"/>
              </a:rPr>
              <a:t>张量可以从</a:t>
            </a:r>
            <a:r>
              <a:rPr lang="en-US" altLang="zh-CN" sz="1800" b="1" i="0">
                <a:solidFill>
                  <a:schemeClr val="tx1"/>
                </a:solidFill>
                <a:effectLst/>
                <a:latin typeface="宋体" panose="02010600030101010101" pitchFamily="2" charset="-122"/>
              </a:rPr>
              <a:t>Numpy</a:t>
            </a:r>
            <a:r>
              <a:rPr lang="zh-CN" altLang="en-US" sz="1800" b="1" i="0">
                <a:solidFill>
                  <a:schemeClr val="tx1"/>
                </a:solidFill>
                <a:effectLst/>
                <a:latin typeface="宋体" panose="02010600030101010101" pitchFamily="2" charset="-122"/>
              </a:rPr>
              <a:t>数组中创建，反之亦然</a:t>
            </a:r>
            <a:r>
              <a:rPr lang="zh-CN" altLang="en-US" sz="1800" b="1" i="0">
                <a:solidFill>
                  <a:schemeClr val="tx1"/>
                </a:solidFill>
                <a:effectLst>
                  <a:outerShdw blurRad="38100" dist="19050" dir="2700000" algn="tl" rotWithShape="0">
                    <a:schemeClr val="dk1">
                      <a:alpha val="40000"/>
                    </a:schemeClr>
                  </a:outerShdw>
                </a:effectLst>
                <a:latin typeface="宋体" panose="02010600030101010101" pitchFamily="2" charset="-122"/>
              </a:rPr>
              <a:t>。</a:t>
            </a:r>
          </a:p>
        </p:txBody>
      </p:sp>
      <p:sp>
        <p:nvSpPr>
          <p:cNvPr id="5" name="文本框 4"/>
          <p:cNvSpPr txBox="1"/>
          <p:nvPr/>
        </p:nvSpPr>
        <p:spPr>
          <a:xfrm>
            <a:off x="2495550" y="2718435"/>
            <a:ext cx="6096000" cy="645160"/>
          </a:xfrm>
          <a:prstGeom prst="rect">
            <a:avLst/>
          </a:prstGeom>
          <a:noFill/>
        </p:spPr>
        <p:txBody>
          <a:bodyPr wrap="square" rtlCol="0" anchor="t">
            <a:spAutoFit/>
          </a:bodyPr>
          <a:lstStyle/>
          <a:p>
            <a:r>
              <a:rPr lang="en-US" altLang="zh-CN"/>
              <a:t>np_array = np.array(data)</a:t>
            </a:r>
          </a:p>
          <a:p>
            <a:r>
              <a:rPr lang="en-US" altLang="zh-CN"/>
              <a:t>x_np = torch.from_numpy(np_array)</a:t>
            </a:r>
            <a:endParaRPr lang="zh-CN" altLang="en-US"/>
          </a:p>
        </p:txBody>
      </p:sp>
      <p:sp>
        <p:nvSpPr>
          <p:cNvPr id="9" name="文本框 8"/>
          <p:cNvSpPr txBox="1"/>
          <p:nvPr/>
        </p:nvSpPr>
        <p:spPr>
          <a:xfrm>
            <a:off x="1847215" y="3356610"/>
            <a:ext cx="7814310" cy="645160"/>
          </a:xfrm>
          <a:prstGeom prst="rect">
            <a:avLst/>
          </a:prstGeom>
          <a:noFill/>
        </p:spPr>
        <p:txBody>
          <a:bodyPr wrap="square" rtlCol="0">
            <a:spAutoFit/>
          </a:bodyPr>
          <a:lstStyle/>
          <a:p>
            <a:r>
              <a:rPr lang="en-US" altLang="zh-CN">
                <a:sym typeface="+mn-ea"/>
              </a:rPr>
              <a:t>•</a:t>
            </a:r>
            <a:r>
              <a:rPr lang="zh-CN" altLang="en-US"/>
              <a:t>从另一个</a:t>
            </a:r>
            <a:r>
              <a:rPr lang="en-US" altLang="zh-CN"/>
              <a:t>tensor</a:t>
            </a:r>
            <a:r>
              <a:rPr lang="zh-CN" altLang="en-US"/>
              <a:t>初始化，新张量保留参数张量的属性（形状，数据类型），除非显式覆盖。</a:t>
            </a:r>
          </a:p>
        </p:txBody>
      </p:sp>
      <p:pic>
        <p:nvPicPr>
          <p:cNvPr id="12" name="图片 11"/>
          <p:cNvPicPr/>
          <p:nvPr/>
        </p:nvPicPr>
        <p:blipFill>
          <a:blip r:embed="rId3"/>
          <a:stretch>
            <a:fillRect/>
          </a:stretch>
        </p:blipFill>
        <p:spPr>
          <a:xfrm>
            <a:off x="1758315" y="3941445"/>
            <a:ext cx="8675370" cy="248539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Tensor</a:t>
            </a:r>
            <a:r>
              <a:rPr lang="zh-CN" altLang="en-US" sz="3200" dirty="0"/>
              <a:t>张量</a:t>
            </a:r>
          </a:p>
        </p:txBody>
      </p:sp>
      <p:sp>
        <p:nvSpPr>
          <p:cNvPr id="10" name="文本框 9"/>
          <p:cNvSpPr txBox="1"/>
          <p:nvPr/>
        </p:nvSpPr>
        <p:spPr>
          <a:xfrm>
            <a:off x="4655820" y="2708910"/>
            <a:ext cx="6096000" cy="1597025"/>
          </a:xfrm>
          <a:prstGeom prst="rect">
            <a:avLst/>
          </a:prstGeom>
          <a:noFill/>
        </p:spPr>
        <p:txBody>
          <a:bodyPr wrap="square" rtlCol="0" anchor="t">
            <a:noAutofit/>
          </a:bodyPr>
          <a:lstStyle/>
          <a:p>
            <a:endParaRPr lang="zh-CN" altLang="en-US"/>
          </a:p>
        </p:txBody>
      </p:sp>
      <p:sp>
        <p:nvSpPr>
          <p:cNvPr id="7" name="文本框 6"/>
          <p:cNvSpPr txBox="1"/>
          <p:nvPr/>
        </p:nvSpPr>
        <p:spPr>
          <a:xfrm>
            <a:off x="1415415" y="1772285"/>
            <a:ext cx="4064000" cy="368300"/>
          </a:xfrm>
          <a:prstGeom prst="rect">
            <a:avLst/>
          </a:prstGeom>
          <a:noFill/>
        </p:spPr>
        <p:txBody>
          <a:bodyPr wrap="square" rtlCol="0">
            <a:spAutoFit/>
          </a:bodyPr>
          <a:lstStyle/>
          <a:p>
            <a:r>
              <a:rPr lang="zh-CN" altLang="en-US"/>
              <a:t>初始化张量</a:t>
            </a:r>
          </a:p>
        </p:txBody>
      </p:sp>
      <p:sp>
        <p:nvSpPr>
          <p:cNvPr id="8" name="文本框 7"/>
          <p:cNvSpPr txBox="1"/>
          <p:nvPr/>
        </p:nvSpPr>
        <p:spPr>
          <a:xfrm>
            <a:off x="1847215" y="2340610"/>
            <a:ext cx="6035040" cy="368300"/>
          </a:xfrm>
          <a:prstGeom prst="rect">
            <a:avLst/>
          </a:prstGeom>
        </p:spPr>
        <p:txBody>
          <a:bodyPr wrap="square">
            <a:spAutoFit/>
          </a:bodyPr>
          <a:lstStyle/>
          <a:p>
            <a:pPr marL="0" indent="0"/>
            <a:r>
              <a:rPr lang="en-US" altLang="zh-CN" sz="1800">
                <a:sym typeface="+mn-ea"/>
              </a:rPr>
              <a:t>•</a:t>
            </a:r>
            <a:r>
              <a:rPr lang="zh-CN" altLang="en-US" sz="1800">
                <a:sym typeface="+mn-ea"/>
              </a:rPr>
              <a:t>初始化</a:t>
            </a:r>
            <a:r>
              <a:rPr lang="zh-CN" altLang="en-US" sz="1800" i="0">
                <a:solidFill>
                  <a:schemeClr val="tx1"/>
                </a:solidFill>
                <a:effectLst/>
                <a:latin typeface="宋体" panose="02010600030101010101" pitchFamily="2" charset="-122"/>
              </a:rPr>
              <a:t>具有随机值或常量值</a:t>
            </a:r>
            <a:r>
              <a:rPr lang="zh-CN" altLang="en-US" sz="1800" i="0">
                <a:solidFill>
                  <a:schemeClr val="tx1"/>
                </a:solidFill>
                <a:effectLst>
                  <a:outerShdw blurRad="38100" dist="19050" dir="2700000" algn="tl" rotWithShape="0">
                    <a:schemeClr val="dk1">
                      <a:alpha val="40000"/>
                    </a:schemeClr>
                  </a:outerShdw>
                </a:effectLst>
                <a:latin typeface="宋体" panose="02010600030101010101" pitchFamily="2" charset="-122"/>
              </a:rPr>
              <a:t>。</a:t>
            </a:r>
          </a:p>
        </p:txBody>
      </p:sp>
      <p:pic>
        <p:nvPicPr>
          <p:cNvPr id="6" name="图片 5"/>
          <p:cNvPicPr/>
          <p:nvPr/>
        </p:nvPicPr>
        <p:blipFill>
          <a:blip r:embed="rId3"/>
          <a:stretch>
            <a:fillRect/>
          </a:stretch>
        </p:blipFill>
        <p:spPr>
          <a:xfrm>
            <a:off x="1847215" y="2840355"/>
            <a:ext cx="7916545" cy="343852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Tensor</a:t>
            </a:r>
            <a:r>
              <a:rPr lang="zh-CN" altLang="en-US" sz="3200" dirty="0"/>
              <a:t>张量</a:t>
            </a:r>
          </a:p>
        </p:txBody>
      </p:sp>
      <p:sp>
        <p:nvSpPr>
          <p:cNvPr id="7" name="文本框 6"/>
          <p:cNvSpPr txBox="1"/>
          <p:nvPr/>
        </p:nvSpPr>
        <p:spPr>
          <a:xfrm>
            <a:off x="1461770" y="1700530"/>
            <a:ext cx="6439535" cy="368300"/>
          </a:xfrm>
          <a:prstGeom prst="rect">
            <a:avLst/>
          </a:prstGeom>
          <a:noFill/>
        </p:spPr>
        <p:txBody>
          <a:bodyPr wrap="square" rtlCol="0">
            <a:spAutoFit/>
          </a:bodyPr>
          <a:lstStyle/>
          <a:p>
            <a:r>
              <a:rPr lang="zh-CN" altLang="en-US"/>
              <a:t>张量属性描述了它们的形状、数据类型以及存储它们的设备。</a:t>
            </a:r>
          </a:p>
        </p:txBody>
      </p:sp>
      <p:pic>
        <p:nvPicPr>
          <p:cNvPr id="5" name="图片 4"/>
          <p:cNvPicPr/>
          <p:nvPr/>
        </p:nvPicPr>
        <p:blipFill>
          <a:blip r:embed="rId3"/>
          <a:stretch>
            <a:fillRect/>
          </a:stretch>
        </p:blipFill>
        <p:spPr>
          <a:xfrm>
            <a:off x="1847216" y="2377123"/>
            <a:ext cx="7353299" cy="355282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Tensor</a:t>
            </a:r>
            <a:r>
              <a:rPr lang="zh-CN" altLang="en-US" sz="3200" dirty="0"/>
              <a:t>张量</a:t>
            </a:r>
          </a:p>
        </p:txBody>
      </p:sp>
      <p:sp>
        <p:nvSpPr>
          <p:cNvPr id="7" name="文本框 6"/>
          <p:cNvSpPr txBox="1"/>
          <p:nvPr/>
        </p:nvSpPr>
        <p:spPr>
          <a:xfrm>
            <a:off x="1461770" y="1700530"/>
            <a:ext cx="6439535" cy="368300"/>
          </a:xfrm>
          <a:prstGeom prst="rect">
            <a:avLst/>
          </a:prstGeom>
          <a:noFill/>
        </p:spPr>
        <p:txBody>
          <a:bodyPr wrap="square" rtlCol="0">
            <a:spAutoFit/>
          </a:bodyPr>
          <a:lstStyle/>
          <a:p>
            <a:r>
              <a:rPr lang="zh-CN" altLang="en-US"/>
              <a:t>标准的</a:t>
            </a:r>
            <a:r>
              <a:rPr lang="en-US" altLang="zh-CN"/>
              <a:t>numpy</a:t>
            </a:r>
            <a:r>
              <a:rPr lang="zh-CN" altLang="en-US"/>
              <a:t>式索引和切片。</a:t>
            </a:r>
            <a:endParaRPr lang="en-US" altLang="zh-CN"/>
          </a:p>
        </p:txBody>
      </p:sp>
      <p:pic>
        <p:nvPicPr>
          <p:cNvPr id="6" name="图片 5"/>
          <p:cNvPicPr/>
          <p:nvPr/>
        </p:nvPicPr>
        <p:blipFill>
          <a:blip r:embed="rId3"/>
          <a:stretch>
            <a:fillRect/>
          </a:stretch>
        </p:blipFill>
        <p:spPr>
          <a:xfrm>
            <a:off x="2063115" y="2206625"/>
            <a:ext cx="7458075" cy="446278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Tensor</a:t>
            </a:r>
            <a:r>
              <a:rPr lang="zh-CN" altLang="en-US" sz="3200" dirty="0"/>
              <a:t>张量</a:t>
            </a:r>
          </a:p>
        </p:txBody>
      </p:sp>
      <p:sp>
        <p:nvSpPr>
          <p:cNvPr id="7" name="文本框 6"/>
          <p:cNvSpPr txBox="1"/>
          <p:nvPr/>
        </p:nvSpPr>
        <p:spPr>
          <a:xfrm>
            <a:off x="1461770" y="1700530"/>
            <a:ext cx="7724140" cy="368300"/>
          </a:xfrm>
          <a:prstGeom prst="rect">
            <a:avLst/>
          </a:prstGeom>
          <a:noFill/>
        </p:spPr>
        <p:txBody>
          <a:bodyPr wrap="square" rtlCol="0">
            <a:spAutoFit/>
          </a:bodyPr>
          <a:lstStyle/>
          <a:p>
            <a:r>
              <a:rPr lang="zh-CN" altLang="en-US"/>
              <a:t>连接张量可以使用</a:t>
            </a:r>
            <a:r>
              <a:rPr lang="en-US" altLang="zh-CN"/>
              <a:t> torch.cat </a:t>
            </a:r>
            <a:r>
              <a:rPr lang="zh-CN" altLang="en-US"/>
              <a:t>将一系列张量沿着给定的维度连接起来。</a:t>
            </a:r>
          </a:p>
        </p:txBody>
      </p:sp>
      <p:pic>
        <p:nvPicPr>
          <p:cNvPr id="5" name="图片 4"/>
          <p:cNvPicPr/>
          <p:nvPr/>
        </p:nvPicPr>
        <p:blipFill>
          <a:blip r:embed="rId3"/>
          <a:stretch>
            <a:fillRect/>
          </a:stretch>
        </p:blipFill>
        <p:spPr>
          <a:xfrm>
            <a:off x="1703071" y="2564448"/>
            <a:ext cx="7924799" cy="284797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Tensor</a:t>
            </a:r>
            <a:r>
              <a:rPr lang="zh-CN" altLang="en-US" sz="3200" dirty="0"/>
              <a:t>张量</a:t>
            </a:r>
          </a:p>
        </p:txBody>
      </p:sp>
      <p:sp>
        <p:nvSpPr>
          <p:cNvPr id="7" name="文本框 6"/>
          <p:cNvSpPr txBox="1"/>
          <p:nvPr/>
        </p:nvSpPr>
        <p:spPr>
          <a:xfrm>
            <a:off x="1461770" y="1700530"/>
            <a:ext cx="7724140" cy="368300"/>
          </a:xfrm>
          <a:prstGeom prst="rect">
            <a:avLst/>
          </a:prstGeom>
          <a:noFill/>
        </p:spPr>
        <p:txBody>
          <a:bodyPr wrap="square" rtlCol="0">
            <a:spAutoFit/>
          </a:bodyPr>
          <a:lstStyle/>
          <a:p>
            <a:r>
              <a:rPr lang="zh-CN" altLang="en-US"/>
              <a:t>张量的算术运算</a:t>
            </a:r>
          </a:p>
        </p:txBody>
      </p:sp>
      <p:pic>
        <p:nvPicPr>
          <p:cNvPr id="9" name="图片 8"/>
          <p:cNvPicPr>
            <a:picLocks noChangeAspect="1"/>
          </p:cNvPicPr>
          <p:nvPr/>
        </p:nvPicPr>
        <p:blipFill>
          <a:blip r:embed="rId3"/>
          <a:stretch>
            <a:fillRect/>
          </a:stretch>
        </p:blipFill>
        <p:spPr>
          <a:xfrm>
            <a:off x="1487805" y="2277110"/>
            <a:ext cx="7762875" cy="1463040"/>
          </a:xfrm>
          <a:prstGeom prst="rect">
            <a:avLst/>
          </a:prstGeom>
        </p:spPr>
      </p:pic>
      <p:sp>
        <p:nvSpPr>
          <p:cNvPr id="11" name="文本框 10"/>
          <p:cNvSpPr txBox="1"/>
          <p:nvPr/>
        </p:nvSpPr>
        <p:spPr>
          <a:xfrm>
            <a:off x="1606550" y="3861435"/>
            <a:ext cx="4064000" cy="368300"/>
          </a:xfrm>
          <a:prstGeom prst="rect">
            <a:avLst/>
          </a:prstGeom>
          <a:noFill/>
        </p:spPr>
        <p:txBody>
          <a:bodyPr wrap="square" rtlCol="0">
            <a:spAutoFit/>
          </a:bodyPr>
          <a:lstStyle/>
          <a:p>
            <a:r>
              <a:rPr lang="zh-CN" altLang="en-US"/>
              <a:t>矩阵乘法</a:t>
            </a:r>
          </a:p>
        </p:txBody>
      </p:sp>
      <p:sp>
        <p:nvSpPr>
          <p:cNvPr id="12" name="文本框 11"/>
          <p:cNvSpPr txBox="1"/>
          <p:nvPr/>
        </p:nvSpPr>
        <p:spPr>
          <a:xfrm>
            <a:off x="1775460" y="4221480"/>
            <a:ext cx="8057515" cy="2030095"/>
          </a:xfrm>
          <a:prstGeom prst="rect">
            <a:avLst/>
          </a:prstGeom>
          <a:noFill/>
        </p:spPr>
        <p:txBody>
          <a:bodyPr wrap="square" rtlCol="0" anchor="t">
            <a:spAutoFit/>
          </a:bodyPr>
          <a:lstStyle/>
          <a:p>
            <a:pPr indent="457200"/>
            <a:r>
              <a:rPr lang="en-US" altLang="zh-CN">
                <a:latin typeface="宋体" panose="02010600030101010101" pitchFamily="2" charset="-122"/>
                <a:cs typeface="宋体" panose="02010600030101010101" pitchFamily="2" charset="-122"/>
              </a:rPr>
              <a:t>y1 = tensor @ tensor.T </a:t>
            </a:r>
            <a:r>
              <a:rPr lang="zh-CN" altLang="en-US">
                <a:latin typeface="宋体" panose="02010600030101010101" pitchFamily="2" charset="-122"/>
                <a:cs typeface="宋体" panose="02010600030101010101" pitchFamily="2" charset="-122"/>
              </a:rPr>
              <a:t>和</a:t>
            </a:r>
            <a:r>
              <a:rPr lang="en-US" altLang="zh-CN">
                <a:latin typeface="宋体" panose="02010600030101010101" pitchFamily="2" charset="-122"/>
                <a:cs typeface="宋体" panose="02010600030101010101" pitchFamily="2" charset="-122"/>
              </a:rPr>
              <a:t> y2 = tensor.matmul(tensor.T) </a:t>
            </a:r>
            <a:r>
              <a:rPr lang="zh-CN" altLang="en-US">
                <a:latin typeface="宋体" panose="02010600030101010101" pitchFamily="2" charset="-122"/>
                <a:cs typeface="宋体" panose="02010600030101010101" pitchFamily="2" charset="-122"/>
              </a:rPr>
              <a:t>这两行代码都在进行矩阵乘法。</a:t>
            </a:r>
            <a:r>
              <a:rPr lang="en-US" altLang="zh-CN">
                <a:latin typeface="宋体" panose="02010600030101010101" pitchFamily="2" charset="-122"/>
                <a:cs typeface="宋体" panose="02010600030101010101" pitchFamily="2" charset="-122"/>
              </a:rPr>
              <a:t>@</a:t>
            </a:r>
            <a:r>
              <a:rPr lang="zh-CN" altLang="en-US">
                <a:latin typeface="宋体" panose="02010600030101010101" pitchFamily="2" charset="-122"/>
                <a:cs typeface="宋体" panose="02010600030101010101" pitchFamily="2" charset="-122"/>
              </a:rPr>
              <a:t>操作符和</a:t>
            </a:r>
            <a:r>
              <a:rPr lang="en-US" altLang="zh-CN">
                <a:latin typeface="宋体" panose="02010600030101010101" pitchFamily="2" charset="-122"/>
                <a:cs typeface="宋体" panose="02010600030101010101" pitchFamily="2" charset="-122"/>
              </a:rPr>
              <a:t>matmul</a:t>
            </a:r>
            <a:r>
              <a:rPr lang="zh-CN" altLang="en-US">
                <a:latin typeface="宋体" panose="02010600030101010101" pitchFamily="2" charset="-122"/>
                <a:cs typeface="宋体" panose="02010600030101010101" pitchFamily="2" charset="-122"/>
              </a:rPr>
              <a:t>函数都可以用于矩阵乘法。</a:t>
            </a:r>
            <a:r>
              <a:rPr lang="en-US" altLang="zh-CN">
                <a:latin typeface="宋体" panose="02010600030101010101" pitchFamily="2" charset="-122"/>
                <a:cs typeface="宋体" panose="02010600030101010101" pitchFamily="2" charset="-122"/>
              </a:rPr>
              <a:t>tensor.T</a:t>
            </a:r>
            <a:r>
              <a:rPr lang="zh-CN" altLang="en-US">
                <a:latin typeface="宋体" panose="02010600030101010101" pitchFamily="2" charset="-122"/>
                <a:cs typeface="宋体" panose="02010600030101010101" pitchFamily="2" charset="-122"/>
              </a:rPr>
              <a:t>返回</a:t>
            </a:r>
            <a:r>
              <a:rPr lang="en-US" altLang="zh-CN">
                <a:latin typeface="宋体" panose="02010600030101010101" pitchFamily="2" charset="-122"/>
                <a:cs typeface="宋体" panose="02010600030101010101" pitchFamily="2" charset="-122"/>
              </a:rPr>
              <a:t>tensor</a:t>
            </a:r>
            <a:r>
              <a:rPr lang="zh-CN" altLang="en-US">
                <a:latin typeface="宋体" panose="02010600030101010101" pitchFamily="2" charset="-122"/>
                <a:cs typeface="宋体" panose="02010600030101010101" pitchFamily="2" charset="-122"/>
              </a:rPr>
              <a:t>的转置。</a:t>
            </a:r>
          </a:p>
          <a:p>
            <a:pPr indent="457200"/>
            <a:r>
              <a:rPr lang="en-US" altLang="zh-CN">
                <a:latin typeface="宋体" panose="02010600030101010101" pitchFamily="2" charset="-122"/>
                <a:cs typeface="宋体" panose="02010600030101010101" pitchFamily="2" charset="-122"/>
              </a:rPr>
              <a:t>y3 = torch.rand_like(y1) </a:t>
            </a:r>
            <a:r>
              <a:rPr lang="zh-CN" altLang="en-US">
                <a:latin typeface="宋体" panose="02010600030101010101" pitchFamily="2" charset="-122"/>
                <a:cs typeface="宋体" panose="02010600030101010101" pitchFamily="2" charset="-122"/>
              </a:rPr>
              <a:t>创建了一个与</a:t>
            </a:r>
            <a:r>
              <a:rPr lang="en-US" altLang="zh-CN">
                <a:latin typeface="宋体" panose="02010600030101010101" pitchFamily="2" charset="-122"/>
                <a:cs typeface="宋体" panose="02010600030101010101" pitchFamily="2" charset="-122"/>
              </a:rPr>
              <a:t>y1</a:t>
            </a:r>
            <a:r>
              <a:rPr lang="zh-CN" altLang="en-US">
                <a:latin typeface="宋体" panose="02010600030101010101" pitchFamily="2" charset="-122"/>
                <a:cs typeface="宋体" panose="02010600030101010101" pitchFamily="2" charset="-122"/>
              </a:rPr>
              <a:t>形状相同，元素为随机数的新</a:t>
            </a:r>
            <a:r>
              <a:rPr lang="en-US" altLang="zh-CN">
                <a:latin typeface="宋体" panose="02010600030101010101" pitchFamily="2" charset="-122"/>
                <a:cs typeface="宋体" panose="02010600030101010101" pitchFamily="2" charset="-122"/>
              </a:rPr>
              <a:t>tensor</a:t>
            </a:r>
            <a:r>
              <a:rPr lang="zh-CN" altLang="en-US">
                <a:latin typeface="宋体" panose="02010600030101010101" pitchFamily="2" charset="-122"/>
                <a:cs typeface="宋体" panose="02010600030101010101" pitchFamily="2" charset="-122"/>
              </a:rPr>
              <a:t>。</a:t>
            </a:r>
          </a:p>
          <a:p>
            <a:pPr indent="457200"/>
            <a:r>
              <a:rPr lang="en-US" altLang="zh-CN">
                <a:latin typeface="宋体" panose="02010600030101010101" pitchFamily="2" charset="-122"/>
                <a:cs typeface="宋体" panose="02010600030101010101" pitchFamily="2" charset="-122"/>
              </a:rPr>
              <a:t>torch.matmul(tensor, tensor.T, out=y3) </a:t>
            </a:r>
            <a:r>
              <a:rPr lang="zh-CN" altLang="en-US">
                <a:latin typeface="宋体" panose="02010600030101010101" pitchFamily="2" charset="-122"/>
                <a:cs typeface="宋体" panose="02010600030101010101" pitchFamily="2" charset="-122"/>
              </a:rPr>
              <a:t>这行代码也在进行矩阵乘法，但是结果被直接写入了</a:t>
            </a:r>
            <a:r>
              <a:rPr lang="en-US" altLang="zh-CN">
                <a:latin typeface="宋体" panose="02010600030101010101" pitchFamily="2" charset="-122"/>
                <a:cs typeface="宋体" panose="02010600030101010101" pitchFamily="2" charset="-122"/>
              </a:rPr>
              <a:t>y3</a:t>
            </a:r>
            <a:r>
              <a:rPr lang="zh-CN" altLang="en-US">
                <a:latin typeface="宋体" panose="02010600030101010101" pitchFamily="2" charset="-122"/>
                <a:cs typeface="宋体" panose="02010600030101010101" pitchFamily="2" charset="-122"/>
              </a:rPr>
              <a:t>，而不是创建新的</a:t>
            </a:r>
            <a:r>
              <a:rPr lang="en-US" altLang="zh-CN">
                <a:latin typeface="宋体" panose="02010600030101010101" pitchFamily="2" charset="-122"/>
                <a:cs typeface="宋体" panose="02010600030101010101" pitchFamily="2" charset="-122"/>
              </a:rPr>
              <a:t>tensor</a:t>
            </a:r>
            <a:endParaRPr lang="zh-CN" altLang="en-US">
              <a:latin typeface="宋体" panose="02010600030101010101" pitchFamily="2" charset="-122"/>
              <a:cs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983330" y="105193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Tensor</a:t>
            </a:r>
            <a:r>
              <a:rPr lang="zh-CN" altLang="en-US" sz="3200" dirty="0"/>
              <a:t>张量</a:t>
            </a:r>
          </a:p>
        </p:txBody>
      </p:sp>
      <p:sp>
        <p:nvSpPr>
          <p:cNvPr id="7" name="文本框 6"/>
          <p:cNvSpPr txBox="1"/>
          <p:nvPr/>
        </p:nvSpPr>
        <p:spPr>
          <a:xfrm>
            <a:off x="1461770" y="1700530"/>
            <a:ext cx="7724140" cy="368300"/>
          </a:xfrm>
          <a:prstGeom prst="rect">
            <a:avLst/>
          </a:prstGeom>
          <a:noFill/>
        </p:spPr>
        <p:txBody>
          <a:bodyPr wrap="square" rtlCol="0">
            <a:spAutoFit/>
          </a:bodyPr>
          <a:lstStyle/>
          <a:p>
            <a:r>
              <a:rPr lang="zh-CN" altLang="en-US"/>
              <a:t>张量的算术运算</a:t>
            </a:r>
          </a:p>
        </p:txBody>
      </p:sp>
      <p:sp>
        <p:nvSpPr>
          <p:cNvPr id="11" name="文本框 10"/>
          <p:cNvSpPr txBox="1"/>
          <p:nvPr/>
        </p:nvSpPr>
        <p:spPr>
          <a:xfrm>
            <a:off x="1606550" y="3861435"/>
            <a:ext cx="4064000" cy="368300"/>
          </a:xfrm>
          <a:prstGeom prst="rect">
            <a:avLst/>
          </a:prstGeom>
          <a:noFill/>
        </p:spPr>
        <p:txBody>
          <a:bodyPr wrap="square" rtlCol="0">
            <a:spAutoFit/>
          </a:bodyPr>
          <a:lstStyle/>
          <a:p>
            <a:r>
              <a:rPr lang="zh-CN" altLang="en-US"/>
              <a:t>元素乘法</a:t>
            </a:r>
          </a:p>
        </p:txBody>
      </p:sp>
      <p:sp>
        <p:nvSpPr>
          <p:cNvPr id="12" name="文本框 11"/>
          <p:cNvSpPr txBox="1"/>
          <p:nvPr/>
        </p:nvSpPr>
        <p:spPr>
          <a:xfrm>
            <a:off x="1775460" y="4221480"/>
            <a:ext cx="8057515" cy="1753235"/>
          </a:xfrm>
          <a:prstGeom prst="rect">
            <a:avLst/>
          </a:prstGeom>
          <a:noFill/>
        </p:spPr>
        <p:txBody>
          <a:bodyPr wrap="square" rtlCol="0" anchor="t">
            <a:spAutoFit/>
          </a:bodyPr>
          <a:lstStyle/>
          <a:p>
            <a:pPr indent="457200"/>
            <a:r>
              <a:rPr lang="en-US" altLang="zh-CN">
                <a:latin typeface="宋体" panose="02010600030101010101" pitchFamily="2" charset="-122"/>
                <a:cs typeface="宋体" panose="02010600030101010101" pitchFamily="2" charset="-122"/>
              </a:rPr>
              <a:t>z1 = tensor * tensor </a:t>
            </a:r>
            <a:r>
              <a:rPr lang="zh-CN" altLang="en-US">
                <a:latin typeface="宋体" panose="02010600030101010101" pitchFamily="2" charset="-122"/>
                <a:cs typeface="宋体" panose="02010600030101010101" pitchFamily="2" charset="-122"/>
              </a:rPr>
              <a:t>和</a:t>
            </a:r>
            <a:r>
              <a:rPr lang="en-US" altLang="zh-CN">
                <a:latin typeface="宋体" panose="02010600030101010101" pitchFamily="2" charset="-122"/>
                <a:cs typeface="宋体" panose="02010600030101010101" pitchFamily="2" charset="-122"/>
              </a:rPr>
              <a:t> z2 = tensor.mul(tensor) </a:t>
            </a:r>
            <a:r>
              <a:rPr lang="zh-CN" altLang="en-US">
                <a:latin typeface="宋体" panose="02010600030101010101" pitchFamily="2" charset="-122"/>
                <a:cs typeface="宋体" panose="02010600030101010101" pitchFamily="2" charset="-122"/>
              </a:rPr>
              <a:t>这两行代码都在进行元素级乘法。</a:t>
            </a:r>
            <a:r>
              <a:rPr lang="en-US" altLang="zh-CN">
                <a:latin typeface="宋体" panose="02010600030101010101" pitchFamily="2" charset="-122"/>
                <a:cs typeface="宋体" panose="02010600030101010101" pitchFamily="2" charset="-122"/>
              </a:rPr>
              <a:t>*</a:t>
            </a:r>
            <a:r>
              <a:rPr lang="zh-CN" altLang="en-US">
                <a:latin typeface="宋体" panose="02010600030101010101" pitchFamily="2" charset="-122"/>
                <a:cs typeface="宋体" panose="02010600030101010101" pitchFamily="2" charset="-122"/>
              </a:rPr>
              <a:t>操作符和</a:t>
            </a:r>
            <a:r>
              <a:rPr lang="en-US" altLang="zh-CN">
                <a:latin typeface="宋体" panose="02010600030101010101" pitchFamily="2" charset="-122"/>
                <a:cs typeface="宋体" panose="02010600030101010101" pitchFamily="2" charset="-122"/>
              </a:rPr>
              <a:t>mul</a:t>
            </a:r>
            <a:r>
              <a:rPr lang="zh-CN" altLang="en-US">
                <a:latin typeface="宋体" panose="02010600030101010101" pitchFamily="2" charset="-122"/>
                <a:cs typeface="宋体" panose="02010600030101010101" pitchFamily="2" charset="-122"/>
              </a:rPr>
              <a:t>函数都可以用于元素级乘法。</a:t>
            </a:r>
          </a:p>
          <a:p>
            <a:pPr indent="457200"/>
            <a:r>
              <a:rPr lang="en-US" altLang="zh-CN">
                <a:latin typeface="宋体" panose="02010600030101010101" pitchFamily="2" charset="-122"/>
                <a:cs typeface="宋体" panose="02010600030101010101" pitchFamily="2" charset="-122"/>
              </a:rPr>
              <a:t>z3 = torch.rand_like(tensor) </a:t>
            </a:r>
            <a:r>
              <a:rPr lang="zh-CN" altLang="en-US">
                <a:latin typeface="宋体" panose="02010600030101010101" pitchFamily="2" charset="-122"/>
                <a:cs typeface="宋体" panose="02010600030101010101" pitchFamily="2" charset="-122"/>
              </a:rPr>
              <a:t>创建了一个与</a:t>
            </a:r>
            <a:r>
              <a:rPr lang="en-US" altLang="zh-CN">
                <a:latin typeface="宋体" panose="02010600030101010101" pitchFamily="2" charset="-122"/>
                <a:cs typeface="宋体" panose="02010600030101010101" pitchFamily="2" charset="-122"/>
              </a:rPr>
              <a:t>tensor</a:t>
            </a:r>
            <a:r>
              <a:rPr lang="zh-CN" altLang="en-US">
                <a:latin typeface="宋体" panose="02010600030101010101" pitchFamily="2" charset="-122"/>
                <a:cs typeface="宋体" panose="02010600030101010101" pitchFamily="2" charset="-122"/>
              </a:rPr>
              <a:t>形状相同，元素为随机数的新</a:t>
            </a:r>
            <a:r>
              <a:rPr lang="en-US" altLang="zh-CN">
                <a:latin typeface="宋体" panose="02010600030101010101" pitchFamily="2" charset="-122"/>
                <a:cs typeface="宋体" panose="02010600030101010101" pitchFamily="2" charset="-122"/>
              </a:rPr>
              <a:t>tensor</a:t>
            </a:r>
            <a:r>
              <a:rPr lang="zh-CN" altLang="en-US">
                <a:latin typeface="宋体" panose="02010600030101010101" pitchFamily="2" charset="-122"/>
                <a:cs typeface="宋体" panose="02010600030101010101" pitchFamily="2" charset="-122"/>
              </a:rPr>
              <a:t>。</a:t>
            </a:r>
          </a:p>
          <a:p>
            <a:pPr indent="457200"/>
            <a:r>
              <a:rPr lang="en-US" altLang="zh-CN">
                <a:latin typeface="宋体" panose="02010600030101010101" pitchFamily="2" charset="-122"/>
                <a:cs typeface="宋体" panose="02010600030101010101" pitchFamily="2" charset="-122"/>
              </a:rPr>
              <a:t>torch.mul(tensor, tensor, out=z3) </a:t>
            </a:r>
            <a:r>
              <a:rPr lang="zh-CN" altLang="en-US">
                <a:latin typeface="宋体" panose="02010600030101010101" pitchFamily="2" charset="-122"/>
                <a:cs typeface="宋体" panose="02010600030101010101" pitchFamily="2" charset="-122"/>
              </a:rPr>
              <a:t>这行代码也在进行元素级乘法，但是结果被直接写入了</a:t>
            </a:r>
            <a:r>
              <a:rPr lang="en-US" altLang="zh-CN">
                <a:latin typeface="宋体" panose="02010600030101010101" pitchFamily="2" charset="-122"/>
                <a:cs typeface="宋体" panose="02010600030101010101" pitchFamily="2" charset="-122"/>
              </a:rPr>
              <a:t>z3</a:t>
            </a:r>
            <a:r>
              <a:rPr lang="zh-CN" altLang="en-US">
                <a:latin typeface="宋体" panose="02010600030101010101" pitchFamily="2" charset="-122"/>
                <a:cs typeface="宋体" panose="02010600030101010101" pitchFamily="2" charset="-122"/>
              </a:rPr>
              <a:t>，而不是创建新的</a:t>
            </a:r>
            <a:r>
              <a:rPr lang="en-US" altLang="zh-CN">
                <a:latin typeface="宋体" panose="02010600030101010101" pitchFamily="2" charset="-122"/>
                <a:cs typeface="宋体" panose="02010600030101010101" pitchFamily="2" charset="-122"/>
              </a:rPr>
              <a:t>tensor</a:t>
            </a:r>
          </a:p>
        </p:txBody>
      </p:sp>
      <p:pic>
        <p:nvPicPr>
          <p:cNvPr id="5" name="图片 4"/>
          <p:cNvPicPr>
            <a:picLocks noChangeAspect="1"/>
          </p:cNvPicPr>
          <p:nvPr/>
        </p:nvPicPr>
        <p:blipFill>
          <a:blip r:embed="rId3"/>
          <a:stretch>
            <a:fillRect/>
          </a:stretch>
        </p:blipFill>
        <p:spPr>
          <a:xfrm>
            <a:off x="2352040" y="2198370"/>
            <a:ext cx="6010275" cy="153352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199456" y="980728"/>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sym typeface="+mn-ea"/>
              </a:rPr>
              <a:t>Tensor</a:t>
            </a:r>
            <a:r>
              <a:rPr lang="zh-CN" altLang="en-US" sz="3200" dirty="0">
                <a:sym typeface="+mn-ea"/>
              </a:rPr>
              <a:t>张量</a:t>
            </a:r>
            <a:endParaRPr lang="zh-CN" altLang="en-US" sz="3200" dirty="0"/>
          </a:p>
        </p:txBody>
      </p:sp>
      <p:sp>
        <p:nvSpPr>
          <p:cNvPr id="5" name="Content Placeholder 2"/>
          <p:cNvSpPr txBox="1"/>
          <p:nvPr/>
        </p:nvSpPr>
        <p:spPr>
          <a:xfrm>
            <a:off x="1264138" y="2409407"/>
            <a:ext cx="7787352" cy="386046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Aft>
                <a:spcPts val="0"/>
              </a:spcAft>
              <a:buNone/>
            </a:pPr>
            <a:endParaRPr lang="zh-CN" altLang="en-US" dirty="0"/>
          </a:p>
        </p:txBody>
      </p:sp>
      <p:sp>
        <p:nvSpPr>
          <p:cNvPr id="8" name="Content Placeholder 2"/>
          <p:cNvSpPr txBox="1"/>
          <p:nvPr/>
        </p:nvSpPr>
        <p:spPr>
          <a:xfrm>
            <a:off x="1262868" y="1701382"/>
            <a:ext cx="7787352" cy="386046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Aft>
                <a:spcPts val="0"/>
              </a:spcAft>
              <a:buNone/>
            </a:pPr>
            <a:r>
              <a:rPr lang="en-US" altLang="zh-CN" sz="1800" dirty="0">
                <a:latin typeface="宋体" panose="02010600030101010101" pitchFamily="2" charset="-122"/>
                <a:ea typeface="宋体" panose="02010600030101010101" pitchFamily="2" charset="-122"/>
                <a:cs typeface="宋体" panose="02010600030101010101" pitchFamily="2" charset="-122"/>
              </a:rPr>
              <a:t>1.</a:t>
            </a:r>
            <a:r>
              <a:rPr lang="zh-CN" altLang="en-US" sz="1800" dirty="0">
                <a:latin typeface="宋体" panose="02010600030101010101" pitchFamily="2" charset="-122"/>
                <a:ea typeface="宋体" panose="02010600030101010101" pitchFamily="2" charset="-122"/>
                <a:cs typeface="宋体" panose="02010600030101010101" pitchFamily="2" charset="-122"/>
              </a:rPr>
              <a:t>矩阵乘法：也被称为点积，是一种二元运算，将两个矩阵相乘以产生第三个矩阵。假设我们有两个矩阵</a:t>
            </a:r>
            <a:r>
              <a:rPr lang="en-US" altLang="zh-CN" sz="1800" dirty="0">
                <a:latin typeface="宋体" panose="02010600030101010101" pitchFamily="2" charset="-122"/>
                <a:ea typeface="宋体" panose="02010600030101010101" pitchFamily="2" charset="-122"/>
                <a:cs typeface="宋体" panose="02010600030101010101" pitchFamily="2" charset="-122"/>
              </a:rPr>
              <a:t>A</a:t>
            </a:r>
            <a:r>
              <a:rPr lang="zh-CN" altLang="en-US" sz="1800" dirty="0">
                <a:latin typeface="宋体" panose="02010600030101010101" pitchFamily="2" charset="-122"/>
                <a:ea typeface="宋体" panose="02010600030101010101" pitchFamily="2" charset="-122"/>
                <a:cs typeface="宋体" panose="02010600030101010101" pitchFamily="2" charset="-122"/>
              </a:rPr>
              <a:t>和</a:t>
            </a:r>
            <a:r>
              <a:rPr lang="en-US" altLang="zh-CN" sz="1800" dirty="0">
                <a:latin typeface="宋体" panose="02010600030101010101" pitchFamily="2" charset="-122"/>
                <a:ea typeface="宋体" panose="02010600030101010101" pitchFamily="2" charset="-122"/>
                <a:cs typeface="宋体" panose="02010600030101010101" pitchFamily="2" charset="-122"/>
              </a:rPr>
              <a:t>B</a:t>
            </a:r>
            <a:r>
              <a:rPr lang="zh-CN" altLang="en-US" sz="1800" dirty="0">
                <a:latin typeface="宋体" panose="02010600030101010101" pitchFamily="2" charset="-122"/>
                <a:ea typeface="宋体" panose="02010600030101010101" pitchFamily="2" charset="-122"/>
                <a:cs typeface="宋体" panose="02010600030101010101" pitchFamily="2" charset="-122"/>
              </a:rPr>
              <a:t>，</a:t>
            </a:r>
            <a:r>
              <a:rPr lang="en-US" altLang="zh-CN" sz="1800" dirty="0">
                <a:latin typeface="宋体" panose="02010600030101010101" pitchFamily="2" charset="-122"/>
                <a:ea typeface="宋体" panose="02010600030101010101" pitchFamily="2" charset="-122"/>
                <a:cs typeface="宋体" panose="02010600030101010101" pitchFamily="2" charset="-122"/>
              </a:rPr>
              <a:t>A</a:t>
            </a:r>
            <a:r>
              <a:rPr lang="zh-CN" altLang="en-US" sz="1800" dirty="0">
                <a:latin typeface="宋体" panose="02010600030101010101" pitchFamily="2" charset="-122"/>
                <a:ea typeface="宋体" panose="02010600030101010101" pitchFamily="2" charset="-122"/>
                <a:cs typeface="宋体" panose="02010600030101010101" pitchFamily="2" charset="-122"/>
              </a:rPr>
              <a:t>的形状是</a:t>
            </a:r>
            <a:r>
              <a:rPr lang="en-US" altLang="zh-CN" sz="1800" dirty="0">
                <a:latin typeface="宋体" panose="02010600030101010101" pitchFamily="2" charset="-122"/>
                <a:ea typeface="宋体" panose="02010600030101010101" pitchFamily="2" charset="-122"/>
                <a:cs typeface="宋体" panose="02010600030101010101" pitchFamily="2" charset="-122"/>
              </a:rPr>
              <a:t>(m, n)</a:t>
            </a:r>
            <a:r>
              <a:rPr lang="zh-CN" altLang="en-US" sz="1800" dirty="0">
                <a:latin typeface="宋体" panose="02010600030101010101" pitchFamily="2" charset="-122"/>
                <a:ea typeface="宋体" panose="02010600030101010101" pitchFamily="2" charset="-122"/>
                <a:cs typeface="宋体" panose="02010600030101010101" pitchFamily="2" charset="-122"/>
              </a:rPr>
              <a:t>，</a:t>
            </a:r>
            <a:r>
              <a:rPr lang="en-US" altLang="zh-CN" sz="1800" dirty="0">
                <a:latin typeface="宋体" panose="02010600030101010101" pitchFamily="2" charset="-122"/>
                <a:ea typeface="宋体" panose="02010600030101010101" pitchFamily="2" charset="-122"/>
                <a:cs typeface="宋体" panose="02010600030101010101" pitchFamily="2" charset="-122"/>
              </a:rPr>
              <a:t>B</a:t>
            </a:r>
            <a:r>
              <a:rPr lang="zh-CN" altLang="en-US" sz="1800" dirty="0">
                <a:latin typeface="宋体" panose="02010600030101010101" pitchFamily="2" charset="-122"/>
                <a:ea typeface="宋体" panose="02010600030101010101" pitchFamily="2" charset="-122"/>
                <a:cs typeface="宋体" panose="02010600030101010101" pitchFamily="2" charset="-122"/>
              </a:rPr>
              <a:t>的形状是</a:t>
            </a:r>
            <a:r>
              <a:rPr lang="en-US" altLang="zh-CN" sz="1800" dirty="0">
                <a:latin typeface="宋体" panose="02010600030101010101" pitchFamily="2" charset="-122"/>
                <a:ea typeface="宋体" panose="02010600030101010101" pitchFamily="2" charset="-122"/>
                <a:cs typeface="宋体" panose="02010600030101010101" pitchFamily="2" charset="-122"/>
              </a:rPr>
              <a:t>(n, p)</a:t>
            </a:r>
            <a:r>
              <a:rPr lang="zh-CN" altLang="en-US" sz="1800" dirty="0">
                <a:latin typeface="宋体" panose="02010600030101010101" pitchFamily="2" charset="-122"/>
                <a:ea typeface="宋体" panose="02010600030101010101" pitchFamily="2" charset="-122"/>
                <a:cs typeface="宋体" panose="02010600030101010101" pitchFamily="2" charset="-122"/>
              </a:rPr>
              <a:t>，那么我们可以进行矩阵乘法得到一个新的矩阵</a:t>
            </a:r>
            <a:r>
              <a:rPr lang="en-US" altLang="zh-CN" sz="1800" dirty="0">
                <a:latin typeface="宋体" panose="02010600030101010101" pitchFamily="2" charset="-122"/>
                <a:ea typeface="宋体" panose="02010600030101010101" pitchFamily="2" charset="-122"/>
                <a:cs typeface="宋体" panose="02010600030101010101" pitchFamily="2" charset="-122"/>
              </a:rPr>
              <a:t>C</a:t>
            </a:r>
            <a:r>
              <a:rPr lang="zh-CN" altLang="en-US" sz="1800" dirty="0">
                <a:latin typeface="宋体" panose="02010600030101010101" pitchFamily="2" charset="-122"/>
                <a:ea typeface="宋体" panose="02010600030101010101" pitchFamily="2" charset="-122"/>
                <a:cs typeface="宋体" panose="02010600030101010101" pitchFamily="2" charset="-122"/>
              </a:rPr>
              <a:t>，其形状是</a:t>
            </a:r>
            <a:r>
              <a:rPr lang="en-US" altLang="zh-CN" sz="1800" dirty="0">
                <a:latin typeface="宋体" panose="02010600030101010101" pitchFamily="2" charset="-122"/>
                <a:ea typeface="宋体" panose="02010600030101010101" pitchFamily="2" charset="-122"/>
                <a:cs typeface="宋体" panose="02010600030101010101" pitchFamily="2" charset="-122"/>
              </a:rPr>
              <a:t>(m, p)</a:t>
            </a:r>
            <a:r>
              <a:rPr lang="zh-CN" altLang="en-US" sz="1800" dirty="0">
                <a:latin typeface="宋体" panose="02010600030101010101" pitchFamily="2" charset="-122"/>
                <a:ea typeface="宋体" panose="02010600030101010101" pitchFamily="2" charset="-122"/>
                <a:cs typeface="宋体" panose="02010600030101010101" pitchFamily="2" charset="-122"/>
              </a:rPr>
              <a:t>。</a:t>
            </a:r>
            <a:r>
              <a:rPr lang="en-US" altLang="zh-CN" sz="1800" dirty="0">
                <a:latin typeface="宋体" panose="02010600030101010101" pitchFamily="2" charset="-122"/>
                <a:ea typeface="宋体" panose="02010600030101010101" pitchFamily="2" charset="-122"/>
                <a:cs typeface="宋体" panose="02010600030101010101" pitchFamily="2" charset="-122"/>
              </a:rPr>
              <a:t>C</a:t>
            </a:r>
            <a:r>
              <a:rPr lang="zh-CN" altLang="en-US" sz="1800" dirty="0">
                <a:latin typeface="宋体" panose="02010600030101010101" pitchFamily="2" charset="-122"/>
                <a:ea typeface="宋体" panose="02010600030101010101" pitchFamily="2" charset="-122"/>
                <a:cs typeface="宋体" panose="02010600030101010101" pitchFamily="2" charset="-122"/>
              </a:rPr>
              <a:t>中的每个元素是通过将</a:t>
            </a:r>
            <a:r>
              <a:rPr lang="en-US" altLang="zh-CN" sz="1800" dirty="0">
                <a:latin typeface="宋体" panose="02010600030101010101" pitchFamily="2" charset="-122"/>
                <a:ea typeface="宋体" panose="02010600030101010101" pitchFamily="2" charset="-122"/>
                <a:cs typeface="宋体" panose="02010600030101010101" pitchFamily="2" charset="-122"/>
              </a:rPr>
              <a:t>A</a:t>
            </a:r>
            <a:r>
              <a:rPr lang="zh-CN" altLang="en-US" sz="1800" dirty="0">
                <a:latin typeface="宋体" panose="02010600030101010101" pitchFamily="2" charset="-122"/>
                <a:ea typeface="宋体" panose="02010600030101010101" pitchFamily="2" charset="-122"/>
                <a:cs typeface="宋体" panose="02010600030101010101" pitchFamily="2" charset="-122"/>
              </a:rPr>
              <a:t>的行向量和</a:t>
            </a:r>
            <a:r>
              <a:rPr lang="en-US" altLang="zh-CN" sz="1800" dirty="0">
                <a:latin typeface="宋体" panose="02010600030101010101" pitchFamily="2" charset="-122"/>
                <a:ea typeface="宋体" panose="02010600030101010101" pitchFamily="2" charset="-122"/>
                <a:cs typeface="宋体" panose="02010600030101010101" pitchFamily="2" charset="-122"/>
              </a:rPr>
              <a:t>B</a:t>
            </a:r>
            <a:r>
              <a:rPr lang="zh-CN" altLang="en-US" sz="1800" dirty="0">
                <a:latin typeface="宋体" panose="02010600030101010101" pitchFamily="2" charset="-122"/>
                <a:ea typeface="宋体" panose="02010600030101010101" pitchFamily="2" charset="-122"/>
                <a:cs typeface="宋体" panose="02010600030101010101" pitchFamily="2" charset="-122"/>
              </a:rPr>
              <a:t>的列向量对应元素相乘然后求和得到的。</a:t>
            </a:r>
          </a:p>
          <a:p>
            <a:pPr marL="0" indent="0" fontAlgn="auto">
              <a:spcAft>
                <a:spcPts val="0"/>
              </a:spcAft>
              <a:buNone/>
            </a:pPr>
            <a:endParaRPr lang="en-US" altLang="zh-CN" sz="1800" dirty="0">
              <a:latin typeface="宋体" panose="02010600030101010101" pitchFamily="2" charset="-122"/>
              <a:ea typeface="宋体" panose="02010600030101010101" pitchFamily="2" charset="-122"/>
              <a:cs typeface="宋体" panose="02010600030101010101" pitchFamily="2" charset="-122"/>
            </a:endParaRPr>
          </a:p>
          <a:p>
            <a:pPr marL="0" indent="0" fontAlgn="auto">
              <a:spcAft>
                <a:spcPts val="0"/>
              </a:spcAft>
              <a:buNone/>
            </a:pPr>
            <a:r>
              <a:rPr lang="en-US" altLang="zh-CN" sz="1800" dirty="0">
                <a:latin typeface="宋体" panose="02010600030101010101" pitchFamily="2" charset="-122"/>
                <a:ea typeface="宋体" panose="02010600030101010101" pitchFamily="2" charset="-122"/>
                <a:cs typeface="宋体" panose="02010600030101010101" pitchFamily="2" charset="-122"/>
              </a:rPr>
              <a:t>2.</a:t>
            </a:r>
            <a:r>
              <a:rPr lang="zh-CN" altLang="en-US" sz="1800" dirty="0">
                <a:latin typeface="宋体" panose="02010600030101010101" pitchFamily="2" charset="-122"/>
                <a:ea typeface="宋体" panose="02010600030101010101" pitchFamily="2" charset="-122"/>
                <a:cs typeface="宋体" panose="02010600030101010101" pitchFamily="2" charset="-122"/>
              </a:rPr>
              <a:t>元素级乘法：也被称为</a:t>
            </a:r>
            <a:r>
              <a:rPr lang="en-US" altLang="zh-CN" sz="1800" dirty="0">
                <a:latin typeface="宋体" panose="02010600030101010101" pitchFamily="2" charset="-122"/>
                <a:ea typeface="宋体" panose="02010600030101010101" pitchFamily="2" charset="-122"/>
                <a:cs typeface="宋体" panose="02010600030101010101" pitchFamily="2" charset="-122"/>
              </a:rPr>
              <a:t>Hadamard</a:t>
            </a:r>
            <a:r>
              <a:rPr lang="zh-CN" altLang="en-US" sz="1800" dirty="0">
                <a:latin typeface="宋体" panose="02010600030101010101" pitchFamily="2" charset="-122"/>
                <a:ea typeface="宋体" panose="02010600030101010101" pitchFamily="2" charset="-122"/>
                <a:cs typeface="宋体" panose="02010600030101010101" pitchFamily="2" charset="-122"/>
              </a:rPr>
              <a:t>积，是一种二元运算，将两个矩阵相乘以产生第三个矩阵。假设我们有两个形状相同的矩阵</a:t>
            </a:r>
            <a:r>
              <a:rPr lang="en-US" altLang="zh-CN" sz="1800" dirty="0">
                <a:latin typeface="宋体" panose="02010600030101010101" pitchFamily="2" charset="-122"/>
                <a:ea typeface="宋体" panose="02010600030101010101" pitchFamily="2" charset="-122"/>
                <a:cs typeface="宋体" panose="02010600030101010101" pitchFamily="2" charset="-122"/>
              </a:rPr>
              <a:t>A</a:t>
            </a:r>
            <a:r>
              <a:rPr lang="zh-CN" altLang="en-US" sz="1800" dirty="0">
                <a:latin typeface="宋体" panose="02010600030101010101" pitchFamily="2" charset="-122"/>
                <a:ea typeface="宋体" panose="02010600030101010101" pitchFamily="2" charset="-122"/>
                <a:cs typeface="宋体" panose="02010600030101010101" pitchFamily="2" charset="-122"/>
              </a:rPr>
              <a:t>和</a:t>
            </a:r>
            <a:r>
              <a:rPr lang="en-US" altLang="zh-CN" sz="1800" dirty="0">
                <a:latin typeface="宋体" panose="02010600030101010101" pitchFamily="2" charset="-122"/>
                <a:ea typeface="宋体" panose="02010600030101010101" pitchFamily="2" charset="-122"/>
                <a:cs typeface="宋体" panose="02010600030101010101" pitchFamily="2" charset="-122"/>
              </a:rPr>
              <a:t>B</a:t>
            </a:r>
            <a:r>
              <a:rPr lang="zh-CN" altLang="en-US" sz="1800" dirty="0">
                <a:latin typeface="宋体" panose="02010600030101010101" pitchFamily="2" charset="-122"/>
                <a:ea typeface="宋体" panose="02010600030101010101" pitchFamily="2" charset="-122"/>
                <a:cs typeface="宋体" panose="02010600030101010101" pitchFamily="2" charset="-122"/>
              </a:rPr>
              <a:t>，那么我们可以进行元素级乘法得到一个新的矩阵</a:t>
            </a:r>
            <a:r>
              <a:rPr lang="en-US" altLang="zh-CN" sz="1800" dirty="0">
                <a:latin typeface="宋体" panose="02010600030101010101" pitchFamily="2" charset="-122"/>
                <a:ea typeface="宋体" panose="02010600030101010101" pitchFamily="2" charset="-122"/>
                <a:cs typeface="宋体" panose="02010600030101010101" pitchFamily="2" charset="-122"/>
              </a:rPr>
              <a:t>C</a:t>
            </a:r>
            <a:r>
              <a:rPr lang="zh-CN" altLang="en-US" sz="1800" dirty="0">
                <a:latin typeface="宋体" panose="02010600030101010101" pitchFamily="2" charset="-122"/>
                <a:ea typeface="宋体" panose="02010600030101010101" pitchFamily="2" charset="-122"/>
                <a:cs typeface="宋体" panose="02010600030101010101" pitchFamily="2" charset="-122"/>
              </a:rPr>
              <a:t>，其形状与</a:t>
            </a:r>
            <a:r>
              <a:rPr lang="en-US" altLang="zh-CN" sz="1800" dirty="0">
                <a:latin typeface="宋体" panose="02010600030101010101" pitchFamily="2" charset="-122"/>
                <a:ea typeface="宋体" panose="02010600030101010101" pitchFamily="2" charset="-122"/>
                <a:cs typeface="宋体" panose="02010600030101010101" pitchFamily="2" charset="-122"/>
              </a:rPr>
              <a:t>A</a:t>
            </a:r>
            <a:r>
              <a:rPr lang="zh-CN" altLang="en-US" sz="1800" dirty="0">
                <a:latin typeface="宋体" panose="02010600030101010101" pitchFamily="2" charset="-122"/>
                <a:ea typeface="宋体" panose="02010600030101010101" pitchFamily="2" charset="-122"/>
                <a:cs typeface="宋体" panose="02010600030101010101" pitchFamily="2" charset="-122"/>
              </a:rPr>
              <a:t>和</a:t>
            </a:r>
            <a:r>
              <a:rPr lang="en-US" altLang="zh-CN" sz="1800" dirty="0">
                <a:latin typeface="宋体" panose="02010600030101010101" pitchFamily="2" charset="-122"/>
                <a:ea typeface="宋体" panose="02010600030101010101" pitchFamily="2" charset="-122"/>
                <a:cs typeface="宋体" panose="02010600030101010101" pitchFamily="2" charset="-122"/>
              </a:rPr>
              <a:t>B</a:t>
            </a:r>
            <a:r>
              <a:rPr lang="zh-CN" altLang="en-US" sz="1800" dirty="0">
                <a:latin typeface="宋体" panose="02010600030101010101" pitchFamily="2" charset="-122"/>
                <a:ea typeface="宋体" panose="02010600030101010101" pitchFamily="2" charset="-122"/>
                <a:cs typeface="宋体" panose="02010600030101010101" pitchFamily="2" charset="-122"/>
              </a:rPr>
              <a:t>相同。</a:t>
            </a:r>
            <a:r>
              <a:rPr lang="en-US" altLang="zh-CN" sz="1800" dirty="0">
                <a:latin typeface="宋体" panose="02010600030101010101" pitchFamily="2" charset="-122"/>
                <a:ea typeface="宋体" panose="02010600030101010101" pitchFamily="2" charset="-122"/>
                <a:cs typeface="宋体" panose="02010600030101010101" pitchFamily="2" charset="-122"/>
              </a:rPr>
              <a:t>C</a:t>
            </a:r>
            <a:r>
              <a:rPr lang="zh-CN" altLang="en-US" sz="1800" dirty="0">
                <a:latin typeface="宋体" panose="02010600030101010101" pitchFamily="2" charset="-122"/>
                <a:ea typeface="宋体" panose="02010600030101010101" pitchFamily="2" charset="-122"/>
                <a:cs typeface="宋体" panose="02010600030101010101" pitchFamily="2" charset="-122"/>
              </a:rPr>
              <a:t>中的每个元素是通过将</a:t>
            </a:r>
            <a:r>
              <a:rPr lang="en-US" altLang="zh-CN" sz="1800" dirty="0">
                <a:latin typeface="宋体" panose="02010600030101010101" pitchFamily="2" charset="-122"/>
                <a:ea typeface="宋体" panose="02010600030101010101" pitchFamily="2" charset="-122"/>
                <a:cs typeface="宋体" panose="02010600030101010101" pitchFamily="2" charset="-122"/>
              </a:rPr>
              <a:t>A</a:t>
            </a:r>
            <a:r>
              <a:rPr lang="zh-CN" altLang="en-US" sz="1800" dirty="0">
                <a:latin typeface="宋体" panose="02010600030101010101" pitchFamily="2" charset="-122"/>
                <a:ea typeface="宋体" panose="02010600030101010101" pitchFamily="2" charset="-122"/>
                <a:cs typeface="宋体" panose="02010600030101010101" pitchFamily="2" charset="-122"/>
              </a:rPr>
              <a:t>和</a:t>
            </a:r>
            <a:r>
              <a:rPr lang="en-US" altLang="zh-CN" sz="1800" dirty="0">
                <a:latin typeface="宋体" panose="02010600030101010101" pitchFamily="2" charset="-122"/>
                <a:ea typeface="宋体" panose="02010600030101010101" pitchFamily="2" charset="-122"/>
                <a:cs typeface="宋体" panose="02010600030101010101" pitchFamily="2" charset="-122"/>
              </a:rPr>
              <a:t>B</a:t>
            </a:r>
            <a:r>
              <a:rPr lang="zh-CN" altLang="en-US" sz="1800" dirty="0">
                <a:latin typeface="宋体" panose="02010600030101010101" pitchFamily="2" charset="-122"/>
                <a:ea typeface="宋体" panose="02010600030101010101" pitchFamily="2" charset="-122"/>
                <a:cs typeface="宋体" panose="02010600030101010101" pitchFamily="2" charset="-122"/>
              </a:rPr>
              <a:t>中对应位置的元素相乘得到的。</a:t>
            </a:r>
          </a:p>
          <a:p>
            <a:pPr marL="0" indent="0" fontAlgn="auto">
              <a:spcAft>
                <a:spcPts val="0"/>
              </a:spcAft>
              <a:buNone/>
            </a:pPr>
            <a:endParaRPr lang="zh-CN" altLang="en-US" sz="1800"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199456" y="980728"/>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sym typeface="+mn-ea"/>
              </a:rPr>
              <a:t>Tensor</a:t>
            </a:r>
            <a:r>
              <a:rPr lang="zh-CN" altLang="en-US" sz="3200" dirty="0">
                <a:sym typeface="+mn-ea"/>
              </a:rPr>
              <a:t>张量</a:t>
            </a:r>
            <a:endParaRPr lang="zh-CN" altLang="en-US" sz="3200" dirty="0"/>
          </a:p>
        </p:txBody>
      </p:sp>
      <p:sp>
        <p:nvSpPr>
          <p:cNvPr id="5" name="Content Placeholder 2"/>
          <p:cNvSpPr txBox="1"/>
          <p:nvPr/>
        </p:nvSpPr>
        <p:spPr>
          <a:xfrm>
            <a:off x="1264138" y="2409407"/>
            <a:ext cx="7787352" cy="386046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Aft>
                <a:spcPts val="0"/>
              </a:spcAft>
              <a:buNone/>
            </a:pPr>
            <a:endParaRPr lang="zh-CN" altLang="en-US" dirty="0"/>
          </a:p>
        </p:txBody>
      </p:sp>
      <p:sp>
        <p:nvSpPr>
          <p:cNvPr id="8" name="Content Placeholder 2"/>
          <p:cNvSpPr txBox="1"/>
          <p:nvPr/>
        </p:nvSpPr>
        <p:spPr>
          <a:xfrm>
            <a:off x="1415415" y="1628775"/>
            <a:ext cx="9872345" cy="386016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fontAlgn="auto">
              <a:spcAft>
                <a:spcPts val="0"/>
              </a:spcAft>
              <a:buNone/>
            </a:pPr>
            <a:r>
              <a:rPr lang="zh-CN" altLang="en-US" sz="1800" dirty="0">
                <a:latin typeface="宋体" panose="02010600030101010101" pitchFamily="2" charset="-122"/>
                <a:ea typeface="宋体" panose="02010600030101010101" pitchFamily="2" charset="-122"/>
                <a:cs typeface="宋体" panose="02010600030101010101" pitchFamily="2" charset="-122"/>
              </a:rPr>
              <a:t>如果你有一个单元素张量，例如通过将张量的所有值聚合为一个值，你可以使</a:t>
            </a:r>
            <a:r>
              <a:rPr lang="en-US" altLang="zh-CN" sz="18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item() </a:t>
            </a:r>
            <a:r>
              <a:rPr lang="zh-CN" altLang="en-US" sz="1800" dirty="0">
                <a:latin typeface="宋体" panose="02010600030101010101" pitchFamily="2" charset="-122"/>
                <a:ea typeface="宋体" panose="02010600030101010101" pitchFamily="2" charset="-122"/>
                <a:cs typeface="宋体" panose="02010600030101010101" pitchFamily="2" charset="-122"/>
              </a:rPr>
              <a:t>将它转换为</a:t>
            </a:r>
            <a:r>
              <a:rPr lang="en-US" altLang="zh-CN" sz="1800" dirty="0">
                <a:latin typeface="宋体" panose="02010600030101010101" pitchFamily="2" charset="-122"/>
                <a:ea typeface="宋体" panose="02010600030101010101" pitchFamily="2" charset="-122"/>
                <a:cs typeface="宋体" panose="02010600030101010101" pitchFamily="2" charset="-122"/>
              </a:rPr>
              <a:t>Python</a:t>
            </a:r>
            <a:r>
              <a:rPr lang="zh-CN" altLang="en-US" sz="1800" dirty="0">
                <a:latin typeface="宋体" panose="02010600030101010101" pitchFamily="2" charset="-122"/>
                <a:ea typeface="宋体" panose="02010600030101010101" pitchFamily="2" charset="-122"/>
                <a:cs typeface="宋体" panose="02010600030101010101" pitchFamily="2" charset="-122"/>
              </a:rPr>
              <a:t>数值。</a:t>
            </a:r>
          </a:p>
          <a:p>
            <a:pPr marL="0" indent="0" fontAlgn="auto">
              <a:spcAft>
                <a:spcPts val="0"/>
              </a:spcAft>
              <a:buNone/>
            </a:pPr>
            <a:endParaRPr lang="zh-CN" altLang="en-US" sz="1800" dirty="0">
              <a:latin typeface="宋体" panose="02010600030101010101" pitchFamily="2" charset="-122"/>
              <a:ea typeface="宋体" panose="02010600030101010101" pitchFamily="2" charset="-122"/>
              <a:cs typeface="宋体" panose="02010600030101010101" pitchFamily="2" charset="-122"/>
            </a:endParaRPr>
          </a:p>
        </p:txBody>
      </p:sp>
      <p:pic>
        <p:nvPicPr>
          <p:cNvPr id="10" name="图片 9"/>
          <p:cNvPicPr/>
          <p:nvPr/>
        </p:nvPicPr>
        <p:blipFill>
          <a:blip r:embed="rId3"/>
          <a:stretch>
            <a:fillRect/>
          </a:stretch>
        </p:blipFill>
        <p:spPr>
          <a:xfrm>
            <a:off x="2711450" y="2599055"/>
            <a:ext cx="6105525" cy="254381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199456" y="980728"/>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sym typeface="+mn-ea"/>
              </a:rPr>
              <a:t>Tensor</a:t>
            </a:r>
            <a:r>
              <a:rPr lang="zh-CN" altLang="en-US" sz="3200" dirty="0">
                <a:sym typeface="+mn-ea"/>
              </a:rPr>
              <a:t>张量</a:t>
            </a:r>
            <a:endParaRPr lang="zh-CN" altLang="en-US" sz="3200" dirty="0"/>
          </a:p>
        </p:txBody>
      </p:sp>
      <p:sp>
        <p:nvSpPr>
          <p:cNvPr id="5" name="Content Placeholder 2"/>
          <p:cNvSpPr txBox="1"/>
          <p:nvPr/>
        </p:nvSpPr>
        <p:spPr>
          <a:xfrm>
            <a:off x="1264138" y="2409407"/>
            <a:ext cx="7787352" cy="386046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Aft>
                <a:spcPts val="0"/>
              </a:spcAft>
              <a:buNone/>
            </a:pPr>
            <a:endParaRPr lang="zh-CN" altLang="en-US" dirty="0"/>
          </a:p>
        </p:txBody>
      </p:sp>
      <p:sp>
        <p:nvSpPr>
          <p:cNvPr id="8" name="Content Placeholder 2"/>
          <p:cNvSpPr txBox="1"/>
          <p:nvPr/>
        </p:nvSpPr>
        <p:spPr>
          <a:xfrm>
            <a:off x="1415415" y="1628775"/>
            <a:ext cx="9872345" cy="386016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fontAlgn="auto">
              <a:spcAft>
                <a:spcPts val="0"/>
              </a:spcAft>
              <a:buNone/>
            </a:pPr>
            <a:r>
              <a:rPr lang="zh-CN" altLang="en-US" sz="1800" dirty="0">
                <a:latin typeface="宋体" panose="02010600030101010101" pitchFamily="2" charset="-122"/>
                <a:ea typeface="宋体" panose="02010600030101010101" pitchFamily="2" charset="-122"/>
                <a:cs typeface="宋体" panose="02010600030101010101" pitchFamily="2" charset="-122"/>
              </a:rPr>
              <a:t>将结果存储到操作数中的操作称为就地操作。它们由</a:t>
            </a:r>
            <a:r>
              <a:rPr lang="en-US" altLang="zh-CN" sz="1800" dirty="0">
                <a:latin typeface="宋体" panose="02010600030101010101" pitchFamily="2" charset="-122"/>
                <a:ea typeface="宋体" panose="02010600030101010101" pitchFamily="2" charset="-122"/>
                <a:cs typeface="宋体" panose="02010600030101010101" pitchFamily="2" charset="-122"/>
              </a:rPr>
              <a:t>_</a:t>
            </a:r>
            <a:r>
              <a:rPr lang="zh-CN" altLang="en-US" sz="1800" dirty="0">
                <a:latin typeface="宋体" panose="02010600030101010101" pitchFamily="2" charset="-122"/>
                <a:ea typeface="宋体" panose="02010600030101010101" pitchFamily="2" charset="-122"/>
                <a:cs typeface="宋体" panose="02010600030101010101" pitchFamily="2" charset="-122"/>
              </a:rPr>
              <a:t>后缀表示。例如：</a:t>
            </a:r>
            <a:r>
              <a:rPr lang="en-US" altLang="zh-CN" sz="18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x.copy_(y)</a:t>
            </a:r>
            <a:r>
              <a:rPr lang="zh-CN" altLang="en-US" sz="1800" dirty="0">
                <a:latin typeface="宋体" panose="02010600030101010101" pitchFamily="2" charset="-122"/>
                <a:ea typeface="宋体" panose="02010600030101010101" pitchFamily="2" charset="-122"/>
                <a:cs typeface="宋体" panose="02010600030101010101" pitchFamily="2" charset="-122"/>
              </a:rPr>
              <a:t>，</a:t>
            </a:r>
            <a:r>
              <a:rPr lang="en-US" altLang="zh-CN" sz="18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x.t_()</a:t>
            </a:r>
            <a:r>
              <a:rPr lang="zh-CN" altLang="en-US" sz="1800" dirty="0">
                <a:latin typeface="宋体" panose="02010600030101010101" pitchFamily="2" charset="-122"/>
                <a:ea typeface="宋体" panose="02010600030101010101" pitchFamily="2" charset="-122"/>
                <a:cs typeface="宋体" panose="02010600030101010101" pitchFamily="2" charset="-122"/>
              </a:rPr>
              <a:t>，将更改</a:t>
            </a:r>
            <a:r>
              <a:rPr lang="en-US" altLang="zh-CN" sz="18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x</a:t>
            </a:r>
            <a:r>
              <a:rPr lang="zh-CN" altLang="en-US" sz="1800" dirty="0">
                <a:latin typeface="宋体" panose="02010600030101010101" pitchFamily="2" charset="-122"/>
                <a:ea typeface="宋体" panose="02010600030101010101" pitchFamily="2" charset="-122"/>
                <a:cs typeface="宋体" panose="02010600030101010101" pitchFamily="2" charset="-122"/>
              </a:rPr>
              <a:t>。</a:t>
            </a:r>
          </a:p>
          <a:p>
            <a:pPr marL="0" indent="0" fontAlgn="auto">
              <a:spcAft>
                <a:spcPts val="0"/>
              </a:spcAft>
              <a:buNone/>
            </a:pPr>
            <a:endParaRPr lang="zh-CN" altLang="en-US" sz="1800" dirty="0">
              <a:latin typeface="宋体" panose="02010600030101010101" pitchFamily="2" charset="-122"/>
              <a:ea typeface="宋体" panose="02010600030101010101" pitchFamily="2" charset="-122"/>
              <a:cs typeface="宋体" panose="02010600030101010101" pitchFamily="2" charset="-122"/>
            </a:endParaRPr>
          </a:p>
        </p:txBody>
      </p:sp>
      <p:sp>
        <p:nvSpPr>
          <p:cNvPr id="6" name="文本框 5"/>
          <p:cNvSpPr txBox="1"/>
          <p:nvPr/>
        </p:nvSpPr>
        <p:spPr>
          <a:xfrm>
            <a:off x="1631315" y="5588635"/>
            <a:ext cx="7736840" cy="645160"/>
          </a:xfrm>
          <a:prstGeom prst="rect">
            <a:avLst/>
          </a:prstGeom>
          <a:noFill/>
        </p:spPr>
        <p:txBody>
          <a:bodyPr wrap="square" rtlCol="0">
            <a:spAutoFit/>
          </a:bodyPr>
          <a:lstStyle/>
          <a:p>
            <a:pPr indent="457200"/>
            <a:r>
              <a:rPr lang="zh-CN" altLang="en-US"/>
              <a:t>注意：就地操作保存一些内存，但是在</a:t>
            </a:r>
            <a:r>
              <a:rPr lang="zh-CN" altLang="en-US">
                <a:solidFill>
                  <a:schemeClr val="accent1"/>
                </a:solidFill>
                <a:effectLst>
                  <a:outerShdw blurRad="38100" dist="25400" dir="5400000" algn="ctr" rotWithShape="0">
                    <a:srgbClr val="6E747A">
                      <a:alpha val="43000"/>
                    </a:srgbClr>
                  </a:outerShdw>
                </a:effectLst>
              </a:rPr>
              <a:t>计算导数</a:t>
            </a:r>
            <a:r>
              <a:rPr lang="zh-CN" altLang="en-US"/>
              <a:t>时可能会出现问题，因为会</a:t>
            </a:r>
            <a:r>
              <a:rPr lang="zh-CN" altLang="en-US">
                <a:solidFill>
                  <a:schemeClr val="accent1"/>
                </a:solidFill>
                <a:effectLst>
                  <a:outerShdw blurRad="38100" dist="25400" dir="5400000" algn="ctr" rotWithShape="0">
                    <a:srgbClr val="6E747A">
                      <a:alpha val="43000"/>
                    </a:srgbClr>
                  </a:outerShdw>
                </a:effectLst>
              </a:rPr>
              <a:t>立即丢失历史</a:t>
            </a:r>
            <a:r>
              <a:rPr lang="zh-CN" altLang="en-US"/>
              <a:t>。因此，不鼓励使用它们。</a:t>
            </a:r>
          </a:p>
        </p:txBody>
      </p:sp>
      <p:pic>
        <p:nvPicPr>
          <p:cNvPr id="7" name="图片 6"/>
          <p:cNvPicPr/>
          <p:nvPr/>
        </p:nvPicPr>
        <p:blipFill>
          <a:blip r:embed="rId3"/>
          <a:stretch>
            <a:fillRect/>
          </a:stretch>
        </p:blipFill>
        <p:spPr>
          <a:xfrm>
            <a:off x="3060065" y="2364105"/>
            <a:ext cx="5550535" cy="305117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199456" y="980728"/>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sym typeface="+mn-ea"/>
              </a:rPr>
              <a:t>Tensor</a:t>
            </a:r>
            <a:r>
              <a:rPr lang="zh-CN" altLang="en-US" sz="3200" dirty="0">
                <a:sym typeface="+mn-ea"/>
              </a:rPr>
              <a:t>张量</a:t>
            </a:r>
            <a:endParaRPr lang="zh-CN" altLang="en-US" sz="3200" dirty="0"/>
          </a:p>
        </p:txBody>
      </p:sp>
      <p:sp>
        <p:nvSpPr>
          <p:cNvPr id="5" name="Content Placeholder 2"/>
          <p:cNvSpPr txBox="1"/>
          <p:nvPr/>
        </p:nvSpPr>
        <p:spPr>
          <a:xfrm>
            <a:off x="1264138" y="2409407"/>
            <a:ext cx="7787352" cy="386046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Aft>
                <a:spcPts val="0"/>
              </a:spcAft>
              <a:buNone/>
            </a:pPr>
            <a:endParaRPr lang="zh-CN" altLang="en-US" dirty="0"/>
          </a:p>
        </p:txBody>
      </p:sp>
      <p:sp>
        <p:nvSpPr>
          <p:cNvPr id="8" name="Content Placeholder 2"/>
          <p:cNvSpPr txBox="1"/>
          <p:nvPr/>
        </p:nvSpPr>
        <p:spPr>
          <a:xfrm>
            <a:off x="1461770" y="1628775"/>
            <a:ext cx="9872345" cy="386016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fontAlgn="auto">
              <a:spcAft>
                <a:spcPts val="0"/>
              </a:spcAft>
              <a:buNone/>
            </a:pPr>
            <a:r>
              <a:rPr lang="en-US" altLang="zh-CN" sz="1800" dirty="0">
                <a:latin typeface="宋体" panose="02010600030101010101" pitchFamily="2" charset="-122"/>
                <a:ea typeface="宋体" panose="02010600030101010101" pitchFamily="2" charset="-122"/>
                <a:cs typeface="宋体" panose="02010600030101010101" pitchFamily="2" charset="-122"/>
              </a:rPr>
              <a:t>CPU</a:t>
            </a:r>
            <a:r>
              <a:rPr lang="zh-CN" altLang="en-US" sz="1800" dirty="0">
                <a:latin typeface="宋体" panose="02010600030101010101" pitchFamily="2" charset="-122"/>
                <a:ea typeface="宋体" panose="02010600030101010101" pitchFamily="2" charset="-122"/>
                <a:cs typeface="宋体" panose="02010600030101010101" pitchFamily="2" charset="-122"/>
              </a:rPr>
              <a:t>和</a:t>
            </a:r>
            <a:r>
              <a:rPr lang="en-US" altLang="zh-CN" sz="1800" dirty="0">
                <a:latin typeface="宋体" panose="02010600030101010101" pitchFamily="2" charset="-122"/>
                <a:ea typeface="宋体" panose="02010600030101010101" pitchFamily="2" charset="-122"/>
                <a:cs typeface="宋体" panose="02010600030101010101" pitchFamily="2" charset="-122"/>
              </a:rPr>
              <a:t>NumPy</a:t>
            </a:r>
            <a:r>
              <a:rPr lang="zh-CN" altLang="en-US" sz="1800" dirty="0">
                <a:latin typeface="宋体" panose="02010600030101010101" pitchFamily="2" charset="-122"/>
                <a:ea typeface="宋体" panose="02010600030101010101" pitchFamily="2" charset="-122"/>
                <a:cs typeface="宋体" panose="02010600030101010101" pitchFamily="2" charset="-122"/>
              </a:rPr>
              <a:t>数组上的张量可以共享它们的底层内存位置，改变一个就会改变另一个，</a:t>
            </a:r>
            <a:r>
              <a:rPr lang="zh-CN" altLang="en-US" sz="1800" dirty="0">
                <a:latin typeface="宋体" panose="02010600030101010101" pitchFamily="2" charset="-122"/>
                <a:ea typeface="宋体" panose="02010600030101010101" pitchFamily="2" charset="-122"/>
                <a:cs typeface="宋体" panose="02010600030101010101" pitchFamily="2" charset="-122"/>
                <a:sym typeface="+mn-ea"/>
              </a:rPr>
              <a:t>反之亦然</a:t>
            </a:r>
            <a:r>
              <a:rPr lang="zh-CN" altLang="en-US" sz="1800" dirty="0">
                <a:latin typeface="宋体" panose="02010600030101010101" pitchFamily="2" charset="-122"/>
                <a:ea typeface="宋体" panose="02010600030101010101" pitchFamily="2" charset="-122"/>
                <a:cs typeface="宋体" panose="02010600030101010101" pitchFamily="2" charset="-122"/>
              </a:rPr>
              <a:t>。</a:t>
            </a:r>
          </a:p>
          <a:p>
            <a:pPr marL="0" indent="457200" fontAlgn="auto">
              <a:spcAft>
                <a:spcPts val="0"/>
              </a:spcAft>
              <a:buNone/>
            </a:pPr>
            <a:endParaRPr lang="zh-CN" altLang="en-US" sz="1800" dirty="0">
              <a:latin typeface="宋体" panose="02010600030101010101" pitchFamily="2" charset="-122"/>
              <a:ea typeface="宋体" panose="02010600030101010101" pitchFamily="2" charset="-122"/>
              <a:cs typeface="宋体" panose="02010600030101010101" pitchFamily="2" charset="-122"/>
            </a:endParaRPr>
          </a:p>
        </p:txBody>
      </p:sp>
      <p:pic>
        <p:nvPicPr>
          <p:cNvPr id="7" name="图片 6"/>
          <p:cNvPicPr/>
          <p:nvPr/>
        </p:nvPicPr>
        <p:blipFill>
          <a:blip r:embed="rId3"/>
          <a:stretch>
            <a:fillRect/>
          </a:stretch>
        </p:blipFill>
        <p:spPr>
          <a:xfrm>
            <a:off x="1264285" y="2276475"/>
            <a:ext cx="4752975" cy="2714625"/>
          </a:xfrm>
          <a:prstGeom prst="rect">
            <a:avLst/>
          </a:prstGeom>
        </p:spPr>
      </p:pic>
      <p:sp>
        <p:nvSpPr>
          <p:cNvPr id="9" name="文本框 8"/>
          <p:cNvSpPr txBox="1"/>
          <p:nvPr/>
        </p:nvSpPr>
        <p:spPr>
          <a:xfrm>
            <a:off x="1606550" y="5300980"/>
            <a:ext cx="4064000" cy="368300"/>
          </a:xfrm>
          <a:prstGeom prst="rect">
            <a:avLst/>
          </a:prstGeom>
          <a:noFill/>
        </p:spPr>
        <p:txBody>
          <a:bodyPr wrap="square" rtlCol="0">
            <a:spAutoFit/>
          </a:bodyPr>
          <a:lstStyle/>
          <a:p>
            <a:r>
              <a:rPr lang="zh-CN" altLang="en-US"/>
              <a:t>张量到</a:t>
            </a:r>
            <a:r>
              <a:rPr lang="en-US" altLang="zh-CN"/>
              <a:t>NumPy</a:t>
            </a:r>
            <a:r>
              <a:rPr lang="zh-CN" altLang="en-US"/>
              <a:t>数组</a:t>
            </a:r>
          </a:p>
        </p:txBody>
      </p:sp>
      <p:pic>
        <p:nvPicPr>
          <p:cNvPr id="11" name="图片 10"/>
          <p:cNvPicPr/>
          <p:nvPr/>
        </p:nvPicPr>
        <p:blipFill>
          <a:blip r:embed="rId4"/>
          <a:stretch>
            <a:fillRect/>
          </a:stretch>
        </p:blipFill>
        <p:spPr>
          <a:xfrm>
            <a:off x="6311900" y="2276475"/>
            <a:ext cx="5048250" cy="2714625"/>
          </a:xfrm>
          <a:prstGeom prst="rect">
            <a:avLst/>
          </a:prstGeom>
        </p:spPr>
      </p:pic>
      <p:sp>
        <p:nvSpPr>
          <p:cNvPr id="12" name="文本框 11"/>
          <p:cNvSpPr txBox="1"/>
          <p:nvPr/>
        </p:nvSpPr>
        <p:spPr>
          <a:xfrm>
            <a:off x="6527800" y="5390515"/>
            <a:ext cx="4064000" cy="645160"/>
          </a:xfrm>
          <a:prstGeom prst="rect">
            <a:avLst/>
          </a:prstGeom>
          <a:noFill/>
        </p:spPr>
        <p:txBody>
          <a:bodyPr wrap="square" rtlCol="0">
            <a:spAutoFit/>
          </a:bodyPr>
          <a:lstStyle/>
          <a:p>
            <a:r>
              <a:rPr lang="zh-CN" altLang="en-US">
                <a:sym typeface="+mn-ea"/>
              </a:rPr>
              <a:t>张量的变化反映在</a:t>
            </a:r>
            <a:r>
              <a:rPr lang="en-US" altLang="zh-CN">
                <a:sym typeface="+mn-ea"/>
              </a:rPr>
              <a:t>NumPy</a:t>
            </a:r>
            <a:r>
              <a:rPr lang="zh-CN" altLang="en-US">
                <a:sym typeface="+mn-ea"/>
              </a:rPr>
              <a:t>数组中</a:t>
            </a:r>
            <a:endParaRPr lang="zh-CN" altLang="en-US"/>
          </a:p>
          <a:p>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199456" y="980728"/>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Autograd</a:t>
            </a:r>
            <a:r>
              <a:rPr lang="zh-CN" altLang="en-US" sz="3200" dirty="0"/>
              <a:t>自动求导</a:t>
            </a:r>
          </a:p>
        </p:txBody>
      </p:sp>
      <p:sp>
        <p:nvSpPr>
          <p:cNvPr id="5" name="Content Placeholder 2"/>
          <p:cNvSpPr txBox="1"/>
          <p:nvPr/>
        </p:nvSpPr>
        <p:spPr>
          <a:xfrm>
            <a:off x="1264138" y="2409407"/>
            <a:ext cx="7787352" cy="386046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fontAlgn="auto">
              <a:spcAft>
                <a:spcPts val="0"/>
              </a:spcAft>
              <a:buNone/>
            </a:pPr>
            <a:r>
              <a:rPr lang="zh-CN" altLang="en-US" sz="2000" dirty="0"/>
              <a:t>在训练一个神经网络时，</a:t>
            </a:r>
            <a:r>
              <a:rPr lang="zh-CN" altLang="en-US" sz="2000" dirty="0">
                <a:solidFill>
                  <a:schemeClr val="accent1"/>
                </a:solidFill>
                <a:effectLst>
                  <a:outerShdw blurRad="38100" dist="25400" dir="5400000" algn="ctr" rotWithShape="0">
                    <a:srgbClr val="6E747A">
                      <a:alpha val="43000"/>
                    </a:srgbClr>
                  </a:outerShdw>
                </a:effectLst>
              </a:rPr>
              <a:t>梯度</a:t>
            </a:r>
            <a:r>
              <a:rPr lang="zh-CN" altLang="en-US" sz="2000" dirty="0"/>
              <a:t>的计算是一个关键的步骤，它为神经网络的</a:t>
            </a:r>
            <a:r>
              <a:rPr lang="zh-CN" altLang="en-US" sz="2000" dirty="0">
                <a:solidFill>
                  <a:schemeClr val="accent1"/>
                </a:solidFill>
                <a:effectLst>
                  <a:outerShdw blurRad="38100" dist="25400" dir="5400000" algn="ctr" rotWithShape="0">
                    <a:srgbClr val="6E747A">
                      <a:alpha val="43000"/>
                    </a:srgbClr>
                  </a:outerShdw>
                </a:effectLst>
              </a:rPr>
              <a:t>优化</a:t>
            </a:r>
            <a:r>
              <a:rPr lang="zh-CN" altLang="en-US" sz="2000" dirty="0"/>
              <a:t>提供了关键数据。</a:t>
            </a:r>
          </a:p>
          <a:p>
            <a:pPr marL="0" indent="457200" fontAlgn="auto">
              <a:spcAft>
                <a:spcPts val="0"/>
              </a:spcAft>
              <a:buNone/>
            </a:pPr>
            <a:r>
              <a:rPr lang="zh-CN" altLang="en-US" sz="2000" dirty="0"/>
              <a:t>但是在面临复杂神经网络时，导数的计算就成为一个难题，要求人们理解出复杂、高维的方程是不现实的。</a:t>
            </a:r>
          </a:p>
          <a:p>
            <a:pPr marL="0" indent="457200" fontAlgn="auto">
              <a:spcAft>
                <a:spcPts val="0"/>
              </a:spcAft>
              <a:buNone/>
            </a:pPr>
            <a:r>
              <a:rPr lang="zh-CN" altLang="en-US" sz="2000" dirty="0"/>
              <a:t>这就是自动求导出现的原因，目前最流行的深度学习框架如</a:t>
            </a:r>
            <a:r>
              <a:rPr lang="en-US" altLang="zh-CN" sz="2000" dirty="0"/>
              <a:t> PyTorch</a:t>
            </a:r>
            <a:r>
              <a:rPr lang="zh-CN" altLang="en-US" sz="2000" dirty="0"/>
              <a:t>、</a:t>
            </a:r>
            <a:r>
              <a:rPr lang="en-US" altLang="zh-CN" sz="2000" dirty="0"/>
              <a:t>TensorFlow </a:t>
            </a:r>
            <a:r>
              <a:rPr lang="zh-CN" altLang="en-US" sz="2000" dirty="0"/>
              <a:t>等都提供了</a:t>
            </a:r>
            <a:r>
              <a:rPr lang="zh-CN" altLang="en-US" sz="2000" dirty="0">
                <a:solidFill>
                  <a:schemeClr val="accent1"/>
                </a:solidFill>
                <a:effectLst>
                  <a:outerShdw blurRad="38100" dist="25400" dir="5400000" algn="ctr" rotWithShape="0">
                    <a:srgbClr val="6E747A">
                      <a:alpha val="43000"/>
                    </a:srgbClr>
                  </a:outerShdw>
                </a:effectLst>
              </a:rPr>
              <a:t>自动微分</a:t>
            </a:r>
            <a:r>
              <a:rPr lang="zh-CN" altLang="en-US" sz="2000" dirty="0"/>
              <a:t>的支持，让人们只需要很少的工作就能神奇般地自动计算出复杂函数的梯度。</a:t>
            </a:r>
          </a:p>
        </p:txBody>
      </p:sp>
      <p:sp>
        <p:nvSpPr>
          <p:cNvPr id="8" name="Content Placeholder 2"/>
          <p:cNvSpPr txBox="1"/>
          <p:nvPr/>
        </p:nvSpPr>
        <p:spPr>
          <a:xfrm>
            <a:off x="1198880" y="1700530"/>
            <a:ext cx="9872345" cy="386016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fontAlgn="auto">
              <a:spcAft>
                <a:spcPts val="0"/>
              </a:spcAft>
              <a:buNone/>
            </a:pPr>
            <a:r>
              <a:rPr lang="en-US" altLang="zh-CN" sz="2400" dirty="0">
                <a:latin typeface="宋体" panose="02010600030101010101" pitchFamily="2" charset="-122"/>
                <a:ea typeface="宋体" panose="02010600030101010101" pitchFamily="2" charset="-122"/>
                <a:cs typeface="宋体" panose="02010600030101010101" pitchFamily="2" charset="-122"/>
              </a:rPr>
              <a:t>PyTorch</a:t>
            </a:r>
            <a:r>
              <a:rPr lang="zh-CN" altLang="en-US" sz="2400" b="1" dirty="0">
                <a:latin typeface="宋体" panose="02010600030101010101" pitchFamily="2" charset="-122"/>
                <a:ea typeface="宋体" panose="02010600030101010101" pitchFamily="2" charset="-122"/>
                <a:cs typeface="宋体" panose="02010600030101010101" pitchFamily="2" charset="-122"/>
              </a:rPr>
              <a:t>之自动梯度</a:t>
            </a:r>
          </a:p>
          <a:p>
            <a:pPr marL="0" indent="457200" fontAlgn="auto">
              <a:spcAft>
                <a:spcPts val="0"/>
              </a:spcAft>
              <a:buNone/>
            </a:pPr>
            <a:endParaRPr lang="zh-CN" altLang="en-US" sz="2400" b="1" dirty="0">
              <a:latin typeface="宋体" panose="02010600030101010101" pitchFamily="2" charset="-122"/>
              <a:ea typeface="宋体" panose="02010600030101010101" pitchFamily="2" charset="-122"/>
              <a:cs typeface="宋体" panose="02010600030101010101" pitchFamily="2" charset="-122"/>
            </a:endParaRPr>
          </a:p>
          <a:p>
            <a:pPr marL="0" indent="457200" fontAlgn="auto">
              <a:spcAft>
                <a:spcPts val="0"/>
              </a:spcAft>
              <a:buNone/>
            </a:pPr>
            <a:endParaRPr lang="zh-CN" altLang="en-US" sz="2400" b="1"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199456" y="980728"/>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Autograd</a:t>
            </a:r>
            <a:r>
              <a:rPr lang="zh-CN" altLang="en-US" sz="3200" dirty="0"/>
              <a:t>自动求导</a:t>
            </a:r>
          </a:p>
        </p:txBody>
      </p:sp>
      <p:sp>
        <p:nvSpPr>
          <p:cNvPr id="7" name="文本框 6"/>
          <p:cNvSpPr txBox="1"/>
          <p:nvPr/>
        </p:nvSpPr>
        <p:spPr>
          <a:xfrm>
            <a:off x="1558925" y="1700530"/>
            <a:ext cx="4064000" cy="460375"/>
          </a:xfrm>
          <a:prstGeom prst="rect">
            <a:avLst/>
          </a:prstGeom>
          <a:noFill/>
        </p:spPr>
        <p:txBody>
          <a:bodyPr wrap="square" rtlCol="0">
            <a:spAutoFit/>
          </a:bodyPr>
          <a:lstStyle/>
          <a:p>
            <a:r>
              <a:rPr lang="en-US" altLang="zh-CN" sz="2400"/>
              <a:t>requires_grad </a:t>
            </a:r>
            <a:r>
              <a:rPr lang="zh-CN" altLang="en-US" sz="2400"/>
              <a:t>属性</a:t>
            </a:r>
          </a:p>
        </p:txBody>
      </p:sp>
      <p:sp>
        <p:nvSpPr>
          <p:cNvPr id="9" name="文本框 8"/>
          <p:cNvSpPr txBox="1"/>
          <p:nvPr/>
        </p:nvSpPr>
        <p:spPr>
          <a:xfrm>
            <a:off x="1847215" y="2204720"/>
            <a:ext cx="8329930" cy="2616835"/>
          </a:xfrm>
          <a:prstGeom prst="rect">
            <a:avLst/>
          </a:prstGeom>
        </p:spPr>
        <p:txBody>
          <a:bodyPr wrap="square">
            <a:noAutofit/>
          </a:bodyPr>
          <a:lstStyle/>
          <a:p>
            <a:pPr marL="0" indent="457200"/>
            <a:r>
              <a:rPr lang="zh-CN" altLang="en-US" sz="2400" b="0" i="0">
                <a:latin typeface="宋体" panose="02010600030101010101" pitchFamily="2" charset="-122"/>
                <a:cs typeface="宋体" panose="02010600030101010101" pitchFamily="2" charset="-122"/>
              </a:rPr>
              <a:t>每个</a:t>
            </a:r>
            <a:r>
              <a:rPr lang="en-US" altLang="zh-CN" sz="2400" b="0" i="0">
                <a:latin typeface="宋体" panose="02010600030101010101" pitchFamily="2" charset="-122"/>
                <a:cs typeface="宋体" panose="02010600030101010101" pitchFamily="2" charset="-122"/>
              </a:rPr>
              <a:t>Tensor</a:t>
            </a:r>
            <a:r>
              <a:rPr lang="zh-CN" altLang="en-US" sz="2400" b="0" i="0">
                <a:latin typeface="宋体" panose="02010600030101010101" pitchFamily="2" charset="-122"/>
                <a:cs typeface="宋体" panose="02010600030101010101" pitchFamily="2" charset="-122"/>
              </a:rPr>
              <a:t>都有一个</a:t>
            </a:r>
            <a:r>
              <a:rPr lang="en-US" altLang="zh-CN" sz="2400" b="0" i="0">
                <a:latin typeface="宋体" panose="02010600030101010101" pitchFamily="2" charset="-122"/>
                <a:cs typeface="宋体" panose="02010600030101010101" pitchFamily="2" charset="-122"/>
              </a:rPr>
              <a:t>requires_grad</a:t>
            </a:r>
            <a:r>
              <a:rPr lang="zh-CN" altLang="en-US" sz="2400" b="0" i="0">
                <a:latin typeface="宋体" panose="02010600030101010101" pitchFamily="2" charset="-122"/>
                <a:cs typeface="宋体" panose="02010600030101010101" pitchFamily="2" charset="-122"/>
              </a:rPr>
              <a:t>属性。</a:t>
            </a:r>
            <a:r>
              <a:rPr lang="en-US" altLang="zh-CN" sz="2400" b="0" i="0">
                <a:latin typeface="宋体" panose="02010600030101010101" pitchFamily="2" charset="-122"/>
                <a:cs typeface="宋体" panose="02010600030101010101" pitchFamily="2" charset="-122"/>
              </a:rPr>
              <a:t>requires_grad</a:t>
            </a:r>
            <a:r>
              <a:rPr lang="zh-CN" altLang="en-US" sz="2400" b="0" i="0">
                <a:latin typeface="宋体" panose="02010600030101010101" pitchFamily="2" charset="-122"/>
                <a:cs typeface="宋体" panose="02010600030101010101" pitchFamily="2" charset="-122"/>
              </a:rPr>
              <a:t>属性</a:t>
            </a:r>
            <a:r>
              <a:rPr lang="zh-CN" altLang="en-US" sz="2400" b="0" i="0">
                <a:solidFill>
                  <a:schemeClr val="accent1"/>
                </a:solidFill>
                <a:effectLst>
                  <a:outerShdw blurRad="38100" dist="25400" dir="5400000" algn="ctr" rotWithShape="0">
                    <a:srgbClr val="6E747A">
                      <a:alpha val="43000"/>
                    </a:srgbClr>
                  </a:outerShdw>
                </a:effectLst>
                <a:latin typeface="宋体" panose="02010600030101010101" pitchFamily="2" charset="-122"/>
                <a:cs typeface="宋体" panose="02010600030101010101" pitchFamily="2" charset="-122"/>
              </a:rPr>
              <a:t>默认为 </a:t>
            </a:r>
            <a:r>
              <a:rPr lang="en-US" altLang="zh-CN" sz="2400" b="0" i="0">
                <a:solidFill>
                  <a:schemeClr val="accent1"/>
                </a:solidFill>
                <a:effectLst>
                  <a:outerShdw blurRad="38100" dist="25400" dir="5400000" algn="ctr" rotWithShape="0">
                    <a:srgbClr val="6E747A">
                      <a:alpha val="43000"/>
                    </a:srgbClr>
                  </a:outerShdw>
                </a:effectLst>
                <a:latin typeface="宋体" panose="02010600030101010101" pitchFamily="2" charset="-122"/>
                <a:cs typeface="宋体" panose="02010600030101010101" pitchFamily="2" charset="-122"/>
              </a:rPr>
              <a:t>False</a:t>
            </a:r>
            <a:r>
              <a:rPr lang="zh-CN" altLang="en-US" sz="2400" b="0" i="0">
                <a:latin typeface="宋体" panose="02010600030101010101" pitchFamily="2" charset="-122"/>
                <a:cs typeface="宋体" panose="02010600030101010101" pitchFamily="2" charset="-122"/>
              </a:rPr>
              <a:t>，也就是 </a:t>
            </a:r>
            <a:r>
              <a:rPr lang="en-US" altLang="zh-CN" sz="2400" b="0" i="0">
                <a:latin typeface="宋体" panose="02010600030101010101" pitchFamily="2" charset="-122"/>
                <a:cs typeface="宋体" panose="02010600030101010101" pitchFamily="2" charset="-122"/>
              </a:rPr>
              <a:t>Tensor </a:t>
            </a:r>
            <a:r>
              <a:rPr lang="zh-CN" altLang="en-US" sz="2400" b="0" i="0">
                <a:latin typeface="宋体" panose="02010600030101010101" pitchFamily="2" charset="-122"/>
                <a:cs typeface="宋体" panose="02010600030101010101" pitchFamily="2" charset="-122"/>
              </a:rPr>
              <a:t>变量默认是不需要求导的。</a:t>
            </a:r>
          </a:p>
          <a:p>
            <a:pPr marL="0" indent="457200"/>
            <a:r>
              <a:rPr lang="zh-CN" altLang="en-US" sz="2400" b="0" i="0">
                <a:latin typeface="宋体" panose="02010600030101010101" pitchFamily="2" charset="-122"/>
                <a:cs typeface="宋体" panose="02010600030101010101" pitchFamily="2" charset="-122"/>
              </a:rPr>
              <a:t>如果一个节点的 </a:t>
            </a:r>
            <a:r>
              <a:rPr lang="en-US" altLang="zh-CN" sz="2400" b="0" i="0">
                <a:latin typeface="宋体" panose="02010600030101010101" pitchFamily="2" charset="-122"/>
                <a:cs typeface="宋体" panose="02010600030101010101" pitchFamily="2" charset="-122"/>
              </a:rPr>
              <a:t>requires_grad </a:t>
            </a:r>
            <a:r>
              <a:rPr lang="zh-CN" altLang="en-US" sz="2400" b="0" i="0">
                <a:latin typeface="宋体" panose="02010600030101010101" pitchFamily="2" charset="-122"/>
                <a:cs typeface="宋体" panose="02010600030101010101" pitchFamily="2" charset="-122"/>
              </a:rPr>
              <a:t>是 </a:t>
            </a:r>
            <a:r>
              <a:rPr lang="en-US" altLang="zh-CN" sz="2400" b="0" i="0">
                <a:latin typeface="宋体" panose="02010600030101010101" pitchFamily="2" charset="-122"/>
                <a:cs typeface="宋体" panose="02010600030101010101" pitchFamily="2" charset="-122"/>
              </a:rPr>
              <a:t>True</a:t>
            </a:r>
            <a:r>
              <a:rPr lang="zh-CN" altLang="en-US" sz="2400" b="0" i="0">
                <a:latin typeface="宋体" panose="02010600030101010101" pitchFamily="2" charset="-122"/>
                <a:cs typeface="宋体" panose="02010600030101010101" pitchFamily="2" charset="-122"/>
              </a:rPr>
              <a:t>，那么所有</a:t>
            </a:r>
            <a:r>
              <a:rPr lang="zh-CN" altLang="en-US" sz="2400" b="0" i="0">
                <a:solidFill>
                  <a:schemeClr val="accent1"/>
                </a:solidFill>
                <a:effectLst>
                  <a:outerShdw blurRad="38100" dist="25400" dir="5400000" algn="ctr" rotWithShape="0">
                    <a:srgbClr val="6E747A">
                      <a:alpha val="43000"/>
                    </a:srgbClr>
                  </a:outerShdw>
                </a:effectLst>
                <a:latin typeface="宋体" panose="02010600030101010101" pitchFamily="2" charset="-122"/>
                <a:cs typeface="宋体" panose="02010600030101010101" pitchFamily="2" charset="-122"/>
              </a:rPr>
              <a:t>依赖它的节点</a:t>
            </a:r>
            <a:r>
              <a:rPr lang="zh-CN" altLang="en-US" sz="2400" b="0" i="0">
                <a:latin typeface="宋体" panose="02010600030101010101" pitchFamily="2" charset="-122"/>
                <a:cs typeface="宋体" panose="02010600030101010101" pitchFamily="2" charset="-122"/>
              </a:rPr>
              <a:t> </a:t>
            </a:r>
            <a:r>
              <a:rPr lang="en-US" altLang="zh-CN" sz="2400" b="0" i="0">
                <a:latin typeface="宋体" panose="02010600030101010101" pitchFamily="2" charset="-122"/>
                <a:cs typeface="宋体" panose="02010600030101010101" pitchFamily="2" charset="-122"/>
              </a:rPr>
              <a:t>requires_grad </a:t>
            </a:r>
            <a:r>
              <a:rPr lang="zh-CN" altLang="en-US" sz="2400" b="0" i="0">
                <a:latin typeface="宋体" panose="02010600030101010101" pitchFamily="2" charset="-122"/>
                <a:cs typeface="宋体" panose="02010600030101010101" pitchFamily="2" charset="-122"/>
              </a:rPr>
              <a:t>也会是 </a:t>
            </a:r>
            <a:r>
              <a:rPr lang="en-US" altLang="zh-CN" sz="2400" b="0" i="0">
                <a:latin typeface="宋体" panose="02010600030101010101" pitchFamily="2" charset="-122"/>
                <a:cs typeface="宋体" panose="02010600030101010101" pitchFamily="2" charset="-122"/>
              </a:rPr>
              <a:t>True</a:t>
            </a:r>
            <a:r>
              <a:rPr lang="zh-CN" altLang="en-US" sz="2400" b="0" i="0">
                <a:latin typeface="宋体" panose="02010600030101010101" pitchFamily="2" charset="-122"/>
                <a:cs typeface="宋体" panose="02010600030101010101" pitchFamily="2" charset="-122"/>
              </a:rPr>
              <a:t>。</a:t>
            </a:r>
          </a:p>
          <a:p>
            <a:pPr marL="0" indent="457200"/>
            <a:r>
              <a:rPr lang="zh-CN" altLang="en-US" sz="2400" b="0" i="0">
                <a:latin typeface="宋体" panose="02010600030101010101" pitchFamily="2" charset="-122"/>
                <a:cs typeface="宋体" panose="02010600030101010101" pitchFamily="2" charset="-122"/>
              </a:rPr>
              <a:t>换言之，如果一个节点依赖的所有节点都不需要求导，那么它的 </a:t>
            </a:r>
            <a:r>
              <a:rPr lang="en-US" altLang="zh-CN" sz="2400" b="0" i="0">
                <a:latin typeface="宋体" panose="02010600030101010101" pitchFamily="2" charset="-122"/>
                <a:cs typeface="宋体" panose="02010600030101010101" pitchFamily="2" charset="-122"/>
              </a:rPr>
              <a:t>requires_grad </a:t>
            </a:r>
            <a:r>
              <a:rPr lang="zh-CN" altLang="en-US" sz="2400" b="0" i="0">
                <a:latin typeface="宋体" panose="02010600030101010101" pitchFamily="2" charset="-122"/>
                <a:cs typeface="宋体" panose="02010600030101010101" pitchFamily="2" charset="-122"/>
              </a:rPr>
              <a:t>也会是 </a:t>
            </a:r>
            <a:r>
              <a:rPr lang="en-US" altLang="zh-CN" sz="2400" b="0" i="0">
                <a:latin typeface="宋体" panose="02010600030101010101" pitchFamily="2" charset="-122"/>
                <a:cs typeface="宋体" panose="02010600030101010101" pitchFamily="2" charset="-122"/>
              </a:rPr>
              <a:t>False</a:t>
            </a:r>
            <a:r>
              <a:rPr lang="zh-CN" altLang="en-US" sz="2400" b="0" i="0">
                <a:latin typeface="宋体" panose="02010600030101010101" pitchFamily="2" charset="-122"/>
                <a:cs typeface="宋体" panose="02010600030101010101" pitchFamily="2" charset="-122"/>
              </a:rPr>
              <a:t>。在反向传播的过程中，该节点所在的子图会被排除在外</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199456" y="980728"/>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Autograd</a:t>
            </a:r>
            <a:r>
              <a:rPr lang="zh-CN" altLang="en-US" sz="3200" dirty="0"/>
              <a:t>自动求导</a:t>
            </a:r>
          </a:p>
        </p:txBody>
      </p:sp>
      <p:sp>
        <p:nvSpPr>
          <p:cNvPr id="7" name="文本框 6"/>
          <p:cNvSpPr txBox="1"/>
          <p:nvPr/>
        </p:nvSpPr>
        <p:spPr>
          <a:xfrm>
            <a:off x="1558925" y="1556385"/>
            <a:ext cx="9533255" cy="829945"/>
          </a:xfrm>
          <a:prstGeom prst="rect">
            <a:avLst/>
          </a:prstGeom>
          <a:noFill/>
        </p:spPr>
        <p:txBody>
          <a:bodyPr wrap="square" rtlCol="0">
            <a:spAutoFit/>
          </a:bodyPr>
          <a:lstStyle/>
          <a:p>
            <a:r>
              <a:rPr lang="en-US" altLang="zh-CN" sz="2400"/>
              <a:t>Autograd </a:t>
            </a:r>
            <a:r>
              <a:rPr lang="zh-CN" altLang="en-US" sz="2400"/>
              <a:t>是一个强大的工具，是</a:t>
            </a:r>
            <a:r>
              <a:rPr lang="en-US" altLang="zh-CN" sz="2400"/>
              <a:t> PyTorch </a:t>
            </a:r>
            <a:r>
              <a:rPr lang="zh-CN" altLang="en-US" sz="2400"/>
              <a:t>的自动微分引擎，通过构建一个计算图来跟踪操作。</a:t>
            </a:r>
            <a:endParaRPr lang="en-US" altLang="zh-CN" sz="2400"/>
          </a:p>
        </p:txBody>
      </p:sp>
      <p:pic>
        <p:nvPicPr>
          <p:cNvPr id="5" name="图片 4"/>
          <p:cNvPicPr/>
          <p:nvPr/>
        </p:nvPicPr>
        <p:blipFill>
          <a:blip r:embed="rId3"/>
          <a:stretch>
            <a:fillRect/>
          </a:stretch>
        </p:blipFill>
        <p:spPr>
          <a:xfrm>
            <a:off x="1775460" y="2386330"/>
            <a:ext cx="8376920" cy="412496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199456" y="980728"/>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Autograd</a:t>
            </a:r>
            <a:r>
              <a:rPr lang="zh-CN" altLang="en-US" sz="3200" dirty="0"/>
              <a:t>自动求导</a:t>
            </a:r>
          </a:p>
        </p:txBody>
      </p:sp>
      <p:sp>
        <p:nvSpPr>
          <p:cNvPr id="7" name="文本框 6"/>
          <p:cNvSpPr txBox="1"/>
          <p:nvPr/>
        </p:nvSpPr>
        <p:spPr>
          <a:xfrm>
            <a:off x="1558925" y="1556385"/>
            <a:ext cx="9533255" cy="1198880"/>
          </a:xfrm>
          <a:prstGeom prst="rect">
            <a:avLst/>
          </a:prstGeom>
          <a:noFill/>
        </p:spPr>
        <p:txBody>
          <a:bodyPr wrap="square" rtlCol="0">
            <a:spAutoFit/>
          </a:bodyPr>
          <a:lstStyle/>
          <a:p>
            <a:r>
              <a:rPr lang="en-US" altLang="zh-CN" sz="2400"/>
              <a:t>Autograd </a:t>
            </a:r>
            <a:r>
              <a:rPr lang="zh-CN" altLang="en-US" sz="2400"/>
              <a:t>是一个强大的工具，通过构建一个计算图来跟踪操作，这个图是一个</a:t>
            </a:r>
            <a:r>
              <a:rPr lang="zh-CN" altLang="en-US" sz="2400">
                <a:solidFill>
                  <a:schemeClr val="accent1"/>
                </a:solidFill>
                <a:effectLst>
                  <a:outerShdw blurRad="38100" dist="25400" dir="5400000" algn="ctr" rotWithShape="0">
                    <a:srgbClr val="6E747A">
                      <a:alpha val="43000"/>
                    </a:srgbClr>
                  </a:outerShdw>
                </a:effectLst>
              </a:rPr>
              <a:t>有向无环图</a:t>
            </a:r>
            <a:r>
              <a:rPr lang="zh-CN" altLang="en-US" sz="2400">
                <a:solidFill>
                  <a:schemeClr val="tx1"/>
                </a:solidFill>
                <a:effectLst>
                  <a:outerShdw blurRad="38100" dist="19050" dir="2700000" algn="tl" rotWithShape="0">
                    <a:schemeClr val="dk1">
                      <a:alpha val="40000"/>
                    </a:schemeClr>
                  </a:outerShdw>
                </a:effectLst>
              </a:rPr>
              <a:t>（</a:t>
            </a:r>
            <a:r>
              <a:rPr lang="en-US" altLang="zh-CN" sz="2400">
                <a:solidFill>
                  <a:schemeClr val="accent1"/>
                </a:solidFill>
                <a:effectLst>
                  <a:outerShdw blurRad="38100" dist="25400" dir="5400000" algn="ctr" rotWithShape="0">
                    <a:srgbClr val="6E747A">
                      <a:alpha val="43000"/>
                    </a:srgbClr>
                  </a:outerShdw>
                </a:effectLst>
              </a:rPr>
              <a:t>DAG</a:t>
            </a:r>
            <a:r>
              <a:rPr lang="zh-CN" altLang="en-US" sz="2400">
                <a:solidFill>
                  <a:schemeClr val="tx1"/>
                </a:solidFill>
                <a:effectLst>
                  <a:outerShdw blurRad="38100" dist="19050" dir="2700000" algn="tl" rotWithShape="0">
                    <a:schemeClr val="dk1">
                      <a:alpha val="40000"/>
                    </a:schemeClr>
                  </a:outerShdw>
                </a:effectLst>
              </a:rPr>
              <a:t>）</a:t>
            </a:r>
            <a:r>
              <a:rPr lang="zh-CN" altLang="en-US" sz="2400"/>
              <a:t>，它记录了创建最终输出</a:t>
            </a:r>
            <a:r>
              <a:rPr lang="en-US" altLang="zh-CN" sz="2400"/>
              <a:t> Tensor </a:t>
            </a:r>
            <a:r>
              <a:rPr lang="zh-CN" altLang="en-US" sz="2400"/>
              <a:t>所涉及的所有操作。</a:t>
            </a:r>
          </a:p>
        </p:txBody>
      </p:sp>
      <p:pic>
        <p:nvPicPr>
          <p:cNvPr id="6" name="图片 5"/>
          <p:cNvPicPr>
            <a:picLocks noChangeAspect="1"/>
          </p:cNvPicPr>
          <p:nvPr/>
        </p:nvPicPr>
        <p:blipFill>
          <a:blip r:embed="rId3"/>
          <a:stretch>
            <a:fillRect/>
          </a:stretch>
        </p:blipFill>
        <p:spPr>
          <a:xfrm>
            <a:off x="2567305" y="2996565"/>
            <a:ext cx="6115050" cy="1876425"/>
          </a:xfrm>
          <a:prstGeom prst="rect">
            <a:avLst/>
          </a:prstGeom>
        </p:spPr>
      </p:pic>
      <p:sp>
        <p:nvSpPr>
          <p:cNvPr id="9" name="文本框 8"/>
          <p:cNvSpPr txBox="1"/>
          <p:nvPr/>
        </p:nvSpPr>
        <p:spPr>
          <a:xfrm>
            <a:off x="3791585" y="5085080"/>
            <a:ext cx="4064000" cy="368300"/>
          </a:xfrm>
          <a:prstGeom prst="rect">
            <a:avLst/>
          </a:prstGeom>
          <a:noFill/>
        </p:spPr>
        <p:txBody>
          <a:bodyPr wrap="square" rtlCol="0">
            <a:spAutoFit/>
          </a:bodyPr>
          <a:lstStyle/>
          <a:p>
            <a:r>
              <a:rPr lang="zh-CN" altLang="en-US"/>
              <a:t>简单操作的跟踪</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199456" y="980728"/>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Autograd</a:t>
            </a:r>
            <a:r>
              <a:rPr lang="zh-CN" altLang="en-US" sz="3200" dirty="0"/>
              <a:t>自动求导</a:t>
            </a:r>
          </a:p>
        </p:txBody>
      </p:sp>
      <p:sp>
        <p:nvSpPr>
          <p:cNvPr id="7" name="文本框 6"/>
          <p:cNvSpPr txBox="1"/>
          <p:nvPr/>
        </p:nvSpPr>
        <p:spPr>
          <a:xfrm>
            <a:off x="1558925" y="1556385"/>
            <a:ext cx="9533255" cy="829945"/>
          </a:xfrm>
          <a:prstGeom prst="rect">
            <a:avLst/>
          </a:prstGeom>
          <a:noFill/>
        </p:spPr>
        <p:txBody>
          <a:bodyPr wrap="square" rtlCol="0">
            <a:spAutoFit/>
          </a:bodyPr>
          <a:lstStyle/>
          <a:p>
            <a:r>
              <a:rPr lang="zh-CN" altLang="en-US" sz="2400"/>
              <a:t>当我们对输出的</a:t>
            </a:r>
            <a:r>
              <a:rPr lang="en-US" altLang="zh-CN" sz="2400"/>
              <a:t> Tensor </a:t>
            </a:r>
            <a:r>
              <a:rPr lang="zh-CN" altLang="en-US" sz="2400"/>
              <a:t>调用</a:t>
            </a:r>
            <a:r>
              <a:rPr lang="en-US" altLang="zh-CN" sz="2400"/>
              <a:t> </a:t>
            </a:r>
            <a:r>
              <a:rPr lang="en-US" altLang="zh-CN" sz="2400">
                <a:solidFill>
                  <a:schemeClr val="accent1"/>
                </a:solidFill>
                <a:effectLst>
                  <a:outerShdw blurRad="38100" dist="25400" dir="5400000" algn="ctr" rotWithShape="0">
                    <a:srgbClr val="6E747A">
                      <a:alpha val="43000"/>
                    </a:srgbClr>
                  </a:outerShdw>
                </a:effectLst>
              </a:rPr>
              <a:t>.backward()</a:t>
            </a:r>
            <a:r>
              <a:rPr lang="en-US" altLang="zh-CN" sz="2400"/>
              <a:t> </a:t>
            </a:r>
            <a:r>
              <a:rPr lang="zh-CN" altLang="en-US" sz="2400"/>
              <a:t>方法时，</a:t>
            </a:r>
            <a:r>
              <a:rPr lang="en-US" altLang="zh-CN" sz="2400"/>
              <a:t>PyTorch </a:t>
            </a:r>
            <a:r>
              <a:rPr lang="zh-CN" altLang="en-US" sz="2400"/>
              <a:t>会自动计算梯度并将其存储在各个</a:t>
            </a:r>
            <a:r>
              <a:rPr lang="en-US" altLang="zh-CN" sz="2400"/>
              <a:t> Tensor </a:t>
            </a:r>
            <a:r>
              <a:rPr lang="zh-CN" altLang="en-US" sz="2400"/>
              <a:t>的</a:t>
            </a:r>
            <a:r>
              <a:rPr lang="en-US" altLang="zh-CN" sz="2400">
                <a:solidFill>
                  <a:schemeClr val="accent1"/>
                </a:solidFill>
                <a:effectLst>
                  <a:outerShdw blurRad="38100" dist="25400" dir="5400000" algn="ctr" rotWithShape="0">
                    <a:srgbClr val="6E747A">
                      <a:alpha val="43000"/>
                    </a:srgbClr>
                  </a:outerShdw>
                </a:effectLst>
              </a:rPr>
              <a:t> .grad</a:t>
            </a:r>
            <a:r>
              <a:rPr lang="en-US" altLang="zh-CN" sz="2400"/>
              <a:t> </a:t>
            </a:r>
            <a:r>
              <a:rPr lang="zh-CN" altLang="en-US" sz="2400"/>
              <a:t>属性中。</a:t>
            </a:r>
          </a:p>
        </p:txBody>
      </p:sp>
      <p:pic>
        <p:nvPicPr>
          <p:cNvPr id="6" name="图片 5"/>
          <p:cNvPicPr>
            <a:picLocks noChangeAspect="1"/>
          </p:cNvPicPr>
          <p:nvPr/>
        </p:nvPicPr>
        <p:blipFill>
          <a:blip r:embed="rId3"/>
          <a:stretch>
            <a:fillRect/>
          </a:stretch>
        </p:blipFill>
        <p:spPr>
          <a:xfrm>
            <a:off x="2639060" y="2924810"/>
            <a:ext cx="6448425" cy="164211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198821" y="980728"/>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Autograd</a:t>
            </a:r>
            <a:r>
              <a:rPr lang="zh-CN" altLang="en-US" sz="3200" dirty="0"/>
              <a:t>自动求导</a:t>
            </a:r>
          </a:p>
        </p:txBody>
      </p:sp>
      <p:sp>
        <p:nvSpPr>
          <p:cNvPr id="7" name="文本框 6"/>
          <p:cNvSpPr txBox="1"/>
          <p:nvPr/>
        </p:nvSpPr>
        <p:spPr>
          <a:xfrm>
            <a:off x="1558925" y="1556385"/>
            <a:ext cx="9533255" cy="460375"/>
          </a:xfrm>
          <a:prstGeom prst="rect">
            <a:avLst/>
          </a:prstGeom>
          <a:noFill/>
        </p:spPr>
        <p:txBody>
          <a:bodyPr wrap="square" rtlCol="0">
            <a:spAutoFit/>
          </a:bodyPr>
          <a:lstStyle/>
          <a:p>
            <a:r>
              <a:rPr lang="zh-CN" altLang="en-US" sz="2400"/>
              <a:t>计算图的构建和管理</a:t>
            </a:r>
          </a:p>
        </p:txBody>
      </p:sp>
      <p:pic>
        <p:nvPicPr>
          <p:cNvPr id="5" name="图片 4"/>
          <p:cNvPicPr/>
          <p:nvPr/>
        </p:nvPicPr>
        <p:blipFill>
          <a:blip r:embed="rId3"/>
          <a:stretch>
            <a:fillRect/>
          </a:stretch>
        </p:blipFill>
        <p:spPr>
          <a:xfrm>
            <a:off x="1127125" y="2867025"/>
            <a:ext cx="8555355" cy="3230245"/>
          </a:xfrm>
          <a:prstGeom prst="rect">
            <a:avLst/>
          </a:prstGeom>
        </p:spPr>
      </p:pic>
      <p:sp>
        <p:nvSpPr>
          <p:cNvPr id="8" name="文本框 7"/>
          <p:cNvSpPr txBox="1"/>
          <p:nvPr/>
        </p:nvSpPr>
        <p:spPr>
          <a:xfrm>
            <a:off x="1461770" y="1916430"/>
            <a:ext cx="8586470" cy="645160"/>
          </a:xfrm>
          <a:prstGeom prst="rect">
            <a:avLst/>
          </a:prstGeom>
          <a:noFill/>
        </p:spPr>
        <p:txBody>
          <a:bodyPr wrap="square" rtlCol="0">
            <a:spAutoFit/>
          </a:bodyPr>
          <a:lstStyle/>
          <a:p>
            <a:pPr indent="457200"/>
            <a:r>
              <a:rPr lang="zh-CN" altLang="en-US"/>
              <a:t>计算图的构建和管理是理解</a:t>
            </a:r>
            <a:r>
              <a:rPr lang="zh-CN" altLang="en-US">
                <a:solidFill>
                  <a:schemeClr val="accent1"/>
                </a:solidFill>
                <a:effectLst>
                  <a:outerShdw blurRad="38100" dist="25400" dir="5400000" algn="ctr" rotWithShape="0">
                    <a:srgbClr val="6E747A">
                      <a:alpha val="43000"/>
                    </a:srgbClr>
                  </a:outerShdw>
                </a:effectLst>
              </a:rPr>
              <a:t>自动微分</a:t>
            </a:r>
            <a:r>
              <a:rPr lang="zh-CN" altLang="en-US"/>
              <a:t>和</a:t>
            </a:r>
            <a:r>
              <a:rPr lang="zh-CN" altLang="en-US">
                <a:solidFill>
                  <a:schemeClr val="accent1"/>
                </a:solidFill>
                <a:effectLst>
                  <a:outerShdw blurRad="38100" dist="25400" dir="5400000" algn="ctr" rotWithShape="0">
                    <a:srgbClr val="6E747A">
                      <a:alpha val="43000"/>
                    </a:srgbClr>
                  </a:outerShdw>
                </a:effectLst>
              </a:rPr>
              <a:t>神经网络训练过程</a:t>
            </a:r>
            <a:r>
              <a:rPr lang="zh-CN" altLang="en-US"/>
              <a:t>的关键。</a:t>
            </a:r>
            <a:r>
              <a:rPr lang="en-US" altLang="zh-CN"/>
              <a:t>PyTorch </a:t>
            </a:r>
            <a:r>
              <a:rPr lang="zh-CN" altLang="en-US"/>
              <a:t>使用</a:t>
            </a:r>
            <a:r>
              <a:rPr lang="zh-CN" altLang="en-US">
                <a:solidFill>
                  <a:schemeClr val="accent1"/>
                </a:solidFill>
                <a:effectLst>
                  <a:outerShdw blurRad="38100" dist="25400" dir="5400000" algn="ctr" rotWithShape="0">
                    <a:srgbClr val="6E747A">
                      <a:alpha val="43000"/>
                    </a:srgbClr>
                  </a:outerShdw>
                </a:effectLst>
              </a:rPr>
              <a:t>动态计算图</a:t>
            </a:r>
            <a:r>
              <a:rPr lang="zh-CN" altLang="en-US"/>
              <a:t>，这是其核心特性之一，提供了极大的灵活性和直观性。</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198821" y="980728"/>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Autograd</a:t>
            </a:r>
            <a:r>
              <a:rPr lang="zh-CN" altLang="en-US" sz="3200" dirty="0"/>
              <a:t>自动求导</a:t>
            </a:r>
          </a:p>
        </p:txBody>
      </p:sp>
      <p:sp>
        <p:nvSpPr>
          <p:cNvPr id="7" name="文本框 6"/>
          <p:cNvSpPr txBox="1"/>
          <p:nvPr/>
        </p:nvSpPr>
        <p:spPr>
          <a:xfrm>
            <a:off x="1558925" y="1556385"/>
            <a:ext cx="9533255" cy="460375"/>
          </a:xfrm>
          <a:prstGeom prst="rect">
            <a:avLst/>
          </a:prstGeom>
          <a:noFill/>
        </p:spPr>
        <p:txBody>
          <a:bodyPr wrap="square" rtlCol="0">
            <a:spAutoFit/>
          </a:bodyPr>
          <a:lstStyle/>
          <a:p>
            <a:r>
              <a:rPr lang="zh-CN" altLang="en-US" sz="2400"/>
              <a:t>计算图的构建和管理</a:t>
            </a:r>
          </a:p>
        </p:txBody>
      </p:sp>
      <p:sp>
        <p:nvSpPr>
          <p:cNvPr id="8" name="文本框 7"/>
          <p:cNvSpPr txBox="1"/>
          <p:nvPr/>
        </p:nvSpPr>
        <p:spPr>
          <a:xfrm>
            <a:off x="1461770" y="1916430"/>
            <a:ext cx="8938260" cy="922020"/>
          </a:xfrm>
          <a:prstGeom prst="rect">
            <a:avLst/>
          </a:prstGeom>
          <a:noFill/>
        </p:spPr>
        <p:txBody>
          <a:bodyPr wrap="square" rtlCol="0">
            <a:spAutoFit/>
          </a:bodyPr>
          <a:lstStyle/>
          <a:p>
            <a:pPr indent="457200"/>
            <a:r>
              <a:rPr lang="zh-CN" altLang="en-US"/>
              <a:t>计算图是一种图形化的表示方法，用于描述数据（</a:t>
            </a:r>
            <a:r>
              <a:rPr lang="en-US" altLang="zh-CN"/>
              <a:t>Tensor</a:t>
            </a:r>
            <a:r>
              <a:rPr lang="zh-CN" altLang="en-US"/>
              <a:t>）之间的操作（如加法、乘法）关系。在</a:t>
            </a:r>
            <a:r>
              <a:rPr lang="en-US" altLang="zh-CN"/>
              <a:t> PyTorch </a:t>
            </a:r>
            <a:r>
              <a:rPr lang="zh-CN" altLang="en-US"/>
              <a:t>中，每当对</a:t>
            </a:r>
            <a:r>
              <a:rPr lang="en-US" altLang="zh-CN"/>
              <a:t> Tensor </a:t>
            </a:r>
            <a:r>
              <a:rPr lang="zh-CN" altLang="en-US"/>
              <a:t>进行操作时，都会创建一个表示该</a:t>
            </a:r>
            <a:r>
              <a:rPr lang="zh-CN" altLang="en-US">
                <a:solidFill>
                  <a:schemeClr val="accent1"/>
                </a:solidFill>
                <a:effectLst>
                  <a:outerShdw blurRad="38100" dist="25400" dir="5400000" algn="ctr" rotWithShape="0">
                    <a:srgbClr val="6E747A">
                      <a:alpha val="43000"/>
                    </a:srgbClr>
                  </a:outerShdw>
                </a:effectLst>
              </a:rPr>
              <a:t>操作的节点</a:t>
            </a:r>
            <a:r>
              <a:rPr lang="zh-CN" altLang="en-US"/>
              <a:t>，并将操作的输入和输出</a:t>
            </a:r>
            <a:r>
              <a:rPr lang="en-US" altLang="zh-CN"/>
              <a:t> Tensor </a:t>
            </a:r>
            <a:r>
              <a:rPr lang="zh-CN" altLang="en-US"/>
              <a:t>连接起来。</a:t>
            </a:r>
          </a:p>
        </p:txBody>
      </p:sp>
      <p:sp>
        <p:nvSpPr>
          <p:cNvPr id="6" name="文本框 5"/>
          <p:cNvSpPr txBox="1"/>
          <p:nvPr/>
        </p:nvSpPr>
        <p:spPr>
          <a:xfrm>
            <a:off x="1889125" y="3068955"/>
            <a:ext cx="6505575" cy="1476375"/>
          </a:xfrm>
          <a:prstGeom prst="rect">
            <a:avLst/>
          </a:prstGeom>
          <a:noFill/>
        </p:spPr>
        <p:txBody>
          <a:bodyPr wrap="square" rtlCol="0">
            <a:spAutoFit/>
          </a:bodyPr>
          <a:lstStyle/>
          <a:p>
            <a:r>
              <a:rPr lang="en-US" altLang="zh-CN">
                <a:sym typeface="+mn-ea"/>
              </a:rPr>
              <a:t>•</a:t>
            </a:r>
            <a:r>
              <a:rPr lang="zh-CN" altLang="en-US"/>
              <a:t>节点（</a:t>
            </a:r>
            <a:r>
              <a:rPr lang="en-US" altLang="zh-CN"/>
              <a:t>Node</a:t>
            </a:r>
            <a:r>
              <a:rPr lang="zh-CN" altLang="en-US"/>
              <a:t>）：代表了数据的操作，如加法、乘法。</a:t>
            </a:r>
          </a:p>
          <a:p>
            <a:endParaRPr lang="zh-CN" altLang="en-US"/>
          </a:p>
          <a:p>
            <a:r>
              <a:rPr lang="en-US" altLang="zh-CN">
                <a:sym typeface="+mn-ea"/>
              </a:rPr>
              <a:t>•</a:t>
            </a:r>
            <a:r>
              <a:rPr lang="zh-CN" altLang="en-US">
                <a:sym typeface="+mn-ea"/>
              </a:rPr>
              <a:t>边（</a:t>
            </a:r>
            <a:r>
              <a:rPr lang="en-US" altLang="zh-CN">
                <a:sym typeface="+mn-ea"/>
              </a:rPr>
              <a:t>Edge</a:t>
            </a:r>
            <a:r>
              <a:rPr lang="zh-CN" altLang="en-US">
                <a:sym typeface="+mn-ea"/>
              </a:rPr>
              <a:t>）：代表了数据流，即</a:t>
            </a:r>
            <a:r>
              <a:rPr lang="en-US" altLang="zh-CN">
                <a:sym typeface="+mn-ea"/>
              </a:rPr>
              <a:t> Tensor</a:t>
            </a:r>
            <a:r>
              <a:rPr lang="zh-CN" altLang="en-US">
                <a:sym typeface="+mn-ea"/>
              </a:rPr>
              <a:t>。</a:t>
            </a:r>
          </a:p>
          <a:p>
            <a:endParaRPr lang="zh-CN" altLang="en-US"/>
          </a:p>
          <a:p>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198821" y="980728"/>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Autograd</a:t>
            </a:r>
            <a:r>
              <a:rPr lang="zh-CN" altLang="en-US" sz="3200" dirty="0"/>
              <a:t>自动求导</a:t>
            </a:r>
          </a:p>
        </p:txBody>
      </p:sp>
      <p:sp>
        <p:nvSpPr>
          <p:cNvPr id="7" name="文本框 6"/>
          <p:cNvSpPr txBox="1"/>
          <p:nvPr/>
        </p:nvSpPr>
        <p:spPr>
          <a:xfrm>
            <a:off x="1558925" y="1556385"/>
            <a:ext cx="9533255" cy="460375"/>
          </a:xfrm>
          <a:prstGeom prst="rect">
            <a:avLst/>
          </a:prstGeom>
          <a:noFill/>
        </p:spPr>
        <p:txBody>
          <a:bodyPr wrap="square" rtlCol="0">
            <a:spAutoFit/>
          </a:bodyPr>
          <a:lstStyle/>
          <a:p>
            <a:r>
              <a:rPr lang="zh-CN" altLang="en-US" sz="2400"/>
              <a:t>计算图的构建和管理</a:t>
            </a:r>
          </a:p>
        </p:txBody>
      </p:sp>
      <p:sp>
        <p:nvSpPr>
          <p:cNvPr id="8" name="文本框 7"/>
          <p:cNvSpPr txBox="1"/>
          <p:nvPr/>
        </p:nvSpPr>
        <p:spPr>
          <a:xfrm>
            <a:off x="1461770" y="1916430"/>
            <a:ext cx="8938260" cy="645160"/>
          </a:xfrm>
          <a:prstGeom prst="rect">
            <a:avLst/>
          </a:prstGeom>
          <a:noFill/>
        </p:spPr>
        <p:txBody>
          <a:bodyPr wrap="square" rtlCol="0">
            <a:spAutoFit/>
          </a:bodyPr>
          <a:lstStyle/>
          <a:p>
            <a:pPr indent="457200"/>
            <a:r>
              <a:rPr lang="en-US" altLang="zh-CN"/>
              <a:t>PyTorch </a:t>
            </a:r>
            <a:r>
              <a:rPr lang="zh-CN" altLang="en-US"/>
              <a:t>的计算图是</a:t>
            </a:r>
            <a:r>
              <a:rPr lang="zh-CN" altLang="en-US">
                <a:solidFill>
                  <a:schemeClr val="accent1"/>
                </a:solidFill>
                <a:effectLst>
                  <a:outerShdw blurRad="38100" dist="25400" dir="5400000" algn="ctr" rotWithShape="0">
                    <a:srgbClr val="6E747A">
                      <a:alpha val="43000"/>
                    </a:srgbClr>
                  </a:outerShdw>
                </a:effectLst>
              </a:rPr>
              <a:t>动态的</a:t>
            </a:r>
            <a:r>
              <a:rPr lang="zh-CN" altLang="en-US"/>
              <a:t>，即图的构建是在运行时发生的。这意味着图会随着代码的执行而</a:t>
            </a:r>
            <a:r>
              <a:rPr lang="zh-CN" altLang="en-US">
                <a:solidFill>
                  <a:schemeClr val="accent1"/>
                </a:solidFill>
                <a:effectLst>
                  <a:outerShdw blurRad="38100" dist="25400" dir="5400000" algn="ctr" rotWithShape="0">
                    <a:srgbClr val="6E747A">
                      <a:alpha val="43000"/>
                    </a:srgbClr>
                  </a:outerShdw>
                </a:effectLst>
              </a:rPr>
              <a:t>实时构建</a:t>
            </a:r>
            <a:r>
              <a:rPr lang="zh-CN" altLang="en-US"/>
              <a:t>，每次迭代都可能产生一个新的图。</a:t>
            </a:r>
          </a:p>
        </p:txBody>
      </p:sp>
      <p:sp>
        <p:nvSpPr>
          <p:cNvPr id="6" name="文本框 5"/>
          <p:cNvSpPr txBox="1"/>
          <p:nvPr/>
        </p:nvSpPr>
        <p:spPr>
          <a:xfrm>
            <a:off x="1991360" y="2708910"/>
            <a:ext cx="7148830" cy="2861310"/>
          </a:xfrm>
          <a:prstGeom prst="rect">
            <a:avLst/>
          </a:prstGeom>
          <a:noFill/>
        </p:spPr>
        <p:txBody>
          <a:bodyPr wrap="square" rtlCol="0">
            <a:spAutoFit/>
          </a:bodyPr>
          <a:lstStyle/>
          <a:p>
            <a:r>
              <a:rPr lang="en-US" altLang="zh-CN"/>
              <a:t>import torch</a:t>
            </a:r>
          </a:p>
          <a:p>
            <a:endParaRPr lang="en-US" altLang="zh-CN"/>
          </a:p>
          <a:p>
            <a:r>
              <a:rPr lang="en-US" altLang="zh-CN"/>
              <a:t>x = torch.tensor(1.0, requires_grad=True)</a:t>
            </a:r>
          </a:p>
          <a:p>
            <a:r>
              <a:rPr lang="en-US" altLang="zh-CN"/>
              <a:t>y = torch.tensor(2.0, requires_grad=True)</a:t>
            </a:r>
          </a:p>
          <a:p>
            <a:endParaRPr lang="en-US" altLang="zh-CN"/>
          </a:p>
          <a:p>
            <a:r>
              <a:rPr lang="en-US" altLang="zh-CN"/>
              <a:t># </a:t>
            </a:r>
            <a:r>
              <a:rPr lang="zh-CN" altLang="en-US"/>
              <a:t>一个简单的运算</a:t>
            </a:r>
          </a:p>
          <a:p>
            <a:r>
              <a:rPr lang="en-US" altLang="zh-CN"/>
              <a:t>z = x * y</a:t>
            </a:r>
          </a:p>
          <a:p>
            <a:endParaRPr lang="en-US" altLang="zh-CN"/>
          </a:p>
          <a:p>
            <a:r>
              <a:rPr lang="en-US" altLang="zh-CN"/>
              <a:t># </a:t>
            </a:r>
            <a:r>
              <a:rPr lang="zh-CN" altLang="en-US"/>
              <a:t>此时，一个计算图已经形成，其中</a:t>
            </a:r>
            <a:r>
              <a:rPr lang="en-US" altLang="zh-CN"/>
              <a:t> z </a:t>
            </a:r>
            <a:r>
              <a:rPr lang="zh-CN" altLang="en-US"/>
              <a:t>是由</a:t>
            </a:r>
            <a:r>
              <a:rPr lang="en-US" altLang="zh-CN"/>
              <a:t> x </a:t>
            </a:r>
            <a:r>
              <a:rPr lang="zh-CN" altLang="en-US"/>
              <a:t>和</a:t>
            </a:r>
            <a:r>
              <a:rPr lang="en-US" altLang="zh-CN"/>
              <a:t> y </a:t>
            </a:r>
            <a:r>
              <a:rPr lang="zh-CN" altLang="en-US"/>
              <a:t>通过乘法操作得到的</a:t>
            </a:r>
          </a:p>
          <a:p>
            <a:endParaRPr lang="zh-CN" altLang="en-US"/>
          </a:p>
        </p:txBody>
      </p:sp>
      <p:sp>
        <p:nvSpPr>
          <p:cNvPr id="5" name="矩形 4"/>
          <p:cNvSpPr/>
          <p:nvPr/>
        </p:nvSpPr>
        <p:spPr>
          <a:xfrm>
            <a:off x="1775460" y="2708910"/>
            <a:ext cx="8208645" cy="2736215"/>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9" name="文本框 8"/>
          <p:cNvSpPr txBox="1"/>
          <p:nvPr/>
        </p:nvSpPr>
        <p:spPr>
          <a:xfrm>
            <a:off x="3287395" y="5661025"/>
            <a:ext cx="4064000" cy="368300"/>
          </a:xfrm>
          <a:prstGeom prst="rect">
            <a:avLst/>
          </a:prstGeom>
          <a:noFill/>
        </p:spPr>
        <p:txBody>
          <a:bodyPr wrap="square" rtlCol="0">
            <a:spAutoFit/>
          </a:bodyPr>
          <a:lstStyle/>
          <a:p>
            <a:r>
              <a:rPr lang="zh-CN" altLang="en-US"/>
              <a:t>示例：动态图的创建</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198821" y="980728"/>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Autograd</a:t>
            </a:r>
            <a:r>
              <a:rPr lang="zh-CN" altLang="en-US" sz="3200" dirty="0"/>
              <a:t>自动求导</a:t>
            </a:r>
          </a:p>
        </p:txBody>
      </p:sp>
      <p:sp>
        <p:nvSpPr>
          <p:cNvPr id="7" name="文本框 6"/>
          <p:cNvSpPr txBox="1"/>
          <p:nvPr/>
        </p:nvSpPr>
        <p:spPr>
          <a:xfrm>
            <a:off x="1558925" y="1556385"/>
            <a:ext cx="9533255" cy="460375"/>
          </a:xfrm>
          <a:prstGeom prst="rect">
            <a:avLst/>
          </a:prstGeom>
          <a:noFill/>
        </p:spPr>
        <p:txBody>
          <a:bodyPr wrap="square" rtlCol="0">
            <a:spAutoFit/>
          </a:bodyPr>
          <a:lstStyle/>
          <a:p>
            <a:r>
              <a:rPr lang="zh-CN" altLang="en-US" sz="2400"/>
              <a:t>计算图的构建和管理</a:t>
            </a:r>
          </a:p>
        </p:txBody>
      </p:sp>
      <p:sp>
        <p:nvSpPr>
          <p:cNvPr id="8" name="文本框 7"/>
          <p:cNvSpPr txBox="1"/>
          <p:nvPr/>
        </p:nvSpPr>
        <p:spPr>
          <a:xfrm>
            <a:off x="1461770" y="1916430"/>
            <a:ext cx="8938260" cy="645160"/>
          </a:xfrm>
          <a:prstGeom prst="rect">
            <a:avLst/>
          </a:prstGeom>
          <a:noFill/>
        </p:spPr>
        <p:txBody>
          <a:bodyPr wrap="square" rtlCol="0">
            <a:spAutoFit/>
          </a:bodyPr>
          <a:lstStyle/>
          <a:p>
            <a:pPr indent="457200"/>
            <a:r>
              <a:rPr lang="zh-CN" altLang="en-US"/>
              <a:t>在深度学习的训练过程中，反向传播是通过计算图进行的。当调用</a:t>
            </a:r>
            <a:r>
              <a:rPr lang="en-US" altLang="zh-CN"/>
              <a:t> </a:t>
            </a:r>
            <a:r>
              <a:rPr lang="en-US" altLang="zh-CN">
                <a:solidFill>
                  <a:schemeClr val="accent1"/>
                </a:solidFill>
                <a:effectLst>
                  <a:outerShdw blurRad="38100" dist="25400" dir="5400000" algn="ctr" rotWithShape="0">
                    <a:srgbClr val="6E747A">
                      <a:alpha val="43000"/>
                    </a:srgbClr>
                  </a:outerShdw>
                </a:effectLst>
              </a:rPr>
              <a:t>.backward()</a:t>
            </a:r>
            <a:r>
              <a:rPr lang="en-US" altLang="zh-CN"/>
              <a:t> </a:t>
            </a:r>
            <a:r>
              <a:rPr lang="zh-CN" altLang="en-US"/>
              <a:t>方法时，</a:t>
            </a:r>
            <a:r>
              <a:rPr lang="en-US" altLang="zh-CN"/>
              <a:t>PyTorch </a:t>
            </a:r>
            <a:r>
              <a:rPr lang="zh-CN" altLang="en-US"/>
              <a:t>会从该点开始，沿着图逆向传播，计算每个节点的梯度。</a:t>
            </a:r>
          </a:p>
        </p:txBody>
      </p:sp>
      <p:sp>
        <p:nvSpPr>
          <p:cNvPr id="6" name="文本框 5"/>
          <p:cNvSpPr txBox="1"/>
          <p:nvPr/>
        </p:nvSpPr>
        <p:spPr>
          <a:xfrm>
            <a:off x="2063115" y="2924810"/>
            <a:ext cx="7148830" cy="1753235"/>
          </a:xfrm>
          <a:prstGeom prst="rect">
            <a:avLst/>
          </a:prstGeom>
          <a:noFill/>
        </p:spPr>
        <p:txBody>
          <a:bodyPr wrap="square" rtlCol="0">
            <a:spAutoFit/>
          </a:bodyPr>
          <a:lstStyle/>
          <a:p>
            <a:r>
              <a:rPr lang="en-US" altLang="zh-CN"/>
              <a:t># </a:t>
            </a:r>
            <a:r>
              <a:rPr lang="zh-CN" altLang="en-US"/>
              <a:t>继续上面的例子</a:t>
            </a:r>
          </a:p>
          <a:p>
            <a:r>
              <a:rPr lang="en-US" altLang="zh-CN"/>
              <a:t>z.backward()</a:t>
            </a:r>
          </a:p>
          <a:p>
            <a:endParaRPr lang="en-US" altLang="zh-CN"/>
          </a:p>
          <a:p>
            <a:r>
              <a:rPr lang="en-US" altLang="zh-CN"/>
              <a:t># </a:t>
            </a:r>
            <a:r>
              <a:rPr lang="zh-CN" altLang="en-US"/>
              <a:t>查看梯度</a:t>
            </a:r>
          </a:p>
          <a:p>
            <a:r>
              <a:rPr lang="en-US" altLang="zh-CN"/>
              <a:t>print(x.grad)  # dz/dx</a:t>
            </a:r>
            <a:r>
              <a:rPr lang="zh-CN" altLang="en-US"/>
              <a:t>，在</a:t>
            </a:r>
            <a:r>
              <a:rPr lang="en-US" altLang="zh-CN"/>
              <a:t> x=1, y=2 </a:t>
            </a:r>
            <a:r>
              <a:rPr lang="zh-CN" altLang="en-US"/>
              <a:t>时应为</a:t>
            </a:r>
            <a:r>
              <a:rPr lang="en-US" altLang="zh-CN"/>
              <a:t> 2</a:t>
            </a:r>
          </a:p>
          <a:p>
            <a:r>
              <a:rPr lang="en-US" altLang="zh-CN"/>
              <a:t>print(y.grad)  # dz/dy</a:t>
            </a:r>
            <a:r>
              <a:rPr lang="zh-CN" altLang="en-US"/>
              <a:t>，在</a:t>
            </a:r>
            <a:r>
              <a:rPr lang="en-US" altLang="zh-CN"/>
              <a:t> x=1, y=2 </a:t>
            </a:r>
            <a:r>
              <a:rPr lang="zh-CN" altLang="en-US"/>
              <a:t>时应为</a:t>
            </a:r>
            <a:r>
              <a:rPr lang="en-US" altLang="zh-CN"/>
              <a:t> 1</a:t>
            </a:r>
          </a:p>
        </p:txBody>
      </p:sp>
      <p:sp>
        <p:nvSpPr>
          <p:cNvPr id="5" name="矩形 4"/>
          <p:cNvSpPr/>
          <p:nvPr/>
        </p:nvSpPr>
        <p:spPr>
          <a:xfrm>
            <a:off x="1775460" y="2708910"/>
            <a:ext cx="8208645" cy="2736215"/>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9" name="文本框 8"/>
          <p:cNvSpPr txBox="1"/>
          <p:nvPr/>
        </p:nvSpPr>
        <p:spPr>
          <a:xfrm>
            <a:off x="3287395" y="5661025"/>
            <a:ext cx="4064000" cy="368300"/>
          </a:xfrm>
          <a:prstGeom prst="rect">
            <a:avLst/>
          </a:prstGeom>
          <a:noFill/>
        </p:spPr>
        <p:txBody>
          <a:bodyPr wrap="square" rtlCol="0">
            <a:spAutoFit/>
          </a:bodyPr>
          <a:lstStyle/>
          <a:p>
            <a:r>
              <a:rPr lang="zh-CN" altLang="en-US"/>
              <a:t>示例：反向传播过程</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198821" y="980728"/>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Autograd</a:t>
            </a:r>
            <a:r>
              <a:rPr lang="zh-CN" altLang="en-US" sz="3200" dirty="0"/>
              <a:t>自动求导</a:t>
            </a:r>
          </a:p>
        </p:txBody>
      </p:sp>
      <p:sp>
        <p:nvSpPr>
          <p:cNvPr id="7" name="文本框 6"/>
          <p:cNvSpPr txBox="1"/>
          <p:nvPr/>
        </p:nvSpPr>
        <p:spPr>
          <a:xfrm>
            <a:off x="1558925" y="1556385"/>
            <a:ext cx="9533255" cy="460375"/>
          </a:xfrm>
          <a:prstGeom prst="rect">
            <a:avLst/>
          </a:prstGeom>
          <a:noFill/>
        </p:spPr>
        <p:txBody>
          <a:bodyPr wrap="square" rtlCol="0">
            <a:spAutoFit/>
          </a:bodyPr>
          <a:lstStyle/>
          <a:p>
            <a:r>
              <a:rPr lang="zh-CN" altLang="en-US" sz="2400"/>
              <a:t>计算图的构建和管理</a:t>
            </a:r>
          </a:p>
        </p:txBody>
      </p:sp>
      <p:sp>
        <p:nvSpPr>
          <p:cNvPr id="8" name="文本框 7"/>
          <p:cNvSpPr txBox="1"/>
          <p:nvPr/>
        </p:nvSpPr>
        <p:spPr>
          <a:xfrm>
            <a:off x="1461770" y="1916430"/>
            <a:ext cx="8938260" cy="368300"/>
          </a:xfrm>
          <a:prstGeom prst="rect">
            <a:avLst/>
          </a:prstGeom>
          <a:noFill/>
        </p:spPr>
        <p:txBody>
          <a:bodyPr wrap="square" rtlCol="0">
            <a:spAutoFit/>
          </a:bodyPr>
          <a:lstStyle/>
          <a:p>
            <a:pPr indent="457200"/>
            <a:r>
              <a:rPr lang="zh-CN" altLang="en-US"/>
              <a:t>在实际应用中，对计算图的管理是优化内存和计算效率的重要方面。</a:t>
            </a:r>
          </a:p>
        </p:txBody>
      </p:sp>
      <p:sp>
        <p:nvSpPr>
          <p:cNvPr id="6" name="文本框 5"/>
          <p:cNvSpPr txBox="1"/>
          <p:nvPr/>
        </p:nvSpPr>
        <p:spPr>
          <a:xfrm>
            <a:off x="1991360" y="2492375"/>
            <a:ext cx="8717915" cy="2306955"/>
          </a:xfrm>
          <a:prstGeom prst="rect">
            <a:avLst/>
          </a:prstGeom>
          <a:noFill/>
        </p:spPr>
        <p:txBody>
          <a:bodyPr wrap="square" rtlCol="0">
            <a:spAutoFit/>
          </a:bodyPr>
          <a:lstStyle/>
          <a:p>
            <a:r>
              <a:rPr lang="en-US" altLang="zh-CN">
                <a:sym typeface="+mn-ea"/>
              </a:rPr>
              <a:t>•</a:t>
            </a:r>
            <a:r>
              <a:rPr lang="zh-CN" altLang="en-US"/>
              <a:t>图的清空：默认情况下，在调用</a:t>
            </a:r>
            <a:r>
              <a:rPr lang="en-US" altLang="zh-CN"/>
              <a:t> </a:t>
            </a:r>
            <a:r>
              <a:rPr lang="en-US" altLang="zh-CN">
                <a:solidFill>
                  <a:schemeClr val="accent1"/>
                </a:solidFill>
                <a:effectLst>
                  <a:outerShdw blurRad="38100" dist="25400" dir="5400000" algn="ctr" rotWithShape="0">
                    <a:srgbClr val="6E747A">
                      <a:alpha val="43000"/>
                    </a:srgbClr>
                  </a:outerShdw>
                </a:effectLst>
              </a:rPr>
              <a:t>.backward()</a:t>
            </a:r>
            <a:r>
              <a:rPr lang="en-US" altLang="zh-CN"/>
              <a:t> </a:t>
            </a:r>
            <a:r>
              <a:rPr lang="zh-CN" altLang="en-US"/>
              <a:t>后，</a:t>
            </a:r>
            <a:r>
              <a:rPr lang="en-US" altLang="zh-CN"/>
              <a:t>PyTorch </a:t>
            </a:r>
            <a:r>
              <a:rPr lang="zh-CN" altLang="en-US"/>
              <a:t>会自动清空计算图。这意味着每个</a:t>
            </a:r>
            <a:r>
              <a:rPr lang="en-US" altLang="zh-CN">
                <a:solidFill>
                  <a:schemeClr val="accent1"/>
                </a:solidFill>
                <a:effectLst>
                  <a:outerShdw blurRad="38100" dist="25400" dir="5400000" algn="ctr" rotWithShape="0">
                    <a:srgbClr val="6E747A">
                      <a:alpha val="43000"/>
                    </a:srgbClr>
                  </a:outerShdw>
                </a:effectLst>
              </a:rPr>
              <a:t> .backward() </a:t>
            </a:r>
            <a:r>
              <a:rPr lang="zh-CN" altLang="en-US"/>
              <a:t>调用都是一个独立的计算过程。对于涉及多次迭代的任务，这有助于节省内存。</a:t>
            </a:r>
          </a:p>
          <a:p>
            <a:endParaRPr lang="zh-CN" altLang="en-US"/>
          </a:p>
          <a:p>
            <a:r>
              <a:rPr lang="en-US" altLang="zh-CN">
                <a:sym typeface="+mn-ea"/>
              </a:rPr>
              <a:t>•</a:t>
            </a:r>
            <a:r>
              <a:rPr lang="zh-CN" altLang="en-US">
                <a:sym typeface="+mn-ea"/>
              </a:rPr>
              <a:t>禁止梯度跟踪：在某些情况下，例如在模型评估或推理阶段，不需要计算梯度。使用</a:t>
            </a:r>
            <a:r>
              <a:rPr lang="en-US" altLang="zh-CN">
                <a:sym typeface="+mn-ea"/>
              </a:rPr>
              <a:t> </a:t>
            </a:r>
            <a:r>
              <a:rPr lang="en-US" altLang="zh-CN">
                <a:solidFill>
                  <a:schemeClr val="accent1"/>
                </a:solidFill>
                <a:effectLst>
                  <a:outerShdw blurRad="38100" dist="25400" dir="5400000" algn="ctr" rotWithShape="0">
                    <a:srgbClr val="6E747A">
                      <a:alpha val="43000"/>
                    </a:srgbClr>
                  </a:outerShdw>
                </a:effectLst>
                <a:sym typeface="+mn-ea"/>
              </a:rPr>
              <a:t>torch.no_grad() </a:t>
            </a:r>
            <a:r>
              <a:rPr lang="zh-CN" altLang="en-US">
                <a:sym typeface="+mn-ea"/>
              </a:rPr>
              <a:t>可以暂时</a:t>
            </a:r>
            <a:r>
              <a:rPr lang="zh-CN" altLang="en-US">
                <a:solidFill>
                  <a:schemeClr val="accent1"/>
                </a:solidFill>
                <a:effectLst>
                  <a:outerShdw blurRad="38100" dist="25400" dir="5400000" algn="ctr" rotWithShape="0">
                    <a:srgbClr val="6E747A">
                      <a:alpha val="43000"/>
                    </a:srgbClr>
                  </a:outerShdw>
                </a:effectLst>
                <a:sym typeface="+mn-ea"/>
              </a:rPr>
              <a:t>禁用梯度计算</a:t>
            </a:r>
            <a:r>
              <a:rPr lang="zh-CN" altLang="en-US">
                <a:sym typeface="+mn-ea"/>
              </a:rPr>
              <a:t>，从而提高计算效率和减少内存使用。</a:t>
            </a:r>
          </a:p>
          <a:p>
            <a:endParaRPr lang="zh-CN" altLang="en-US"/>
          </a:p>
          <a:p>
            <a:endParaRPr lang="zh-CN" altLang="en-US"/>
          </a:p>
        </p:txBody>
      </p:sp>
      <p:sp>
        <p:nvSpPr>
          <p:cNvPr id="5" name="文本框 4"/>
          <p:cNvSpPr txBox="1"/>
          <p:nvPr/>
        </p:nvSpPr>
        <p:spPr>
          <a:xfrm>
            <a:off x="2999105" y="4220845"/>
            <a:ext cx="5951220" cy="1476375"/>
          </a:xfrm>
          <a:prstGeom prst="rect">
            <a:avLst/>
          </a:prstGeom>
          <a:noFill/>
        </p:spPr>
        <p:txBody>
          <a:bodyPr wrap="square" rtlCol="0">
            <a:spAutoFit/>
          </a:bodyPr>
          <a:lstStyle/>
          <a:p>
            <a:r>
              <a:rPr lang="en-US" altLang="zh-CN"/>
              <a:t>with torch.no_grad():</a:t>
            </a:r>
          </a:p>
          <a:p>
            <a:r>
              <a:rPr lang="en-US" altLang="zh-CN"/>
              <a:t>    # </a:t>
            </a:r>
            <a:r>
              <a:rPr lang="zh-CN" altLang="en-US"/>
              <a:t>在这个块内，所有计算都不会跟踪梯度</a:t>
            </a:r>
          </a:p>
          <a:p>
            <a:r>
              <a:rPr lang="en-US" altLang="zh-CN"/>
              <a:t>    y = x * 2</a:t>
            </a:r>
          </a:p>
          <a:p>
            <a:r>
              <a:rPr lang="en-US" altLang="zh-CN"/>
              <a:t>    # </a:t>
            </a:r>
            <a:r>
              <a:rPr lang="zh-CN" altLang="en-US"/>
              <a:t>这里</a:t>
            </a:r>
            <a:r>
              <a:rPr lang="en-US" altLang="zh-CN"/>
              <a:t> y </a:t>
            </a:r>
            <a:r>
              <a:rPr lang="zh-CN" altLang="en-US"/>
              <a:t>的</a:t>
            </a:r>
            <a:r>
              <a:rPr lang="en-US" altLang="zh-CN"/>
              <a:t> grad_fn </a:t>
            </a:r>
            <a:r>
              <a:rPr lang="zh-CN" altLang="en-US"/>
              <a:t>为</a:t>
            </a:r>
            <a:r>
              <a:rPr lang="en-US" altLang="zh-CN"/>
              <a:t> None</a:t>
            </a:r>
          </a:p>
          <a:p>
            <a:endParaRPr lang="en-US" altLang="zh-CN"/>
          </a:p>
        </p:txBody>
      </p:sp>
      <p:sp>
        <p:nvSpPr>
          <p:cNvPr id="9" name="矩形 8"/>
          <p:cNvSpPr/>
          <p:nvPr/>
        </p:nvSpPr>
        <p:spPr>
          <a:xfrm>
            <a:off x="2927350" y="4220845"/>
            <a:ext cx="5328285" cy="1511935"/>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198821" y="980728"/>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Autograd</a:t>
            </a:r>
            <a:r>
              <a:rPr lang="zh-CN" altLang="en-US" sz="3200" dirty="0"/>
              <a:t>自动求导</a:t>
            </a:r>
          </a:p>
        </p:txBody>
      </p:sp>
      <p:sp>
        <p:nvSpPr>
          <p:cNvPr id="7" name="文本框 6"/>
          <p:cNvSpPr txBox="1"/>
          <p:nvPr/>
        </p:nvSpPr>
        <p:spPr>
          <a:xfrm>
            <a:off x="1558925" y="1556385"/>
            <a:ext cx="9533255" cy="460375"/>
          </a:xfrm>
          <a:prstGeom prst="rect">
            <a:avLst/>
          </a:prstGeom>
          <a:noFill/>
        </p:spPr>
        <p:txBody>
          <a:bodyPr wrap="square" rtlCol="0">
            <a:spAutoFit/>
          </a:bodyPr>
          <a:lstStyle/>
          <a:p>
            <a:r>
              <a:rPr lang="zh-CN" altLang="en-US" sz="2400"/>
              <a:t>反向传播和梯度计算</a:t>
            </a:r>
          </a:p>
        </p:txBody>
      </p:sp>
      <p:sp>
        <p:nvSpPr>
          <p:cNvPr id="8" name="文本框 7"/>
          <p:cNvSpPr txBox="1"/>
          <p:nvPr/>
        </p:nvSpPr>
        <p:spPr>
          <a:xfrm>
            <a:off x="1461770" y="1916430"/>
            <a:ext cx="8938260" cy="645160"/>
          </a:xfrm>
          <a:prstGeom prst="rect">
            <a:avLst/>
          </a:prstGeom>
          <a:noFill/>
        </p:spPr>
        <p:txBody>
          <a:bodyPr wrap="square" rtlCol="0">
            <a:spAutoFit/>
          </a:bodyPr>
          <a:lstStyle/>
          <a:p>
            <a:pPr indent="457200"/>
            <a:r>
              <a:rPr lang="zh-CN" altLang="en-US"/>
              <a:t>反向传播算法的目的是计算损失函数相对于网络参数的梯度，反向传播基于</a:t>
            </a:r>
            <a:r>
              <a:rPr lang="zh-CN" altLang="en-US">
                <a:solidFill>
                  <a:schemeClr val="accent1"/>
                </a:solidFill>
                <a:effectLst>
                  <a:outerShdw blurRad="38100" dist="25400" dir="5400000" algn="ctr" rotWithShape="0">
                    <a:srgbClr val="6E747A">
                      <a:alpha val="43000"/>
                    </a:srgbClr>
                  </a:outerShdw>
                </a:effectLst>
              </a:rPr>
              <a:t>链式法则</a:t>
            </a:r>
            <a:r>
              <a:rPr lang="zh-CN" altLang="en-US"/>
              <a:t>，用于计算复合函数的导数。</a:t>
            </a:r>
          </a:p>
        </p:txBody>
      </p:sp>
      <p:sp>
        <p:nvSpPr>
          <p:cNvPr id="6" name="文本框 5"/>
          <p:cNvSpPr txBox="1"/>
          <p:nvPr/>
        </p:nvSpPr>
        <p:spPr>
          <a:xfrm>
            <a:off x="1889125" y="3068955"/>
            <a:ext cx="6505575" cy="645160"/>
          </a:xfrm>
          <a:prstGeom prst="rect">
            <a:avLst/>
          </a:prstGeom>
          <a:noFill/>
        </p:spPr>
        <p:txBody>
          <a:bodyPr wrap="square" rtlCol="0">
            <a:spAutoFit/>
          </a:bodyPr>
          <a:lstStyle/>
          <a:p>
            <a:endParaRPr lang="zh-CN" altLang="en-US"/>
          </a:p>
          <a:p>
            <a:endParaRPr lang="zh-CN" altLang="en-US"/>
          </a:p>
        </p:txBody>
      </p:sp>
      <p:pic>
        <p:nvPicPr>
          <p:cNvPr id="5" name="图片 4"/>
          <p:cNvPicPr>
            <a:picLocks noChangeAspect="1"/>
          </p:cNvPicPr>
          <p:nvPr/>
        </p:nvPicPr>
        <p:blipFill>
          <a:blip r:embed="rId3"/>
          <a:stretch>
            <a:fillRect/>
          </a:stretch>
        </p:blipFill>
        <p:spPr>
          <a:xfrm>
            <a:off x="2855595" y="2658745"/>
            <a:ext cx="5600700" cy="3251200"/>
          </a:xfrm>
          <a:prstGeom prst="rect">
            <a:avLst/>
          </a:prstGeom>
        </p:spPr>
      </p:pic>
      <p:sp>
        <p:nvSpPr>
          <p:cNvPr id="9" name="文本框 8"/>
          <p:cNvSpPr txBox="1"/>
          <p:nvPr/>
        </p:nvSpPr>
        <p:spPr>
          <a:xfrm>
            <a:off x="3503295" y="6092825"/>
            <a:ext cx="4064000" cy="368300"/>
          </a:xfrm>
          <a:prstGeom prst="rect">
            <a:avLst/>
          </a:prstGeom>
          <a:noFill/>
        </p:spPr>
        <p:txBody>
          <a:bodyPr wrap="square" rtlCol="0">
            <a:spAutoFit/>
          </a:bodyPr>
          <a:lstStyle/>
          <a:p>
            <a:r>
              <a:rPr lang="zh-CN" altLang="en-US"/>
              <a:t>反向传播的</a:t>
            </a:r>
            <a:r>
              <a:rPr lang="en-US" altLang="zh-CN"/>
              <a:t> PyTorch </a:t>
            </a:r>
            <a:r>
              <a:rPr lang="zh-CN" altLang="en-US"/>
              <a:t>示例</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198821" y="980728"/>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Autograd</a:t>
            </a:r>
            <a:r>
              <a:rPr lang="zh-CN" altLang="en-US" sz="3200" dirty="0"/>
              <a:t>自动求导</a:t>
            </a:r>
          </a:p>
        </p:txBody>
      </p:sp>
      <p:sp>
        <p:nvSpPr>
          <p:cNvPr id="7" name="文本框 6"/>
          <p:cNvSpPr txBox="1"/>
          <p:nvPr/>
        </p:nvSpPr>
        <p:spPr>
          <a:xfrm>
            <a:off x="1558925" y="1556385"/>
            <a:ext cx="9533255" cy="460375"/>
          </a:xfrm>
          <a:prstGeom prst="rect">
            <a:avLst/>
          </a:prstGeom>
          <a:noFill/>
        </p:spPr>
        <p:txBody>
          <a:bodyPr wrap="square" rtlCol="0">
            <a:spAutoFit/>
          </a:bodyPr>
          <a:lstStyle/>
          <a:p>
            <a:r>
              <a:rPr lang="zh-CN" altLang="en-US" sz="2400"/>
              <a:t>反向传播和梯度计算</a:t>
            </a:r>
          </a:p>
        </p:txBody>
      </p:sp>
      <p:sp>
        <p:nvSpPr>
          <p:cNvPr id="8" name="文本框 7"/>
          <p:cNvSpPr txBox="1"/>
          <p:nvPr/>
        </p:nvSpPr>
        <p:spPr>
          <a:xfrm>
            <a:off x="1461770" y="1916430"/>
            <a:ext cx="8938260" cy="1198880"/>
          </a:xfrm>
          <a:prstGeom prst="rect">
            <a:avLst/>
          </a:prstGeom>
          <a:noFill/>
        </p:spPr>
        <p:txBody>
          <a:bodyPr wrap="square" rtlCol="0">
            <a:spAutoFit/>
          </a:bodyPr>
          <a:lstStyle/>
          <a:p>
            <a:pPr indent="457200"/>
            <a:r>
              <a:rPr lang="zh-CN" altLang="en-US"/>
              <a:t>在</a:t>
            </a:r>
            <a:r>
              <a:rPr lang="en-US" altLang="zh-CN"/>
              <a:t> PyTorch </a:t>
            </a:r>
            <a:r>
              <a:rPr lang="zh-CN" altLang="en-US"/>
              <a:t>中，默认情况下梯度是累积的。这意味着在每次调用</a:t>
            </a:r>
            <a:r>
              <a:rPr lang="en-US" altLang="zh-CN"/>
              <a:t> .backward() </a:t>
            </a:r>
            <a:r>
              <a:rPr lang="zh-CN" altLang="en-US"/>
              <a:t>时，梯度都会加到之前的值上，而不是被替换。</a:t>
            </a:r>
          </a:p>
          <a:p>
            <a:pPr indent="457200"/>
            <a:r>
              <a:rPr lang="en-US" altLang="zh-CN">
                <a:sym typeface="+mn-ea"/>
              </a:rPr>
              <a:t>•</a:t>
            </a:r>
            <a:r>
              <a:rPr lang="zh-CN" altLang="en-US"/>
              <a:t>梯度清零：</a:t>
            </a:r>
            <a:r>
              <a:rPr lang="en-US" altLang="zh-CN"/>
              <a:t> </a:t>
            </a:r>
            <a:r>
              <a:rPr lang="zh-CN" altLang="en-US"/>
              <a:t>在大多数训练循环中，我们需要在每个迭代步骤之前清零梯度，以防止梯度累积影响当前步骤的梯度计算。</a:t>
            </a:r>
          </a:p>
        </p:txBody>
      </p:sp>
      <p:sp>
        <p:nvSpPr>
          <p:cNvPr id="6" name="文本框 5"/>
          <p:cNvSpPr txBox="1"/>
          <p:nvPr/>
        </p:nvSpPr>
        <p:spPr>
          <a:xfrm>
            <a:off x="1889125" y="3068955"/>
            <a:ext cx="6505575" cy="645160"/>
          </a:xfrm>
          <a:prstGeom prst="rect">
            <a:avLst/>
          </a:prstGeom>
          <a:noFill/>
        </p:spPr>
        <p:txBody>
          <a:bodyPr wrap="square" rtlCol="0">
            <a:spAutoFit/>
          </a:bodyPr>
          <a:lstStyle/>
          <a:p>
            <a:endParaRPr lang="zh-CN" altLang="en-US"/>
          </a:p>
          <a:p>
            <a:endParaRPr lang="zh-CN" altLang="en-US"/>
          </a:p>
        </p:txBody>
      </p:sp>
      <p:sp>
        <p:nvSpPr>
          <p:cNvPr id="9" name="文本框 8"/>
          <p:cNvSpPr txBox="1"/>
          <p:nvPr/>
        </p:nvSpPr>
        <p:spPr>
          <a:xfrm>
            <a:off x="3503295" y="6092825"/>
            <a:ext cx="4064000" cy="368300"/>
          </a:xfrm>
          <a:prstGeom prst="rect">
            <a:avLst/>
          </a:prstGeom>
          <a:noFill/>
        </p:spPr>
        <p:txBody>
          <a:bodyPr wrap="square" rtlCol="0">
            <a:spAutoFit/>
          </a:bodyPr>
          <a:lstStyle/>
          <a:p>
            <a:r>
              <a:rPr lang="zh-CN" altLang="en-US"/>
              <a:t>梯度清零的</a:t>
            </a:r>
            <a:r>
              <a:rPr lang="en-US" altLang="zh-CN"/>
              <a:t> PyTorch </a:t>
            </a:r>
            <a:r>
              <a:rPr lang="zh-CN" altLang="en-US"/>
              <a:t>示例</a:t>
            </a:r>
          </a:p>
        </p:txBody>
      </p:sp>
      <p:pic>
        <p:nvPicPr>
          <p:cNvPr id="10" name="图片 9"/>
          <p:cNvPicPr>
            <a:picLocks noChangeAspect="1"/>
          </p:cNvPicPr>
          <p:nvPr/>
        </p:nvPicPr>
        <p:blipFill>
          <a:blip r:embed="rId3"/>
          <a:stretch>
            <a:fillRect/>
          </a:stretch>
        </p:blipFill>
        <p:spPr>
          <a:xfrm>
            <a:off x="3143250" y="3356610"/>
            <a:ext cx="4562475" cy="245745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198821" y="980728"/>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Autograd</a:t>
            </a:r>
            <a:r>
              <a:rPr lang="zh-CN" altLang="en-US" sz="3200" dirty="0"/>
              <a:t>自动求导</a:t>
            </a:r>
          </a:p>
        </p:txBody>
      </p:sp>
      <p:sp>
        <p:nvSpPr>
          <p:cNvPr id="7" name="文本框 6"/>
          <p:cNvSpPr txBox="1"/>
          <p:nvPr/>
        </p:nvSpPr>
        <p:spPr>
          <a:xfrm>
            <a:off x="1558925" y="1556385"/>
            <a:ext cx="9533255" cy="829945"/>
          </a:xfrm>
          <a:prstGeom prst="rect">
            <a:avLst/>
          </a:prstGeom>
          <a:noFill/>
        </p:spPr>
        <p:txBody>
          <a:bodyPr wrap="square" rtlCol="0">
            <a:spAutoFit/>
          </a:bodyPr>
          <a:lstStyle/>
          <a:p>
            <a:r>
              <a:rPr lang="zh-CN" altLang="en-US" sz="2400">
                <a:sym typeface="+mn-ea"/>
              </a:rPr>
              <a:t>反向传播和梯度计算</a:t>
            </a:r>
            <a:endParaRPr lang="zh-CN" altLang="en-US" sz="2400"/>
          </a:p>
          <a:p>
            <a:endParaRPr lang="zh-CN" altLang="en-US" sz="2400"/>
          </a:p>
        </p:txBody>
      </p:sp>
      <p:sp>
        <p:nvSpPr>
          <p:cNvPr id="8" name="文本框 7"/>
          <p:cNvSpPr txBox="1"/>
          <p:nvPr/>
        </p:nvSpPr>
        <p:spPr>
          <a:xfrm>
            <a:off x="1461770" y="1916430"/>
            <a:ext cx="8938260" cy="645160"/>
          </a:xfrm>
          <a:prstGeom prst="rect">
            <a:avLst/>
          </a:prstGeom>
          <a:noFill/>
        </p:spPr>
        <p:txBody>
          <a:bodyPr wrap="square" rtlCol="0">
            <a:spAutoFit/>
          </a:bodyPr>
          <a:lstStyle/>
          <a:p>
            <a:pPr indent="457200"/>
            <a:r>
              <a:rPr lang="en-US" altLang="zh-CN"/>
              <a:t>PyTorch </a:t>
            </a:r>
            <a:r>
              <a:rPr lang="zh-CN" altLang="en-US"/>
              <a:t>中的</a:t>
            </a:r>
            <a:r>
              <a:rPr lang="en-US" altLang="zh-CN"/>
              <a:t> Autograd </a:t>
            </a:r>
            <a:r>
              <a:rPr lang="zh-CN" altLang="en-US"/>
              <a:t>系统基于动态计算图。这意味着计算图在每次执行时都是动态构建的，与静态图相比，这提供了更大的灵活性。</a:t>
            </a:r>
          </a:p>
        </p:txBody>
      </p:sp>
      <p:sp>
        <p:nvSpPr>
          <p:cNvPr id="6" name="文本框 5"/>
          <p:cNvSpPr txBox="1"/>
          <p:nvPr/>
        </p:nvSpPr>
        <p:spPr>
          <a:xfrm>
            <a:off x="2207260" y="2780665"/>
            <a:ext cx="6505575" cy="2306955"/>
          </a:xfrm>
          <a:prstGeom prst="rect">
            <a:avLst/>
          </a:prstGeom>
          <a:noFill/>
        </p:spPr>
        <p:txBody>
          <a:bodyPr wrap="square" rtlCol="0">
            <a:spAutoFit/>
          </a:bodyPr>
          <a:lstStyle/>
          <a:p>
            <a:r>
              <a:rPr lang="en-US" altLang="zh-CN"/>
              <a:t>import torch</a:t>
            </a:r>
          </a:p>
          <a:p>
            <a:r>
              <a:rPr lang="en-US" altLang="zh-CN"/>
              <a:t>x = torch.tensor(1.0, requires_grad=True)</a:t>
            </a:r>
          </a:p>
          <a:p>
            <a:r>
              <a:rPr lang="en-US" altLang="zh-CN"/>
              <a:t>if x &gt; 0:</a:t>
            </a:r>
          </a:p>
          <a:p>
            <a:r>
              <a:rPr lang="en-US" altLang="zh-CN"/>
              <a:t>    y = x * 2</a:t>
            </a:r>
          </a:p>
          <a:p>
            <a:r>
              <a:rPr lang="en-US" altLang="zh-CN"/>
              <a:t>else:</a:t>
            </a:r>
          </a:p>
          <a:p>
            <a:r>
              <a:rPr lang="en-US" altLang="zh-CN"/>
              <a:t>    y = x / 2</a:t>
            </a:r>
          </a:p>
          <a:p>
            <a:r>
              <a:rPr lang="en-US" altLang="zh-CN"/>
              <a:t>y.backward()</a:t>
            </a:r>
          </a:p>
          <a:p>
            <a:endParaRPr lang="zh-CN" altLang="en-US"/>
          </a:p>
        </p:txBody>
      </p:sp>
      <p:sp>
        <p:nvSpPr>
          <p:cNvPr id="5" name="矩形 4"/>
          <p:cNvSpPr/>
          <p:nvPr/>
        </p:nvSpPr>
        <p:spPr>
          <a:xfrm>
            <a:off x="2063115" y="2708910"/>
            <a:ext cx="4680585" cy="2232025"/>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0" name="文本框 9"/>
          <p:cNvSpPr txBox="1"/>
          <p:nvPr/>
        </p:nvSpPr>
        <p:spPr>
          <a:xfrm>
            <a:off x="1847215" y="5156835"/>
            <a:ext cx="7894955" cy="645160"/>
          </a:xfrm>
          <a:prstGeom prst="rect">
            <a:avLst/>
          </a:prstGeom>
          <a:noFill/>
        </p:spPr>
        <p:txBody>
          <a:bodyPr wrap="square" rtlCol="0">
            <a:spAutoFit/>
          </a:bodyPr>
          <a:lstStyle/>
          <a:p>
            <a:r>
              <a:rPr lang="zh-CN" altLang="en-US"/>
              <a:t>这段代码展示了</a:t>
            </a:r>
            <a:r>
              <a:rPr lang="en-US" altLang="zh-CN"/>
              <a:t> PyTorch </a:t>
            </a:r>
            <a:r>
              <a:rPr lang="zh-CN" altLang="en-US"/>
              <a:t>的动态图特性。根据</a:t>
            </a:r>
            <a:r>
              <a:rPr lang="en-US" altLang="zh-CN"/>
              <a:t> </a:t>
            </a:r>
            <a:r>
              <a:rPr lang="en-US" altLang="zh-CN">
                <a:solidFill>
                  <a:schemeClr val="accent1"/>
                </a:solidFill>
                <a:effectLst>
                  <a:outerShdw blurRad="38100" dist="25400" dir="5400000" algn="ctr" rotWithShape="0">
                    <a:srgbClr val="6E747A">
                      <a:alpha val="43000"/>
                    </a:srgbClr>
                  </a:outerShdw>
                </a:effectLst>
              </a:rPr>
              <a:t>x </a:t>
            </a:r>
            <a:r>
              <a:rPr lang="zh-CN" altLang="en-US">
                <a:solidFill>
                  <a:schemeClr val="accent1"/>
                </a:solidFill>
                <a:effectLst>
                  <a:outerShdw blurRad="38100" dist="25400" dir="5400000" algn="ctr" rotWithShape="0">
                    <a:srgbClr val="6E747A">
                      <a:alpha val="43000"/>
                    </a:srgbClr>
                  </a:outerShdw>
                </a:effectLst>
              </a:rPr>
              <a:t>的值</a:t>
            </a:r>
            <a:r>
              <a:rPr lang="zh-CN" altLang="en-US"/>
              <a:t>，计算路径可以改变，这在静态图框架中是难以实现的。</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198821" y="980728"/>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Autograd</a:t>
            </a:r>
            <a:r>
              <a:rPr lang="zh-CN" altLang="en-US" sz="3200" dirty="0"/>
              <a:t>自动求导</a:t>
            </a:r>
          </a:p>
        </p:txBody>
      </p:sp>
      <p:sp>
        <p:nvSpPr>
          <p:cNvPr id="7" name="文本框 6"/>
          <p:cNvSpPr txBox="1"/>
          <p:nvPr/>
        </p:nvSpPr>
        <p:spPr>
          <a:xfrm>
            <a:off x="1558925" y="1556385"/>
            <a:ext cx="9533255" cy="460375"/>
          </a:xfrm>
          <a:prstGeom prst="rect">
            <a:avLst/>
          </a:prstGeom>
          <a:noFill/>
        </p:spPr>
        <p:txBody>
          <a:bodyPr wrap="square" rtlCol="0">
            <a:spAutoFit/>
          </a:bodyPr>
          <a:lstStyle/>
          <a:p>
            <a:r>
              <a:rPr lang="zh-CN" altLang="en-US" sz="2400">
                <a:sym typeface="+mn-ea"/>
              </a:rPr>
              <a:t>反向传播和梯度计算</a:t>
            </a:r>
            <a:endParaRPr lang="zh-CN" altLang="en-US" sz="2400"/>
          </a:p>
        </p:txBody>
      </p:sp>
      <p:sp>
        <p:nvSpPr>
          <p:cNvPr id="8" name="文本框 7"/>
          <p:cNvSpPr txBox="1"/>
          <p:nvPr/>
        </p:nvSpPr>
        <p:spPr>
          <a:xfrm>
            <a:off x="1461770" y="1916430"/>
            <a:ext cx="8938260" cy="645160"/>
          </a:xfrm>
          <a:prstGeom prst="rect">
            <a:avLst/>
          </a:prstGeom>
          <a:noFill/>
        </p:spPr>
        <p:txBody>
          <a:bodyPr wrap="square" rtlCol="0">
            <a:spAutoFit/>
          </a:bodyPr>
          <a:lstStyle/>
          <a:p>
            <a:pPr indent="457200"/>
            <a:r>
              <a:rPr lang="en-US" altLang="zh-CN"/>
              <a:t>PyTorch </a:t>
            </a:r>
            <a:r>
              <a:rPr lang="zh-CN" altLang="en-US"/>
              <a:t>允许用户通过继承</a:t>
            </a:r>
            <a:r>
              <a:rPr lang="en-US" altLang="zh-CN">
                <a:solidFill>
                  <a:schemeClr val="accent1"/>
                </a:solidFill>
                <a:effectLst>
                  <a:outerShdw blurRad="38100" dist="25400" dir="5400000" algn="ctr" rotWithShape="0">
                    <a:srgbClr val="6E747A">
                      <a:alpha val="43000"/>
                    </a:srgbClr>
                  </a:outerShdw>
                </a:effectLst>
              </a:rPr>
              <a:t> torch.autograd.Function </a:t>
            </a:r>
            <a:r>
              <a:rPr lang="zh-CN" altLang="en-US"/>
              <a:t>来创建自定义的自动微分函数，这为复杂或特殊的前向和后向传播提供了可能。</a:t>
            </a:r>
          </a:p>
        </p:txBody>
      </p:sp>
      <p:sp>
        <p:nvSpPr>
          <p:cNvPr id="6" name="文本框 5"/>
          <p:cNvSpPr txBox="1"/>
          <p:nvPr/>
        </p:nvSpPr>
        <p:spPr>
          <a:xfrm>
            <a:off x="1889125" y="3068955"/>
            <a:ext cx="6505575" cy="645160"/>
          </a:xfrm>
          <a:prstGeom prst="rect">
            <a:avLst/>
          </a:prstGeom>
          <a:noFill/>
        </p:spPr>
        <p:txBody>
          <a:bodyPr wrap="square" rtlCol="0">
            <a:spAutoFit/>
          </a:bodyPr>
          <a:lstStyle/>
          <a:p>
            <a:endParaRPr lang="zh-CN" altLang="en-US"/>
          </a:p>
          <a:p>
            <a:endParaRPr lang="zh-CN" altLang="en-US"/>
          </a:p>
        </p:txBody>
      </p:sp>
      <p:pic>
        <p:nvPicPr>
          <p:cNvPr id="5" name="图片 4"/>
          <p:cNvPicPr>
            <a:picLocks noChangeAspect="1"/>
          </p:cNvPicPr>
          <p:nvPr/>
        </p:nvPicPr>
        <p:blipFill>
          <a:blip r:embed="rId3"/>
          <a:stretch>
            <a:fillRect/>
          </a:stretch>
        </p:blipFill>
        <p:spPr>
          <a:xfrm>
            <a:off x="3071495" y="2599690"/>
            <a:ext cx="4686300" cy="2906395"/>
          </a:xfrm>
          <a:prstGeom prst="rect">
            <a:avLst/>
          </a:prstGeom>
        </p:spPr>
      </p:pic>
      <p:sp>
        <p:nvSpPr>
          <p:cNvPr id="9" name="文本框 8"/>
          <p:cNvSpPr txBox="1"/>
          <p:nvPr/>
        </p:nvSpPr>
        <p:spPr>
          <a:xfrm>
            <a:off x="3215640" y="5732780"/>
            <a:ext cx="4064000" cy="368300"/>
          </a:xfrm>
          <a:prstGeom prst="rect">
            <a:avLst/>
          </a:prstGeom>
          <a:noFill/>
        </p:spPr>
        <p:txBody>
          <a:bodyPr wrap="square" rtlCol="0">
            <a:spAutoFit/>
          </a:bodyPr>
          <a:lstStyle/>
          <a:p>
            <a:r>
              <a:rPr lang="zh-CN" altLang="en-US"/>
              <a:t>示例：自定义自动微分函数</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198821" y="980728"/>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3200" dirty="0"/>
              <a:t>Autograd</a:t>
            </a:r>
            <a:r>
              <a:rPr lang="zh-CN" altLang="en-US" sz="3200" dirty="0"/>
              <a:t>自动求导</a:t>
            </a:r>
          </a:p>
        </p:txBody>
      </p:sp>
      <p:sp>
        <p:nvSpPr>
          <p:cNvPr id="7" name="文本框 6"/>
          <p:cNvSpPr txBox="1"/>
          <p:nvPr/>
        </p:nvSpPr>
        <p:spPr>
          <a:xfrm>
            <a:off x="1558925" y="1556385"/>
            <a:ext cx="9533255" cy="460375"/>
          </a:xfrm>
          <a:prstGeom prst="rect">
            <a:avLst/>
          </a:prstGeom>
          <a:noFill/>
        </p:spPr>
        <p:txBody>
          <a:bodyPr wrap="square" rtlCol="0">
            <a:spAutoFit/>
          </a:bodyPr>
          <a:lstStyle/>
          <a:p>
            <a:r>
              <a:rPr lang="zh-CN" altLang="en-US" sz="2400"/>
              <a:t>性能优化和内存管理</a:t>
            </a:r>
          </a:p>
        </p:txBody>
      </p:sp>
      <p:sp>
        <p:nvSpPr>
          <p:cNvPr id="8" name="文本框 7"/>
          <p:cNvSpPr txBox="1"/>
          <p:nvPr/>
        </p:nvSpPr>
        <p:spPr>
          <a:xfrm>
            <a:off x="1461770" y="1916430"/>
            <a:ext cx="8938260" cy="922020"/>
          </a:xfrm>
          <a:prstGeom prst="rect">
            <a:avLst/>
          </a:prstGeom>
          <a:noFill/>
        </p:spPr>
        <p:txBody>
          <a:bodyPr wrap="square" rtlCol="0">
            <a:spAutoFit/>
          </a:bodyPr>
          <a:lstStyle/>
          <a:p>
            <a:pPr indent="457200"/>
            <a:r>
              <a:rPr lang="en-US" altLang="zh-CN"/>
              <a:t>PyTorch </a:t>
            </a:r>
            <a:r>
              <a:rPr lang="zh-CN" altLang="en-US"/>
              <a:t>的</a:t>
            </a:r>
            <a:r>
              <a:rPr lang="en-US" altLang="zh-CN"/>
              <a:t> Autograd </a:t>
            </a:r>
            <a:r>
              <a:rPr lang="zh-CN" altLang="en-US"/>
              <a:t>系统还包括了针对</a:t>
            </a:r>
            <a:r>
              <a:rPr lang="zh-CN" altLang="en-US">
                <a:solidFill>
                  <a:schemeClr val="accent1"/>
                </a:solidFill>
                <a:effectLst>
                  <a:outerShdw blurRad="38100" dist="25400" dir="5400000" algn="ctr" rotWithShape="0">
                    <a:srgbClr val="6E747A">
                      <a:alpha val="43000"/>
                    </a:srgbClr>
                  </a:outerShdw>
                </a:effectLst>
              </a:rPr>
              <a:t>性能优化</a:t>
            </a:r>
            <a:r>
              <a:rPr lang="zh-CN" altLang="en-US"/>
              <a:t>和</a:t>
            </a:r>
            <a:r>
              <a:rPr lang="zh-CN" altLang="en-US">
                <a:solidFill>
                  <a:schemeClr val="accent1"/>
                </a:solidFill>
                <a:effectLst>
                  <a:outerShdw blurRad="38100" dist="25400" dir="5400000" algn="ctr" rotWithShape="0">
                    <a:srgbClr val="6E747A">
                      <a:alpha val="43000"/>
                    </a:srgbClr>
                  </a:outerShdw>
                </a:effectLst>
              </a:rPr>
              <a:t>内存管理</a:t>
            </a:r>
            <a:r>
              <a:rPr lang="zh-CN" altLang="en-US"/>
              <a:t>的特性，比如梯度检查点（用于减少内存使用）和延迟执行（用于优化性能），使用</a:t>
            </a:r>
            <a:r>
              <a:rPr lang="en-US" altLang="zh-CN"/>
              <a:t> </a:t>
            </a:r>
            <a:r>
              <a:rPr lang="en-US" altLang="zh-CN">
                <a:solidFill>
                  <a:schemeClr val="accent1"/>
                </a:solidFill>
                <a:effectLst>
                  <a:outerShdw blurRad="38100" dist="25400" dir="5400000" algn="ctr" rotWithShape="0">
                    <a:srgbClr val="6E747A">
                      <a:alpha val="43000"/>
                    </a:srgbClr>
                  </a:outerShdw>
                </a:effectLst>
              </a:rPr>
              <a:t>torch.utils.checkpoint</a:t>
            </a:r>
            <a:r>
              <a:rPr lang="en-US" altLang="zh-CN"/>
              <a:t> </a:t>
            </a:r>
            <a:r>
              <a:rPr lang="zh-CN" altLang="en-US"/>
              <a:t>来减少大型网络中的内存占用。</a:t>
            </a:r>
          </a:p>
        </p:txBody>
      </p:sp>
      <p:sp>
        <p:nvSpPr>
          <p:cNvPr id="6" name="文本框 5"/>
          <p:cNvSpPr txBox="1"/>
          <p:nvPr/>
        </p:nvSpPr>
        <p:spPr>
          <a:xfrm>
            <a:off x="1889125" y="3068955"/>
            <a:ext cx="6505575" cy="645160"/>
          </a:xfrm>
          <a:prstGeom prst="rect">
            <a:avLst/>
          </a:prstGeom>
          <a:noFill/>
        </p:spPr>
        <p:txBody>
          <a:bodyPr wrap="square" rtlCol="0">
            <a:spAutoFit/>
          </a:bodyPr>
          <a:lstStyle/>
          <a:p>
            <a:endParaRPr lang="zh-CN" altLang="en-US"/>
          </a:p>
          <a:p>
            <a:endParaRPr lang="zh-CN" altLang="en-US"/>
          </a:p>
        </p:txBody>
      </p:sp>
      <p:sp>
        <p:nvSpPr>
          <p:cNvPr id="5" name="文本框 4"/>
          <p:cNvSpPr txBox="1"/>
          <p:nvPr/>
        </p:nvSpPr>
        <p:spPr>
          <a:xfrm>
            <a:off x="2567305" y="2945130"/>
            <a:ext cx="6096000" cy="2584450"/>
          </a:xfrm>
          <a:prstGeom prst="rect">
            <a:avLst/>
          </a:prstGeom>
          <a:noFill/>
        </p:spPr>
        <p:txBody>
          <a:bodyPr wrap="square" rtlCol="0" anchor="t">
            <a:spAutoFit/>
          </a:bodyPr>
          <a:lstStyle/>
          <a:p>
            <a:r>
              <a:rPr lang="en-US" altLang="zh-CN"/>
              <a:t>import torch.utils.checkpoint as checkpoint</a:t>
            </a:r>
          </a:p>
          <a:p>
            <a:endParaRPr lang="en-US" altLang="zh-CN"/>
          </a:p>
          <a:p>
            <a:r>
              <a:rPr lang="en-US" altLang="zh-CN"/>
              <a:t>def run_fn(x):</a:t>
            </a:r>
          </a:p>
          <a:p>
            <a:r>
              <a:rPr lang="en-US" altLang="zh-CN"/>
              <a:t>    return x * 2</a:t>
            </a:r>
          </a:p>
          <a:p>
            <a:endParaRPr lang="en-US" altLang="zh-CN"/>
          </a:p>
          <a:p>
            <a:r>
              <a:rPr lang="en-US" altLang="zh-CN"/>
              <a:t>x = torch.tensor([1.0, 2.0, 3.0], requires_grad=True)</a:t>
            </a:r>
          </a:p>
          <a:p>
            <a:r>
              <a:rPr lang="en-US" altLang="zh-CN"/>
              <a:t>y = checkpoint.checkpoint(run_fn, x)</a:t>
            </a:r>
          </a:p>
          <a:p>
            <a:r>
              <a:rPr lang="en-US" altLang="zh-CN"/>
              <a:t>y.backward(torch.tensor([1.0, 1.0, 1.0]))</a:t>
            </a:r>
          </a:p>
          <a:p>
            <a:endParaRPr lang="zh-CN" altLang="en-US"/>
          </a:p>
        </p:txBody>
      </p:sp>
      <p:sp>
        <p:nvSpPr>
          <p:cNvPr id="9" name="矩形 8"/>
          <p:cNvSpPr/>
          <p:nvPr/>
        </p:nvSpPr>
        <p:spPr>
          <a:xfrm>
            <a:off x="2495550" y="2924810"/>
            <a:ext cx="6120130" cy="2663825"/>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1" name="文本框 10"/>
          <p:cNvSpPr txBox="1"/>
          <p:nvPr/>
        </p:nvSpPr>
        <p:spPr>
          <a:xfrm>
            <a:off x="3221990" y="5732780"/>
            <a:ext cx="4064000" cy="368300"/>
          </a:xfrm>
          <a:prstGeom prst="rect">
            <a:avLst/>
          </a:prstGeom>
          <a:noFill/>
        </p:spPr>
        <p:txBody>
          <a:bodyPr wrap="square" rtlCol="0">
            <a:spAutoFit/>
          </a:bodyPr>
          <a:lstStyle/>
          <a:p>
            <a:r>
              <a:rPr lang="zh-CN" altLang="en-US"/>
              <a:t>示例：梯度检查点</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198821" y="980728"/>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zh-CN" altLang="en-US" sz="3200" dirty="0"/>
              <a:t>并行计算</a:t>
            </a:r>
          </a:p>
        </p:txBody>
      </p:sp>
      <p:sp>
        <p:nvSpPr>
          <p:cNvPr id="8" name="文本框 7"/>
          <p:cNvSpPr txBox="1"/>
          <p:nvPr/>
        </p:nvSpPr>
        <p:spPr>
          <a:xfrm>
            <a:off x="1415415" y="1661160"/>
            <a:ext cx="8938260" cy="2676525"/>
          </a:xfrm>
          <a:prstGeom prst="rect">
            <a:avLst/>
          </a:prstGeom>
          <a:noFill/>
        </p:spPr>
        <p:txBody>
          <a:bodyPr wrap="square" rtlCol="0">
            <a:spAutoFit/>
          </a:bodyPr>
          <a:lstStyle/>
          <a:p>
            <a:pPr indent="457200"/>
            <a:r>
              <a:rPr lang="zh-CN" altLang="en-US" sz="2400"/>
              <a:t>深度学习的发展离不开算力的发展，</a:t>
            </a:r>
            <a:r>
              <a:rPr lang="en-US" altLang="zh-CN" sz="2400"/>
              <a:t>GPU</a:t>
            </a:r>
            <a:r>
              <a:rPr lang="zh-CN" altLang="en-US" sz="2400"/>
              <a:t>的出现让我们的模型可以训练的更快，更好。所以，充分利用</a:t>
            </a:r>
            <a:r>
              <a:rPr lang="en-US" altLang="zh-CN" sz="2400"/>
              <a:t>GPU</a:t>
            </a:r>
            <a:r>
              <a:rPr lang="zh-CN" altLang="en-US" sz="2400"/>
              <a:t>的性能来提高我们模型学习的效果十分重要。</a:t>
            </a:r>
          </a:p>
          <a:p>
            <a:pPr indent="457200"/>
            <a:endParaRPr lang="zh-CN" altLang="en-US" sz="2400"/>
          </a:p>
          <a:p>
            <a:pPr indent="457200"/>
            <a:r>
              <a:rPr lang="zh-CN" altLang="en-US" sz="2400"/>
              <a:t>统一计算设备架构（</a:t>
            </a:r>
            <a:r>
              <a:rPr lang="en-US" altLang="zh-CN" sz="2400"/>
              <a:t>Compute Unified Device Architecture, CUDA</a:t>
            </a:r>
            <a:r>
              <a:rPr lang="zh-CN" altLang="en-US" sz="2400"/>
              <a:t>），是由</a:t>
            </a:r>
            <a:r>
              <a:rPr lang="en-US" altLang="zh-CN" sz="2400"/>
              <a:t>NVIDIA</a:t>
            </a:r>
            <a:r>
              <a:rPr lang="zh-CN" altLang="en-US" sz="2400"/>
              <a:t>推出的通用并行计算架构。解决的是用更加廉价的设备资源，实现更高效的并行计算。</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198821" y="980728"/>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zh-CN" altLang="en-US" sz="3200" dirty="0"/>
              <a:t>常见的并行计算方法</a:t>
            </a:r>
          </a:p>
        </p:txBody>
      </p:sp>
      <p:sp>
        <p:nvSpPr>
          <p:cNvPr id="8" name="文本框 7"/>
          <p:cNvSpPr txBox="1"/>
          <p:nvPr/>
        </p:nvSpPr>
        <p:spPr>
          <a:xfrm>
            <a:off x="1415415" y="1661160"/>
            <a:ext cx="8938260" cy="1660525"/>
          </a:xfrm>
          <a:prstGeom prst="rect">
            <a:avLst/>
          </a:prstGeom>
          <a:noFill/>
        </p:spPr>
        <p:txBody>
          <a:bodyPr wrap="square" rtlCol="0">
            <a:spAutoFit/>
          </a:bodyPr>
          <a:lstStyle/>
          <a:p>
            <a:pPr indent="457200"/>
            <a:r>
              <a:rPr lang="zh-CN" altLang="en-US" sz="1800">
                <a:solidFill>
                  <a:schemeClr val="accent1"/>
                </a:solidFill>
                <a:effectLst>
                  <a:outerShdw blurRad="38100" dist="25400" dir="5400000" algn="ctr" rotWithShape="0">
                    <a:srgbClr val="6E747A">
                      <a:alpha val="43000"/>
                    </a:srgbClr>
                  </a:outerShdw>
                </a:effectLst>
              </a:rPr>
              <a:t>网络结构分布到不同的设备中</a:t>
            </a:r>
            <a:r>
              <a:rPr lang="zh-CN" altLang="en-US" sz="1800"/>
              <a:t>，主要的思路是，将一个模型的各个部分拆分，然后将</a:t>
            </a:r>
            <a:r>
              <a:rPr lang="zh-CN" altLang="en-US" sz="1800">
                <a:solidFill>
                  <a:schemeClr val="accent1"/>
                </a:solidFill>
                <a:effectLst>
                  <a:outerShdw blurRad="38100" dist="25400" dir="5400000" algn="ctr" rotWithShape="0">
                    <a:srgbClr val="6E747A">
                      <a:alpha val="43000"/>
                    </a:srgbClr>
                  </a:outerShdw>
                </a:effectLst>
              </a:rPr>
              <a:t>不同的部分</a:t>
            </a:r>
            <a:r>
              <a:rPr lang="zh-CN" altLang="en-US" sz="1800"/>
              <a:t>放入到</a:t>
            </a:r>
            <a:r>
              <a:rPr lang="en-US" altLang="zh-CN" sz="1800"/>
              <a:t>GPU</a:t>
            </a:r>
            <a:r>
              <a:rPr lang="zh-CN" altLang="en-US" sz="1800"/>
              <a:t>来做不同任务的计算，遇到的问题就是，不同模型组件在不同的</a:t>
            </a:r>
            <a:r>
              <a:rPr lang="en-US" altLang="zh-CN" sz="1800"/>
              <a:t>GPU</a:t>
            </a:r>
            <a:r>
              <a:rPr lang="zh-CN" altLang="en-US" sz="1800"/>
              <a:t>上时，</a:t>
            </a:r>
            <a:r>
              <a:rPr lang="en-US" altLang="zh-CN" sz="1800"/>
              <a:t>GPU</a:t>
            </a:r>
            <a:r>
              <a:rPr lang="zh-CN" altLang="en-US" sz="1800"/>
              <a:t>之间的传输就很重要。</a:t>
            </a:r>
          </a:p>
          <a:p>
            <a:pPr indent="457200"/>
            <a:endParaRPr lang="zh-CN" altLang="en-US" sz="2400"/>
          </a:p>
          <a:p>
            <a:pPr indent="457200"/>
            <a:endParaRPr lang="zh-CN" altLang="en-US" sz="2400"/>
          </a:p>
        </p:txBody>
      </p:sp>
      <p:pic>
        <p:nvPicPr>
          <p:cNvPr id="5" name="图片 4"/>
          <p:cNvPicPr>
            <a:picLocks noChangeAspect="1"/>
          </p:cNvPicPr>
          <p:nvPr/>
        </p:nvPicPr>
        <p:blipFill>
          <a:blip r:embed="rId3"/>
          <a:stretch>
            <a:fillRect/>
          </a:stretch>
        </p:blipFill>
        <p:spPr>
          <a:xfrm>
            <a:off x="3431540" y="2992755"/>
            <a:ext cx="4525645" cy="306260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198821" y="980728"/>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zh-CN" altLang="en-US" sz="3200" dirty="0"/>
              <a:t>常见的并行计算方法</a:t>
            </a:r>
          </a:p>
        </p:txBody>
      </p:sp>
      <p:sp>
        <p:nvSpPr>
          <p:cNvPr id="8" name="文本框 7"/>
          <p:cNvSpPr txBox="1"/>
          <p:nvPr/>
        </p:nvSpPr>
        <p:spPr>
          <a:xfrm>
            <a:off x="1415415" y="1661160"/>
            <a:ext cx="8938260" cy="1660525"/>
          </a:xfrm>
          <a:prstGeom prst="rect">
            <a:avLst/>
          </a:prstGeom>
          <a:noFill/>
        </p:spPr>
        <p:txBody>
          <a:bodyPr wrap="square" rtlCol="0">
            <a:spAutoFit/>
          </a:bodyPr>
          <a:lstStyle/>
          <a:p>
            <a:pPr indent="457200"/>
            <a:r>
              <a:rPr lang="zh-CN" altLang="en-US" sz="1800">
                <a:solidFill>
                  <a:schemeClr val="accent1"/>
                </a:solidFill>
                <a:effectLst>
                  <a:outerShdw blurRad="38100" dist="25400" dir="5400000" algn="ctr" rotWithShape="0">
                    <a:srgbClr val="6E747A">
                      <a:alpha val="43000"/>
                    </a:srgbClr>
                  </a:outerShdw>
                </a:effectLst>
              </a:rPr>
              <a:t>同一层的任务分布到不同数据中</a:t>
            </a:r>
            <a:r>
              <a:rPr lang="zh-CN" altLang="en-US" sz="1800"/>
              <a:t>，同一层的模型做一个拆分，让不同的</a:t>
            </a:r>
            <a:r>
              <a:rPr lang="en-US" altLang="zh-CN" sz="1800"/>
              <a:t>GPU</a:t>
            </a:r>
            <a:r>
              <a:rPr lang="zh-CN" altLang="en-US" sz="1800"/>
              <a:t>去训练</a:t>
            </a:r>
            <a:r>
              <a:rPr lang="zh-CN" altLang="en-US" sz="1800">
                <a:solidFill>
                  <a:schemeClr val="accent1"/>
                </a:solidFill>
                <a:effectLst>
                  <a:outerShdw blurRad="38100" dist="25400" dir="5400000" algn="ctr" rotWithShape="0">
                    <a:srgbClr val="6E747A">
                      <a:alpha val="43000"/>
                    </a:srgbClr>
                  </a:outerShdw>
                </a:effectLst>
              </a:rPr>
              <a:t>同一层模型</a:t>
            </a:r>
            <a:r>
              <a:rPr lang="zh-CN" altLang="en-US" sz="1800"/>
              <a:t>的部分任务，以保证在不同组件之间传输的问题，但是在我们需要大量的训练，同步任务加重的情况下，会出现和第一种方式一样的问题。</a:t>
            </a:r>
          </a:p>
          <a:p>
            <a:pPr indent="457200"/>
            <a:endParaRPr lang="zh-CN" altLang="en-US" sz="2400"/>
          </a:p>
          <a:p>
            <a:pPr indent="457200"/>
            <a:endParaRPr lang="zh-CN" altLang="en-US" sz="2400"/>
          </a:p>
        </p:txBody>
      </p:sp>
      <p:pic>
        <p:nvPicPr>
          <p:cNvPr id="6" name="图片 5"/>
          <p:cNvPicPr>
            <a:picLocks noChangeAspect="1"/>
          </p:cNvPicPr>
          <p:nvPr/>
        </p:nvPicPr>
        <p:blipFill>
          <a:blip r:embed="rId3"/>
          <a:stretch>
            <a:fillRect/>
          </a:stretch>
        </p:blipFill>
        <p:spPr>
          <a:xfrm>
            <a:off x="2855595" y="2852420"/>
            <a:ext cx="5617210" cy="339788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198821" y="980728"/>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zh-CN" altLang="en-US" sz="3200" dirty="0"/>
              <a:t>常见的并行计算方法</a:t>
            </a:r>
          </a:p>
        </p:txBody>
      </p:sp>
      <p:sp>
        <p:nvSpPr>
          <p:cNvPr id="8" name="文本框 7"/>
          <p:cNvSpPr txBox="1"/>
          <p:nvPr/>
        </p:nvSpPr>
        <p:spPr>
          <a:xfrm>
            <a:off x="1415415" y="1661160"/>
            <a:ext cx="8938260" cy="1660525"/>
          </a:xfrm>
          <a:prstGeom prst="rect">
            <a:avLst/>
          </a:prstGeom>
          <a:noFill/>
        </p:spPr>
        <p:txBody>
          <a:bodyPr wrap="square" rtlCol="0">
            <a:spAutoFit/>
          </a:bodyPr>
          <a:lstStyle/>
          <a:p>
            <a:pPr indent="457200"/>
            <a:r>
              <a:rPr lang="zh-CN" altLang="en-US" sz="1800">
                <a:solidFill>
                  <a:schemeClr val="accent1"/>
                </a:solidFill>
                <a:effectLst>
                  <a:outerShdw blurRad="38100" dist="25400" dir="5400000" algn="ctr" rotWithShape="0">
                    <a:srgbClr val="6E747A">
                      <a:alpha val="43000"/>
                    </a:srgbClr>
                  </a:outerShdw>
                </a:effectLst>
              </a:rPr>
              <a:t>不同的数据分布到不同的设备中</a:t>
            </a:r>
            <a:r>
              <a:rPr lang="zh-CN" altLang="en-US" sz="1800"/>
              <a:t>，执行相同的任务，拆分数据就是，同一个模型在不同</a:t>
            </a:r>
            <a:r>
              <a:rPr lang="en-US" altLang="zh-CN" sz="1800"/>
              <a:t>GPU</a:t>
            </a:r>
            <a:r>
              <a:rPr lang="zh-CN" altLang="en-US" sz="1800"/>
              <a:t>中训练一部分数据，然后再分别计算一部分数据之后，只需要将输出的数据做一个汇总，然后再反传。</a:t>
            </a:r>
          </a:p>
          <a:p>
            <a:pPr indent="457200"/>
            <a:endParaRPr lang="zh-CN" altLang="en-US" sz="2400"/>
          </a:p>
          <a:p>
            <a:pPr indent="457200"/>
            <a:endParaRPr lang="zh-CN" altLang="en-US" sz="2400"/>
          </a:p>
        </p:txBody>
      </p:sp>
      <p:pic>
        <p:nvPicPr>
          <p:cNvPr id="6" name="图片 5"/>
          <p:cNvPicPr>
            <a:picLocks noChangeAspect="1"/>
          </p:cNvPicPr>
          <p:nvPr/>
        </p:nvPicPr>
        <p:blipFill>
          <a:blip r:embed="rId3"/>
          <a:stretch>
            <a:fillRect/>
          </a:stretch>
        </p:blipFill>
        <p:spPr>
          <a:xfrm>
            <a:off x="3026410" y="2924810"/>
            <a:ext cx="5453380" cy="311404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11" y="1629063"/>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sz="1800">
                <a:sym typeface="+mn-ea"/>
              </a:rPr>
              <a:t>•</a:t>
            </a:r>
            <a:r>
              <a:rPr lang="zh-CN" altLang="en-US" sz="1800" dirty="0">
                <a:latin typeface="宋体" panose="02010600030101010101" pitchFamily="2" charset="-122"/>
                <a:ea typeface="宋体" panose="02010600030101010101" pitchFamily="2" charset="-122"/>
                <a:cs typeface="宋体" panose="02010600030101010101" pitchFamily="2" charset="-122"/>
              </a:rPr>
              <a:t>数据收集：样本和标签。</a:t>
            </a:r>
          </a:p>
          <a:p>
            <a:pPr fontAlgn="auto">
              <a:spcAft>
                <a:spcPts val="0"/>
              </a:spcAft>
            </a:pPr>
            <a:r>
              <a:rPr lang="en-US" altLang="zh-CN" sz="1800">
                <a:sym typeface="+mn-ea"/>
              </a:rPr>
              <a:t>•</a:t>
            </a:r>
            <a:r>
              <a:rPr lang="zh-CN" altLang="en-US" sz="1800" dirty="0">
                <a:latin typeface="宋体" panose="02010600030101010101" pitchFamily="2" charset="-122"/>
                <a:ea typeface="宋体" panose="02010600030101010101" pitchFamily="2" charset="-122"/>
                <a:cs typeface="宋体" panose="02010600030101010101" pitchFamily="2" charset="-122"/>
              </a:rPr>
              <a:t>数据划分：训练集、验证集和测试集</a:t>
            </a:r>
          </a:p>
          <a:p>
            <a:pPr fontAlgn="auto">
              <a:spcAft>
                <a:spcPts val="0"/>
              </a:spcAft>
            </a:pPr>
            <a:r>
              <a:rPr lang="en-US" altLang="zh-CN" sz="1800">
                <a:sym typeface="+mn-ea"/>
              </a:rPr>
              <a:t>•</a:t>
            </a:r>
            <a:r>
              <a:rPr lang="zh-CN" altLang="en-US" sz="1800" dirty="0">
                <a:latin typeface="宋体" panose="02010600030101010101" pitchFamily="2" charset="-122"/>
                <a:ea typeface="宋体" panose="02010600030101010101" pitchFamily="2" charset="-122"/>
                <a:cs typeface="宋体" panose="02010600030101010101" pitchFamily="2" charset="-122"/>
              </a:rPr>
              <a:t>数据读取：对应于</a:t>
            </a:r>
            <a:r>
              <a:rPr lang="en-US" altLang="zh-CN" sz="1800" dirty="0">
                <a:latin typeface="宋体" panose="02010600030101010101" pitchFamily="2" charset="-122"/>
                <a:ea typeface="宋体" panose="02010600030101010101" pitchFamily="2" charset="-122"/>
                <a:cs typeface="宋体" panose="02010600030101010101" pitchFamily="2" charset="-122"/>
              </a:rPr>
              <a:t> PyTorch </a:t>
            </a:r>
            <a:r>
              <a:rPr lang="zh-CN" altLang="en-US" sz="1800" dirty="0">
                <a:latin typeface="宋体" panose="02010600030101010101" pitchFamily="2" charset="-122"/>
                <a:ea typeface="宋体" panose="02010600030101010101" pitchFamily="2" charset="-122"/>
                <a:cs typeface="宋体" panose="02010600030101010101" pitchFamily="2" charset="-122"/>
              </a:rPr>
              <a:t>的</a:t>
            </a:r>
            <a:r>
              <a:rPr lang="en-US" altLang="zh-CN" sz="1800" dirty="0">
                <a:latin typeface="宋体" panose="02010600030101010101" pitchFamily="2" charset="-122"/>
                <a:ea typeface="宋体" panose="02010600030101010101" pitchFamily="2" charset="-122"/>
                <a:cs typeface="宋体" panose="02010600030101010101" pitchFamily="2" charset="-122"/>
              </a:rPr>
              <a:t> DataLoader</a:t>
            </a:r>
            <a:r>
              <a:rPr lang="zh-CN" altLang="en-US" sz="1800" dirty="0">
                <a:latin typeface="宋体" panose="02010600030101010101" pitchFamily="2" charset="-122"/>
                <a:ea typeface="宋体" panose="02010600030101010101" pitchFamily="2" charset="-122"/>
                <a:cs typeface="宋体" panose="02010600030101010101" pitchFamily="2" charset="-122"/>
              </a:rPr>
              <a:t>。其中</a:t>
            </a:r>
            <a:r>
              <a:rPr lang="en-US" altLang="zh-CN" sz="1800" dirty="0">
                <a:latin typeface="宋体" panose="02010600030101010101" pitchFamily="2" charset="-122"/>
                <a:ea typeface="宋体" panose="02010600030101010101" pitchFamily="2" charset="-122"/>
                <a:cs typeface="宋体" panose="02010600030101010101" pitchFamily="2" charset="-122"/>
              </a:rPr>
              <a:t> DataLoader </a:t>
            </a:r>
            <a:r>
              <a:rPr lang="zh-CN" altLang="en-US" sz="1800" dirty="0">
                <a:latin typeface="宋体" panose="02010600030101010101" pitchFamily="2" charset="-122"/>
                <a:ea typeface="宋体" panose="02010600030101010101" pitchFamily="2" charset="-122"/>
                <a:cs typeface="宋体" panose="02010600030101010101" pitchFamily="2" charset="-122"/>
              </a:rPr>
              <a:t>包括</a:t>
            </a:r>
            <a:r>
              <a:rPr lang="en-US" altLang="zh-CN" sz="1800" dirty="0">
                <a:latin typeface="宋体" panose="02010600030101010101" pitchFamily="2" charset="-122"/>
                <a:ea typeface="宋体" panose="02010600030101010101" pitchFamily="2" charset="-122"/>
                <a:cs typeface="宋体" panose="02010600030101010101" pitchFamily="2" charset="-122"/>
              </a:rPr>
              <a:t> Sampler </a:t>
            </a:r>
            <a:r>
              <a:rPr lang="zh-CN" altLang="en-US" sz="1800" dirty="0">
                <a:latin typeface="宋体" panose="02010600030101010101" pitchFamily="2" charset="-122"/>
                <a:ea typeface="宋体" panose="02010600030101010101" pitchFamily="2" charset="-122"/>
                <a:cs typeface="宋体" panose="02010600030101010101" pitchFamily="2" charset="-122"/>
              </a:rPr>
              <a:t>和</a:t>
            </a:r>
            <a:r>
              <a:rPr lang="en-US" altLang="zh-CN" sz="1800" dirty="0">
                <a:latin typeface="宋体" panose="02010600030101010101" pitchFamily="2" charset="-122"/>
                <a:ea typeface="宋体" panose="02010600030101010101" pitchFamily="2" charset="-122"/>
                <a:cs typeface="宋体" panose="02010600030101010101" pitchFamily="2" charset="-122"/>
              </a:rPr>
              <a:t> DataSet</a:t>
            </a:r>
            <a:r>
              <a:rPr lang="zh-CN" altLang="en-US" sz="1800" dirty="0">
                <a:latin typeface="宋体" panose="02010600030101010101" pitchFamily="2" charset="-122"/>
                <a:ea typeface="宋体" panose="02010600030101010101" pitchFamily="2" charset="-122"/>
                <a:cs typeface="宋体" panose="02010600030101010101" pitchFamily="2" charset="-122"/>
              </a:rPr>
              <a:t>。</a:t>
            </a:r>
            <a:r>
              <a:rPr lang="en-US" altLang="zh-CN" sz="1800" dirty="0">
                <a:latin typeface="宋体" panose="02010600030101010101" pitchFamily="2" charset="-122"/>
                <a:ea typeface="宋体" panose="02010600030101010101" pitchFamily="2" charset="-122"/>
                <a:cs typeface="宋体" panose="02010600030101010101" pitchFamily="2" charset="-122"/>
              </a:rPr>
              <a:t>Sampler </a:t>
            </a:r>
            <a:r>
              <a:rPr lang="zh-CN" altLang="en-US" sz="1800" dirty="0">
                <a:latin typeface="宋体" panose="02010600030101010101" pitchFamily="2" charset="-122"/>
                <a:ea typeface="宋体" panose="02010600030101010101" pitchFamily="2" charset="-122"/>
                <a:cs typeface="宋体" panose="02010600030101010101" pitchFamily="2" charset="-122"/>
              </a:rPr>
              <a:t>的功能是生成索引，</a:t>
            </a:r>
            <a:r>
              <a:rPr lang="en-US" altLang="zh-CN" sz="1800" dirty="0">
                <a:latin typeface="宋体" panose="02010600030101010101" pitchFamily="2" charset="-122"/>
                <a:ea typeface="宋体" panose="02010600030101010101" pitchFamily="2" charset="-122"/>
                <a:cs typeface="宋体" panose="02010600030101010101" pitchFamily="2" charset="-122"/>
              </a:rPr>
              <a:t> DataSet </a:t>
            </a:r>
            <a:r>
              <a:rPr lang="zh-CN" altLang="en-US" sz="1800" dirty="0">
                <a:latin typeface="宋体" panose="02010600030101010101" pitchFamily="2" charset="-122"/>
                <a:ea typeface="宋体" panose="02010600030101010101" pitchFamily="2" charset="-122"/>
                <a:cs typeface="宋体" panose="02010600030101010101" pitchFamily="2" charset="-122"/>
              </a:rPr>
              <a:t>是根据生成的索引读取样本以及标签。</a:t>
            </a:r>
          </a:p>
          <a:p>
            <a:pPr fontAlgn="auto">
              <a:spcAft>
                <a:spcPts val="0"/>
              </a:spcAft>
            </a:pPr>
            <a:r>
              <a:rPr lang="en-US" altLang="zh-CN" sz="1800">
                <a:sym typeface="+mn-ea"/>
              </a:rPr>
              <a:t>•</a:t>
            </a:r>
            <a:r>
              <a:rPr lang="zh-CN" altLang="en-US" sz="1800" dirty="0">
                <a:latin typeface="宋体" panose="02010600030101010101" pitchFamily="2" charset="-122"/>
                <a:ea typeface="宋体" panose="02010600030101010101" pitchFamily="2" charset="-122"/>
                <a:cs typeface="宋体" panose="02010600030101010101" pitchFamily="2" charset="-122"/>
              </a:rPr>
              <a:t>数据预处理：对应于</a:t>
            </a:r>
            <a:r>
              <a:rPr lang="en-US" altLang="zh-CN" sz="1800" dirty="0">
                <a:latin typeface="宋体" panose="02010600030101010101" pitchFamily="2" charset="-122"/>
                <a:ea typeface="宋体" panose="02010600030101010101" pitchFamily="2" charset="-122"/>
                <a:cs typeface="宋体" panose="02010600030101010101" pitchFamily="2" charset="-122"/>
              </a:rPr>
              <a:t> PyTorch </a:t>
            </a:r>
            <a:r>
              <a:rPr lang="zh-CN" altLang="en-US" sz="1800" dirty="0">
                <a:latin typeface="宋体" panose="02010600030101010101" pitchFamily="2" charset="-122"/>
                <a:ea typeface="宋体" panose="02010600030101010101" pitchFamily="2" charset="-122"/>
                <a:cs typeface="宋体" panose="02010600030101010101" pitchFamily="2" charset="-122"/>
              </a:rPr>
              <a:t>的</a:t>
            </a:r>
            <a:r>
              <a:rPr lang="en-US" altLang="zh-CN" sz="1800" dirty="0">
                <a:latin typeface="宋体" panose="02010600030101010101" pitchFamily="2" charset="-122"/>
                <a:ea typeface="宋体" panose="02010600030101010101" pitchFamily="2" charset="-122"/>
                <a:cs typeface="宋体" panose="02010600030101010101" pitchFamily="2" charset="-122"/>
              </a:rPr>
              <a:t> transforms</a:t>
            </a:r>
            <a:endParaRPr lang="zh-CN" altLang="en-US" sz="1800" dirty="0">
              <a:latin typeface="宋体" panose="02010600030101010101" pitchFamily="2" charset="-122"/>
              <a:ea typeface="宋体" panose="02010600030101010101" pitchFamily="2" charset="-122"/>
              <a:cs typeface="宋体" panose="02010600030101010101" pitchFamily="2" charset="-122"/>
            </a:endParaRPr>
          </a:p>
        </p:txBody>
      </p:sp>
      <p:pic>
        <p:nvPicPr>
          <p:cNvPr id="7" name="图片 6"/>
          <p:cNvPicPr/>
          <p:nvPr/>
        </p:nvPicPr>
        <p:blipFill>
          <a:blip r:embed="rId3"/>
          <a:stretch>
            <a:fillRect/>
          </a:stretch>
        </p:blipFill>
        <p:spPr>
          <a:xfrm>
            <a:off x="1271270" y="3212465"/>
            <a:ext cx="7432040" cy="3085465"/>
          </a:xfrm>
          <a:prstGeom prst="rect">
            <a:avLst/>
          </a:prstGeom>
        </p:spPr>
      </p:pic>
      <p:sp>
        <p:nvSpPr>
          <p:cNvPr id="9" name="文本框 8"/>
          <p:cNvSpPr txBox="1"/>
          <p:nvPr/>
        </p:nvSpPr>
        <p:spPr>
          <a:xfrm>
            <a:off x="1489075" y="1019810"/>
            <a:ext cx="4064000" cy="583565"/>
          </a:xfrm>
          <a:prstGeom prst="rect">
            <a:avLst/>
          </a:prstGeom>
          <a:noFill/>
        </p:spPr>
        <p:txBody>
          <a:bodyPr wrap="square" rtlCol="0">
            <a:spAutoFit/>
          </a:bodyPr>
          <a:lstStyle/>
          <a:p>
            <a:r>
              <a:rPr lang="zh-CN" altLang="en-US" sz="3200"/>
              <a:t>数据</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11" y="1629063"/>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1800" dirty="0">
                <a:latin typeface="宋体" panose="02010600030101010101" pitchFamily="2" charset="-122"/>
                <a:ea typeface="宋体" panose="02010600030101010101" pitchFamily="2" charset="-122"/>
                <a:cs typeface="宋体" panose="02010600030101010101" pitchFamily="2" charset="-122"/>
              </a:rPr>
              <a:t>数据读入</a:t>
            </a:r>
          </a:p>
        </p:txBody>
      </p:sp>
      <p:sp>
        <p:nvSpPr>
          <p:cNvPr id="9" name="文本框 8"/>
          <p:cNvSpPr txBox="1"/>
          <p:nvPr/>
        </p:nvSpPr>
        <p:spPr>
          <a:xfrm>
            <a:off x="1489075" y="1019810"/>
            <a:ext cx="4064000" cy="583565"/>
          </a:xfrm>
          <a:prstGeom prst="rect">
            <a:avLst/>
          </a:prstGeom>
          <a:noFill/>
        </p:spPr>
        <p:txBody>
          <a:bodyPr wrap="square" rtlCol="0">
            <a:spAutoFit/>
          </a:bodyPr>
          <a:lstStyle/>
          <a:p>
            <a:r>
              <a:rPr lang="zh-CN" altLang="en-US" sz="3200"/>
              <a:t>数据</a:t>
            </a:r>
          </a:p>
        </p:txBody>
      </p:sp>
      <p:sp>
        <p:nvSpPr>
          <p:cNvPr id="5" name="文本框 4"/>
          <p:cNvSpPr txBox="1"/>
          <p:nvPr/>
        </p:nvSpPr>
        <p:spPr>
          <a:xfrm>
            <a:off x="1631315" y="1995170"/>
            <a:ext cx="9573895" cy="645160"/>
          </a:xfrm>
          <a:prstGeom prst="rect">
            <a:avLst/>
          </a:prstGeom>
          <a:noFill/>
        </p:spPr>
        <p:txBody>
          <a:bodyPr wrap="square" rtlCol="0">
            <a:spAutoFit/>
          </a:bodyPr>
          <a:lstStyle/>
          <a:p>
            <a:pPr indent="457200"/>
            <a:r>
              <a:rPr lang="en-US" altLang="zh-CN"/>
              <a:t>PyTorch</a:t>
            </a:r>
            <a:r>
              <a:rPr lang="zh-CN" altLang="en-US"/>
              <a:t>数据读入是通过</a:t>
            </a:r>
            <a:r>
              <a:rPr lang="en-US" altLang="zh-CN">
                <a:solidFill>
                  <a:schemeClr val="accent1"/>
                </a:solidFill>
                <a:effectLst>
                  <a:outerShdw blurRad="38100" dist="25400" dir="5400000" algn="ctr" rotWithShape="0">
                    <a:srgbClr val="6E747A">
                      <a:alpha val="43000"/>
                    </a:srgbClr>
                  </a:outerShdw>
                </a:effectLst>
              </a:rPr>
              <a:t>Dataset+DataLoade</a:t>
            </a:r>
            <a:r>
              <a:rPr lang="en-US" altLang="zh-CN"/>
              <a:t>r</a:t>
            </a:r>
            <a:r>
              <a:rPr lang="zh-CN" altLang="en-US"/>
              <a:t>的方式完成的，</a:t>
            </a:r>
            <a:r>
              <a:rPr lang="en-US" altLang="zh-CN"/>
              <a:t>Dataset</a:t>
            </a:r>
            <a:r>
              <a:rPr lang="zh-CN" altLang="en-US"/>
              <a:t>定义好数据的格式和数据变换形式，</a:t>
            </a:r>
            <a:r>
              <a:rPr lang="en-US" altLang="zh-CN"/>
              <a:t>DataLoader</a:t>
            </a:r>
            <a:r>
              <a:rPr lang="zh-CN" altLang="en-US"/>
              <a:t>用</a:t>
            </a:r>
            <a:r>
              <a:rPr lang="en-US" altLang="zh-CN">
                <a:solidFill>
                  <a:schemeClr val="accent1"/>
                </a:solidFill>
                <a:effectLst>
                  <a:outerShdw blurRad="38100" dist="25400" dir="5400000" algn="ctr" rotWithShape="0">
                    <a:srgbClr val="6E747A">
                      <a:alpha val="43000"/>
                    </a:srgbClr>
                  </a:outerShdw>
                </a:effectLst>
              </a:rPr>
              <a:t>iterative</a:t>
            </a:r>
            <a:r>
              <a:rPr lang="zh-CN" altLang="en-US"/>
              <a:t>的方式不断读入批次数据。</a:t>
            </a:r>
          </a:p>
        </p:txBody>
      </p:sp>
      <p:sp>
        <p:nvSpPr>
          <p:cNvPr id="6" name="文本框 5"/>
          <p:cNvSpPr txBox="1"/>
          <p:nvPr/>
        </p:nvSpPr>
        <p:spPr>
          <a:xfrm>
            <a:off x="1703705" y="2640330"/>
            <a:ext cx="9344660" cy="2584450"/>
          </a:xfrm>
          <a:prstGeom prst="rect">
            <a:avLst/>
          </a:prstGeom>
          <a:noFill/>
        </p:spPr>
        <p:txBody>
          <a:bodyPr wrap="square" rtlCol="0">
            <a:spAutoFit/>
          </a:bodyPr>
          <a:lstStyle/>
          <a:p>
            <a:pPr indent="457200"/>
            <a:r>
              <a:rPr lang="zh-CN" altLang="en-US"/>
              <a:t>可以定义自己的</a:t>
            </a:r>
            <a:r>
              <a:rPr lang="en-US" altLang="zh-CN"/>
              <a:t>Dataset</a:t>
            </a:r>
            <a:r>
              <a:rPr lang="zh-CN" altLang="en-US"/>
              <a:t>类来实现灵活的数据读取，定义的类需要继承</a:t>
            </a:r>
            <a:r>
              <a:rPr lang="en-US" altLang="zh-CN"/>
              <a:t>PyTorch</a:t>
            </a:r>
            <a:r>
              <a:rPr lang="zh-CN" altLang="en-US"/>
              <a:t>自身的</a:t>
            </a:r>
            <a:r>
              <a:rPr lang="en-US" altLang="zh-CN"/>
              <a:t>Dataset</a:t>
            </a:r>
            <a:r>
              <a:rPr lang="zh-CN" altLang="en-US"/>
              <a:t>类。主要包含三个函数：</a:t>
            </a:r>
          </a:p>
          <a:p>
            <a:endParaRPr lang="en-US" altLang="zh-CN"/>
          </a:p>
          <a:p>
            <a:r>
              <a:rPr lang="en-US" altLang="zh-CN"/>
              <a:t>__init__: </a:t>
            </a:r>
            <a:r>
              <a:rPr lang="zh-CN" altLang="en-US"/>
              <a:t>用于向类中传入</a:t>
            </a:r>
            <a:r>
              <a:rPr lang="zh-CN" altLang="en-US">
                <a:solidFill>
                  <a:schemeClr val="accent1"/>
                </a:solidFill>
                <a:effectLst>
                  <a:outerShdw blurRad="38100" dist="25400" dir="5400000" algn="ctr" rotWithShape="0">
                    <a:srgbClr val="6E747A">
                      <a:alpha val="43000"/>
                    </a:srgbClr>
                  </a:outerShdw>
                </a:effectLst>
              </a:rPr>
              <a:t>外部参数</a:t>
            </a:r>
            <a:r>
              <a:rPr lang="zh-CN" altLang="en-US"/>
              <a:t>，同时定义样本集。</a:t>
            </a:r>
          </a:p>
          <a:p>
            <a:endParaRPr lang="en-US" altLang="zh-CN"/>
          </a:p>
          <a:p>
            <a:r>
              <a:rPr lang="en-US" altLang="zh-CN"/>
              <a:t>__getitem__: </a:t>
            </a:r>
            <a:r>
              <a:rPr lang="zh-CN" altLang="en-US"/>
              <a:t>用于</a:t>
            </a:r>
            <a:r>
              <a:rPr lang="zh-CN" altLang="en-US">
                <a:solidFill>
                  <a:schemeClr val="accent1"/>
                </a:solidFill>
                <a:effectLst>
                  <a:outerShdw blurRad="38100" dist="25400" dir="5400000" algn="ctr" rotWithShape="0">
                    <a:srgbClr val="6E747A">
                      <a:alpha val="43000"/>
                    </a:srgbClr>
                  </a:outerShdw>
                </a:effectLst>
              </a:rPr>
              <a:t>逐个读取</a:t>
            </a:r>
            <a:r>
              <a:rPr lang="zh-CN" altLang="en-US"/>
              <a:t>样本集合中的元素，可以进行一定的变换，并将返回训练</a:t>
            </a:r>
            <a:r>
              <a:rPr lang="en-US" altLang="zh-CN"/>
              <a:t>/</a:t>
            </a:r>
            <a:r>
              <a:rPr lang="zh-CN" altLang="en-US"/>
              <a:t>验证所需的数据。</a:t>
            </a:r>
          </a:p>
          <a:p>
            <a:endParaRPr lang="en-US" altLang="zh-CN"/>
          </a:p>
          <a:p>
            <a:r>
              <a:rPr lang="en-US" altLang="zh-CN"/>
              <a:t>__len__: </a:t>
            </a:r>
            <a:r>
              <a:rPr lang="zh-CN" altLang="en-US"/>
              <a:t>用于返回数据集的</a:t>
            </a:r>
            <a:r>
              <a:rPr lang="zh-CN" altLang="en-US">
                <a:solidFill>
                  <a:schemeClr val="accent1"/>
                </a:solidFill>
                <a:effectLst>
                  <a:outerShdw blurRad="38100" dist="25400" dir="5400000" algn="ctr" rotWithShape="0">
                    <a:srgbClr val="6E747A">
                      <a:alpha val="43000"/>
                    </a:srgbClr>
                  </a:outerShdw>
                </a:effectLst>
              </a:rPr>
              <a:t>样本数</a:t>
            </a:r>
            <a:r>
              <a:rPr lang="zh-CN" altLang="en-US">
                <a:solidFill>
                  <a:schemeClr val="tx1"/>
                </a:solidFill>
                <a:effectLst>
                  <a:outerShdw blurRad="38100" dist="19050" dir="2700000" algn="tl" rotWithShape="0">
                    <a:schemeClr val="dk1">
                      <a:alpha val="40000"/>
                    </a:schemeClr>
                  </a:outerShdw>
                </a:effectLst>
              </a:rPr>
              <a:t>。</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11" y="1629063"/>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1800" dirty="0">
                <a:latin typeface="宋体" panose="02010600030101010101" pitchFamily="2" charset="-122"/>
                <a:ea typeface="宋体" panose="02010600030101010101" pitchFamily="2" charset="-122"/>
                <a:cs typeface="宋体" panose="02010600030101010101" pitchFamily="2" charset="-122"/>
              </a:rPr>
              <a:t>数据读入</a:t>
            </a:r>
          </a:p>
        </p:txBody>
      </p:sp>
      <p:sp>
        <p:nvSpPr>
          <p:cNvPr id="9" name="文本框 8"/>
          <p:cNvSpPr txBox="1"/>
          <p:nvPr/>
        </p:nvSpPr>
        <p:spPr>
          <a:xfrm>
            <a:off x="1489075" y="1019810"/>
            <a:ext cx="4064000" cy="583565"/>
          </a:xfrm>
          <a:prstGeom prst="rect">
            <a:avLst/>
          </a:prstGeom>
          <a:noFill/>
        </p:spPr>
        <p:txBody>
          <a:bodyPr wrap="square" rtlCol="0">
            <a:spAutoFit/>
          </a:bodyPr>
          <a:lstStyle/>
          <a:p>
            <a:r>
              <a:rPr lang="zh-CN" altLang="en-US" sz="3200"/>
              <a:t>数据</a:t>
            </a:r>
          </a:p>
        </p:txBody>
      </p:sp>
      <p:sp>
        <p:nvSpPr>
          <p:cNvPr id="5" name="文本框 4"/>
          <p:cNvSpPr txBox="1"/>
          <p:nvPr/>
        </p:nvSpPr>
        <p:spPr>
          <a:xfrm>
            <a:off x="1631315" y="1995170"/>
            <a:ext cx="9573895" cy="645160"/>
          </a:xfrm>
          <a:prstGeom prst="rect">
            <a:avLst/>
          </a:prstGeom>
          <a:noFill/>
        </p:spPr>
        <p:txBody>
          <a:bodyPr wrap="square" rtlCol="0">
            <a:spAutoFit/>
          </a:bodyPr>
          <a:lstStyle/>
          <a:p>
            <a:pPr indent="457200"/>
            <a:r>
              <a:rPr lang="en-US" altLang="zh-CN"/>
              <a:t>PyTorch</a:t>
            </a:r>
            <a:r>
              <a:rPr lang="zh-CN" altLang="en-US"/>
              <a:t>数据读入是通过</a:t>
            </a:r>
            <a:r>
              <a:rPr lang="en-US" altLang="zh-CN">
                <a:solidFill>
                  <a:schemeClr val="accent1"/>
                </a:solidFill>
                <a:effectLst>
                  <a:outerShdw blurRad="38100" dist="25400" dir="5400000" algn="ctr" rotWithShape="0">
                    <a:srgbClr val="6E747A">
                      <a:alpha val="43000"/>
                    </a:srgbClr>
                  </a:outerShdw>
                </a:effectLst>
              </a:rPr>
              <a:t>Dataset+DataLoade</a:t>
            </a:r>
            <a:r>
              <a:rPr lang="en-US" altLang="zh-CN"/>
              <a:t>r</a:t>
            </a:r>
            <a:r>
              <a:rPr lang="zh-CN" altLang="en-US"/>
              <a:t>的方式完成的，</a:t>
            </a:r>
            <a:r>
              <a:rPr lang="en-US" altLang="zh-CN"/>
              <a:t>Dataset</a:t>
            </a:r>
            <a:r>
              <a:rPr lang="zh-CN" altLang="en-US"/>
              <a:t>定义好数据的格式和数据变换形式，</a:t>
            </a:r>
            <a:r>
              <a:rPr lang="en-US" altLang="zh-CN"/>
              <a:t>DataLoader</a:t>
            </a:r>
            <a:r>
              <a:rPr lang="zh-CN" altLang="en-US"/>
              <a:t>用</a:t>
            </a:r>
            <a:r>
              <a:rPr lang="en-US" altLang="zh-CN">
                <a:solidFill>
                  <a:schemeClr val="accent1"/>
                </a:solidFill>
                <a:effectLst>
                  <a:outerShdw blurRad="38100" dist="25400" dir="5400000" algn="ctr" rotWithShape="0">
                    <a:srgbClr val="6E747A">
                      <a:alpha val="43000"/>
                    </a:srgbClr>
                  </a:outerShdw>
                </a:effectLst>
              </a:rPr>
              <a:t>iterative</a:t>
            </a:r>
            <a:r>
              <a:rPr lang="zh-CN" altLang="en-US"/>
              <a:t>的方式不断读入批次数据。</a:t>
            </a:r>
          </a:p>
        </p:txBody>
      </p:sp>
      <p:pic>
        <p:nvPicPr>
          <p:cNvPr id="7" name="图片 6"/>
          <p:cNvPicPr>
            <a:picLocks noChangeAspect="1"/>
          </p:cNvPicPr>
          <p:nvPr/>
        </p:nvPicPr>
        <p:blipFill>
          <a:blip r:embed="rId3"/>
          <a:stretch>
            <a:fillRect/>
          </a:stretch>
        </p:blipFill>
        <p:spPr>
          <a:xfrm>
            <a:off x="2063750" y="2852420"/>
            <a:ext cx="7324725" cy="1066800"/>
          </a:xfrm>
          <a:prstGeom prst="rect">
            <a:avLst/>
          </a:prstGeom>
        </p:spPr>
      </p:pic>
      <p:sp>
        <p:nvSpPr>
          <p:cNvPr id="8" name="文本框 7"/>
          <p:cNvSpPr txBox="1"/>
          <p:nvPr/>
        </p:nvSpPr>
        <p:spPr>
          <a:xfrm>
            <a:off x="1606550" y="4076700"/>
            <a:ext cx="9484995" cy="1198880"/>
          </a:xfrm>
          <a:prstGeom prst="rect">
            <a:avLst/>
          </a:prstGeom>
          <a:noFill/>
        </p:spPr>
        <p:txBody>
          <a:bodyPr wrap="square" rtlCol="0">
            <a:spAutoFit/>
          </a:bodyPr>
          <a:lstStyle/>
          <a:p>
            <a:pPr indent="457200"/>
            <a:r>
              <a:rPr lang="zh-CN" altLang="en-US"/>
              <a:t>以</a:t>
            </a:r>
            <a:r>
              <a:rPr lang="en-US" altLang="zh-CN"/>
              <a:t>cifar10</a:t>
            </a:r>
            <a:r>
              <a:rPr lang="zh-CN" altLang="en-US"/>
              <a:t>数据集为例给出构建</a:t>
            </a:r>
            <a:r>
              <a:rPr lang="en-US" altLang="zh-CN"/>
              <a:t>Dataset</a:t>
            </a:r>
            <a:r>
              <a:rPr lang="zh-CN" altLang="en-US"/>
              <a:t>类：</a:t>
            </a:r>
          </a:p>
          <a:p>
            <a:pPr indent="457200"/>
            <a:r>
              <a:rPr lang="en-US" altLang="zh-CN">
                <a:sym typeface="+mn-ea"/>
              </a:rPr>
              <a:t>•</a:t>
            </a:r>
            <a:r>
              <a:rPr lang="zh-CN" altLang="en-US"/>
              <a:t>这里使用了</a:t>
            </a:r>
            <a:r>
              <a:rPr lang="en-US" altLang="zh-CN"/>
              <a:t>PyTorch</a:t>
            </a:r>
            <a:r>
              <a:rPr lang="zh-CN" altLang="en-US"/>
              <a:t>自带的</a:t>
            </a:r>
            <a:r>
              <a:rPr lang="en-US" altLang="zh-CN"/>
              <a:t>ImageFolder</a:t>
            </a:r>
            <a:r>
              <a:rPr lang="zh-CN" altLang="en-US"/>
              <a:t>类的用于读取按一定结构存储的图片数据（</a:t>
            </a:r>
            <a:r>
              <a:rPr lang="en-US" altLang="zh-CN"/>
              <a:t>path</a:t>
            </a:r>
            <a:r>
              <a:rPr lang="zh-CN" altLang="en-US"/>
              <a:t>对应图片存放的目录，目录下包含若干子目录，每个子目录对应属于同一个类的图片）。</a:t>
            </a:r>
          </a:p>
          <a:p>
            <a:pPr indent="457200"/>
            <a:r>
              <a:rPr lang="en-US" altLang="zh-CN">
                <a:sym typeface="+mn-ea"/>
              </a:rPr>
              <a:t>•</a:t>
            </a:r>
            <a:r>
              <a:rPr lang="zh-CN" altLang="en-US"/>
              <a:t>其中</a:t>
            </a:r>
            <a:r>
              <a:rPr lang="en-US" altLang="zh-CN"/>
              <a:t>data_transform</a:t>
            </a:r>
            <a:r>
              <a:rPr lang="zh-CN" altLang="en-US"/>
              <a:t>可以对图像进行一定的变换，如翻转、裁剪等操作，可自定义。</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11" y="1629063"/>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1800" dirty="0">
                <a:latin typeface="宋体" panose="02010600030101010101" pitchFamily="2" charset="-122"/>
                <a:ea typeface="宋体" panose="02010600030101010101" pitchFamily="2" charset="-122"/>
                <a:cs typeface="宋体" panose="02010600030101010101" pitchFamily="2" charset="-122"/>
              </a:rPr>
              <a:t>数据读入</a:t>
            </a:r>
          </a:p>
          <a:p>
            <a:pPr indent="457200" fontAlgn="auto">
              <a:spcAft>
                <a:spcPts val="0"/>
              </a:spcAft>
            </a:pPr>
            <a:endParaRPr lang="zh-CN" altLang="en-US" sz="1800" dirty="0">
              <a:latin typeface="宋体" panose="02010600030101010101" pitchFamily="2" charset="-122"/>
              <a:ea typeface="宋体" panose="02010600030101010101" pitchFamily="2" charset="-122"/>
              <a:cs typeface="宋体" panose="02010600030101010101" pitchFamily="2" charset="-122"/>
            </a:endParaRPr>
          </a:p>
          <a:p>
            <a:pPr indent="457200" fontAlgn="auto">
              <a:spcAft>
                <a:spcPts val="0"/>
              </a:spcAft>
            </a:pPr>
            <a:r>
              <a:rPr lang="en-US" altLang="zh-CN" sz="1800" dirty="0">
                <a:latin typeface="宋体" panose="02010600030101010101" pitchFamily="2" charset="-122"/>
                <a:ea typeface="宋体" panose="02010600030101010101" pitchFamily="2" charset="-122"/>
                <a:cs typeface="宋体" panose="02010600030101010101" pitchFamily="2" charset="-122"/>
              </a:rPr>
              <a:t>·</a:t>
            </a:r>
            <a:r>
              <a:rPr lang="zh-CN" altLang="en-US" sz="1800" dirty="0">
                <a:latin typeface="宋体" panose="02010600030101010101" pitchFamily="2" charset="-122"/>
                <a:ea typeface="宋体" panose="02010600030101010101" pitchFamily="2" charset="-122"/>
                <a:cs typeface="宋体" panose="02010600030101010101" pitchFamily="2" charset="-122"/>
              </a:rPr>
              <a:t>读取哪些数据：每个</a:t>
            </a:r>
            <a:r>
              <a:rPr lang="en-US" altLang="zh-CN" sz="1800" dirty="0">
                <a:latin typeface="宋体" panose="02010600030101010101" pitchFamily="2" charset="-122"/>
                <a:ea typeface="宋体" panose="02010600030101010101" pitchFamily="2" charset="-122"/>
                <a:cs typeface="宋体" panose="02010600030101010101" pitchFamily="2" charset="-122"/>
              </a:rPr>
              <a:t> Iteration </a:t>
            </a:r>
            <a:r>
              <a:rPr lang="zh-CN" altLang="en-US" sz="1800" dirty="0">
                <a:latin typeface="宋体" panose="02010600030101010101" pitchFamily="2" charset="-122"/>
                <a:ea typeface="宋体" panose="02010600030101010101" pitchFamily="2" charset="-122"/>
                <a:cs typeface="宋体" panose="02010600030101010101" pitchFamily="2" charset="-122"/>
              </a:rPr>
              <a:t>读取一个</a:t>
            </a:r>
            <a:r>
              <a:rPr lang="en-US" altLang="zh-CN" sz="1800" dirty="0">
                <a:latin typeface="宋体" panose="02010600030101010101" pitchFamily="2" charset="-122"/>
                <a:ea typeface="宋体" panose="02010600030101010101" pitchFamily="2" charset="-122"/>
                <a:cs typeface="宋体" panose="02010600030101010101" pitchFamily="2" charset="-122"/>
              </a:rPr>
              <a:t> Batchsize </a:t>
            </a:r>
            <a:r>
              <a:rPr lang="zh-CN" altLang="en-US" sz="1800" dirty="0">
                <a:latin typeface="宋体" panose="02010600030101010101" pitchFamily="2" charset="-122"/>
                <a:ea typeface="宋体" panose="02010600030101010101" pitchFamily="2" charset="-122"/>
                <a:cs typeface="宋体" panose="02010600030101010101" pitchFamily="2" charset="-122"/>
              </a:rPr>
              <a:t>大小的数据，每个</a:t>
            </a:r>
            <a:r>
              <a:rPr lang="en-US" altLang="zh-CN" sz="1800" dirty="0">
                <a:latin typeface="宋体" panose="02010600030101010101" pitchFamily="2" charset="-122"/>
                <a:ea typeface="宋体" panose="02010600030101010101" pitchFamily="2" charset="-122"/>
                <a:cs typeface="宋体" panose="02010600030101010101" pitchFamily="2" charset="-122"/>
              </a:rPr>
              <a:t> Iteration </a:t>
            </a:r>
            <a:r>
              <a:rPr lang="zh-CN" altLang="en-US" sz="1800" dirty="0">
                <a:latin typeface="宋体" panose="02010600030101010101" pitchFamily="2" charset="-122"/>
                <a:ea typeface="宋体" panose="02010600030101010101" pitchFamily="2" charset="-122"/>
                <a:cs typeface="宋体" panose="02010600030101010101" pitchFamily="2" charset="-122"/>
              </a:rPr>
              <a:t>应该读取哪些数据。</a:t>
            </a:r>
          </a:p>
          <a:p>
            <a:pPr indent="457200" fontAlgn="auto">
              <a:spcAft>
                <a:spcPts val="0"/>
              </a:spcAft>
            </a:pPr>
            <a:endParaRPr lang="en-US" altLang="zh-CN" sz="1800" dirty="0">
              <a:latin typeface="宋体" panose="02010600030101010101" pitchFamily="2" charset="-122"/>
              <a:ea typeface="宋体" panose="02010600030101010101" pitchFamily="2" charset="-122"/>
              <a:cs typeface="宋体" panose="02010600030101010101" pitchFamily="2" charset="-122"/>
            </a:endParaRPr>
          </a:p>
          <a:p>
            <a:pPr indent="457200" fontAlgn="auto">
              <a:spcAft>
                <a:spcPts val="0"/>
              </a:spcAft>
            </a:pPr>
            <a:r>
              <a:rPr lang="en-US" altLang="zh-CN" sz="1800" dirty="0">
                <a:latin typeface="宋体" panose="02010600030101010101" pitchFamily="2" charset="-122"/>
                <a:ea typeface="宋体" panose="02010600030101010101" pitchFamily="2" charset="-122"/>
                <a:cs typeface="宋体" panose="02010600030101010101" pitchFamily="2" charset="-122"/>
              </a:rPr>
              <a:t>·</a:t>
            </a:r>
            <a:r>
              <a:rPr lang="zh-CN" altLang="en-US" sz="1800" dirty="0">
                <a:latin typeface="宋体" panose="02010600030101010101" pitchFamily="2" charset="-122"/>
                <a:ea typeface="宋体" panose="02010600030101010101" pitchFamily="2" charset="-122"/>
                <a:cs typeface="宋体" panose="02010600030101010101" pitchFamily="2" charset="-122"/>
              </a:rPr>
              <a:t>从哪里读取数据：如何找到硬盘中的数据，应该在哪里设置文件路径参数</a:t>
            </a:r>
          </a:p>
          <a:p>
            <a:pPr indent="457200" fontAlgn="auto">
              <a:spcAft>
                <a:spcPts val="0"/>
              </a:spcAft>
            </a:pPr>
            <a:endParaRPr lang="en-US" altLang="zh-CN" sz="1800" dirty="0">
              <a:latin typeface="宋体" panose="02010600030101010101" pitchFamily="2" charset="-122"/>
              <a:ea typeface="宋体" panose="02010600030101010101" pitchFamily="2" charset="-122"/>
              <a:cs typeface="宋体" panose="02010600030101010101" pitchFamily="2" charset="-122"/>
            </a:endParaRPr>
          </a:p>
          <a:p>
            <a:pPr indent="457200" fontAlgn="auto">
              <a:spcAft>
                <a:spcPts val="0"/>
              </a:spcAft>
            </a:pPr>
            <a:r>
              <a:rPr lang="en-US" altLang="zh-CN" sz="1800" dirty="0">
                <a:latin typeface="宋体" panose="02010600030101010101" pitchFamily="2" charset="-122"/>
                <a:ea typeface="宋体" panose="02010600030101010101" pitchFamily="2" charset="-122"/>
                <a:cs typeface="宋体" panose="02010600030101010101" pitchFamily="2" charset="-122"/>
              </a:rPr>
              <a:t>·</a:t>
            </a:r>
            <a:r>
              <a:rPr lang="zh-CN" altLang="en-US" sz="1800" dirty="0">
                <a:latin typeface="宋体" panose="02010600030101010101" pitchFamily="2" charset="-122"/>
                <a:ea typeface="宋体" panose="02010600030101010101" pitchFamily="2" charset="-122"/>
                <a:cs typeface="宋体" panose="02010600030101010101" pitchFamily="2" charset="-122"/>
              </a:rPr>
              <a:t>如何读取数据：不同的文件需要使用不同的读取方法和库。</a:t>
            </a:r>
          </a:p>
        </p:txBody>
      </p:sp>
      <p:sp>
        <p:nvSpPr>
          <p:cNvPr id="9" name="文本框 8"/>
          <p:cNvSpPr txBox="1"/>
          <p:nvPr/>
        </p:nvSpPr>
        <p:spPr>
          <a:xfrm>
            <a:off x="1489075" y="1019810"/>
            <a:ext cx="4064000" cy="583565"/>
          </a:xfrm>
          <a:prstGeom prst="rect">
            <a:avLst/>
          </a:prstGeom>
          <a:noFill/>
        </p:spPr>
        <p:txBody>
          <a:bodyPr wrap="square" rtlCol="0">
            <a:spAutoFit/>
          </a:bodyPr>
          <a:lstStyle/>
          <a:p>
            <a:r>
              <a:rPr lang="zh-CN" altLang="en-US" sz="3200"/>
              <a:t>数据</a:t>
            </a:r>
          </a:p>
        </p:txBody>
      </p:sp>
      <p:sp>
        <p:nvSpPr>
          <p:cNvPr id="10" name="文本框 9"/>
          <p:cNvSpPr txBox="1"/>
          <p:nvPr/>
        </p:nvSpPr>
        <p:spPr>
          <a:xfrm>
            <a:off x="2257425" y="376491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11" y="1629063"/>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1800" dirty="0">
                <a:latin typeface="宋体" panose="02010600030101010101" pitchFamily="2" charset="-122"/>
                <a:ea typeface="宋体" panose="02010600030101010101" pitchFamily="2" charset="-122"/>
                <a:cs typeface="宋体" panose="02010600030101010101" pitchFamily="2" charset="-122"/>
              </a:rPr>
              <a:t>数据读入</a:t>
            </a:r>
          </a:p>
          <a:p>
            <a:pPr indent="457200" fontAlgn="auto">
              <a:spcAft>
                <a:spcPts val="0"/>
              </a:spcAft>
            </a:pPr>
            <a:r>
              <a:rPr lang="en-US" altLang="zh-CN" sz="1800" dirty="0">
                <a:latin typeface="宋体" panose="02010600030101010101" pitchFamily="2" charset="-122"/>
                <a:ea typeface="宋体" panose="02010600030101010101" pitchFamily="2" charset="-122"/>
                <a:cs typeface="宋体" panose="02010600030101010101" pitchFamily="2" charset="-122"/>
              </a:rPr>
              <a:t>__init__ </a:t>
            </a:r>
            <a:r>
              <a:rPr lang="zh-CN" altLang="en-US" sz="1800" dirty="0">
                <a:latin typeface="宋体" panose="02010600030101010101" pitchFamily="2" charset="-122"/>
                <a:ea typeface="宋体" panose="02010600030101010101" pitchFamily="2" charset="-122"/>
                <a:cs typeface="宋体" panose="02010600030101010101" pitchFamily="2" charset="-122"/>
              </a:rPr>
              <a:t>函数在实例化</a:t>
            </a:r>
            <a:r>
              <a:rPr lang="en-US" altLang="zh-CN" sz="1800" dirty="0">
                <a:latin typeface="宋体" panose="02010600030101010101" pitchFamily="2" charset="-122"/>
                <a:ea typeface="宋体" panose="02010600030101010101" pitchFamily="2" charset="-122"/>
                <a:cs typeface="宋体" panose="02010600030101010101" pitchFamily="2" charset="-122"/>
              </a:rPr>
              <a:t> Dataset </a:t>
            </a:r>
            <a:r>
              <a:rPr lang="zh-CN" altLang="en-US" sz="1800" dirty="0">
                <a:latin typeface="宋体" panose="02010600030101010101" pitchFamily="2" charset="-122"/>
                <a:ea typeface="宋体" panose="02010600030101010101" pitchFamily="2" charset="-122"/>
                <a:cs typeface="宋体" panose="02010600030101010101" pitchFamily="2" charset="-122"/>
              </a:rPr>
              <a:t>对象时运行一次。</a:t>
            </a:r>
            <a:r>
              <a:rPr lang="zh-CN" altLang="en-US" sz="18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初始化</a:t>
            </a:r>
            <a:r>
              <a:rPr lang="zh-CN" altLang="en-US" sz="1800" dirty="0">
                <a:latin typeface="宋体" panose="02010600030101010101" pitchFamily="2" charset="-122"/>
                <a:ea typeface="宋体" panose="02010600030101010101" pitchFamily="2" charset="-122"/>
                <a:cs typeface="宋体" panose="02010600030101010101" pitchFamily="2" charset="-122"/>
              </a:rPr>
              <a:t>包含图像的目录、注释文件以及两个变换</a:t>
            </a:r>
          </a:p>
        </p:txBody>
      </p:sp>
      <p:sp>
        <p:nvSpPr>
          <p:cNvPr id="9" name="文本框 8"/>
          <p:cNvSpPr txBox="1"/>
          <p:nvPr/>
        </p:nvSpPr>
        <p:spPr>
          <a:xfrm>
            <a:off x="1489075" y="1019810"/>
            <a:ext cx="4064000" cy="583565"/>
          </a:xfrm>
          <a:prstGeom prst="rect">
            <a:avLst/>
          </a:prstGeom>
          <a:noFill/>
        </p:spPr>
        <p:txBody>
          <a:bodyPr wrap="square" rtlCol="0">
            <a:spAutoFit/>
          </a:bodyPr>
          <a:lstStyle/>
          <a:p>
            <a:r>
              <a:rPr lang="zh-CN" altLang="en-US" sz="3200"/>
              <a:t>数据</a:t>
            </a:r>
          </a:p>
        </p:txBody>
      </p:sp>
      <p:sp>
        <p:nvSpPr>
          <p:cNvPr id="10" name="文本框 9"/>
          <p:cNvSpPr txBox="1"/>
          <p:nvPr/>
        </p:nvSpPr>
        <p:spPr>
          <a:xfrm>
            <a:off x="2257425" y="3764915"/>
            <a:ext cx="4064000" cy="368300"/>
          </a:xfrm>
          <a:prstGeom prst="rect">
            <a:avLst/>
          </a:prstGeom>
          <a:noFill/>
        </p:spPr>
        <p:txBody>
          <a:bodyPr wrap="square" rtlCol="0">
            <a:spAutoFit/>
          </a:bodyPr>
          <a:lstStyle/>
          <a:p>
            <a:endParaRPr lang="zh-CN" altLang="en-US"/>
          </a:p>
        </p:txBody>
      </p:sp>
      <p:pic>
        <p:nvPicPr>
          <p:cNvPr id="5" name="图片 4"/>
          <p:cNvPicPr>
            <a:picLocks noChangeAspect="1"/>
          </p:cNvPicPr>
          <p:nvPr/>
        </p:nvPicPr>
        <p:blipFill>
          <a:blip r:embed="rId3"/>
          <a:stretch>
            <a:fillRect/>
          </a:stretch>
        </p:blipFill>
        <p:spPr>
          <a:xfrm>
            <a:off x="1703705" y="2564765"/>
            <a:ext cx="6724650" cy="2390775"/>
          </a:xfrm>
          <a:prstGeom prst="rect">
            <a:avLst/>
          </a:prstGeom>
        </p:spPr>
      </p:pic>
      <p:sp>
        <p:nvSpPr>
          <p:cNvPr id="6" name="文本框 5"/>
          <p:cNvSpPr txBox="1"/>
          <p:nvPr/>
        </p:nvSpPr>
        <p:spPr>
          <a:xfrm>
            <a:off x="1847850" y="5156835"/>
            <a:ext cx="4064000" cy="368300"/>
          </a:xfrm>
          <a:prstGeom prst="rect">
            <a:avLst/>
          </a:prstGeom>
          <a:noFill/>
        </p:spPr>
        <p:txBody>
          <a:bodyPr wrap="square" rtlCol="0">
            <a:spAutoFit/>
          </a:bodyPr>
          <a:lstStyle/>
          <a:p>
            <a:r>
              <a:rPr lang="zh-CN" altLang="en-US"/>
              <a:t>其中</a:t>
            </a:r>
            <a:r>
              <a:rPr lang="en-US" altLang="zh-CN"/>
              <a:t>csv</a:t>
            </a:r>
            <a:r>
              <a:rPr lang="zh-CN" altLang="en-US"/>
              <a:t>标签类似于以下的形式</a:t>
            </a:r>
          </a:p>
        </p:txBody>
      </p:sp>
      <p:pic>
        <p:nvPicPr>
          <p:cNvPr id="7" name="图片 6"/>
          <p:cNvPicPr>
            <a:picLocks noChangeAspect="1"/>
          </p:cNvPicPr>
          <p:nvPr/>
        </p:nvPicPr>
        <p:blipFill>
          <a:blip r:embed="rId4"/>
          <a:stretch>
            <a:fillRect/>
          </a:stretch>
        </p:blipFill>
        <p:spPr>
          <a:xfrm>
            <a:off x="2063750" y="5588635"/>
            <a:ext cx="6419850" cy="81915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11" y="1629063"/>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1800" dirty="0">
                <a:latin typeface="宋体" panose="02010600030101010101" pitchFamily="2" charset="-122"/>
                <a:ea typeface="宋体" panose="02010600030101010101" pitchFamily="2" charset="-122"/>
                <a:cs typeface="宋体" panose="02010600030101010101" pitchFamily="2" charset="-122"/>
              </a:rPr>
              <a:t>数据读入</a:t>
            </a:r>
          </a:p>
          <a:p>
            <a:pPr indent="457200" fontAlgn="auto">
              <a:spcAft>
                <a:spcPts val="0"/>
              </a:spcAft>
            </a:pPr>
            <a:r>
              <a:rPr lang="zh-CN" altLang="en-US" sz="1800">
                <a:latin typeface="宋体" panose="02010600030101010101" pitchFamily="2" charset="-122"/>
                <a:ea typeface="宋体" panose="02010600030101010101" pitchFamily="2" charset="-122"/>
                <a:cs typeface="宋体" panose="02010600030101010101" pitchFamily="2" charset="-122"/>
                <a:sym typeface="+mn-ea"/>
              </a:rPr>
              <a:t>其中</a:t>
            </a:r>
            <a:r>
              <a:rPr lang="en-US" altLang="zh-CN" sz="1800">
                <a:latin typeface="宋体" panose="02010600030101010101" pitchFamily="2" charset="-122"/>
                <a:ea typeface="宋体" panose="02010600030101010101" pitchFamily="2" charset="-122"/>
                <a:cs typeface="宋体" panose="02010600030101010101" pitchFamily="2" charset="-122"/>
                <a:sym typeface="+mn-ea"/>
              </a:rPr>
              <a:t>csv</a:t>
            </a:r>
            <a:r>
              <a:rPr lang="zh-CN" altLang="en-US" sz="1800">
                <a:latin typeface="宋体" panose="02010600030101010101" pitchFamily="2" charset="-122"/>
                <a:ea typeface="宋体" panose="02010600030101010101" pitchFamily="2" charset="-122"/>
                <a:cs typeface="宋体" panose="02010600030101010101" pitchFamily="2" charset="-122"/>
                <a:sym typeface="+mn-ea"/>
              </a:rPr>
              <a:t>标签类似于以下的形式</a:t>
            </a:r>
            <a:endParaRPr lang="zh-CN" altLang="en-US" sz="18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4064000" cy="583565"/>
          </a:xfrm>
          <a:prstGeom prst="rect">
            <a:avLst/>
          </a:prstGeom>
          <a:noFill/>
        </p:spPr>
        <p:txBody>
          <a:bodyPr wrap="square" rtlCol="0">
            <a:spAutoFit/>
          </a:bodyPr>
          <a:lstStyle/>
          <a:p>
            <a:r>
              <a:rPr lang="zh-CN" altLang="en-US" sz="3200"/>
              <a:t>数据</a:t>
            </a:r>
          </a:p>
        </p:txBody>
      </p:sp>
      <p:sp>
        <p:nvSpPr>
          <p:cNvPr id="10" name="文本框 9"/>
          <p:cNvSpPr txBox="1"/>
          <p:nvPr/>
        </p:nvSpPr>
        <p:spPr>
          <a:xfrm>
            <a:off x="2257425" y="3764915"/>
            <a:ext cx="4064000" cy="368300"/>
          </a:xfrm>
          <a:prstGeom prst="rect">
            <a:avLst/>
          </a:prstGeom>
          <a:noFill/>
        </p:spPr>
        <p:txBody>
          <a:bodyPr wrap="square" rtlCol="0">
            <a:spAutoFit/>
          </a:bodyPr>
          <a:lstStyle/>
          <a:p>
            <a:endParaRPr lang="zh-CN" altLang="en-US"/>
          </a:p>
        </p:txBody>
      </p:sp>
      <p:pic>
        <p:nvPicPr>
          <p:cNvPr id="7" name="图片 6"/>
          <p:cNvPicPr>
            <a:picLocks noChangeAspect="1"/>
          </p:cNvPicPr>
          <p:nvPr/>
        </p:nvPicPr>
        <p:blipFill>
          <a:blip r:embed="rId3"/>
          <a:stretch>
            <a:fillRect/>
          </a:stretch>
        </p:blipFill>
        <p:spPr>
          <a:xfrm>
            <a:off x="1703705" y="2274570"/>
            <a:ext cx="6419850" cy="819150"/>
          </a:xfrm>
          <a:prstGeom prst="rect">
            <a:avLst/>
          </a:prstGeom>
        </p:spPr>
      </p:pic>
      <p:sp>
        <p:nvSpPr>
          <p:cNvPr id="12" name="文本框 11"/>
          <p:cNvSpPr txBox="1"/>
          <p:nvPr/>
        </p:nvSpPr>
        <p:spPr>
          <a:xfrm>
            <a:off x="1781175" y="3418205"/>
            <a:ext cx="4064000" cy="368300"/>
          </a:xfrm>
          <a:prstGeom prst="rect">
            <a:avLst/>
          </a:prstGeom>
          <a:noFill/>
        </p:spPr>
        <p:txBody>
          <a:bodyPr wrap="square" rtlCol="0">
            <a:spAutoFit/>
          </a:bodyPr>
          <a:lstStyle/>
          <a:p>
            <a:r>
              <a:rPr lang="en-US" altLang="zh-CN"/>
              <a:t>__len__ </a:t>
            </a:r>
            <a:r>
              <a:rPr lang="zh-CN" altLang="en-US"/>
              <a:t>函数返回数据集中</a:t>
            </a:r>
            <a:r>
              <a:rPr lang="zh-CN" altLang="en-US">
                <a:solidFill>
                  <a:schemeClr val="accent1"/>
                </a:solidFill>
                <a:effectLst>
                  <a:outerShdw blurRad="38100" dist="25400" dir="5400000" algn="ctr" rotWithShape="0">
                    <a:srgbClr val="6E747A">
                      <a:alpha val="43000"/>
                    </a:srgbClr>
                  </a:outerShdw>
                </a:effectLst>
              </a:rPr>
              <a:t>样本的数量</a:t>
            </a:r>
          </a:p>
        </p:txBody>
      </p:sp>
      <p:pic>
        <p:nvPicPr>
          <p:cNvPr id="13" name="图片 12"/>
          <p:cNvPicPr>
            <a:picLocks noChangeAspect="1"/>
          </p:cNvPicPr>
          <p:nvPr/>
        </p:nvPicPr>
        <p:blipFill>
          <a:blip r:embed="rId4"/>
          <a:stretch>
            <a:fillRect/>
          </a:stretch>
        </p:blipFill>
        <p:spPr>
          <a:xfrm>
            <a:off x="1703705" y="4148455"/>
            <a:ext cx="5804535" cy="85217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97466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1800" dirty="0">
                <a:latin typeface="宋体" panose="02010600030101010101" pitchFamily="2" charset="-122"/>
                <a:ea typeface="宋体" panose="02010600030101010101" pitchFamily="2" charset="-122"/>
                <a:cs typeface="宋体" panose="02010600030101010101" pitchFamily="2" charset="-122"/>
              </a:rPr>
              <a:t>数据读入</a:t>
            </a:r>
          </a:p>
          <a:p>
            <a:pPr indent="457200" fontAlgn="auto">
              <a:spcAft>
                <a:spcPts val="0"/>
              </a:spcAft>
            </a:pPr>
            <a:r>
              <a:rPr lang="en-US" altLang="zh-CN" sz="1800" dirty="0">
                <a:latin typeface="宋体" panose="02010600030101010101" pitchFamily="2" charset="-122"/>
                <a:ea typeface="宋体" panose="02010600030101010101" pitchFamily="2" charset="-122"/>
                <a:cs typeface="宋体" panose="02010600030101010101" pitchFamily="2" charset="-122"/>
              </a:rPr>
              <a:t>__getitem__ </a:t>
            </a:r>
            <a:r>
              <a:rPr lang="zh-CN" altLang="en-US" sz="1800" dirty="0">
                <a:latin typeface="宋体" panose="02010600030101010101" pitchFamily="2" charset="-122"/>
                <a:ea typeface="宋体" panose="02010600030101010101" pitchFamily="2" charset="-122"/>
                <a:cs typeface="宋体" panose="02010600030101010101" pitchFamily="2" charset="-122"/>
              </a:rPr>
              <a:t>函数根据给定的索引</a:t>
            </a:r>
            <a:r>
              <a:rPr lang="en-US" altLang="zh-CN" sz="1800" dirty="0">
                <a:latin typeface="宋体" panose="02010600030101010101" pitchFamily="2" charset="-122"/>
                <a:ea typeface="宋体" panose="02010600030101010101" pitchFamily="2" charset="-122"/>
                <a:cs typeface="宋体" panose="02010600030101010101" pitchFamily="2" charset="-122"/>
              </a:rPr>
              <a:t>idx </a:t>
            </a:r>
            <a:r>
              <a:rPr lang="zh-CN" altLang="en-US" sz="1800" dirty="0">
                <a:latin typeface="宋体" panose="02010600030101010101" pitchFamily="2" charset="-122"/>
                <a:ea typeface="宋体" panose="02010600030101010101" pitchFamily="2" charset="-122"/>
                <a:cs typeface="宋体" panose="02010600030101010101" pitchFamily="2" charset="-122"/>
              </a:rPr>
              <a:t>加载并返回数据集中的一个样本。它根据索引识别图像在磁盘上的位置，使用</a:t>
            </a:r>
            <a:r>
              <a:rPr lang="en-US" altLang="zh-CN" sz="1800" dirty="0">
                <a:latin typeface="宋体" panose="02010600030101010101" pitchFamily="2" charset="-122"/>
                <a:ea typeface="宋体" panose="02010600030101010101" pitchFamily="2" charset="-122"/>
                <a:cs typeface="宋体" panose="02010600030101010101" pitchFamily="2" charset="-122"/>
              </a:rPr>
              <a:t> </a:t>
            </a:r>
            <a:r>
              <a:rPr lang="en-US" altLang="zh-CN" sz="18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read_image</a:t>
            </a:r>
            <a:r>
              <a:rPr lang="en-US" altLang="zh-CN" sz="1800" dirty="0">
                <a:latin typeface="宋体" panose="02010600030101010101" pitchFamily="2" charset="-122"/>
                <a:ea typeface="宋体" panose="02010600030101010101" pitchFamily="2" charset="-122"/>
                <a:cs typeface="宋体" panose="02010600030101010101" pitchFamily="2" charset="-122"/>
              </a:rPr>
              <a:t> </a:t>
            </a:r>
            <a:r>
              <a:rPr lang="zh-CN" altLang="en-US" sz="1800" dirty="0">
                <a:latin typeface="宋体" panose="02010600030101010101" pitchFamily="2" charset="-122"/>
                <a:ea typeface="宋体" panose="02010600030101010101" pitchFamily="2" charset="-122"/>
                <a:cs typeface="宋体" panose="02010600030101010101" pitchFamily="2" charset="-122"/>
              </a:rPr>
              <a:t>将其转换为张量，从</a:t>
            </a:r>
            <a:r>
              <a:rPr lang="en-US" altLang="zh-CN" sz="1800" dirty="0">
                <a:latin typeface="宋体" panose="02010600030101010101" pitchFamily="2" charset="-122"/>
                <a:ea typeface="宋体" panose="02010600030101010101" pitchFamily="2" charset="-122"/>
                <a:cs typeface="宋体" panose="02010600030101010101" pitchFamily="2" charset="-122"/>
              </a:rPr>
              <a:t> </a:t>
            </a:r>
            <a:r>
              <a:rPr lang="en-US" altLang="zh-CN" sz="18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self.img_labels</a:t>
            </a:r>
            <a:r>
              <a:rPr lang="en-US" altLang="zh-CN" sz="1800" dirty="0">
                <a:latin typeface="宋体" panose="02010600030101010101" pitchFamily="2" charset="-122"/>
                <a:ea typeface="宋体" panose="02010600030101010101" pitchFamily="2" charset="-122"/>
                <a:cs typeface="宋体" panose="02010600030101010101" pitchFamily="2" charset="-122"/>
              </a:rPr>
              <a:t> </a:t>
            </a:r>
            <a:r>
              <a:rPr lang="zh-CN" altLang="en-US" sz="1800" dirty="0">
                <a:latin typeface="宋体" panose="02010600030101010101" pitchFamily="2" charset="-122"/>
                <a:ea typeface="宋体" panose="02010600030101010101" pitchFamily="2" charset="-122"/>
                <a:cs typeface="宋体" panose="02010600030101010101" pitchFamily="2" charset="-122"/>
              </a:rPr>
              <a:t>中检索相应的</a:t>
            </a:r>
            <a:r>
              <a:rPr lang="zh-CN" altLang="en-US" sz="18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标签</a:t>
            </a:r>
            <a:r>
              <a:rPr lang="zh-CN" altLang="en-US" sz="1800" dirty="0">
                <a:latin typeface="宋体" panose="02010600030101010101" pitchFamily="2" charset="-122"/>
                <a:ea typeface="宋体" panose="02010600030101010101" pitchFamily="2" charset="-122"/>
                <a:cs typeface="宋体" panose="02010600030101010101" pitchFamily="2" charset="-122"/>
              </a:rPr>
              <a:t>（从</a:t>
            </a:r>
            <a:r>
              <a:rPr lang="en-US" altLang="zh-CN" sz="1800" dirty="0">
                <a:latin typeface="宋体" panose="02010600030101010101" pitchFamily="2" charset="-122"/>
                <a:ea typeface="宋体" panose="02010600030101010101" pitchFamily="2" charset="-122"/>
                <a:cs typeface="宋体" panose="02010600030101010101" pitchFamily="2" charset="-122"/>
              </a:rPr>
              <a:t> CSV </a:t>
            </a:r>
            <a:r>
              <a:rPr lang="zh-CN" altLang="en-US" sz="1800" dirty="0">
                <a:latin typeface="宋体" panose="02010600030101010101" pitchFamily="2" charset="-122"/>
                <a:ea typeface="宋体" panose="02010600030101010101" pitchFamily="2" charset="-122"/>
                <a:cs typeface="宋体" panose="02010600030101010101" pitchFamily="2" charset="-122"/>
              </a:rPr>
              <a:t>数据），对它们调用转换函数（如果适用），并以</a:t>
            </a:r>
            <a:r>
              <a:rPr lang="zh-CN" altLang="en-US" sz="18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元组的形式</a:t>
            </a:r>
            <a:r>
              <a:rPr lang="zh-CN" altLang="en-US" sz="1800" dirty="0">
                <a:latin typeface="宋体" panose="02010600030101010101" pitchFamily="2" charset="-122"/>
                <a:ea typeface="宋体" panose="02010600030101010101" pitchFamily="2" charset="-122"/>
                <a:cs typeface="宋体" panose="02010600030101010101" pitchFamily="2" charset="-122"/>
              </a:rPr>
              <a:t>返回张量图像和相应的标签。</a:t>
            </a:r>
          </a:p>
        </p:txBody>
      </p:sp>
      <p:sp>
        <p:nvSpPr>
          <p:cNvPr id="9" name="文本框 8"/>
          <p:cNvSpPr txBox="1"/>
          <p:nvPr/>
        </p:nvSpPr>
        <p:spPr>
          <a:xfrm>
            <a:off x="1489075" y="1019810"/>
            <a:ext cx="4064000" cy="583565"/>
          </a:xfrm>
          <a:prstGeom prst="rect">
            <a:avLst/>
          </a:prstGeom>
          <a:noFill/>
        </p:spPr>
        <p:txBody>
          <a:bodyPr wrap="square" rtlCol="0">
            <a:spAutoFit/>
          </a:bodyPr>
          <a:lstStyle/>
          <a:p>
            <a:r>
              <a:rPr lang="zh-CN" altLang="en-US" sz="3200"/>
              <a:t>数据</a:t>
            </a:r>
          </a:p>
        </p:txBody>
      </p:sp>
      <p:sp>
        <p:nvSpPr>
          <p:cNvPr id="10" name="文本框 9"/>
          <p:cNvSpPr txBox="1"/>
          <p:nvPr/>
        </p:nvSpPr>
        <p:spPr>
          <a:xfrm>
            <a:off x="2257425" y="3764915"/>
            <a:ext cx="4064000" cy="368300"/>
          </a:xfrm>
          <a:prstGeom prst="rect">
            <a:avLst/>
          </a:prstGeom>
          <a:noFill/>
        </p:spPr>
        <p:txBody>
          <a:bodyPr wrap="square" rtlCol="0">
            <a:spAutoFit/>
          </a:bodyPr>
          <a:lstStyle/>
          <a:p>
            <a:endParaRPr lang="zh-CN" altLang="en-US"/>
          </a:p>
        </p:txBody>
      </p:sp>
      <p:pic>
        <p:nvPicPr>
          <p:cNvPr id="5" name="图片 4"/>
          <p:cNvPicPr>
            <a:picLocks noChangeAspect="1"/>
          </p:cNvPicPr>
          <p:nvPr/>
        </p:nvPicPr>
        <p:blipFill>
          <a:blip r:embed="rId3"/>
          <a:stretch>
            <a:fillRect/>
          </a:stretch>
        </p:blipFill>
        <p:spPr>
          <a:xfrm>
            <a:off x="1847850" y="2996565"/>
            <a:ext cx="7143750" cy="30861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974661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2400" dirty="0">
                <a:latin typeface="宋体" panose="02010600030101010101" pitchFamily="2" charset="-122"/>
                <a:ea typeface="宋体" panose="02010600030101010101" pitchFamily="2" charset="-122"/>
                <a:cs typeface="宋体" panose="02010600030101010101" pitchFamily="2" charset="-122"/>
              </a:rPr>
              <a:t>数据读入</a:t>
            </a:r>
          </a:p>
          <a:p>
            <a:pPr indent="457200" fontAlgn="auto">
              <a:spcAft>
                <a:spcPts val="0"/>
              </a:spcAft>
            </a:pPr>
            <a:r>
              <a:rPr lang="zh-CN" altLang="en-US" sz="2400" dirty="0">
                <a:latin typeface="宋体" panose="02010600030101010101" pitchFamily="2" charset="-122"/>
                <a:ea typeface="宋体" panose="02010600030101010101" pitchFamily="2" charset="-122"/>
                <a:cs typeface="宋体" panose="02010600030101010101" pitchFamily="2" charset="-122"/>
              </a:rPr>
              <a:t>构建好</a:t>
            </a:r>
            <a:r>
              <a:rPr lang="en-US" altLang="zh-CN" sz="2400" dirty="0">
                <a:latin typeface="宋体" panose="02010600030101010101" pitchFamily="2" charset="-122"/>
                <a:ea typeface="宋体" panose="02010600030101010101" pitchFamily="2" charset="-122"/>
                <a:cs typeface="宋体" panose="02010600030101010101" pitchFamily="2" charset="-122"/>
              </a:rPr>
              <a:t>Dataset</a:t>
            </a:r>
            <a:r>
              <a:rPr lang="zh-CN" altLang="en-US" sz="2400" dirty="0">
                <a:latin typeface="宋体" panose="02010600030101010101" pitchFamily="2" charset="-122"/>
                <a:ea typeface="宋体" panose="02010600030101010101" pitchFamily="2" charset="-122"/>
                <a:cs typeface="宋体" panose="02010600030101010101" pitchFamily="2" charset="-122"/>
              </a:rPr>
              <a:t>后，就可以使用</a:t>
            </a:r>
            <a:r>
              <a:rPr lang="en-US" altLang="zh-CN" sz="24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DataLoader</a:t>
            </a:r>
            <a:r>
              <a:rPr lang="zh-CN" altLang="en-US" sz="2400" dirty="0">
                <a:latin typeface="宋体" panose="02010600030101010101" pitchFamily="2" charset="-122"/>
                <a:ea typeface="宋体" panose="02010600030101010101" pitchFamily="2" charset="-122"/>
                <a:cs typeface="宋体" panose="02010600030101010101" pitchFamily="2" charset="-122"/>
              </a:rPr>
              <a:t>来按批次读入数据。</a:t>
            </a:r>
          </a:p>
          <a:p>
            <a:pPr indent="457200" fontAlgn="auto">
              <a:spcAft>
                <a:spcPts val="0"/>
              </a:spcAft>
            </a:pPr>
            <a:r>
              <a:rPr lang="zh-CN" altLang="en-US" sz="2400" dirty="0">
                <a:latin typeface="宋体" panose="02010600030101010101" pitchFamily="2" charset="-122"/>
                <a:ea typeface="宋体" panose="02010600030101010101" pitchFamily="2" charset="-122"/>
                <a:cs typeface="宋体" panose="02010600030101010101" pitchFamily="2" charset="-122"/>
              </a:rPr>
              <a:t>数据集一次检索一个样本的特征和标签。在训练模型时，我们通常希望以</a:t>
            </a:r>
            <a:r>
              <a:rPr lang="en-US" altLang="zh-CN" sz="2400" dirty="0">
                <a:latin typeface="宋体" panose="02010600030101010101" pitchFamily="2" charset="-122"/>
                <a:ea typeface="宋体" panose="02010600030101010101" pitchFamily="2" charset="-122"/>
                <a:cs typeface="宋体" panose="02010600030101010101" pitchFamily="2" charset="-122"/>
              </a:rPr>
              <a:t>“minibatches”</a:t>
            </a:r>
            <a:r>
              <a:rPr lang="zh-CN" altLang="en-US" sz="2400" dirty="0">
                <a:latin typeface="宋体" panose="02010600030101010101" pitchFamily="2" charset="-122"/>
                <a:ea typeface="宋体" panose="02010600030101010101" pitchFamily="2" charset="-122"/>
                <a:cs typeface="宋体" panose="02010600030101010101" pitchFamily="2" charset="-122"/>
              </a:rPr>
              <a:t>的形式传递样本，在每个</a:t>
            </a:r>
            <a:r>
              <a:rPr lang="en-US" altLang="zh-CN" sz="2400" dirty="0">
                <a:latin typeface="宋体" panose="02010600030101010101" pitchFamily="2" charset="-122"/>
                <a:ea typeface="宋体" panose="02010600030101010101" pitchFamily="2" charset="-122"/>
                <a:cs typeface="宋体" panose="02010600030101010101" pitchFamily="2" charset="-122"/>
              </a:rPr>
              <a:t>epoch</a:t>
            </a:r>
            <a:r>
              <a:rPr lang="zh-CN" altLang="en-US" sz="2400" dirty="0">
                <a:latin typeface="宋体" panose="02010600030101010101" pitchFamily="2" charset="-122"/>
                <a:ea typeface="宋体" panose="02010600030101010101" pitchFamily="2" charset="-122"/>
                <a:cs typeface="宋体" panose="02010600030101010101" pitchFamily="2" charset="-122"/>
              </a:rPr>
              <a:t>重新</a:t>
            </a:r>
            <a:r>
              <a:rPr lang="zh-CN" altLang="en-US" sz="24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打乱数据</a:t>
            </a:r>
            <a:r>
              <a:rPr lang="zh-CN" altLang="en-US" sz="2400" dirty="0">
                <a:latin typeface="宋体" panose="02010600030101010101" pitchFamily="2" charset="-122"/>
                <a:ea typeface="宋体" panose="02010600030101010101" pitchFamily="2" charset="-122"/>
                <a:cs typeface="宋体" panose="02010600030101010101" pitchFamily="2" charset="-122"/>
              </a:rPr>
              <a:t>以减少模型的</a:t>
            </a:r>
            <a:r>
              <a:rPr lang="zh-CN" altLang="en-US" sz="24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过拟合</a:t>
            </a:r>
            <a:r>
              <a:rPr lang="zh-CN" altLang="en-US" sz="2400" dirty="0">
                <a:latin typeface="宋体" panose="02010600030101010101" pitchFamily="2" charset="-122"/>
                <a:ea typeface="宋体" panose="02010600030101010101" pitchFamily="2" charset="-122"/>
                <a:cs typeface="宋体" panose="02010600030101010101" pitchFamily="2" charset="-122"/>
              </a:rPr>
              <a:t>，并利用</a:t>
            </a:r>
            <a:r>
              <a:rPr lang="en-US" altLang="zh-CN" sz="2400" dirty="0">
                <a:latin typeface="宋体" panose="02010600030101010101" pitchFamily="2" charset="-122"/>
                <a:ea typeface="宋体" panose="02010600030101010101" pitchFamily="2" charset="-122"/>
                <a:cs typeface="宋体" panose="02010600030101010101" pitchFamily="2" charset="-122"/>
              </a:rPr>
              <a:t> Python </a:t>
            </a:r>
            <a:r>
              <a:rPr lang="zh-CN" altLang="en-US" sz="2400" dirty="0">
                <a:latin typeface="宋体" panose="02010600030101010101" pitchFamily="2" charset="-122"/>
                <a:ea typeface="宋体" panose="02010600030101010101" pitchFamily="2" charset="-122"/>
                <a:cs typeface="宋体" panose="02010600030101010101" pitchFamily="2" charset="-122"/>
              </a:rPr>
              <a:t>的多进程来加速数据检索。</a:t>
            </a:r>
          </a:p>
        </p:txBody>
      </p:sp>
      <p:sp>
        <p:nvSpPr>
          <p:cNvPr id="9" name="文本框 8"/>
          <p:cNvSpPr txBox="1"/>
          <p:nvPr/>
        </p:nvSpPr>
        <p:spPr>
          <a:xfrm>
            <a:off x="1489075" y="1019810"/>
            <a:ext cx="4064000" cy="583565"/>
          </a:xfrm>
          <a:prstGeom prst="rect">
            <a:avLst/>
          </a:prstGeom>
          <a:noFill/>
        </p:spPr>
        <p:txBody>
          <a:bodyPr wrap="square" rtlCol="0">
            <a:spAutoFit/>
          </a:bodyPr>
          <a:lstStyle/>
          <a:p>
            <a:r>
              <a:rPr lang="zh-CN" altLang="en-US" sz="3200"/>
              <a:t>数据</a:t>
            </a:r>
          </a:p>
        </p:txBody>
      </p:sp>
      <p:sp>
        <p:nvSpPr>
          <p:cNvPr id="10" name="文本框 9"/>
          <p:cNvSpPr txBox="1"/>
          <p:nvPr/>
        </p:nvSpPr>
        <p:spPr>
          <a:xfrm>
            <a:off x="2257425" y="376491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9" name="文本框 8"/>
          <p:cNvSpPr txBox="1"/>
          <p:nvPr/>
        </p:nvSpPr>
        <p:spPr>
          <a:xfrm>
            <a:off x="1489075" y="1019810"/>
            <a:ext cx="4064000" cy="583565"/>
          </a:xfrm>
          <a:prstGeom prst="rect">
            <a:avLst/>
          </a:prstGeom>
          <a:noFill/>
        </p:spPr>
        <p:txBody>
          <a:bodyPr wrap="square" rtlCol="0">
            <a:spAutoFit/>
          </a:bodyPr>
          <a:lstStyle/>
          <a:p>
            <a:r>
              <a:rPr lang="zh-CN" altLang="en-US" sz="3200"/>
              <a:t>数据</a:t>
            </a:r>
          </a:p>
        </p:txBody>
      </p:sp>
      <p:sp>
        <p:nvSpPr>
          <p:cNvPr id="5" name="文本框 4"/>
          <p:cNvSpPr txBox="1"/>
          <p:nvPr/>
        </p:nvSpPr>
        <p:spPr>
          <a:xfrm>
            <a:off x="1271270" y="1603375"/>
            <a:ext cx="4064000" cy="368300"/>
          </a:xfrm>
          <a:prstGeom prst="rect">
            <a:avLst/>
          </a:prstGeom>
          <a:noFill/>
        </p:spPr>
        <p:txBody>
          <a:bodyPr wrap="square" rtlCol="0">
            <a:spAutoFit/>
          </a:bodyPr>
          <a:lstStyle/>
          <a:p>
            <a:pPr indent="457200" fontAlgn="auto">
              <a:spcAft>
                <a:spcPts val="0"/>
              </a:spcAft>
            </a:pPr>
            <a:r>
              <a:rPr lang="zh-CN" altLang="en-US" dirty="0">
                <a:latin typeface="宋体" panose="02010600030101010101" pitchFamily="2" charset="-122"/>
                <a:cs typeface="宋体" panose="02010600030101010101" pitchFamily="2" charset="-122"/>
                <a:sym typeface="+mn-ea"/>
              </a:rPr>
              <a:t>数据读入</a:t>
            </a:r>
            <a:endParaRPr lang="zh-CN" altLang="en-US"/>
          </a:p>
        </p:txBody>
      </p:sp>
      <p:pic>
        <p:nvPicPr>
          <p:cNvPr id="6" name="图片 5"/>
          <p:cNvPicPr>
            <a:picLocks noChangeAspect="1"/>
          </p:cNvPicPr>
          <p:nvPr/>
        </p:nvPicPr>
        <p:blipFill>
          <a:blip r:embed="rId3"/>
          <a:stretch>
            <a:fillRect/>
          </a:stretch>
        </p:blipFill>
        <p:spPr>
          <a:xfrm>
            <a:off x="1428750" y="2276475"/>
            <a:ext cx="9334500" cy="876300"/>
          </a:xfrm>
          <a:prstGeom prst="rect">
            <a:avLst/>
          </a:prstGeom>
        </p:spPr>
      </p:pic>
      <p:sp>
        <p:nvSpPr>
          <p:cNvPr id="8" name="文本框 7"/>
          <p:cNvSpPr txBox="1"/>
          <p:nvPr/>
        </p:nvSpPr>
        <p:spPr>
          <a:xfrm>
            <a:off x="1559560" y="3356610"/>
            <a:ext cx="8564245" cy="2584450"/>
          </a:xfrm>
          <a:prstGeom prst="rect">
            <a:avLst/>
          </a:prstGeom>
          <a:noFill/>
        </p:spPr>
        <p:txBody>
          <a:bodyPr wrap="square" rtlCol="0">
            <a:spAutoFit/>
          </a:bodyPr>
          <a:lstStyle/>
          <a:p>
            <a:r>
              <a:rPr lang="en-US" altLang="zh-CN">
                <a:sym typeface="+mn-ea"/>
              </a:rPr>
              <a:t>•</a:t>
            </a:r>
            <a:r>
              <a:rPr lang="en-US" altLang="zh-CN"/>
              <a:t>batch_size</a:t>
            </a:r>
            <a:r>
              <a:rPr lang="zh-CN" altLang="en-US"/>
              <a:t>：样本是按</a:t>
            </a:r>
            <a:r>
              <a:rPr lang="en-US" altLang="zh-CN"/>
              <a:t>“</a:t>
            </a:r>
            <a:r>
              <a:rPr lang="zh-CN" altLang="en-US"/>
              <a:t>批</a:t>
            </a:r>
            <a:r>
              <a:rPr lang="en-US" altLang="zh-CN"/>
              <a:t>”</a:t>
            </a:r>
            <a:r>
              <a:rPr lang="zh-CN" altLang="en-US"/>
              <a:t>读入的，</a:t>
            </a:r>
            <a:r>
              <a:rPr lang="en-US" altLang="zh-CN"/>
              <a:t>batch_size</a:t>
            </a:r>
            <a:r>
              <a:rPr lang="zh-CN" altLang="en-US"/>
              <a:t>就是每次读入的样本数</a:t>
            </a:r>
          </a:p>
          <a:p>
            <a:endParaRPr lang="en-US" altLang="zh-CN"/>
          </a:p>
          <a:p>
            <a:r>
              <a:rPr lang="en-US" altLang="zh-CN">
                <a:sym typeface="+mn-ea"/>
              </a:rPr>
              <a:t>•</a:t>
            </a:r>
            <a:r>
              <a:rPr lang="en-US" altLang="zh-CN"/>
              <a:t>num_workers</a:t>
            </a:r>
            <a:r>
              <a:rPr lang="zh-CN" altLang="en-US"/>
              <a:t>：有多少个进程用于读取数据，</a:t>
            </a:r>
            <a:r>
              <a:rPr lang="en-US" altLang="zh-CN"/>
              <a:t>Windows</a:t>
            </a:r>
            <a:r>
              <a:rPr lang="zh-CN" altLang="en-US"/>
              <a:t>下该参数设置为</a:t>
            </a:r>
            <a:r>
              <a:rPr lang="en-US" altLang="zh-CN"/>
              <a:t>0</a:t>
            </a:r>
            <a:r>
              <a:rPr lang="zh-CN" altLang="en-US"/>
              <a:t>，</a:t>
            </a:r>
            <a:r>
              <a:rPr lang="en-US" altLang="zh-CN"/>
              <a:t>Linux</a:t>
            </a:r>
            <a:r>
              <a:rPr lang="zh-CN" altLang="en-US"/>
              <a:t>下常见的为</a:t>
            </a:r>
            <a:r>
              <a:rPr lang="en-US" altLang="zh-CN"/>
              <a:t>4</a:t>
            </a:r>
            <a:r>
              <a:rPr lang="zh-CN" altLang="en-US"/>
              <a:t>或者</a:t>
            </a:r>
            <a:r>
              <a:rPr lang="en-US" altLang="zh-CN"/>
              <a:t>8</a:t>
            </a:r>
            <a:r>
              <a:rPr lang="zh-CN" altLang="en-US"/>
              <a:t>，根据自己的电脑配置来设置</a:t>
            </a:r>
          </a:p>
          <a:p>
            <a:endParaRPr lang="en-US" altLang="zh-CN"/>
          </a:p>
          <a:p>
            <a:r>
              <a:rPr lang="en-US" altLang="zh-CN">
                <a:sym typeface="+mn-ea"/>
              </a:rPr>
              <a:t>•</a:t>
            </a:r>
            <a:r>
              <a:rPr lang="en-US" altLang="zh-CN"/>
              <a:t>shuffle</a:t>
            </a:r>
            <a:r>
              <a:rPr lang="zh-CN" altLang="en-US"/>
              <a:t>：是否将读入的数据打乱，一般在训练集中设置为</a:t>
            </a:r>
            <a:r>
              <a:rPr lang="en-US" altLang="zh-CN"/>
              <a:t>True</a:t>
            </a:r>
            <a:r>
              <a:rPr lang="zh-CN" altLang="en-US"/>
              <a:t>，验证集中设置为</a:t>
            </a:r>
            <a:r>
              <a:rPr lang="en-US" altLang="zh-CN"/>
              <a:t>False</a:t>
            </a:r>
          </a:p>
          <a:p>
            <a:endParaRPr lang="en-US" altLang="zh-CN"/>
          </a:p>
          <a:p>
            <a:r>
              <a:rPr lang="en-US" altLang="zh-CN">
                <a:sym typeface="+mn-ea"/>
              </a:rPr>
              <a:t>•</a:t>
            </a:r>
            <a:r>
              <a:rPr lang="en-US" altLang="zh-CN"/>
              <a:t>drop_last</a:t>
            </a:r>
            <a:r>
              <a:rPr lang="zh-CN" altLang="en-US"/>
              <a:t>：对于样本最后一部分没有达到批次数的样本，使其不再参与训练</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2400" dirty="0">
                <a:latin typeface="宋体" panose="02010600030101010101" pitchFamily="2" charset="-122"/>
                <a:ea typeface="宋体" panose="02010600030101010101" pitchFamily="2" charset="-122"/>
                <a:cs typeface="宋体" panose="02010600030101010101" pitchFamily="2" charset="-122"/>
              </a:rPr>
              <a:t>神经网络由一组能够对数据进行操作运算的</a:t>
            </a:r>
            <a:r>
              <a:rPr lang="zh-CN" altLang="en-US" sz="24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层</a:t>
            </a:r>
            <a:r>
              <a:rPr lang="en-US" altLang="zh-CN" sz="24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a:t>
            </a:r>
            <a:r>
              <a:rPr lang="zh-CN" altLang="en-US" sz="24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模块（</a:t>
            </a:r>
            <a:r>
              <a:rPr lang="en-US" altLang="zh-CN" sz="24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layers/modules</a:t>
            </a:r>
            <a:r>
              <a:rPr lang="zh-CN" altLang="en-US" sz="24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a:t>
            </a:r>
            <a:r>
              <a:rPr lang="zh-CN" altLang="en-US" sz="2400" dirty="0">
                <a:latin typeface="宋体" panose="02010600030101010101" pitchFamily="2" charset="-122"/>
                <a:ea typeface="宋体" panose="02010600030101010101" pitchFamily="2" charset="-122"/>
                <a:cs typeface="宋体" panose="02010600030101010101" pitchFamily="2" charset="-122"/>
              </a:rPr>
              <a:t>组成。</a:t>
            </a:r>
            <a:r>
              <a:rPr lang="en-US" altLang="zh-CN" sz="2400" dirty="0">
                <a:latin typeface="宋体" panose="02010600030101010101" pitchFamily="2" charset="-122"/>
                <a:ea typeface="宋体" panose="02010600030101010101" pitchFamily="2" charset="-122"/>
                <a:cs typeface="宋体" panose="02010600030101010101" pitchFamily="2" charset="-122"/>
              </a:rPr>
              <a:t>torch.nn </a:t>
            </a:r>
            <a:r>
              <a:rPr lang="zh-CN" altLang="en-US" sz="2400" dirty="0">
                <a:latin typeface="宋体" panose="02010600030101010101" pitchFamily="2" charset="-122"/>
                <a:ea typeface="宋体" panose="02010600030101010101" pitchFamily="2" charset="-122"/>
                <a:cs typeface="宋体" panose="02010600030101010101" pitchFamily="2" charset="-122"/>
              </a:rPr>
              <a:t>命名空间提供了能够让你自己创建神经网络的一切。</a:t>
            </a:r>
            <a:r>
              <a:rPr lang="en-US" altLang="zh-CN" sz="2400" dirty="0">
                <a:latin typeface="宋体" panose="02010600030101010101" pitchFamily="2" charset="-122"/>
                <a:ea typeface="宋体" panose="02010600030101010101" pitchFamily="2" charset="-122"/>
                <a:cs typeface="宋体" panose="02010600030101010101" pitchFamily="2" charset="-122"/>
              </a:rPr>
              <a:t>PyTorch </a:t>
            </a:r>
            <a:r>
              <a:rPr lang="zh-CN" altLang="en-US" sz="2400" dirty="0">
                <a:latin typeface="宋体" panose="02010600030101010101" pitchFamily="2" charset="-122"/>
                <a:ea typeface="宋体" panose="02010600030101010101" pitchFamily="2" charset="-122"/>
                <a:cs typeface="宋体" panose="02010600030101010101" pitchFamily="2" charset="-122"/>
              </a:rPr>
              <a:t>中的每个模块都继承了</a:t>
            </a:r>
            <a:r>
              <a:rPr lang="en-US" altLang="zh-CN" sz="2400" dirty="0">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nn.Module</a:t>
            </a:r>
            <a:r>
              <a:rPr lang="en-US" altLang="zh-CN" sz="2400" dirty="0">
                <a:latin typeface="宋体" panose="02010600030101010101" pitchFamily="2" charset="-122"/>
                <a:ea typeface="宋体" panose="02010600030101010101" pitchFamily="2" charset="-122"/>
                <a:cs typeface="宋体" panose="02010600030101010101" pitchFamily="2" charset="-122"/>
              </a:rPr>
              <a:t> </a:t>
            </a:r>
            <a:r>
              <a:rPr lang="zh-CN" altLang="en-US" sz="2400" dirty="0">
                <a:latin typeface="宋体" panose="02010600030101010101" pitchFamily="2" charset="-122"/>
                <a:ea typeface="宋体" panose="02010600030101010101" pitchFamily="2" charset="-122"/>
                <a:cs typeface="宋体" panose="02010600030101010101" pitchFamily="2" charset="-122"/>
              </a:rPr>
              <a:t>。神经网络本身也是一个包含了其他模块（层）的模块。这个嵌套的结构能够让复杂架构的构建和管理更加简单。</a:t>
            </a:r>
          </a:p>
        </p:txBody>
      </p:sp>
      <p:sp>
        <p:nvSpPr>
          <p:cNvPr id="9" name="文本框 8"/>
          <p:cNvSpPr txBox="1"/>
          <p:nvPr/>
        </p:nvSpPr>
        <p:spPr>
          <a:xfrm>
            <a:off x="1489075" y="1019810"/>
            <a:ext cx="4064000" cy="1076325"/>
          </a:xfrm>
          <a:prstGeom prst="rect">
            <a:avLst/>
          </a:prstGeom>
          <a:noFill/>
        </p:spPr>
        <p:txBody>
          <a:bodyPr wrap="square" rtlCol="0">
            <a:spAutoFit/>
          </a:bodyPr>
          <a:lstStyle/>
          <a:p>
            <a:r>
              <a:rPr lang="zh-CN" altLang="en-US" sz="3200"/>
              <a:t>构建神经网络</a:t>
            </a:r>
          </a:p>
          <a:p>
            <a:endParaRPr lang="zh-CN" altLang="en-US" sz="3200"/>
          </a:p>
        </p:txBody>
      </p:sp>
      <p:sp>
        <p:nvSpPr>
          <p:cNvPr id="10" name="文本框 9"/>
          <p:cNvSpPr txBox="1"/>
          <p:nvPr/>
        </p:nvSpPr>
        <p:spPr>
          <a:xfrm>
            <a:off x="2257425" y="376491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1691640"/>
          </a:xfrm>
          <a:prstGeom prst="rect">
            <a:avLst/>
          </a:prstGeom>
          <a:noFill/>
        </p:spPr>
        <p:txBody>
          <a:bodyPr wrap="square" rtlCol="0">
            <a:spAutoFit/>
          </a:bodyPr>
          <a:lstStyle/>
          <a:p>
            <a:r>
              <a:rPr lang="zh-CN" altLang="en-US" sz="3200"/>
              <a:t>构建神经网络</a:t>
            </a:r>
          </a:p>
          <a:p>
            <a:pPr indent="457200"/>
            <a:r>
              <a:rPr lang="zh-CN" altLang="en-US" sz="2400"/>
              <a:t>我们需要通过继承</a:t>
            </a:r>
            <a:r>
              <a:rPr lang="en-US" altLang="zh-CN" sz="2400"/>
              <a:t> nn.Module </a:t>
            </a:r>
            <a:r>
              <a:rPr lang="zh-CN" altLang="en-US" sz="2400"/>
              <a:t>来定义我们的神经网络，并在</a:t>
            </a:r>
            <a:r>
              <a:rPr lang="en-US" altLang="zh-CN" sz="2400"/>
              <a:t> </a:t>
            </a:r>
            <a:r>
              <a:rPr lang="en-US" altLang="zh-CN" sz="2400">
                <a:ln/>
                <a:solidFill>
                  <a:schemeClr val="accent1"/>
                </a:solidFill>
                <a:effectLst>
                  <a:outerShdw blurRad="38100" dist="25400" dir="5400000" algn="ctr" rotWithShape="0">
                    <a:srgbClr val="6E747A">
                      <a:alpha val="43000"/>
                    </a:srgbClr>
                  </a:outerShdw>
                </a:effectLst>
              </a:rPr>
              <a:t>__init__ </a:t>
            </a:r>
            <a:r>
              <a:rPr lang="zh-CN" altLang="en-US" sz="2400"/>
              <a:t>中初始化神经网络层。每个</a:t>
            </a:r>
            <a:r>
              <a:rPr lang="en-US" altLang="zh-CN" sz="2400"/>
              <a:t> </a:t>
            </a:r>
            <a:r>
              <a:rPr lang="en-US" altLang="zh-CN" sz="2400">
                <a:ln/>
                <a:solidFill>
                  <a:schemeClr val="accent1"/>
                </a:solidFill>
                <a:effectLst>
                  <a:outerShdw blurRad="38100" dist="25400" dir="5400000" algn="ctr" rotWithShape="0">
                    <a:srgbClr val="6E747A">
                      <a:alpha val="43000"/>
                    </a:srgbClr>
                  </a:outerShdw>
                </a:effectLst>
              </a:rPr>
              <a:t>nn.Module </a:t>
            </a:r>
            <a:r>
              <a:rPr lang="zh-CN" altLang="en-US" sz="2400"/>
              <a:t>子类也都应实现</a:t>
            </a:r>
            <a:r>
              <a:rPr lang="en-US" altLang="zh-CN" sz="2400"/>
              <a:t> </a:t>
            </a:r>
            <a:r>
              <a:rPr lang="en-US" altLang="zh-CN" sz="2400">
                <a:ln/>
                <a:solidFill>
                  <a:schemeClr val="accent1"/>
                </a:solidFill>
                <a:effectLst>
                  <a:outerShdw blurRad="38100" dist="25400" dir="5400000" algn="ctr" rotWithShape="0">
                    <a:srgbClr val="6E747A">
                      <a:alpha val="43000"/>
                    </a:srgbClr>
                  </a:outerShdw>
                </a:effectLst>
              </a:rPr>
              <a:t>forward </a:t>
            </a:r>
            <a:r>
              <a:rPr lang="zh-CN" altLang="en-US" sz="2400"/>
              <a:t>方法，以此定义对输入数据的操作</a:t>
            </a:r>
          </a:p>
        </p:txBody>
      </p:sp>
      <p:sp>
        <p:nvSpPr>
          <p:cNvPr id="10" name="文本框 9"/>
          <p:cNvSpPr txBox="1"/>
          <p:nvPr/>
        </p:nvSpPr>
        <p:spPr>
          <a:xfrm>
            <a:off x="2257425" y="3764915"/>
            <a:ext cx="4064000" cy="368300"/>
          </a:xfrm>
          <a:prstGeom prst="rect">
            <a:avLst/>
          </a:prstGeom>
          <a:noFill/>
        </p:spPr>
        <p:txBody>
          <a:bodyPr wrap="square" rtlCol="0">
            <a:spAutoFit/>
          </a:bodyPr>
          <a:lstStyle/>
          <a:p>
            <a:endParaRPr lang="zh-CN" altLang="en-US"/>
          </a:p>
        </p:txBody>
      </p:sp>
      <p:pic>
        <p:nvPicPr>
          <p:cNvPr id="5" name="图片 4"/>
          <p:cNvPicPr>
            <a:picLocks noChangeAspect="1"/>
          </p:cNvPicPr>
          <p:nvPr/>
        </p:nvPicPr>
        <p:blipFill>
          <a:blip r:embed="rId3"/>
          <a:stretch>
            <a:fillRect/>
          </a:stretch>
        </p:blipFill>
        <p:spPr>
          <a:xfrm>
            <a:off x="2423795" y="2637155"/>
            <a:ext cx="6305550" cy="3239135"/>
          </a:xfrm>
          <a:prstGeom prst="rect">
            <a:avLst/>
          </a:prstGeom>
        </p:spPr>
      </p:pic>
      <p:sp>
        <p:nvSpPr>
          <p:cNvPr id="7" name="文本框 6"/>
          <p:cNvSpPr txBox="1"/>
          <p:nvPr/>
        </p:nvSpPr>
        <p:spPr>
          <a:xfrm>
            <a:off x="3287395" y="6021070"/>
            <a:ext cx="4064000" cy="368300"/>
          </a:xfrm>
          <a:prstGeom prst="rect">
            <a:avLst/>
          </a:prstGeom>
          <a:noFill/>
        </p:spPr>
        <p:txBody>
          <a:bodyPr wrap="square" rtlCol="0">
            <a:spAutoFit/>
          </a:bodyPr>
          <a:lstStyle/>
          <a:p>
            <a:r>
              <a:rPr lang="zh-CN" altLang="en-US"/>
              <a:t>创建一个</a:t>
            </a:r>
            <a:r>
              <a:rPr lang="en-US" altLang="zh-CN"/>
              <a:t> NeuralNetwork </a:t>
            </a:r>
            <a:r>
              <a:rPr lang="zh-CN" altLang="en-US"/>
              <a:t>的实例</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1322070"/>
          </a:xfrm>
          <a:prstGeom prst="rect">
            <a:avLst/>
          </a:prstGeom>
          <a:noFill/>
        </p:spPr>
        <p:txBody>
          <a:bodyPr wrap="square" rtlCol="0">
            <a:spAutoFit/>
          </a:bodyPr>
          <a:lstStyle/>
          <a:p>
            <a:r>
              <a:rPr lang="zh-CN" altLang="en-US" sz="3200"/>
              <a:t>构建神经网络</a:t>
            </a:r>
          </a:p>
          <a:p>
            <a:pPr indent="457200"/>
            <a:r>
              <a:rPr lang="zh-CN" altLang="en-US" sz="2400"/>
              <a:t>创建一个</a:t>
            </a:r>
            <a:r>
              <a:rPr lang="en-US" altLang="zh-CN" sz="2400"/>
              <a:t> NeuralNetwork </a:t>
            </a:r>
            <a:r>
              <a:rPr lang="zh-CN" altLang="en-US" sz="2400"/>
              <a:t>的实例，将其移动到</a:t>
            </a:r>
            <a:r>
              <a:rPr lang="en-US" altLang="zh-CN" sz="2400"/>
              <a:t> device </a:t>
            </a:r>
            <a:r>
              <a:rPr lang="zh-CN" altLang="en-US" sz="2400"/>
              <a:t>，然后再打印其结构</a:t>
            </a:r>
          </a:p>
        </p:txBody>
      </p:sp>
      <p:sp>
        <p:nvSpPr>
          <p:cNvPr id="10" name="文本框 9"/>
          <p:cNvSpPr txBox="1"/>
          <p:nvPr/>
        </p:nvSpPr>
        <p:spPr>
          <a:xfrm>
            <a:off x="2257425" y="3764915"/>
            <a:ext cx="4064000" cy="368300"/>
          </a:xfrm>
          <a:prstGeom prst="rect">
            <a:avLst/>
          </a:prstGeom>
          <a:noFill/>
        </p:spPr>
        <p:txBody>
          <a:bodyPr wrap="square" rtlCol="0">
            <a:spAutoFit/>
          </a:bodyPr>
          <a:lstStyle/>
          <a:p>
            <a:endParaRPr lang="zh-CN" altLang="en-US"/>
          </a:p>
        </p:txBody>
      </p:sp>
      <p:sp>
        <p:nvSpPr>
          <p:cNvPr id="6" name="Title 1"/>
          <p:cNvSpPr txBox="1"/>
          <p:nvPr/>
        </p:nvSpPr>
        <p:spPr>
          <a:xfrm>
            <a:off x="1398270" y="1755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8" name="Title 1"/>
          <p:cNvSpPr txBox="1"/>
          <p:nvPr/>
        </p:nvSpPr>
        <p:spPr>
          <a:xfrm>
            <a:off x="1525270" y="1882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pic>
        <p:nvPicPr>
          <p:cNvPr id="11" name="图片 10"/>
          <p:cNvPicPr>
            <a:picLocks noChangeAspect="1"/>
          </p:cNvPicPr>
          <p:nvPr/>
        </p:nvPicPr>
        <p:blipFill>
          <a:blip r:embed="rId3"/>
          <a:stretch>
            <a:fillRect/>
          </a:stretch>
        </p:blipFill>
        <p:spPr>
          <a:xfrm>
            <a:off x="2135505" y="2341880"/>
            <a:ext cx="6991350" cy="885825"/>
          </a:xfrm>
          <a:prstGeom prst="rect">
            <a:avLst/>
          </a:prstGeom>
        </p:spPr>
      </p:pic>
      <p:sp>
        <p:nvSpPr>
          <p:cNvPr id="12" name="文本框 11"/>
          <p:cNvSpPr txBox="1"/>
          <p:nvPr/>
        </p:nvSpPr>
        <p:spPr>
          <a:xfrm>
            <a:off x="2063750" y="3239135"/>
            <a:ext cx="4064000" cy="368300"/>
          </a:xfrm>
          <a:prstGeom prst="rect">
            <a:avLst/>
          </a:prstGeom>
          <a:noFill/>
        </p:spPr>
        <p:txBody>
          <a:bodyPr wrap="square" rtlCol="0">
            <a:spAutoFit/>
          </a:bodyPr>
          <a:lstStyle/>
          <a:p>
            <a:r>
              <a:rPr lang="zh-CN" altLang="en-US"/>
              <a:t>输出结果</a:t>
            </a:r>
          </a:p>
        </p:txBody>
      </p:sp>
      <p:pic>
        <p:nvPicPr>
          <p:cNvPr id="13" name="图片 12"/>
          <p:cNvPicPr>
            <a:picLocks noChangeAspect="1"/>
          </p:cNvPicPr>
          <p:nvPr/>
        </p:nvPicPr>
        <p:blipFill>
          <a:blip r:embed="rId4"/>
          <a:stretch>
            <a:fillRect/>
          </a:stretch>
        </p:blipFill>
        <p:spPr>
          <a:xfrm>
            <a:off x="2351405" y="3618865"/>
            <a:ext cx="6629400" cy="257175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2799715"/>
          </a:xfrm>
          <a:prstGeom prst="rect">
            <a:avLst/>
          </a:prstGeom>
          <a:noFill/>
        </p:spPr>
        <p:txBody>
          <a:bodyPr wrap="square" rtlCol="0">
            <a:spAutoFit/>
          </a:bodyPr>
          <a:lstStyle/>
          <a:p>
            <a:r>
              <a:rPr lang="zh-CN" altLang="en-US" sz="3200"/>
              <a:t>构建神经网络</a:t>
            </a:r>
          </a:p>
          <a:p>
            <a:pPr indent="457200"/>
            <a:r>
              <a:rPr lang="zh-CN" altLang="en-US" sz="2400"/>
              <a:t>要为模型传入数据才能使用模型，传入数据的过程会执行模型的</a:t>
            </a:r>
            <a:r>
              <a:rPr lang="en-US" altLang="zh-CN" sz="2400"/>
              <a:t> </a:t>
            </a:r>
            <a:r>
              <a:rPr lang="en-US" altLang="zh-CN" sz="2400">
                <a:ln/>
                <a:solidFill>
                  <a:schemeClr val="accent1"/>
                </a:solidFill>
                <a:effectLst>
                  <a:outerShdw blurRad="38100" dist="25400" dir="5400000" algn="ctr" rotWithShape="0">
                    <a:srgbClr val="6E747A">
                      <a:alpha val="43000"/>
                    </a:srgbClr>
                  </a:outerShdw>
                </a:effectLst>
              </a:rPr>
              <a:t>forward </a:t>
            </a:r>
            <a:r>
              <a:rPr lang="zh-CN" altLang="en-US" sz="2400"/>
              <a:t>，同时也会执行一些后台操作</a:t>
            </a:r>
            <a:r>
              <a:rPr lang="en-US" altLang="zh-CN" sz="2400"/>
              <a:t>(background operations)</a:t>
            </a:r>
            <a:r>
              <a:rPr lang="zh-CN" altLang="en-US" sz="2400"/>
              <a:t>。不要直接调用</a:t>
            </a:r>
            <a:r>
              <a:rPr lang="en-US" altLang="zh-CN" sz="2400"/>
              <a:t> </a:t>
            </a:r>
            <a:r>
              <a:rPr lang="en-US" altLang="zh-CN" sz="2400">
                <a:ln/>
                <a:solidFill>
                  <a:schemeClr val="accent1"/>
                </a:solidFill>
                <a:effectLst>
                  <a:outerShdw blurRad="38100" dist="25400" dir="5400000" algn="ctr" rotWithShape="0">
                    <a:srgbClr val="6E747A">
                      <a:alpha val="43000"/>
                    </a:srgbClr>
                  </a:outerShdw>
                </a:effectLst>
              </a:rPr>
              <a:t>model.forward() </a:t>
            </a:r>
            <a:r>
              <a:rPr lang="zh-CN" altLang="en-US" sz="2400"/>
              <a:t>！</a:t>
            </a:r>
          </a:p>
          <a:p>
            <a:pPr indent="457200"/>
            <a:r>
              <a:rPr lang="zh-CN" altLang="en-US" sz="2400"/>
              <a:t>输入数据上调用模型会返回一个二维</a:t>
            </a:r>
            <a:r>
              <a:rPr lang="en-US" altLang="zh-CN" sz="2400"/>
              <a:t> tensor </a:t>
            </a:r>
            <a:r>
              <a:rPr lang="zh-CN" altLang="en-US" sz="2400"/>
              <a:t>，其中</a:t>
            </a:r>
            <a:r>
              <a:rPr lang="en-US" altLang="zh-CN" sz="2400"/>
              <a:t> dim=0 </a:t>
            </a:r>
            <a:r>
              <a:rPr lang="zh-CN" altLang="en-US" sz="2400"/>
              <a:t>对应于每个类别的</a:t>
            </a:r>
            <a:r>
              <a:rPr lang="en-US" altLang="zh-CN" sz="2400"/>
              <a:t> 10 </a:t>
            </a:r>
            <a:r>
              <a:rPr lang="zh-CN" altLang="en-US" sz="2400"/>
              <a:t>个原始预测值的每个输出，而</a:t>
            </a:r>
            <a:r>
              <a:rPr lang="en-US" altLang="zh-CN" sz="2400"/>
              <a:t> dim=1 </a:t>
            </a:r>
            <a:r>
              <a:rPr lang="zh-CN" altLang="en-US" sz="2400"/>
              <a:t>对应于每个输出的各个值。</a:t>
            </a:r>
          </a:p>
        </p:txBody>
      </p:sp>
      <p:sp>
        <p:nvSpPr>
          <p:cNvPr id="10" name="文本框 9"/>
          <p:cNvSpPr txBox="1"/>
          <p:nvPr/>
        </p:nvSpPr>
        <p:spPr>
          <a:xfrm>
            <a:off x="2257425" y="3764915"/>
            <a:ext cx="4064000" cy="368300"/>
          </a:xfrm>
          <a:prstGeom prst="rect">
            <a:avLst/>
          </a:prstGeom>
          <a:noFill/>
        </p:spPr>
        <p:txBody>
          <a:bodyPr wrap="square" rtlCol="0">
            <a:spAutoFit/>
          </a:bodyPr>
          <a:lstStyle/>
          <a:p>
            <a:endParaRPr lang="zh-CN" altLang="en-US"/>
          </a:p>
        </p:txBody>
      </p:sp>
      <p:sp>
        <p:nvSpPr>
          <p:cNvPr id="6" name="Title 1"/>
          <p:cNvSpPr txBox="1"/>
          <p:nvPr/>
        </p:nvSpPr>
        <p:spPr>
          <a:xfrm>
            <a:off x="1398270" y="1755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pic>
        <p:nvPicPr>
          <p:cNvPr id="7" name="图片 6"/>
          <p:cNvPicPr>
            <a:picLocks noChangeAspect="1"/>
          </p:cNvPicPr>
          <p:nvPr/>
        </p:nvPicPr>
        <p:blipFill>
          <a:blip r:embed="rId3"/>
          <a:stretch>
            <a:fillRect/>
          </a:stretch>
        </p:blipFill>
        <p:spPr>
          <a:xfrm>
            <a:off x="1991360" y="3860800"/>
            <a:ext cx="6791325" cy="238125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2922905"/>
          </a:xfrm>
          <a:prstGeom prst="rect">
            <a:avLst/>
          </a:prstGeom>
          <a:noFill/>
        </p:spPr>
        <p:txBody>
          <a:bodyPr wrap="square" rtlCol="0">
            <a:spAutoFit/>
          </a:bodyPr>
          <a:lstStyle/>
          <a:p>
            <a:r>
              <a:rPr lang="zh-CN" altLang="en-US" sz="3200"/>
              <a:t>构建神经网络</a:t>
            </a:r>
          </a:p>
          <a:p>
            <a:pPr indent="457200"/>
            <a:r>
              <a:rPr lang="zh-CN" altLang="en-US" sz="2400"/>
              <a:t>模型层（</a:t>
            </a:r>
            <a:r>
              <a:rPr lang="en-US" altLang="zh-CN" sz="2400"/>
              <a:t>Model Layers</a:t>
            </a:r>
            <a:r>
              <a:rPr lang="zh-CN" altLang="en-US" sz="2400"/>
              <a:t>）</a:t>
            </a:r>
          </a:p>
          <a:p>
            <a:pPr indent="457200"/>
            <a:r>
              <a:rPr lang="en-US" altLang="zh-CN" sz="2400"/>
              <a:t>nn.Flatten</a:t>
            </a:r>
            <a:r>
              <a:rPr lang="zh-CN" altLang="en-US" sz="2400"/>
              <a:t>，通过初始化</a:t>
            </a:r>
            <a:r>
              <a:rPr lang="en-US" altLang="zh-CN" sz="2400"/>
              <a:t> nn.Flatten </a:t>
            </a:r>
            <a:r>
              <a:rPr lang="zh-CN" altLang="en-US" sz="2400"/>
              <a:t>来将每个</a:t>
            </a:r>
            <a:r>
              <a:rPr lang="en-US" altLang="zh-CN" sz="2400"/>
              <a:t> 2D </a:t>
            </a:r>
            <a:r>
              <a:rPr lang="zh-CN" altLang="en-US" sz="2400"/>
              <a:t>的</a:t>
            </a:r>
            <a:r>
              <a:rPr lang="en-US" altLang="zh-CN" sz="2400"/>
              <a:t> 28*28 </a:t>
            </a:r>
            <a:r>
              <a:rPr lang="zh-CN" altLang="en-US" sz="2400"/>
              <a:t>图像转换为了一个连续的、包含</a:t>
            </a:r>
            <a:r>
              <a:rPr lang="en-US" altLang="zh-CN" sz="2400"/>
              <a:t> 784 </a:t>
            </a:r>
            <a:r>
              <a:rPr lang="zh-CN" altLang="en-US" sz="2400"/>
              <a:t>像素值的数组（（通过</a:t>
            </a:r>
            <a:r>
              <a:rPr lang="en-US" altLang="zh-CN" sz="2400"/>
              <a:t> dim=0 </a:t>
            </a:r>
            <a:r>
              <a:rPr lang="zh-CN" altLang="en-US" sz="2400"/>
              <a:t>）保留了</a:t>
            </a:r>
            <a:r>
              <a:rPr lang="en-US" altLang="zh-CN" sz="2400"/>
              <a:t> minibatch </a:t>
            </a:r>
            <a:r>
              <a:rPr lang="zh-CN" altLang="en-US" sz="2400"/>
              <a:t>维度）</a:t>
            </a:r>
          </a:p>
          <a:p>
            <a:pPr marL="457200" lvl="1" indent="457200"/>
            <a:endParaRPr lang="zh-CN" altLang="en-US" sz="3200"/>
          </a:p>
          <a:p>
            <a:pPr indent="457200"/>
            <a:endParaRPr lang="zh-CN" altLang="en-US" sz="2400"/>
          </a:p>
        </p:txBody>
      </p:sp>
      <p:sp>
        <p:nvSpPr>
          <p:cNvPr id="10" name="文本框 9"/>
          <p:cNvSpPr txBox="1"/>
          <p:nvPr/>
        </p:nvSpPr>
        <p:spPr>
          <a:xfrm>
            <a:off x="2257425" y="3764915"/>
            <a:ext cx="4064000" cy="368300"/>
          </a:xfrm>
          <a:prstGeom prst="rect">
            <a:avLst/>
          </a:prstGeom>
          <a:noFill/>
        </p:spPr>
        <p:txBody>
          <a:bodyPr wrap="square" rtlCol="0">
            <a:spAutoFit/>
          </a:bodyPr>
          <a:lstStyle/>
          <a:p>
            <a:endParaRPr lang="zh-CN" altLang="en-US"/>
          </a:p>
        </p:txBody>
      </p:sp>
      <p:sp>
        <p:nvSpPr>
          <p:cNvPr id="6" name="Title 1"/>
          <p:cNvSpPr txBox="1"/>
          <p:nvPr/>
        </p:nvSpPr>
        <p:spPr>
          <a:xfrm>
            <a:off x="1415415" y="1755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pic>
        <p:nvPicPr>
          <p:cNvPr id="5" name="图片 4"/>
          <p:cNvPicPr>
            <a:picLocks noChangeAspect="1"/>
          </p:cNvPicPr>
          <p:nvPr/>
        </p:nvPicPr>
        <p:blipFill>
          <a:blip r:embed="rId3"/>
          <a:stretch>
            <a:fillRect/>
          </a:stretch>
        </p:blipFill>
        <p:spPr>
          <a:xfrm>
            <a:off x="1983105" y="3429000"/>
            <a:ext cx="7553325" cy="211455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2061210"/>
          </a:xfrm>
          <a:prstGeom prst="rect">
            <a:avLst/>
          </a:prstGeom>
          <a:noFill/>
        </p:spPr>
        <p:txBody>
          <a:bodyPr wrap="square" rtlCol="0">
            <a:spAutoFit/>
          </a:bodyPr>
          <a:lstStyle/>
          <a:p>
            <a:r>
              <a:rPr lang="zh-CN" altLang="en-US" sz="3200"/>
              <a:t>构建神经网络</a:t>
            </a:r>
          </a:p>
          <a:p>
            <a:pPr indent="457200"/>
            <a:r>
              <a:rPr lang="zh-CN" altLang="en-US" sz="2400"/>
              <a:t>模型层（</a:t>
            </a:r>
            <a:r>
              <a:rPr lang="en-US" altLang="zh-CN" sz="2400"/>
              <a:t>Model Layers</a:t>
            </a:r>
            <a:r>
              <a:rPr lang="zh-CN" altLang="en-US" sz="2400"/>
              <a:t>）</a:t>
            </a:r>
          </a:p>
          <a:p>
            <a:pPr indent="457200"/>
            <a:r>
              <a:rPr lang="en-US" altLang="zh-CN" sz="2400"/>
              <a:t>nn.Linear</a:t>
            </a:r>
            <a:r>
              <a:rPr lang="zh-CN" altLang="en-US" sz="2400"/>
              <a:t>，</a:t>
            </a:r>
            <a:r>
              <a:rPr lang="en-US" altLang="zh-CN" sz="2400"/>
              <a:t>linear layer </a:t>
            </a:r>
            <a:r>
              <a:rPr lang="zh-CN" altLang="en-US" sz="2400"/>
              <a:t>是一个能对输入数据使用权重（</a:t>
            </a:r>
            <a:r>
              <a:rPr lang="en-US" altLang="zh-CN" sz="2400"/>
              <a:t>weights</a:t>
            </a:r>
            <a:r>
              <a:rPr lang="zh-CN" altLang="en-US" sz="2400"/>
              <a:t>）和偏差（</a:t>
            </a:r>
            <a:r>
              <a:rPr lang="en-US" altLang="zh-CN" sz="2400"/>
              <a:t>biases</a:t>
            </a:r>
            <a:r>
              <a:rPr lang="zh-CN" altLang="en-US" sz="2400"/>
              <a:t>）进行线性变换的模块。（权重与偏差以成员变量的形式存储在</a:t>
            </a:r>
            <a:r>
              <a:rPr lang="en-US" altLang="zh-CN" sz="2400"/>
              <a:t> nn.Linear </a:t>
            </a:r>
            <a:r>
              <a:rPr lang="zh-CN" altLang="en-US" sz="2400"/>
              <a:t>中）</a:t>
            </a:r>
          </a:p>
        </p:txBody>
      </p:sp>
      <p:sp>
        <p:nvSpPr>
          <p:cNvPr id="10" name="文本框 9"/>
          <p:cNvSpPr txBox="1"/>
          <p:nvPr/>
        </p:nvSpPr>
        <p:spPr>
          <a:xfrm>
            <a:off x="2257425" y="3764915"/>
            <a:ext cx="4064000" cy="368300"/>
          </a:xfrm>
          <a:prstGeom prst="rect">
            <a:avLst/>
          </a:prstGeom>
          <a:noFill/>
        </p:spPr>
        <p:txBody>
          <a:bodyPr wrap="square" rtlCol="0">
            <a:spAutoFit/>
          </a:bodyPr>
          <a:lstStyle/>
          <a:p>
            <a:endParaRPr lang="zh-CN" altLang="en-US"/>
          </a:p>
        </p:txBody>
      </p:sp>
      <p:sp>
        <p:nvSpPr>
          <p:cNvPr id="6" name="Title 1"/>
          <p:cNvSpPr txBox="1"/>
          <p:nvPr/>
        </p:nvSpPr>
        <p:spPr>
          <a:xfrm>
            <a:off x="1415415" y="1684020"/>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pic>
        <p:nvPicPr>
          <p:cNvPr id="7" name="图片 6"/>
          <p:cNvPicPr>
            <a:picLocks noChangeAspect="1"/>
          </p:cNvPicPr>
          <p:nvPr/>
        </p:nvPicPr>
        <p:blipFill>
          <a:blip r:embed="rId3"/>
          <a:stretch>
            <a:fillRect/>
          </a:stretch>
        </p:blipFill>
        <p:spPr>
          <a:xfrm>
            <a:off x="2004695" y="3453765"/>
            <a:ext cx="7162800" cy="192405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2061210"/>
          </a:xfrm>
          <a:prstGeom prst="rect">
            <a:avLst/>
          </a:prstGeom>
          <a:noFill/>
        </p:spPr>
        <p:txBody>
          <a:bodyPr wrap="square" rtlCol="0">
            <a:spAutoFit/>
          </a:bodyPr>
          <a:lstStyle/>
          <a:p>
            <a:r>
              <a:rPr lang="zh-CN" altLang="en-US" sz="3200"/>
              <a:t>构建神经网络</a:t>
            </a:r>
          </a:p>
          <a:p>
            <a:pPr indent="457200"/>
            <a:r>
              <a:rPr lang="zh-CN" altLang="en-US" sz="2400"/>
              <a:t>模型层（</a:t>
            </a:r>
            <a:r>
              <a:rPr lang="en-US" altLang="zh-CN" sz="2400"/>
              <a:t>Model Layers</a:t>
            </a:r>
            <a:r>
              <a:rPr lang="zh-CN" altLang="en-US" sz="2400"/>
              <a:t>）</a:t>
            </a:r>
          </a:p>
          <a:p>
            <a:pPr indent="457200"/>
            <a:r>
              <a:rPr lang="en-US" altLang="zh-CN" sz="2400"/>
              <a:t>nn.Relu</a:t>
            </a:r>
            <a:r>
              <a:rPr lang="zh-CN" altLang="en-US" sz="2400"/>
              <a:t>，非线性激活（</a:t>
            </a:r>
            <a:r>
              <a:rPr lang="en-US" altLang="zh-CN" sz="2400"/>
              <a:t>Non-linear activations</a:t>
            </a:r>
            <a:r>
              <a:rPr lang="zh-CN" altLang="en-US" sz="2400"/>
              <a:t>）能够在模型的输入和输出之间创建复杂的映射。将它们放在线性变换后面是为了引入非线性，帮助神经网络学习更多的现象（</a:t>
            </a:r>
            <a:r>
              <a:rPr lang="en-US" altLang="zh-CN" sz="2400"/>
              <a:t>phenomena</a:t>
            </a:r>
            <a:r>
              <a:rPr lang="zh-CN" altLang="en-US" sz="2400"/>
              <a:t>）</a:t>
            </a:r>
          </a:p>
        </p:txBody>
      </p:sp>
      <p:sp>
        <p:nvSpPr>
          <p:cNvPr id="10" name="文本框 9"/>
          <p:cNvSpPr txBox="1"/>
          <p:nvPr/>
        </p:nvSpPr>
        <p:spPr>
          <a:xfrm>
            <a:off x="2257425" y="3764915"/>
            <a:ext cx="4064000" cy="368300"/>
          </a:xfrm>
          <a:prstGeom prst="rect">
            <a:avLst/>
          </a:prstGeom>
          <a:noFill/>
        </p:spPr>
        <p:txBody>
          <a:bodyPr wrap="square" rtlCol="0">
            <a:spAutoFit/>
          </a:bodyPr>
          <a:lstStyle/>
          <a:p>
            <a:endParaRPr lang="zh-CN" altLang="en-US"/>
          </a:p>
        </p:txBody>
      </p:sp>
      <p:sp>
        <p:nvSpPr>
          <p:cNvPr id="6" name="Title 1"/>
          <p:cNvSpPr txBox="1"/>
          <p:nvPr/>
        </p:nvSpPr>
        <p:spPr>
          <a:xfrm>
            <a:off x="1415415" y="1684020"/>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pic>
        <p:nvPicPr>
          <p:cNvPr id="5" name="图片 4"/>
          <p:cNvPicPr>
            <a:picLocks noChangeAspect="1"/>
          </p:cNvPicPr>
          <p:nvPr/>
        </p:nvPicPr>
        <p:blipFill>
          <a:blip r:embed="rId3"/>
          <a:stretch>
            <a:fillRect/>
          </a:stretch>
        </p:blipFill>
        <p:spPr>
          <a:xfrm>
            <a:off x="2552700" y="3284855"/>
            <a:ext cx="6114415" cy="275082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2061210"/>
          </a:xfrm>
          <a:prstGeom prst="rect">
            <a:avLst/>
          </a:prstGeom>
          <a:noFill/>
        </p:spPr>
        <p:txBody>
          <a:bodyPr wrap="square" rtlCol="0">
            <a:spAutoFit/>
          </a:bodyPr>
          <a:lstStyle/>
          <a:p>
            <a:r>
              <a:rPr lang="zh-CN" altLang="en-US" sz="3200"/>
              <a:t>构建神经网络</a:t>
            </a:r>
          </a:p>
          <a:p>
            <a:pPr indent="457200"/>
            <a:r>
              <a:rPr lang="zh-CN" altLang="en-US" sz="2400"/>
              <a:t>模型层（</a:t>
            </a:r>
            <a:r>
              <a:rPr lang="en-US" altLang="zh-CN" sz="2400"/>
              <a:t>Model Layers</a:t>
            </a:r>
            <a:r>
              <a:rPr lang="zh-CN" altLang="en-US" sz="2400"/>
              <a:t>）</a:t>
            </a:r>
          </a:p>
          <a:p>
            <a:pPr indent="457200"/>
            <a:r>
              <a:rPr lang="en-US" altLang="zh-CN" sz="2400"/>
              <a:t>nn.Sequential</a:t>
            </a:r>
            <a:r>
              <a:rPr lang="zh-CN" altLang="en-US" sz="2400"/>
              <a:t>，</a:t>
            </a:r>
            <a:r>
              <a:rPr lang="en-US" altLang="zh-CN" sz="2400"/>
              <a:t>nn.Sequential </a:t>
            </a:r>
            <a:r>
              <a:rPr lang="zh-CN" altLang="en-US" sz="2400"/>
              <a:t>是一个存储模块的有序容器。数据会按照模块定义的数据通过。可以使用有序容器来将</a:t>
            </a:r>
            <a:r>
              <a:rPr lang="en-US" altLang="zh-CN" sz="2400"/>
              <a:t> seq_modules </a:t>
            </a:r>
            <a:r>
              <a:rPr lang="zh-CN" altLang="en-US" sz="2400"/>
              <a:t>这样的快速网络（</a:t>
            </a:r>
            <a:r>
              <a:rPr lang="en-US" altLang="zh-CN" sz="2400"/>
              <a:t>quick network</a:t>
            </a:r>
            <a:r>
              <a:rPr lang="zh-CN" altLang="en-US" sz="2400"/>
              <a:t>）放在一起</a:t>
            </a:r>
          </a:p>
        </p:txBody>
      </p:sp>
      <p:sp>
        <p:nvSpPr>
          <p:cNvPr id="10" name="文本框 9"/>
          <p:cNvSpPr txBox="1"/>
          <p:nvPr/>
        </p:nvSpPr>
        <p:spPr>
          <a:xfrm>
            <a:off x="2257425" y="3764915"/>
            <a:ext cx="4064000" cy="368300"/>
          </a:xfrm>
          <a:prstGeom prst="rect">
            <a:avLst/>
          </a:prstGeom>
          <a:noFill/>
        </p:spPr>
        <p:txBody>
          <a:bodyPr wrap="square" rtlCol="0">
            <a:spAutoFit/>
          </a:bodyPr>
          <a:lstStyle/>
          <a:p>
            <a:endParaRPr lang="zh-CN" altLang="en-US"/>
          </a:p>
        </p:txBody>
      </p:sp>
      <p:sp>
        <p:nvSpPr>
          <p:cNvPr id="6" name="Title 1"/>
          <p:cNvSpPr txBox="1"/>
          <p:nvPr/>
        </p:nvSpPr>
        <p:spPr>
          <a:xfrm>
            <a:off x="1415415" y="1684020"/>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pic>
        <p:nvPicPr>
          <p:cNvPr id="7" name="图片 6"/>
          <p:cNvPicPr>
            <a:picLocks noChangeAspect="1"/>
          </p:cNvPicPr>
          <p:nvPr/>
        </p:nvPicPr>
        <p:blipFill>
          <a:blip r:embed="rId3"/>
          <a:stretch>
            <a:fillRect/>
          </a:stretch>
        </p:blipFill>
        <p:spPr>
          <a:xfrm>
            <a:off x="2207895" y="3213100"/>
            <a:ext cx="6724650" cy="231648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2430145"/>
          </a:xfrm>
          <a:prstGeom prst="rect">
            <a:avLst/>
          </a:prstGeom>
          <a:noFill/>
        </p:spPr>
        <p:txBody>
          <a:bodyPr wrap="square" rtlCol="0">
            <a:spAutoFit/>
          </a:bodyPr>
          <a:lstStyle/>
          <a:p>
            <a:r>
              <a:rPr lang="zh-CN" altLang="en-US" sz="3200"/>
              <a:t>构建神经网络</a:t>
            </a:r>
          </a:p>
          <a:p>
            <a:pPr indent="457200"/>
            <a:r>
              <a:rPr lang="zh-CN" altLang="en-US" sz="2400"/>
              <a:t>模型层（</a:t>
            </a:r>
            <a:r>
              <a:rPr lang="en-US" altLang="zh-CN" sz="2400"/>
              <a:t>Model Layers</a:t>
            </a:r>
            <a:r>
              <a:rPr lang="zh-CN" altLang="en-US" sz="2400"/>
              <a:t>）</a:t>
            </a:r>
          </a:p>
          <a:p>
            <a:pPr indent="457200"/>
            <a:r>
              <a:rPr lang="en-US" altLang="zh-CN" sz="2400"/>
              <a:t>nn.Softmax</a:t>
            </a:r>
            <a:r>
              <a:rPr lang="zh-CN" altLang="en-US" sz="2400"/>
              <a:t>，神经网络的最后一个线性层会返回</a:t>
            </a:r>
            <a:r>
              <a:rPr lang="en-US" altLang="zh-CN" sz="2400"/>
              <a:t> logits —— </a:t>
            </a:r>
            <a:r>
              <a:rPr lang="zh-CN" altLang="en-US" sz="2400"/>
              <a:t>范围在</a:t>
            </a:r>
            <a:r>
              <a:rPr lang="en-US" altLang="zh-CN" sz="2400"/>
              <a:t> [-infty, infty] </a:t>
            </a:r>
            <a:r>
              <a:rPr lang="zh-CN" altLang="en-US" sz="2400"/>
              <a:t>之间的</a:t>
            </a:r>
            <a:r>
              <a:rPr lang="en-US" altLang="zh-CN" sz="2400"/>
              <a:t> raw </a:t>
            </a:r>
            <a:r>
              <a:rPr lang="zh-CN" altLang="en-US" sz="2400"/>
              <a:t>值</a:t>
            </a:r>
            <a:r>
              <a:rPr lang="en-US" altLang="zh-CN" sz="2400"/>
              <a:t> —— </a:t>
            </a:r>
            <a:r>
              <a:rPr lang="zh-CN" altLang="en-US" sz="2400"/>
              <a:t>它们会被传给</a:t>
            </a:r>
            <a:r>
              <a:rPr lang="en-US" altLang="zh-CN" sz="2400"/>
              <a:t> nn.Softmax </a:t>
            </a:r>
            <a:r>
              <a:rPr lang="zh-CN" altLang="en-US" sz="2400"/>
              <a:t>模块。</a:t>
            </a:r>
            <a:r>
              <a:rPr lang="en-US" altLang="zh-CN" sz="2400"/>
              <a:t>logits </a:t>
            </a:r>
            <a:r>
              <a:rPr lang="zh-CN" altLang="en-US" sz="2400"/>
              <a:t>会被缩放为范围在</a:t>
            </a:r>
            <a:r>
              <a:rPr lang="en-US" altLang="zh-CN" sz="2400"/>
              <a:t> [0, 1] </a:t>
            </a:r>
            <a:r>
              <a:rPr lang="zh-CN" altLang="en-US" sz="2400"/>
              <a:t>之间的值，以表示模型对每个类别的预测概率。</a:t>
            </a:r>
            <a:r>
              <a:rPr lang="en-US" altLang="zh-CN" sz="2400"/>
              <a:t>dim </a:t>
            </a:r>
            <a:r>
              <a:rPr lang="zh-CN" altLang="en-US" sz="2400"/>
              <a:t>参数表示维度，该值的总和必须为</a:t>
            </a:r>
            <a:r>
              <a:rPr lang="en-US" altLang="zh-CN" sz="2400"/>
              <a:t> 1</a:t>
            </a:r>
          </a:p>
        </p:txBody>
      </p:sp>
      <p:sp>
        <p:nvSpPr>
          <p:cNvPr id="10" name="文本框 9"/>
          <p:cNvSpPr txBox="1"/>
          <p:nvPr/>
        </p:nvSpPr>
        <p:spPr>
          <a:xfrm>
            <a:off x="2257425" y="3764915"/>
            <a:ext cx="4064000" cy="368300"/>
          </a:xfrm>
          <a:prstGeom prst="rect">
            <a:avLst/>
          </a:prstGeom>
          <a:noFill/>
        </p:spPr>
        <p:txBody>
          <a:bodyPr wrap="square" rtlCol="0">
            <a:spAutoFit/>
          </a:bodyPr>
          <a:lstStyle/>
          <a:p>
            <a:endParaRPr lang="zh-CN" altLang="en-US"/>
          </a:p>
        </p:txBody>
      </p:sp>
      <p:sp>
        <p:nvSpPr>
          <p:cNvPr id="6" name="Title 1"/>
          <p:cNvSpPr txBox="1"/>
          <p:nvPr/>
        </p:nvSpPr>
        <p:spPr>
          <a:xfrm>
            <a:off x="1415415" y="1684020"/>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pic>
        <p:nvPicPr>
          <p:cNvPr id="5" name="图片 4"/>
          <p:cNvPicPr>
            <a:picLocks noChangeAspect="1"/>
          </p:cNvPicPr>
          <p:nvPr/>
        </p:nvPicPr>
        <p:blipFill>
          <a:blip r:embed="rId3"/>
          <a:stretch>
            <a:fillRect/>
          </a:stretch>
        </p:blipFill>
        <p:spPr>
          <a:xfrm>
            <a:off x="2063750" y="3815715"/>
            <a:ext cx="7248525" cy="120523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zh-CN" altLang="en-US" sz="3200"/>
              <a:t>构建神经网络</a:t>
            </a:r>
          </a:p>
          <a:p>
            <a:pPr indent="457200"/>
            <a:endParaRPr lang="en-US" altLang="zh-CN" sz="2400"/>
          </a:p>
        </p:txBody>
      </p:sp>
      <p:sp>
        <p:nvSpPr>
          <p:cNvPr id="10" name="文本框 9"/>
          <p:cNvSpPr txBox="1"/>
          <p:nvPr/>
        </p:nvSpPr>
        <p:spPr>
          <a:xfrm>
            <a:off x="1703705" y="3717290"/>
            <a:ext cx="4064000" cy="368300"/>
          </a:xfrm>
          <a:prstGeom prst="rect">
            <a:avLst/>
          </a:prstGeom>
          <a:noFill/>
        </p:spPr>
        <p:txBody>
          <a:bodyPr wrap="square" rtlCol="0">
            <a:spAutoFit/>
          </a:bodyPr>
          <a:lstStyle/>
          <a:p>
            <a:endParaRPr lang="zh-CN" altLang="en-US"/>
          </a:p>
        </p:txBody>
      </p:sp>
      <p:sp>
        <p:nvSpPr>
          <p:cNvPr id="6" name="Title 1"/>
          <p:cNvSpPr txBox="1"/>
          <p:nvPr/>
        </p:nvSpPr>
        <p:spPr>
          <a:xfrm>
            <a:off x="983615" y="1700530"/>
            <a:ext cx="97237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2400" dirty="0">
                <a:latin typeface="宋体" panose="02010600030101010101" pitchFamily="2" charset="-122"/>
                <a:ea typeface="宋体" panose="02010600030101010101" pitchFamily="2" charset="-122"/>
                <a:cs typeface="宋体" panose="02010600030101010101" pitchFamily="2" charset="-122"/>
              </a:rPr>
              <a:t>模型参数（</a:t>
            </a:r>
            <a:r>
              <a:rPr lang="en-US" altLang="zh-CN" sz="2400" dirty="0">
                <a:latin typeface="宋体" panose="02010600030101010101" pitchFamily="2" charset="-122"/>
                <a:ea typeface="宋体" panose="02010600030101010101" pitchFamily="2" charset="-122"/>
                <a:cs typeface="宋体" panose="02010600030101010101" pitchFamily="2" charset="-122"/>
              </a:rPr>
              <a:t>Model Parameters</a:t>
            </a:r>
            <a:r>
              <a:rPr lang="zh-CN" altLang="en-US" sz="2400" dirty="0">
                <a:latin typeface="宋体" panose="02010600030101010101" pitchFamily="2" charset="-122"/>
                <a:ea typeface="宋体" panose="02010600030101010101" pitchFamily="2" charset="-122"/>
                <a:cs typeface="宋体" panose="02010600030101010101" pitchFamily="2" charset="-122"/>
              </a:rPr>
              <a:t>）</a:t>
            </a:r>
          </a:p>
          <a:p>
            <a:pPr indent="457200" fontAlgn="auto">
              <a:spcAft>
                <a:spcPts val="0"/>
              </a:spcAft>
            </a:pPr>
            <a:r>
              <a:rPr lang="zh-CN" altLang="en-US" sz="2400" dirty="0">
                <a:latin typeface="宋体" panose="02010600030101010101" pitchFamily="2" charset="-122"/>
                <a:ea typeface="宋体" panose="02010600030101010101" pitchFamily="2" charset="-122"/>
                <a:cs typeface="宋体" panose="02010600030101010101" pitchFamily="2" charset="-122"/>
              </a:rPr>
              <a:t>一个神经网络中的很多层都是参数化（</a:t>
            </a:r>
            <a:r>
              <a:rPr lang="en-US" altLang="zh-CN" sz="2400" dirty="0">
                <a:latin typeface="宋体" panose="02010600030101010101" pitchFamily="2" charset="-122"/>
                <a:ea typeface="宋体" panose="02010600030101010101" pitchFamily="2" charset="-122"/>
                <a:cs typeface="宋体" panose="02010600030101010101" pitchFamily="2" charset="-122"/>
              </a:rPr>
              <a:t>parameterized</a:t>
            </a:r>
            <a:r>
              <a:rPr lang="zh-CN" altLang="en-US" sz="2400" dirty="0">
                <a:latin typeface="宋体" panose="02010600030101010101" pitchFamily="2" charset="-122"/>
                <a:ea typeface="宋体" panose="02010600030101010101" pitchFamily="2" charset="-122"/>
                <a:cs typeface="宋体" panose="02010600030101010101" pitchFamily="2" charset="-122"/>
              </a:rPr>
              <a:t>）</a:t>
            </a:r>
            <a:r>
              <a:rPr lang="en-US" altLang="zh-CN" sz="2400" dirty="0">
                <a:latin typeface="宋体" panose="02010600030101010101" pitchFamily="2" charset="-122"/>
                <a:ea typeface="宋体" panose="02010600030101010101" pitchFamily="2" charset="-122"/>
                <a:cs typeface="宋体" panose="02010600030101010101" pitchFamily="2" charset="-122"/>
              </a:rPr>
              <a:t> </a:t>
            </a:r>
            <a:r>
              <a:rPr lang="zh-CN" altLang="en-US" sz="2400" dirty="0">
                <a:latin typeface="宋体" panose="02010600030101010101" pitchFamily="2" charset="-122"/>
                <a:ea typeface="宋体" panose="02010600030101010101" pitchFamily="2" charset="-122"/>
                <a:cs typeface="宋体" panose="02010600030101010101" pitchFamily="2" charset="-122"/>
              </a:rPr>
              <a:t>的，即有着与之关联的</a:t>
            </a:r>
            <a:r>
              <a:rPr lang="zh-CN" altLang="en-US" sz="24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权重（</a:t>
            </a:r>
            <a:r>
              <a:rPr lang="en-US" altLang="zh-CN" sz="24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weights</a:t>
            </a:r>
            <a:r>
              <a:rPr lang="zh-CN" altLang="en-US" sz="24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a:t>
            </a:r>
            <a:r>
              <a:rPr lang="zh-CN" altLang="en-US" sz="2400" dirty="0">
                <a:latin typeface="宋体" panose="02010600030101010101" pitchFamily="2" charset="-122"/>
                <a:ea typeface="宋体" panose="02010600030101010101" pitchFamily="2" charset="-122"/>
                <a:cs typeface="宋体" panose="02010600030101010101" pitchFamily="2" charset="-122"/>
              </a:rPr>
              <a:t>和</a:t>
            </a:r>
            <a:r>
              <a:rPr lang="zh-CN" altLang="en-US" sz="24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偏差（</a:t>
            </a:r>
            <a:r>
              <a:rPr lang="en-US" altLang="zh-CN" sz="24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biases</a:t>
            </a:r>
            <a:r>
              <a:rPr lang="zh-CN" altLang="en-US" sz="24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a:t>
            </a:r>
            <a:r>
              <a:rPr lang="zh-CN" altLang="en-US" sz="2400" dirty="0">
                <a:latin typeface="宋体" panose="02010600030101010101" pitchFamily="2" charset="-122"/>
                <a:ea typeface="宋体" panose="02010600030101010101" pitchFamily="2" charset="-122"/>
                <a:cs typeface="宋体" panose="02010600030101010101" pitchFamily="2" charset="-122"/>
              </a:rPr>
              <a:t>，它们都会在训练的过程中被</a:t>
            </a:r>
            <a:r>
              <a:rPr lang="zh-CN" altLang="en-US" sz="24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优化</a:t>
            </a:r>
            <a:r>
              <a:rPr lang="zh-CN" altLang="en-US" sz="2400" dirty="0">
                <a:latin typeface="宋体" panose="02010600030101010101" pitchFamily="2" charset="-122"/>
                <a:ea typeface="宋体" panose="02010600030101010101" pitchFamily="2" charset="-122"/>
                <a:cs typeface="宋体" panose="02010600030101010101" pitchFamily="2" charset="-122"/>
              </a:rPr>
              <a:t>。继承</a:t>
            </a:r>
            <a:r>
              <a:rPr lang="en-US" altLang="zh-CN" sz="2400" dirty="0">
                <a:latin typeface="宋体" panose="02010600030101010101" pitchFamily="2" charset="-122"/>
                <a:ea typeface="宋体" panose="02010600030101010101" pitchFamily="2" charset="-122"/>
                <a:cs typeface="宋体" panose="02010600030101010101" pitchFamily="2" charset="-122"/>
              </a:rPr>
              <a:t> nn.Module </a:t>
            </a:r>
            <a:r>
              <a:rPr lang="zh-CN" altLang="en-US" sz="2400" dirty="0">
                <a:latin typeface="宋体" panose="02010600030101010101" pitchFamily="2" charset="-122"/>
                <a:ea typeface="宋体" panose="02010600030101010101" pitchFamily="2" charset="-122"/>
                <a:cs typeface="宋体" panose="02010600030101010101" pitchFamily="2" charset="-122"/>
              </a:rPr>
              <a:t>会自动跟踪所有的你的模型对象中定义的字段，并使用你的模型的</a:t>
            </a:r>
            <a:r>
              <a:rPr lang="en-US" altLang="zh-CN" sz="2400" dirty="0">
                <a:latin typeface="宋体" panose="02010600030101010101" pitchFamily="2" charset="-122"/>
                <a:ea typeface="宋体" panose="02010600030101010101" pitchFamily="2" charset="-122"/>
                <a:cs typeface="宋体" panose="02010600030101010101" pitchFamily="2" charset="-122"/>
              </a:rPr>
              <a:t> </a:t>
            </a:r>
            <a:r>
              <a:rPr lang="en-US" altLang="zh-CN" sz="24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parameters()</a:t>
            </a:r>
            <a:r>
              <a:rPr lang="en-US" altLang="zh-CN" sz="2400" dirty="0">
                <a:latin typeface="宋体" panose="02010600030101010101" pitchFamily="2" charset="-122"/>
                <a:ea typeface="宋体" panose="02010600030101010101" pitchFamily="2" charset="-122"/>
                <a:cs typeface="宋体" panose="02010600030101010101" pitchFamily="2" charset="-122"/>
              </a:rPr>
              <a:t> </a:t>
            </a:r>
            <a:r>
              <a:rPr lang="zh-CN" altLang="en-US" sz="2400" dirty="0">
                <a:latin typeface="宋体" panose="02010600030101010101" pitchFamily="2" charset="-122"/>
                <a:ea typeface="宋体" panose="02010600030101010101" pitchFamily="2" charset="-122"/>
                <a:cs typeface="宋体" panose="02010600030101010101" pitchFamily="2" charset="-122"/>
              </a:rPr>
              <a:t>或</a:t>
            </a:r>
            <a:r>
              <a:rPr lang="en-US" altLang="zh-CN" sz="2400" dirty="0">
                <a:latin typeface="宋体" panose="02010600030101010101" pitchFamily="2" charset="-122"/>
                <a:ea typeface="宋体" panose="02010600030101010101" pitchFamily="2" charset="-122"/>
                <a:cs typeface="宋体" panose="02010600030101010101" pitchFamily="2" charset="-122"/>
              </a:rPr>
              <a:t> </a:t>
            </a:r>
            <a:r>
              <a:rPr lang="en-US" altLang="zh-CN" sz="24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named_parameters()</a:t>
            </a:r>
            <a:r>
              <a:rPr lang="en-US" altLang="zh-CN" sz="2400" dirty="0">
                <a:latin typeface="宋体" panose="02010600030101010101" pitchFamily="2" charset="-122"/>
                <a:ea typeface="宋体" panose="02010600030101010101" pitchFamily="2" charset="-122"/>
                <a:cs typeface="宋体" panose="02010600030101010101" pitchFamily="2" charset="-122"/>
              </a:rPr>
              <a:t> </a:t>
            </a:r>
            <a:r>
              <a:rPr lang="zh-CN" altLang="en-US" sz="2400" dirty="0">
                <a:latin typeface="宋体" panose="02010600030101010101" pitchFamily="2" charset="-122"/>
                <a:ea typeface="宋体" panose="02010600030101010101" pitchFamily="2" charset="-122"/>
                <a:cs typeface="宋体" panose="02010600030101010101" pitchFamily="2" charset="-122"/>
              </a:rPr>
              <a:t>方法来让所有参数都可读取。</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zh-CN" altLang="en-US" sz="3200"/>
              <a:t>损失函数</a:t>
            </a:r>
          </a:p>
          <a:p>
            <a:pPr indent="457200"/>
            <a:endParaRPr lang="en-US" altLang="zh-CN" sz="2400"/>
          </a:p>
        </p:txBody>
      </p:sp>
      <p:sp>
        <p:nvSpPr>
          <p:cNvPr id="10" name="文本框 9"/>
          <p:cNvSpPr txBox="1"/>
          <p:nvPr/>
        </p:nvSpPr>
        <p:spPr>
          <a:xfrm>
            <a:off x="1703705" y="3717290"/>
            <a:ext cx="4064000" cy="368300"/>
          </a:xfrm>
          <a:prstGeom prst="rect">
            <a:avLst/>
          </a:prstGeom>
          <a:noFill/>
        </p:spPr>
        <p:txBody>
          <a:bodyPr wrap="square" rtlCol="0">
            <a:spAutoFit/>
          </a:bodyPr>
          <a:lstStyle/>
          <a:p>
            <a:endParaRPr lang="zh-CN" altLang="en-US"/>
          </a:p>
        </p:txBody>
      </p:sp>
      <p:sp>
        <p:nvSpPr>
          <p:cNvPr id="6" name="Title 1"/>
          <p:cNvSpPr txBox="1"/>
          <p:nvPr/>
        </p:nvSpPr>
        <p:spPr>
          <a:xfrm>
            <a:off x="983615" y="1700530"/>
            <a:ext cx="97237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2400" dirty="0">
                <a:latin typeface="宋体" panose="02010600030101010101" pitchFamily="2" charset="-122"/>
                <a:ea typeface="宋体" panose="02010600030101010101" pitchFamily="2" charset="-122"/>
                <a:cs typeface="宋体" panose="02010600030101010101" pitchFamily="2" charset="-122"/>
              </a:rPr>
              <a:t>损失函数是衡量模型输出与真实标签之间的差异。我们还经常听到代价函数和目标函数，它们之间差异如下：</a:t>
            </a:r>
          </a:p>
        </p:txBody>
      </p:sp>
      <p:sp>
        <p:nvSpPr>
          <p:cNvPr id="5" name="文本框 4"/>
          <p:cNvSpPr txBox="1"/>
          <p:nvPr/>
        </p:nvSpPr>
        <p:spPr>
          <a:xfrm>
            <a:off x="1559560" y="2493010"/>
            <a:ext cx="9141460" cy="2676525"/>
          </a:xfrm>
          <a:prstGeom prst="rect">
            <a:avLst/>
          </a:prstGeom>
          <a:noFill/>
        </p:spPr>
        <p:txBody>
          <a:bodyPr wrap="square" rtlCol="0">
            <a:spAutoFit/>
          </a:bodyPr>
          <a:lstStyle/>
          <a:p>
            <a:r>
              <a:rPr lang="en-US" altLang="zh-CN" sz="2400">
                <a:sym typeface="+mn-ea"/>
              </a:rPr>
              <a:t>•</a:t>
            </a:r>
            <a:r>
              <a:rPr lang="zh-CN" altLang="en-US" sz="2400"/>
              <a:t>损失函数</a:t>
            </a:r>
            <a:r>
              <a:rPr lang="en-US" altLang="zh-CN" sz="2400"/>
              <a:t>(Loss Function)</a:t>
            </a:r>
            <a:r>
              <a:rPr lang="zh-CN" altLang="en-US" sz="2400"/>
              <a:t>是计算一个样本的模型输出与真实标签的差异</a:t>
            </a:r>
            <a:r>
              <a:rPr lang="en-US" altLang="zh-CN" sz="2400"/>
              <a:t>Loss</a:t>
            </a:r>
          </a:p>
          <a:p>
            <a:endParaRPr lang="en-US" altLang="zh-CN" sz="2400"/>
          </a:p>
          <a:p>
            <a:r>
              <a:rPr lang="en-US" altLang="zh-CN" sz="2400">
                <a:sym typeface="+mn-ea"/>
              </a:rPr>
              <a:t>•</a:t>
            </a:r>
            <a:r>
              <a:rPr lang="zh-CN" altLang="en-US" sz="2400"/>
              <a:t>代价函数</a:t>
            </a:r>
            <a:r>
              <a:rPr lang="en-US" altLang="zh-CN" sz="2400"/>
              <a:t>(Cost Function)</a:t>
            </a:r>
            <a:r>
              <a:rPr lang="zh-CN" altLang="en-US" sz="2400"/>
              <a:t>是计算整个样本集的模型输出与真实标签的差异，是所有样本损失函数的平均值</a:t>
            </a:r>
          </a:p>
          <a:p>
            <a:endParaRPr lang="en-US" altLang="zh-CN" sz="2400"/>
          </a:p>
          <a:p>
            <a:r>
              <a:rPr lang="en-US" altLang="zh-CN" sz="2400">
                <a:sym typeface="+mn-ea"/>
              </a:rPr>
              <a:t>•</a:t>
            </a:r>
            <a:r>
              <a:rPr lang="zh-CN" altLang="en-US" sz="2400"/>
              <a:t>目标函数</a:t>
            </a:r>
            <a:r>
              <a:rPr lang="en-US" altLang="zh-CN" sz="2400"/>
              <a:t>(Objective Function)</a:t>
            </a:r>
            <a:r>
              <a:rPr lang="zh-CN" altLang="en-US" sz="2400"/>
              <a:t>就是代价函数加上正则项</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zh-CN" altLang="en-US" sz="3200"/>
              <a:t>损失函数</a:t>
            </a:r>
          </a:p>
          <a:p>
            <a:pPr indent="457200"/>
            <a:endParaRPr lang="en-US" altLang="zh-CN" sz="2400"/>
          </a:p>
        </p:txBody>
      </p:sp>
      <p:sp>
        <p:nvSpPr>
          <p:cNvPr id="10" name="文本框 9"/>
          <p:cNvSpPr txBox="1"/>
          <p:nvPr/>
        </p:nvSpPr>
        <p:spPr>
          <a:xfrm>
            <a:off x="1703705" y="3717290"/>
            <a:ext cx="4064000" cy="368300"/>
          </a:xfrm>
          <a:prstGeom prst="rect">
            <a:avLst/>
          </a:prstGeom>
          <a:noFill/>
        </p:spPr>
        <p:txBody>
          <a:bodyPr wrap="square" rtlCol="0">
            <a:spAutoFit/>
          </a:bodyPr>
          <a:lstStyle/>
          <a:p>
            <a:endParaRPr lang="zh-CN" altLang="en-US"/>
          </a:p>
        </p:txBody>
      </p:sp>
      <p:sp>
        <p:nvSpPr>
          <p:cNvPr id="6" name="Title 1"/>
          <p:cNvSpPr txBox="1"/>
          <p:nvPr/>
        </p:nvSpPr>
        <p:spPr>
          <a:xfrm>
            <a:off x="983615" y="1700530"/>
            <a:ext cx="97237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2400" dirty="0">
                <a:latin typeface="宋体" panose="02010600030101010101" pitchFamily="2" charset="-122"/>
                <a:ea typeface="宋体" panose="02010600030101010101" pitchFamily="2" charset="-122"/>
                <a:cs typeface="宋体" panose="02010600030101010101" pitchFamily="2" charset="-122"/>
              </a:rPr>
              <a:t>二分类交叉熵损失函数</a:t>
            </a:r>
          </a:p>
          <a:p>
            <a:pPr indent="457200" fontAlgn="auto">
              <a:spcAft>
                <a:spcPts val="0"/>
              </a:spcAft>
            </a:pPr>
            <a:r>
              <a:rPr lang="zh-CN" altLang="en-US" sz="2400" dirty="0">
                <a:latin typeface="宋体" panose="02010600030101010101" pitchFamily="2" charset="-122"/>
                <a:ea typeface="宋体" panose="02010600030101010101" pitchFamily="2" charset="-122"/>
                <a:cs typeface="宋体" panose="02010600030101010101" pitchFamily="2" charset="-122"/>
              </a:rPr>
              <a:t>计算二分类任务时的交叉熵（</a:t>
            </a:r>
            <a:r>
              <a:rPr lang="en-US" altLang="zh-CN" sz="2400" dirty="0">
                <a:latin typeface="宋体" panose="02010600030101010101" pitchFamily="2" charset="-122"/>
                <a:ea typeface="宋体" panose="02010600030101010101" pitchFamily="2" charset="-122"/>
                <a:cs typeface="宋体" panose="02010600030101010101" pitchFamily="2" charset="-122"/>
              </a:rPr>
              <a:t>Cross Entropy</a:t>
            </a:r>
            <a:r>
              <a:rPr lang="zh-CN" altLang="en-US" sz="2400" dirty="0">
                <a:latin typeface="宋体" panose="02010600030101010101" pitchFamily="2" charset="-122"/>
                <a:ea typeface="宋体" panose="02010600030101010101" pitchFamily="2" charset="-122"/>
                <a:cs typeface="宋体" panose="02010600030101010101" pitchFamily="2" charset="-122"/>
              </a:rPr>
              <a:t>）函数。在二分类中，</a:t>
            </a:r>
            <a:r>
              <a:rPr lang="en-US" altLang="zh-CN" sz="2400" dirty="0">
                <a:latin typeface="宋体" panose="02010600030101010101" pitchFamily="2" charset="-122"/>
                <a:ea typeface="宋体" panose="02010600030101010101" pitchFamily="2" charset="-122"/>
                <a:cs typeface="宋体" panose="02010600030101010101" pitchFamily="2" charset="-122"/>
              </a:rPr>
              <a:t>label</a:t>
            </a:r>
            <a:r>
              <a:rPr lang="zh-CN" altLang="en-US" sz="2400" dirty="0">
                <a:latin typeface="宋体" panose="02010600030101010101" pitchFamily="2" charset="-122"/>
                <a:ea typeface="宋体" panose="02010600030101010101" pitchFamily="2" charset="-122"/>
                <a:cs typeface="宋体" panose="02010600030101010101" pitchFamily="2" charset="-122"/>
              </a:rPr>
              <a:t>是</a:t>
            </a:r>
            <a:r>
              <a:rPr lang="en-US" altLang="zh-CN" sz="2400" dirty="0">
                <a:latin typeface="宋体" panose="02010600030101010101" pitchFamily="2" charset="-122"/>
                <a:ea typeface="宋体" panose="02010600030101010101" pitchFamily="2" charset="-122"/>
                <a:cs typeface="宋体" panose="02010600030101010101" pitchFamily="2" charset="-122"/>
              </a:rPr>
              <a:t>{0,1}</a:t>
            </a:r>
            <a:r>
              <a:rPr lang="zh-CN" altLang="en-US" sz="2400" dirty="0">
                <a:latin typeface="宋体" panose="02010600030101010101" pitchFamily="2" charset="-122"/>
                <a:ea typeface="宋体" panose="02010600030101010101" pitchFamily="2" charset="-122"/>
                <a:cs typeface="宋体" panose="02010600030101010101" pitchFamily="2" charset="-122"/>
              </a:rPr>
              <a:t>。对于进入交叉熵函数的</a:t>
            </a:r>
            <a:r>
              <a:rPr lang="en-US" altLang="zh-CN" sz="2400" dirty="0">
                <a:latin typeface="宋体" panose="02010600030101010101" pitchFamily="2" charset="-122"/>
                <a:ea typeface="宋体" panose="02010600030101010101" pitchFamily="2" charset="-122"/>
                <a:cs typeface="宋体" panose="02010600030101010101" pitchFamily="2" charset="-122"/>
              </a:rPr>
              <a:t>input</a:t>
            </a:r>
            <a:r>
              <a:rPr lang="zh-CN" altLang="en-US" sz="2400" dirty="0">
                <a:latin typeface="宋体" panose="02010600030101010101" pitchFamily="2" charset="-122"/>
                <a:ea typeface="宋体" panose="02010600030101010101" pitchFamily="2" charset="-122"/>
                <a:cs typeface="宋体" panose="02010600030101010101" pitchFamily="2" charset="-122"/>
              </a:rPr>
              <a:t>为概率分布的形式。一般来说，</a:t>
            </a:r>
            <a:r>
              <a:rPr lang="en-US" altLang="zh-CN" sz="2400" dirty="0">
                <a:latin typeface="宋体" panose="02010600030101010101" pitchFamily="2" charset="-122"/>
                <a:ea typeface="宋体" panose="02010600030101010101" pitchFamily="2" charset="-122"/>
                <a:cs typeface="宋体" panose="02010600030101010101" pitchFamily="2" charset="-122"/>
              </a:rPr>
              <a:t>input</a:t>
            </a:r>
            <a:r>
              <a:rPr lang="zh-CN" altLang="en-US" sz="2400" dirty="0">
                <a:latin typeface="宋体" panose="02010600030101010101" pitchFamily="2" charset="-122"/>
                <a:ea typeface="宋体" panose="02010600030101010101" pitchFamily="2" charset="-122"/>
                <a:cs typeface="宋体" panose="02010600030101010101" pitchFamily="2" charset="-122"/>
              </a:rPr>
              <a:t>为</a:t>
            </a:r>
            <a:r>
              <a:rPr lang="en-US" altLang="zh-CN" sz="2400" dirty="0">
                <a:latin typeface="宋体" panose="02010600030101010101" pitchFamily="2" charset="-122"/>
                <a:ea typeface="宋体" panose="02010600030101010101" pitchFamily="2" charset="-122"/>
                <a:cs typeface="宋体" panose="02010600030101010101" pitchFamily="2" charset="-122"/>
              </a:rPr>
              <a:t>sigmoid</a:t>
            </a:r>
            <a:r>
              <a:rPr lang="zh-CN" altLang="en-US" sz="2400" dirty="0">
                <a:latin typeface="宋体" panose="02010600030101010101" pitchFamily="2" charset="-122"/>
                <a:ea typeface="宋体" panose="02010600030101010101" pitchFamily="2" charset="-122"/>
                <a:cs typeface="宋体" panose="02010600030101010101" pitchFamily="2" charset="-122"/>
              </a:rPr>
              <a:t>激活层的输出，或者</a:t>
            </a:r>
            <a:r>
              <a:rPr lang="en-US" altLang="zh-CN" sz="2400" dirty="0">
                <a:latin typeface="宋体" panose="02010600030101010101" pitchFamily="2" charset="-122"/>
                <a:ea typeface="宋体" panose="02010600030101010101" pitchFamily="2" charset="-122"/>
                <a:cs typeface="宋体" panose="02010600030101010101" pitchFamily="2" charset="-122"/>
              </a:rPr>
              <a:t>softmax</a:t>
            </a:r>
            <a:r>
              <a:rPr lang="zh-CN" altLang="en-US" sz="2400" dirty="0">
                <a:latin typeface="宋体" panose="02010600030101010101" pitchFamily="2" charset="-122"/>
                <a:ea typeface="宋体" panose="02010600030101010101" pitchFamily="2" charset="-122"/>
                <a:cs typeface="宋体" panose="02010600030101010101" pitchFamily="2" charset="-122"/>
              </a:rPr>
              <a:t>的输出。</a:t>
            </a:r>
          </a:p>
        </p:txBody>
      </p:sp>
      <p:pic>
        <p:nvPicPr>
          <p:cNvPr id="7" name="图片 6"/>
          <p:cNvPicPr>
            <a:picLocks noChangeAspect="1"/>
          </p:cNvPicPr>
          <p:nvPr/>
        </p:nvPicPr>
        <p:blipFill>
          <a:blip r:embed="rId3"/>
          <a:stretch>
            <a:fillRect/>
          </a:stretch>
        </p:blipFill>
        <p:spPr>
          <a:xfrm>
            <a:off x="1559560" y="3213100"/>
            <a:ext cx="7267575" cy="466725"/>
          </a:xfrm>
          <a:prstGeom prst="rect">
            <a:avLst/>
          </a:prstGeom>
        </p:spPr>
      </p:pic>
      <p:sp>
        <p:nvSpPr>
          <p:cNvPr id="8" name="文本框 7"/>
          <p:cNvSpPr txBox="1"/>
          <p:nvPr/>
        </p:nvSpPr>
        <p:spPr>
          <a:xfrm>
            <a:off x="1631315" y="3789045"/>
            <a:ext cx="8799195" cy="1753235"/>
          </a:xfrm>
          <a:prstGeom prst="rect">
            <a:avLst/>
          </a:prstGeom>
          <a:noFill/>
        </p:spPr>
        <p:txBody>
          <a:bodyPr wrap="square" rtlCol="0">
            <a:spAutoFit/>
          </a:bodyPr>
          <a:lstStyle/>
          <a:p>
            <a:r>
              <a:rPr lang="en-US" altLang="zh-CN">
                <a:sym typeface="+mn-ea"/>
              </a:rPr>
              <a:t>•</a:t>
            </a:r>
            <a:r>
              <a:rPr lang="en-US" altLang="zh-CN"/>
              <a:t>weight:</a:t>
            </a:r>
            <a:r>
              <a:rPr lang="zh-CN" altLang="en-US"/>
              <a:t>每个类别的</a:t>
            </a:r>
            <a:r>
              <a:rPr lang="en-US" altLang="zh-CN"/>
              <a:t>loss</a:t>
            </a:r>
            <a:r>
              <a:rPr lang="zh-CN" altLang="en-US"/>
              <a:t>设置权值</a:t>
            </a:r>
          </a:p>
          <a:p>
            <a:endParaRPr lang="en-US" altLang="zh-CN">
              <a:sym typeface="+mn-ea"/>
            </a:endParaRPr>
          </a:p>
          <a:p>
            <a:r>
              <a:rPr lang="en-US" altLang="zh-CN">
                <a:sym typeface="+mn-ea"/>
              </a:rPr>
              <a:t>•</a:t>
            </a:r>
            <a:r>
              <a:rPr lang="en-US" altLang="zh-CN"/>
              <a:t>size_average:</a:t>
            </a:r>
            <a:r>
              <a:rPr lang="zh-CN" altLang="en-US"/>
              <a:t>数据为</a:t>
            </a:r>
            <a:r>
              <a:rPr lang="en-US" altLang="zh-CN"/>
              <a:t>bool</a:t>
            </a:r>
            <a:r>
              <a:rPr lang="zh-CN" altLang="en-US"/>
              <a:t>，为</a:t>
            </a:r>
            <a:r>
              <a:rPr lang="en-US" altLang="zh-CN"/>
              <a:t>True</a:t>
            </a:r>
            <a:r>
              <a:rPr lang="zh-CN" altLang="en-US"/>
              <a:t>时，返回的</a:t>
            </a:r>
            <a:r>
              <a:rPr lang="en-US" altLang="zh-CN"/>
              <a:t>loss</a:t>
            </a:r>
            <a:r>
              <a:rPr lang="zh-CN" altLang="en-US"/>
              <a:t>为平均值；为</a:t>
            </a:r>
            <a:r>
              <a:rPr lang="en-US" altLang="zh-CN"/>
              <a:t>False</a:t>
            </a:r>
            <a:r>
              <a:rPr lang="zh-CN" altLang="en-US"/>
              <a:t>时，返回的各样本的</a:t>
            </a:r>
            <a:r>
              <a:rPr lang="en-US" altLang="zh-CN"/>
              <a:t>loss</a:t>
            </a:r>
            <a:r>
              <a:rPr lang="zh-CN" altLang="en-US"/>
              <a:t>之和。</a:t>
            </a:r>
          </a:p>
          <a:p>
            <a:endParaRPr lang="en-US" altLang="zh-CN"/>
          </a:p>
          <a:p>
            <a:r>
              <a:rPr lang="en-US" altLang="zh-CN">
                <a:sym typeface="+mn-ea"/>
              </a:rPr>
              <a:t>•</a:t>
            </a:r>
            <a:r>
              <a:rPr lang="en-US" altLang="zh-CN"/>
              <a:t>reduce:</a:t>
            </a:r>
            <a:r>
              <a:rPr lang="zh-CN" altLang="en-US"/>
              <a:t>数据类型为</a:t>
            </a:r>
            <a:r>
              <a:rPr lang="en-US" altLang="zh-CN"/>
              <a:t>bool</a:t>
            </a:r>
            <a:r>
              <a:rPr lang="zh-CN" altLang="en-US"/>
              <a:t>，为</a:t>
            </a:r>
            <a:r>
              <a:rPr lang="en-US" altLang="zh-CN"/>
              <a:t>True</a:t>
            </a:r>
            <a:r>
              <a:rPr lang="zh-CN" altLang="en-US"/>
              <a:t>时，</a:t>
            </a:r>
            <a:r>
              <a:rPr lang="en-US" altLang="zh-CN"/>
              <a:t>loss</a:t>
            </a:r>
            <a:r>
              <a:rPr lang="zh-CN" altLang="en-US"/>
              <a:t>的返回是标量。</a:t>
            </a:r>
          </a:p>
        </p:txBody>
      </p:sp>
      <p:pic>
        <p:nvPicPr>
          <p:cNvPr id="11" name="图片 10"/>
          <p:cNvPicPr>
            <a:picLocks noChangeAspect="1"/>
          </p:cNvPicPr>
          <p:nvPr/>
        </p:nvPicPr>
        <p:blipFill>
          <a:blip r:embed="rId4"/>
          <a:stretch>
            <a:fillRect/>
          </a:stretch>
        </p:blipFill>
        <p:spPr>
          <a:xfrm>
            <a:off x="1775460" y="5651500"/>
            <a:ext cx="6076950" cy="71437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zh-CN" altLang="en-US" sz="3200"/>
              <a:t>损失函数</a:t>
            </a:r>
          </a:p>
          <a:p>
            <a:pPr indent="457200"/>
            <a:endParaRPr lang="en-US" altLang="zh-CN" sz="2400"/>
          </a:p>
        </p:txBody>
      </p:sp>
      <p:sp>
        <p:nvSpPr>
          <p:cNvPr id="10" name="文本框 9"/>
          <p:cNvSpPr txBox="1"/>
          <p:nvPr/>
        </p:nvSpPr>
        <p:spPr>
          <a:xfrm>
            <a:off x="1703705" y="3717290"/>
            <a:ext cx="4064000" cy="368300"/>
          </a:xfrm>
          <a:prstGeom prst="rect">
            <a:avLst/>
          </a:prstGeom>
          <a:noFill/>
        </p:spPr>
        <p:txBody>
          <a:bodyPr wrap="square" rtlCol="0">
            <a:spAutoFit/>
          </a:bodyPr>
          <a:lstStyle/>
          <a:p>
            <a:endParaRPr lang="zh-CN" altLang="en-US"/>
          </a:p>
        </p:txBody>
      </p:sp>
      <p:sp>
        <p:nvSpPr>
          <p:cNvPr id="6" name="Title 1"/>
          <p:cNvSpPr txBox="1"/>
          <p:nvPr/>
        </p:nvSpPr>
        <p:spPr>
          <a:xfrm>
            <a:off x="983615" y="1700530"/>
            <a:ext cx="97237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2400" dirty="0">
                <a:latin typeface="宋体" panose="02010600030101010101" pitchFamily="2" charset="-122"/>
                <a:ea typeface="宋体" panose="02010600030101010101" pitchFamily="2" charset="-122"/>
                <a:cs typeface="宋体" panose="02010600030101010101" pitchFamily="2" charset="-122"/>
              </a:rPr>
              <a:t>交叉熵损失函数</a:t>
            </a:r>
          </a:p>
          <a:p>
            <a:pPr indent="457200" fontAlgn="auto">
              <a:spcAft>
                <a:spcPts val="0"/>
              </a:spcAft>
            </a:pPr>
            <a:r>
              <a:rPr lang="zh-CN" altLang="en-US" sz="2400" dirty="0">
                <a:latin typeface="宋体" panose="02010600030101010101" pitchFamily="2" charset="-122"/>
                <a:ea typeface="宋体" panose="02010600030101010101" pitchFamily="2" charset="-122"/>
                <a:cs typeface="宋体" panose="02010600030101010101" pitchFamily="2" charset="-122"/>
              </a:rPr>
              <a:t>计算交叉熵（</a:t>
            </a:r>
            <a:r>
              <a:rPr lang="en-US" altLang="zh-CN" sz="2400" dirty="0">
                <a:latin typeface="宋体" panose="02010600030101010101" pitchFamily="2" charset="-122"/>
                <a:ea typeface="宋体" panose="02010600030101010101" pitchFamily="2" charset="-122"/>
                <a:cs typeface="宋体" panose="02010600030101010101" pitchFamily="2" charset="-122"/>
              </a:rPr>
              <a:t>Cross Entropy</a:t>
            </a:r>
            <a:r>
              <a:rPr lang="zh-CN" altLang="en-US" sz="2400" dirty="0">
                <a:latin typeface="宋体" panose="02010600030101010101" pitchFamily="2" charset="-122"/>
                <a:ea typeface="宋体" panose="02010600030101010101" pitchFamily="2" charset="-122"/>
                <a:cs typeface="宋体" panose="02010600030101010101" pitchFamily="2" charset="-122"/>
              </a:rPr>
              <a:t>）函数。在二分类中，</a:t>
            </a:r>
            <a:r>
              <a:rPr lang="en-US" altLang="zh-CN" sz="2400" dirty="0">
                <a:latin typeface="宋体" panose="02010600030101010101" pitchFamily="2" charset="-122"/>
                <a:ea typeface="宋体" panose="02010600030101010101" pitchFamily="2" charset="-122"/>
                <a:cs typeface="宋体" panose="02010600030101010101" pitchFamily="2" charset="-122"/>
              </a:rPr>
              <a:t>label</a:t>
            </a:r>
            <a:r>
              <a:rPr lang="zh-CN" altLang="en-US" sz="2400" dirty="0">
                <a:latin typeface="宋体" panose="02010600030101010101" pitchFamily="2" charset="-122"/>
                <a:ea typeface="宋体" panose="02010600030101010101" pitchFamily="2" charset="-122"/>
                <a:cs typeface="宋体" panose="02010600030101010101" pitchFamily="2" charset="-122"/>
              </a:rPr>
              <a:t>是</a:t>
            </a:r>
            <a:r>
              <a:rPr lang="en-US" altLang="zh-CN" sz="2400" dirty="0">
                <a:latin typeface="宋体" panose="02010600030101010101" pitchFamily="2" charset="-122"/>
                <a:ea typeface="宋体" panose="02010600030101010101" pitchFamily="2" charset="-122"/>
                <a:cs typeface="宋体" panose="02010600030101010101" pitchFamily="2" charset="-122"/>
              </a:rPr>
              <a:t>{0,1}</a:t>
            </a:r>
            <a:r>
              <a:rPr lang="zh-CN" altLang="en-US" sz="2400" dirty="0">
                <a:latin typeface="宋体" panose="02010600030101010101" pitchFamily="2" charset="-122"/>
                <a:ea typeface="宋体" panose="02010600030101010101" pitchFamily="2" charset="-122"/>
                <a:cs typeface="宋体" panose="02010600030101010101" pitchFamily="2" charset="-122"/>
              </a:rPr>
              <a:t>。对于进入交叉熵函数的</a:t>
            </a:r>
            <a:r>
              <a:rPr lang="en-US" altLang="zh-CN" sz="2400" dirty="0">
                <a:latin typeface="宋体" panose="02010600030101010101" pitchFamily="2" charset="-122"/>
                <a:ea typeface="宋体" panose="02010600030101010101" pitchFamily="2" charset="-122"/>
                <a:cs typeface="宋体" panose="02010600030101010101" pitchFamily="2" charset="-122"/>
              </a:rPr>
              <a:t>input</a:t>
            </a:r>
            <a:r>
              <a:rPr lang="zh-CN" altLang="en-US" sz="2400" dirty="0">
                <a:latin typeface="宋体" panose="02010600030101010101" pitchFamily="2" charset="-122"/>
                <a:ea typeface="宋体" panose="02010600030101010101" pitchFamily="2" charset="-122"/>
                <a:cs typeface="宋体" panose="02010600030101010101" pitchFamily="2" charset="-122"/>
              </a:rPr>
              <a:t>为概率分布的形式。一般来说，</a:t>
            </a:r>
            <a:r>
              <a:rPr lang="en-US" altLang="zh-CN" sz="2400" dirty="0">
                <a:latin typeface="宋体" panose="02010600030101010101" pitchFamily="2" charset="-122"/>
                <a:ea typeface="宋体" panose="02010600030101010101" pitchFamily="2" charset="-122"/>
                <a:cs typeface="宋体" panose="02010600030101010101" pitchFamily="2" charset="-122"/>
              </a:rPr>
              <a:t>input</a:t>
            </a:r>
            <a:r>
              <a:rPr lang="zh-CN" altLang="en-US" sz="2400" dirty="0">
                <a:latin typeface="宋体" panose="02010600030101010101" pitchFamily="2" charset="-122"/>
                <a:ea typeface="宋体" panose="02010600030101010101" pitchFamily="2" charset="-122"/>
                <a:cs typeface="宋体" panose="02010600030101010101" pitchFamily="2" charset="-122"/>
              </a:rPr>
              <a:t>为</a:t>
            </a:r>
            <a:r>
              <a:rPr lang="en-US" altLang="zh-CN" sz="2400" dirty="0">
                <a:latin typeface="宋体" panose="02010600030101010101" pitchFamily="2" charset="-122"/>
                <a:ea typeface="宋体" panose="02010600030101010101" pitchFamily="2" charset="-122"/>
                <a:cs typeface="宋体" panose="02010600030101010101" pitchFamily="2" charset="-122"/>
              </a:rPr>
              <a:t>sigmoid</a:t>
            </a:r>
            <a:r>
              <a:rPr lang="zh-CN" altLang="en-US" sz="2400" dirty="0">
                <a:latin typeface="宋体" panose="02010600030101010101" pitchFamily="2" charset="-122"/>
                <a:ea typeface="宋体" panose="02010600030101010101" pitchFamily="2" charset="-122"/>
                <a:cs typeface="宋体" panose="02010600030101010101" pitchFamily="2" charset="-122"/>
              </a:rPr>
              <a:t>激活层的输出，或者</a:t>
            </a:r>
            <a:r>
              <a:rPr lang="en-US" altLang="zh-CN" sz="2400" dirty="0">
                <a:latin typeface="宋体" panose="02010600030101010101" pitchFamily="2" charset="-122"/>
                <a:ea typeface="宋体" panose="02010600030101010101" pitchFamily="2" charset="-122"/>
                <a:cs typeface="宋体" panose="02010600030101010101" pitchFamily="2" charset="-122"/>
              </a:rPr>
              <a:t>softmax</a:t>
            </a:r>
            <a:r>
              <a:rPr lang="zh-CN" altLang="en-US" sz="2400" dirty="0">
                <a:latin typeface="宋体" panose="02010600030101010101" pitchFamily="2" charset="-122"/>
                <a:ea typeface="宋体" panose="02010600030101010101" pitchFamily="2" charset="-122"/>
                <a:cs typeface="宋体" panose="02010600030101010101" pitchFamily="2" charset="-122"/>
              </a:rPr>
              <a:t>的输出。</a:t>
            </a:r>
          </a:p>
        </p:txBody>
      </p:sp>
      <p:sp>
        <p:nvSpPr>
          <p:cNvPr id="8" name="文本框 7"/>
          <p:cNvSpPr txBox="1"/>
          <p:nvPr/>
        </p:nvSpPr>
        <p:spPr>
          <a:xfrm>
            <a:off x="1559560" y="3537585"/>
            <a:ext cx="8799195" cy="1476375"/>
          </a:xfrm>
          <a:prstGeom prst="rect">
            <a:avLst/>
          </a:prstGeom>
          <a:noFill/>
        </p:spPr>
        <p:txBody>
          <a:bodyPr wrap="square" rtlCol="0">
            <a:spAutoFit/>
          </a:bodyPr>
          <a:lstStyle/>
          <a:p>
            <a:r>
              <a:rPr lang="en-US" altLang="zh-CN">
                <a:sym typeface="+mn-ea"/>
              </a:rPr>
              <a:t>•</a:t>
            </a:r>
            <a:r>
              <a:rPr lang="en-US" altLang="zh-CN"/>
              <a:t>weight:</a:t>
            </a:r>
            <a:r>
              <a:rPr lang="zh-CN" altLang="en-US"/>
              <a:t>每个类别的</a:t>
            </a:r>
            <a:r>
              <a:rPr lang="en-US" altLang="zh-CN"/>
              <a:t>loss</a:t>
            </a:r>
            <a:r>
              <a:rPr lang="zh-CN" altLang="en-US"/>
              <a:t>设置权值。</a:t>
            </a:r>
          </a:p>
          <a:p>
            <a:r>
              <a:rPr lang="en-US" altLang="zh-CN">
                <a:sym typeface="+mn-ea"/>
              </a:rPr>
              <a:t>•</a:t>
            </a:r>
            <a:r>
              <a:rPr lang="en-US" altLang="zh-CN"/>
              <a:t>size_average:</a:t>
            </a:r>
            <a:r>
              <a:rPr lang="zh-CN" altLang="en-US"/>
              <a:t>数据为</a:t>
            </a:r>
            <a:r>
              <a:rPr lang="en-US" altLang="zh-CN"/>
              <a:t>bool</a:t>
            </a:r>
            <a:r>
              <a:rPr lang="zh-CN" altLang="en-US"/>
              <a:t>，为</a:t>
            </a:r>
            <a:r>
              <a:rPr lang="en-US" altLang="zh-CN"/>
              <a:t>True</a:t>
            </a:r>
            <a:r>
              <a:rPr lang="zh-CN" altLang="en-US"/>
              <a:t>时，返回的</a:t>
            </a:r>
            <a:r>
              <a:rPr lang="en-US" altLang="zh-CN"/>
              <a:t>loss</a:t>
            </a:r>
            <a:r>
              <a:rPr lang="zh-CN" altLang="en-US"/>
              <a:t>为平均值；为</a:t>
            </a:r>
            <a:r>
              <a:rPr lang="en-US" altLang="zh-CN"/>
              <a:t>False</a:t>
            </a:r>
            <a:r>
              <a:rPr lang="zh-CN" altLang="en-US"/>
              <a:t>时，返回的各样本的</a:t>
            </a:r>
            <a:r>
              <a:rPr lang="en-US" altLang="zh-CN"/>
              <a:t>loss</a:t>
            </a:r>
            <a:r>
              <a:rPr lang="zh-CN" altLang="en-US"/>
              <a:t>之和。</a:t>
            </a:r>
          </a:p>
          <a:p>
            <a:r>
              <a:rPr lang="en-US" altLang="zh-CN">
                <a:sym typeface="+mn-ea"/>
              </a:rPr>
              <a:t>•</a:t>
            </a:r>
            <a:r>
              <a:rPr lang="en-US" altLang="zh-CN"/>
              <a:t>ignore_index:</a:t>
            </a:r>
            <a:r>
              <a:rPr lang="zh-CN" altLang="en-US"/>
              <a:t>忽略某个类的损失函数。</a:t>
            </a:r>
          </a:p>
          <a:p>
            <a:r>
              <a:rPr lang="en-US" altLang="zh-CN">
                <a:sym typeface="+mn-ea"/>
              </a:rPr>
              <a:t>•</a:t>
            </a:r>
            <a:r>
              <a:rPr lang="en-US" altLang="zh-CN"/>
              <a:t>reduce:</a:t>
            </a:r>
            <a:r>
              <a:rPr lang="zh-CN" altLang="en-US"/>
              <a:t>数据类型为</a:t>
            </a:r>
            <a:r>
              <a:rPr lang="en-US" altLang="zh-CN"/>
              <a:t>bool</a:t>
            </a:r>
            <a:r>
              <a:rPr lang="zh-CN" altLang="en-US"/>
              <a:t>，为</a:t>
            </a:r>
            <a:r>
              <a:rPr lang="en-US" altLang="zh-CN"/>
              <a:t>True</a:t>
            </a:r>
            <a:r>
              <a:rPr lang="zh-CN" altLang="en-US"/>
              <a:t>时，</a:t>
            </a:r>
            <a:r>
              <a:rPr lang="en-US" altLang="zh-CN"/>
              <a:t>loss</a:t>
            </a:r>
            <a:r>
              <a:rPr lang="zh-CN" altLang="en-US"/>
              <a:t>的返回是标量。</a:t>
            </a:r>
          </a:p>
        </p:txBody>
      </p:sp>
      <p:sp>
        <p:nvSpPr>
          <p:cNvPr id="5" name="文本框 4"/>
          <p:cNvSpPr txBox="1"/>
          <p:nvPr/>
        </p:nvSpPr>
        <p:spPr>
          <a:xfrm>
            <a:off x="1415415" y="3108960"/>
            <a:ext cx="10083165" cy="428625"/>
          </a:xfrm>
          <a:prstGeom prst="rect">
            <a:avLst/>
          </a:prstGeom>
        </p:spPr>
        <p:txBody>
          <a:bodyPr wrap="square">
            <a:spAutoFit/>
          </a:bodyPr>
          <a:lstStyle/>
          <a:p>
            <a:pPr marL="0" indent="0" algn="l">
              <a:lnSpc>
                <a:spcPts val="1315"/>
              </a:lnSpc>
              <a:spcBef>
                <a:spcPct val="0"/>
              </a:spcBef>
              <a:spcAft>
                <a:spcPct val="0"/>
              </a:spcAft>
            </a:pPr>
            <a:r>
              <a:rPr lang="en-US" altLang="zh-CN" sz="1600" b="0" i="0">
                <a:solidFill>
                  <a:srgbClr val="000000"/>
                </a:solidFill>
                <a:latin typeface="宋体" panose="02010600030101010101" pitchFamily="2" charset="-122"/>
              </a:rPr>
              <a:t>torch</a:t>
            </a:r>
            <a:r>
              <a:rPr lang="en-US" altLang="zh-CN" sz="1600" b="1" i="0">
                <a:solidFill>
                  <a:srgbClr val="CE5C00"/>
                </a:solidFill>
                <a:latin typeface="宋体" panose="02010600030101010101" pitchFamily="2" charset="-122"/>
              </a:rPr>
              <a:t>.</a:t>
            </a:r>
            <a:r>
              <a:rPr lang="en-US" altLang="zh-CN" sz="1600" b="0" i="0">
                <a:solidFill>
                  <a:srgbClr val="000000"/>
                </a:solidFill>
                <a:latin typeface="宋体" panose="02010600030101010101" pitchFamily="2" charset="-122"/>
              </a:rPr>
              <a:t>nn</a:t>
            </a:r>
            <a:r>
              <a:rPr lang="en-US" altLang="zh-CN" sz="1600" b="1" i="0">
                <a:solidFill>
                  <a:srgbClr val="CE5C00"/>
                </a:solidFill>
                <a:latin typeface="宋体" panose="02010600030101010101" pitchFamily="2" charset="-122"/>
              </a:rPr>
              <a:t>.</a:t>
            </a:r>
            <a:r>
              <a:rPr lang="en-US" altLang="zh-CN" sz="1600" b="0" i="0">
                <a:solidFill>
                  <a:srgbClr val="000000"/>
                </a:solidFill>
                <a:latin typeface="宋体" panose="02010600030101010101" pitchFamily="2" charset="-122"/>
              </a:rPr>
              <a:t>CrossEntropyLoss</a:t>
            </a:r>
            <a:r>
              <a:rPr lang="en-US" altLang="zh-CN" sz="1600" b="1" i="0">
                <a:solidFill>
                  <a:srgbClr val="000000"/>
                </a:solidFill>
                <a:latin typeface="宋体" panose="02010600030101010101" pitchFamily="2" charset="-122"/>
              </a:rPr>
              <a:t>(</a:t>
            </a:r>
            <a:r>
              <a:rPr lang="en-US" altLang="zh-CN" sz="1600" b="0" i="0">
                <a:solidFill>
                  <a:srgbClr val="000000"/>
                </a:solidFill>
                <a:latin typeface="宋体" panose="02010600030101010101" pitchFamily="2" charset="-122"/>
              </a:rPr>
              <a:t>weight</a:t>
            </a:r>
            <a:r>
              <a:rPr lang="en-US" altLang="zh-CN" sz="1600" b="1" i="0">
                <a:solidFill>
                  <a:srgbClr val="CE5C00"/>
                </a:solidFill>
                <a:latin typeface="宋体" panose="02010600030101010101" pitchFamily="2" charset="-122"/>
              </a:rPr>
              <a:t>=</a:t>
            </a:r>
            <a:r>
              <a:rPr lang="en-US" altLang="zh-CN" sz="1600" b="1" i="0">
                <a:solidFill>
                  <a:srgbClr val="204A87"/>
                </a:solidFill>
                <a:latin typeface="宋体" panose="02010600030101010101" pitchFamily="2" charset="-122"/>
              </a:rPr>
              <a:t>None</a:t>
            </a:r>
            <a:r>
              <a:rPr lang="en-US" altLang="zh-CN" sz="1600" b="1" i="0">
                <a:solidFill>
                  <a:srgbClr val="000000"/>
                </a:solidFill>
                <a:latin typeface="宋体" panose="02010600030101010101" pitchFamily="2" charset="-122"/>
              </a:rPr>
              <a:t>,</a:t>
            </a:r>
            <a:r>
              <a:rPr lang="en-US" altLang="zh-CN" sz="1600" b="0" i="0">
                <a:solidFill>
                  <a:srgbClr val="000000"/>
                </a:solidFill>
                <a:latin typeface="宋体" panose="02010600030101010101" pitchFamily="2" charset="-122"/>
              </a:rPr>
              <a:t>size_average</a:t>
            </a:r>
            <a:r>
              <a:rPr lang="en-US" altLang="zh-CN" sz="1600" b="1" i="0">
                <a:solidFill>
                  <a:srgbClr val="CE5C00"/>
                </a:solidFill>
                <a:latin typeface="宋体" panose="02010600030101010101" pitchFamily="2" charset="-122"/>
              </a:rPr>
              <a:t>=</a:t>
            </a:r>
            <a:r>
              <a:rPr lang="en-US" altLang="zh-CN" sz="1600" b="1" i="0">
                <a:solidFill>
                  <a:srgbClr val="204A87"/>
                </a:solidFill>
                <a:latin typeface="宋体" panose="02010600030101010101" pitchFamily="2" charset="-122"/>
              </a:rPr>
              <a:t>None</a:t>
            </a:r>
            <a:r>
              <a:rPr lang="en-US" altLang="zh-CN" sz="1600" b="1" i="0">
                <a:solidFill>
                  <a:srgbClr val="000000"/>
                </a:solidFill>
                <a:latin typeface="宋体" panose="02010600030101010101" pitchFamily="2" charset="-122"/>
              </a:rPr>
              <a:t>,</a:t>
            </a:r>
            <a:r>
              <a:rPr lang="en-US" altLang="zh-CN" sz="1600" b="0" i="0">
                <a:solidFill>
                  <a:srgbClr val="000000"/>
                </a:solidFill>
                <a:latin typeface="宋体" panose="02010600030101010101" pitchFamily="2" charset="-122"/>
              </a:rPr>
              <a:t>ignore_index</a:t>
            </a:r>
            <a:r>
              <a:rPr lang="en-US" altLang="zh-CN" sz="1600" b="1" i="0">
                <a:solidFill>
                  <a:srgbClr val="CE5C00"/>
                </a:solidFill>
                <a:latin typeface="宋体" panose="02010600030101010101" pitchFamily="2" charset="-122"/>
              </a:rPr>
              <a:t>=-</a:t>
            </a:r>
            <a:r>
              <a:rPr lang="en-US" altLang="zh-CN" sz="1600" b="1" i="0">
                <a:solidFill>
                  <a:srgbClr val="0000CF"/>
                </a:solidFill>
                <a:latin typeface="宋体" panose="02010600030101010101" pitchFamily="2" charset="-122"/>
              </a:rPr>
              <a:t>100</a:t>
            </a:r>
            <a:r>
              <a:rPr lang="en-US" altLang="zh-CN" sz="1600" b="1" i="0">
                <a:solidFill>
                  <a:srgbClr val="000000"/>
                </a:solidFill>
                <a:latin typeface="宋体" panose="02010600030101010101" pitchFamily="2" charset="-122"/>
              </a:rPr>
              <a:t>,</a:t>
            </a:r>
            <a:r>
              <a:rPr lang="en-US" altLang="zh-CN" sz="1600" b="0" i="0">
                <a:solidFill>
                  <a:srgbClr val="000000"/>
                </a:solidFill>
                <a:latin typeface="宋体" panose="02010600030101010101" pitchFamily="2" charset="-122"/>
              </a:rPr>
              <a:t>reduce</a:t>
            </a:r>
            <a:r>
              <a:rPr lang="en-US" altLang="zh-CN" sz="1600" b="1" i="0">
                <a:solidFill>
                  <a:srgbClr val="CE5C00"/>
                </a:solidFill>
                <a:latin typeface="宋体" panose="02010600030101010101" pitchFamily="2" charset="-122"/>
              </a:rPr>
              <a:t>=</a:t>
            </a:r>
            <a:r>
              <a:rPr lang="en-US" altLang="zh-CN" sz="1600" b="1" i="0">
                <a:solidFill>
                  <a:srgbClr val="204A87"/>
                </a:solidFill>
                <a:latin typeface="宋体" panose="02010600030101010101" pitchFamily="2" charset="-122"/>
              </a:rPr>
              <a:t>None</a:t>
            </a:r>
            <a:r>
              <a:rPr lang="en-US" altLang="zh-CN" sz="1600" b="1" i="0">
                <a:solidFill>
                  <a:srgbClr val="000000"/>
                </a:solidFill>
                <a:latin typeface="宋体" panose="02010600030101010101" pitchFamily="2" charset="-122"/>
              </a:rPr>
              <a:t>,</a:t>
            </a:r>
            <a:r>
              <a:rPr lang="en-US" altLang="zh-CN" sz="1600" b="0" i="0">
                <a:solidFill>
                  <a:srgbClr val="000000"/>
                </a:solidFill>
                <a:latin typeface="宋体" panose="02010600030101010101" pitchFamily="2" charset="-122"/>
              </a:rPr>
              <a:t>reduction</a:t>
            </a:r>
            <a:r>
              <a:rPr lang="en-US" altLang="zh-CN" sz="1600" b="1" i="0">
                <a:solidFill>
                  <a:srgbClr val="CE5C00"/>
                </a:solidFill>
                <a:latin typeface="宋体" panose="02010600030101010101" pitchFamily="2" charset="-122"/>
              </a:rPr>
              <a:t>=</a:t>
            </a:r>
            <a:r>
              <a:rPr lang="en-US" altLang="zh-CN" sz="1600" b="0" i="0">
                <a:solidFill>
                  <a:srgbClr val="4E9A06"/>
                </a:solidFill>
                <a:latin typeface="宋体" panose="02010600030101010101" pitchFamily="2" charset="-122"/>
              </a:rPr>
              <a:t>'mean'</a:t>
            </a:r>
            <a:r>
              <a:rPr lang="en-US" altLang="zh-CN" sz="1600" b="1" i="0">
                <a:solidFill>
                  <a:srgbClr val="000000"/>
                </a:solidFill>
                <a:latin typeface="宋体" panose="02010600030101010101" pitchFamily="2" charset="-122"/>
              </a:rPr>
              <a:t>)</a:t>
            </a:r>
          </a:p>
        </p:txBody>
      </p:sp>
      <p:pic>
        <p:nvPicPr>
          <p:cNvPr id="12" name="图片 11"/>
          <p:cNvPicPr>
            <a:picLocks noChangeAspect="1"/>
          </p:cNvPicPr>
          <p:nvPr/>
        </p:nvPicPr>
        <p:blipFill>
          <a:blip r:embed="rId3"/>
          <a:stretch>
            <a:fillRect/>
          </a:stretch>
        </p:blipFill>
        <p:spPr>
          <a:xfrm>
            <a:off x="1606550" y="5220970"/>
            <a:ext cx="6915150" cy="86741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zh-CN" altLang="en-US" sz="3200"/>
              <a:t>损失函数</a:t>
            </a:r>
          </a:p>
          <a:p>
            <a:pPr indent="457200"/>
            <a:endParaRPr lang="en-US" altLang="zh-CN" sz="2400"/>
          </a:p>
        </p:txBody>
      </p:sp>
      <p:sp>
        <p:nvSpPr>
          <p:cNvPr id="10" name="文本框 9"/>
          <p:cNvSpPr txBox="1"/>
          <p:nvPr/>
        </p:nvSpPr>
        <p:spPr>
          <a:xfrm>
            <a:off x="1703705" y="3717290"/>
            <a:ext cx="4064000" cy="368300"/>
          </a:xfrm>
          <a:prstGeom prst="rect">
            <a:avLst/>
          </a:prstGeom>
          <a:noFill/>
        </p:spPr>
        <p:txBody>
          <a:bodyPr wrap="square" rtlCol="0">
            <a:spAutoFit/>
          </a:bodyPr>
          <a:lstStyle/>
          <a:p>
            <a:endParaRPr lang="zh-CN" altLang="en-US"/>
          </a:p>
        </p:txBody>
      </p:sp>
      <p:sp>
        <p:nvSpPr>
          <p:cNvPr id="6" name="Title 1"/>
          <p:cNvSpPr txBox="1"/>
          <p:nvPr/>
        </p:nvSpPr>
        <p:spPr>
          <a:xfrm>
            <a:off x="983615" y="1700530"/>
            <a:ext cx="97237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400" dirty="0">
                <a:latin typeface="宋体" panose="02010600030101010101" pitchFamily="2" charset="-122"/>
                <a:ea typeface="宋体" panose="02010600030101010101" pitchFamily="2" charset="-122"/>
                <a:cs typeface="宋体" panose="02010600030101010101" pitchFamily="2" charset="-122"/>
              </a:rPr>
              <a:t> L1</a:t>
            </a:r>
            <a:r>
              <a:rPr lang="zh-CN" altLang="en-US" sz="2400" dirty="0">
                <a:latin typeface="宋体" panose="02010600030101010101" pitchFamily="2" charset="-122"/>
                <a:ea typeface="宋体" panose="02010600030101010101" pitchFamily="2" charset="-122"/>
                <a:cs typeface="宋体" panose="02010600030101010101" pitchFamily="2" charset="-122"/>
              </a:rPr>
              <a:t>损失函数</a:t>
            </a:r>
          </a:p>
          <a:p>
            <a:pPr indent="457200" fontAlgn="auto">
              <a:spcAft>
                <a:spcPts val="0"/>
              </a:spcAft>
            </a:pPr>
            <a:r>
              <a:rPr lang="en-US" altLang="zh-CN" sz="2400" dirty="0">
                <a:latin typeface="宋体" panose="02010600030101010101" pitchFamily="2" charset="-122"/>
                <a:ea typeface="宋体" panose="02010600030101010101" pitchFamily="2" charset="-122"/>
                <a:cs typeface="宋体" panose="02010600030101010101" pitchFamily="2" charset="-122"/>
              </a:rPr>
              <a:t> </a:t>
            </a:r>
            <a:r>
              <a:rPr lang="zh-CN" altLang="en-US" sz="2400" dirty="0">
                <a:latin typeface="宋体" panose="02010600030101010101" pitchFamily="2" charset="-122"/>
                <a:ea typeface="宋体" panose="02010600030101010101" pitchFamily="2" charset="-122"/>
                <a:cs typeface="宋体" panose="02010600030101010101" pitchFamily="2" charset="-122"/>
              </a:rPr>
              <a:t>计算输出</a:t>
            </a:r>
            <a:r>
              <a:rPr lang="en-US" altLang="zh-CN" sz="2400" dirty="0">
                <a:latin typeface="宋体" panose="02010600030101010101" pitchFamily="2" charset="-122"/>
                <a:ea typeface="宋体" panose="02010600030101010101" pitchFamily="2" charset="-122"/>
                <a:cs typeface="宋体" panose="02010600030101010101" pitchFamily="2" charset="-122"/>
              </a:rPr>
              <a:t>y</a:t>
            </a:r>
            <a:r>
              <a:rPr lang="zh-CN" altLang="en-US" sz="2400" dirty="0">
                <a:latin typeface="宋体" panose="02010600030101010101" pitchFamily="2" charset="-122"/>
                <a:ea typeface="宋体" panose="02010600030101010101" pitchFamily="2" charset="-122"/>
                <a:cs typeface="宋体" panose="02010600030101010101" pitchFamily="2" charset="-122"/>
              </a:rPr>
              <a:t>和真实标签</a:t>
            </a:r>
            <a:r>
              <a:rPr lang="en-US" altLang="zh-CN" sz="2400" dirty="0">
                <a:latin typeface="宋体" panose="02010600030101010101" pitchFamily="2" charset="-122"/>
                <a:ea typeface="宋体" panose="02010600030101010101" pitchFamily="2" charset="-122"/>
                <a:cs typeface="宋体" panose="02010600030101010101" pitchFamily="2" charset="-122"/>
              </a:rPr>
              <a:t>target</a:t>
            </a:r>
            <a:r>
              <a:rPr lang="zh-CN" altLang="en-US" sz="2400" dirty="0">
                <a:latin typeface="宋体" panose="02010600030101010101" pitchFamily="2" charset="-122"/>
                <a:ea typeface="宋体" panose="02010600030101010101" pitchFamily="2" charset="-122"/>
                <a:cs typeface="宋体" panose="02010600030101010101" pitchFamily="2" charset="-122"/>
              </a:rPr>
              <a:t>之间的差值的绝对值</a:t>
            </a:r>
          </a:p>
        </p:txBody>
      </p:sp>
      <p:pic>
        <p:nvPicPr>
          <p:cNvPr id="7" name="图片 6"/>
          <p:cNvPicPr>
            <a:picLocks noChangeAspect="1"/>
          </p:cNvPicPr>
          <p:nvPr/>
        </p:nvPicPr>
        <p:blipFill>
          <a:blip r:embed="rId3"/>
          <a:stretch>
            <a:fillRect/>
          </a:stretch>
        </p:blipFill>
        <p:spPr>
          <a:xfrm>
            <a:off x="1461770" y="2493010"/>
            <a:ext cx="7086600" cy="400050"/>
          </a:xfrm>
          <a:prstGeom prst="rect">
            <a:avLst/>
          </a:prstGeom>
        </p:spPr>
      </p:pic>
      <p:sp>
        <p:nvSpPr>
          <p:cNvPr id="13" name="文本框 12"/>
          <p:cNvSpPr txBox="1"/>
          <p:nvPr/>
        </p:nvSpPr>
        <p:spPr>
          <a:xfrm>
            <a:off x="1461770" y="3140710"/>
            <a:ext cx="8619490" cy="922020"/>
          </a:xfrm>
          <a:prstGeom prst="rect">
            <a:avLst/>
          </a:prstGeom>
          <a:noFill/>
        </p:spPr>
        <p:txBody>
          <a:bodyPr wrap="square" rtlCol="0">
            <a:spAutoFit/>
          </a:bodyPr>
          <a:lstStyle/>
          <a:p>
            <a:r>
              <a:rPr lang="en-US" altLang="zh-CN">
                <a:ln/>
                <a:solidFill>
                  <a:schemeClr val="accent1"/>
                </a:solidFill>
                <a:effectLst>
                  <a:outerShdw blurRad="38100" dist="25400" dir="5400000" algn="ctr" rotWithShape="0">
                    <a:srgbClr val="6E747A">
                      <a:alpha val="43000"/>
                    </a:srgbClr>
                  </a:outerShdw>
                </a:effectLst>
              </a:rPr>
              <a:t>reduction</a:t>
            </a:r>
            <a:r>
              <a:rPr lang="zh-CN" altLang="en-US"/>
              <a:t>参数决定了计算模式。有三种计算模式可选：</a:t>
            </a:r>
            <a:r>
              <a:rPr lang="en-US" altLang="zh-CN">
                <a:ln/>
                <a:solidFill>
                  <a:schemeClr val="accent1"/>
                </a:solidFill>
                <a:effectLst>
                  <a:outerShdw blurRad="38100" dist="25400" dir="5400000" algn="ctr" rotWithShape="0">
                    <a:srgbClr val="6E747A">
                      <a:alpha val="43000"/>
                    </a:srgbClr>
                  </a:outerShdw>
                </a:effectLst>
              </a:rPr>
              <a:t>none</a:t>
            </a:r>
            <a:r>
              <a:rPr lang="zh-CN" altLang="en-US"/>
              <a:t>：逐个元素计算。</a:t>
            </a:r>
            <a:r>
              <a:rPr lang="en-US" altLang="zh-CN"/>
              <a:t> </a:t>
            </a:r>
            <a:r>
              <a:rPr lang="en-US" altLang="zh-CN">
                <a:ln/>
                <a:solidFill>
                  <a:schemeClr val="accent1"/>
                </a:solidFill>
                <a:effectLst>
                  <a:outerShdw blurRad="38100" dist="25400" dir="5400000" algn="ctr" rotWithShape="0">
                    <a:srgbClr val="6E747A">
                      <a:alpha val="43000"/>
                    </a:srgbClr>
                  </a:outerShdw>
                </a:effectLst>
              </a:rPr>
              <a:t>sum</a:t>
            </a:r>
            <a:r>
              <a:rPr lang="zh-CN" altLang="en-US"/>
              <a:t>：所有元素求和，返回标量。</a:t>
            </a:r>
            <a:r>
              <a:rPr lang="en-US" altLang="zh-CN"/>
              <a:t> </a:t>
            </a:r>
            <a:r>
              <a:rPr lang="en-US" altLang="zh-CN">
                <a:ln/>
                <a:solidFill>
                  <a:schemeClr val="accent1"/>
                </a:solidFill>
                <a:effectLst>
                  <a:outerShdw blurRad="38100" dist="25400" dir="5400000" algn="ctr" rotWithShape="0">
                    <a:srgbClr val="6E747A">
                      <a:alpha val="43000"/>
                    </a:srgbClr>
                  </a:outerShdw>
                </a:effectLst>
              </a:rPr>
              <a:t>mean</a:t>
            </a:r>
            <a:r>
              <a:rPr lang="zh-CN" altLang="en-US"/>
              <a:t>：加权平均，返回标量。</a:t>
            </a:r>
            <a:r>
              <a:rPr lang="en-US" altLang="zh-CN"/>
              <a:t> </a:t>
            </a:r>
            <a:r>
              <a:rPr lang="zh-CN" altLang="en-US"/>
              <a:t>如果选择</a:t>
            </a:r>
            <a:r>
              <a:rPr lang="en-US" altLang="zh-CN"/>
              <a:t>none</a:t>
            </a:r>
            <a:r>
              <a:rPr lang="zh-CN" altLang="en-US"/>
              <a:t>，那么返回的结果是和输入元素相同尺寸的。默认计算方式是求平均。</a:t>
            </a:r>
          </a:p>
        </p:txBody>
      </p:sp>
      <p:pic>
        <p:nvPicPr>
          <p:cNvPr id="14" name="图片 13"/>
          <p:cNvPicPr>
            <a:picLocks noChangeAspect="1"/>
          </p:cNvPicPr>
          <p:nvPr/>
        </p:nvPicPr>
        <p:blipFill>
          <a:blip r:embed="rId4"/>
          <a:stretch>
            <a:fillRect/>
          </a:stretch>
        </p:blipFill>
        <p:spPr>
          <a:xfrm>
            <a:off x="1489075" y="4439285"/>
            <a:ext cx="4730750" cy="37147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zh-CN" altLang="en-US" sz="3200"/>
              <a:t>损失函数</a:t>
            </a:r>
          </a:p>
          <a:p>
            <a:pPr indent="457200"/>
            <a:endParaRPr lang="en-US" altLang="zh-CN" sz="2400"/>
          </a:p>
        </p:txBody>
      </p:sp>
      <p:sp>
        <p:nvSpPr>
          <p:cNvPr id="10" name="文本框 9"/>
          <p:cNvSpPr txBox="1"/>
          <p:nvPr/>
        </p:nvSpPr>
        <p:spPr>
          <a:xfrm>
            <a:off x="1703705" y="3717290"/>
            <a:ext cx="4064000" cy="368300"/>
          </a:xfrm>
          <a:prstGeom prst="rect">
            <a:avLst/>
          </a:prstGeom>
          <a:noFill/>
        </p:spPr>
        <p:txBody>
          <a:bodyPr wrap="square" rtlCol="0">
            <a:spAutoFit/>
          </a:bodyPr>
          <a:lstStyle/>
          <a:p>
            <a:endParaRPr lang="zh-CN" altLang="en-US"/>
          </a:p>
        </p:txBody>
      </p:sp>
      <p:sp>
        <p:nvSpPr>
          <p:cNvPr id="6" name="Title 1"/>
          <p:cNvSpPr txBox="1"/>
          <p:nvPr/>
        </p:nvSpPr>
        <p:spPr>
          <a:xfrm>
            <a:off x="983615" y="1700530"/>
            <a:ext cx="97237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400" dirty="0">
                <a:latin typeface="宋体" panose="02010600030101010101" pitchFamily="2" charset="-122"/>
                <a:ea typeface="宋体" panose="02010600030101010101" pitchFamily="2" charset="-122"/>
                <a:cs typeface="宋体" panose="02010600030101010101" pitchFamily="2" charset="-122"/>
              </a:rPr>
              <a:t> MSE</a:t>
            </a:r>
            <a:r>
              <a:rPr lang="zh-CN" altLang="en-US" sz="2400" dirty="0">
                <a:latin typeface="宋体" panose="02010600030101010101" pitchFamily="2" charset="-122"/>
                <a:ea typeface="宋体" panose="02010600030101010101" pitchFamily="2" charset="-122"/>
                <a:cs typeface="宋体" panose="02010600030101010101" pitchFamily="2" charset="-122"/>
              </a:rPr>
              <a:t>损失函数</a:t>
            </a:r>
          </a:p>
          <a:p>
            <a:pPr indent="457200" fontAlgn="auto">
              <a:spcAft>
                <a:spcPts val="0"/>
              </a:spcAft>
            </a:pPr>
            <a:r>
              <a:rPr lang="en-US" altLang="zh-CN" sz="2400" dirty="0">
                <a:latin typeface="宋体" panose="02010600030101010101" pitchFamily="2" charset="-122"/>
                <a:ea typeface="宋体" panose="02010600030101010101" pitchFamily="2" charset="-122"/>
                <a:cs typeface="宋体" panose="02010600030101010101" pitchFamily="2" charset="-122"/>
              </a:rPr>
              <a:t> </a:t>
            </a:r>
            <a:r>
              <a:rPr lang="zh-CN" altLang="en-US" sz="2400" dirty="0">
                <a:latin typeface="宋体" panose="02010600030101010101" pitchFamily="2" charset="-122"/>
                <a:ea typeface="宋体" panose="02010600030101010101" pitchFamily="2" charset="-122"/>
                <a:cs typeface="宋体" panose="02010600030101010101" pitchFamily="2" charset="-122"/>
              </a:rPr>
              <a:t>计算输出</a:t>
            </a:r>
            <a:r>
              <a:rPr lang="en-US" altLang="zh-CN" sz="2400" dirty="0">
                <a:latin typeface="宋体" panose="02010600030101010101" pitchFamily="2" charset="-122"/>
                <a:ea typeface="宋体" panose="02010600030101010101" pitchFamily="2" charset="-122"/>
                <a:cs typeface="宋体" panose="02010600030101010101" pitchFamily="2" charset="-122"/>
              </a:rPr>
              <a:t>y</a:t>
            </a:r>
            <a:r>
              <a:rPr lang="zh-CN" altLang="en-US" sz="2400" dirty="0">
                <a:latin typeface="宋体" panose="02010600030101010101" pitchFamily="2" charset="-122"/>
                <a:ea typeface="宋体" panose="02010600030101010101" pitchFamily="2" charset="-122"/>
                <a:cs typeface="宋体" panose="02010600030101010101" pitchFamily="2" charset="-122"/>
              </a:rPr>
              <a:t>和真实标签</a:t>
            </a:r>
            <a:r>
              <a:rPr lang="en-US" altLang="zh-CN" sz="2400" dirty="0">
                <a:latin typeface="宋体" panose="02010600030101010101" pitchFamily="2" charset="-122"/>
                <a:ea typeface="宋体" panose="02010600030101010101" pitchFamily="2" charset="-122"/>
                <a:cs typeface="宋体" panose="02010600030101010101" pitchFamily="2" charset="-122"/>
              </a:rPr>
              <a:t>target</a:t>
            </a:r>
            <a:r>
              <a:rPr lang="zh-CN" altLang="en-US" sz="2400" dirty="0">
                <a:latin typeface="宋体" panose="02010600030101010101" pitchFamily="2" charset="-122"/>
                <a:ea typeface="宋体" panose="02010600030101010101" pitchFamily="2" charset="-122"/>
                <a:cs typeface="宋体" panose="02010600030101010101" pitchFamily="2" charset="-122"/>
              </a:rPr>
              <a:t>之差的平方</a:t>
            </a:r>
          </a:p>
        </p:txBody>
      </p:sp>
      <p:sp>
        <p:nvSpPr>
          <p:cNvPr id="13" name="文本框 12"/>
          <p:cNvSpPr txBox="1"/>
          <p:nvPr/>
        </p:nvSpPr>
        <p:spPr>
          <a:xfrm>
            <a:off x="1461770" y="3140710"/>
            <a:ext cx="8619490" cy="922020"/>
          </a:xfrm>
          <a:prstGeom prst="rect">
            <a:avLst/>
          </a:prstGeom>
          <a:noFill/>
        </p:spPr>
        <p:txBody>
          <a:bodyPr wrap="square" rtlCol="0">
            <a:spAutoFit/>
          </a:bodyPr>
          <a:lstStyle/>
          <a:p>
            <a:r>
              <a:rPr lang="zh-CN" altLang="en-US"/>
              <a:t>和</a:t>
            </a:r>
            <a:r>
              <a:rPr lang="en-US" altLang="zh-CN"/>
              <a:t>L1Loss</a:t>
            </a:r>
            <a:r>
              <a:rPr lang="zh-CN" altLang="en-US"/>
              <a:t>一样，</a:t>
            </a:r>
            <a:r>
              <a:rPr lang="en-US" altLang="zh-CN"/>
              <a:t>MSELoss</a:t>
            </a:r>
            <a:r>
              <a:rPr lang="zh-CN" altLang="en-US"/>
              <a:t>损失函数中，</a:t>
            </a:r>
            <a:r>
              <a:rPr lang="en-US" altLang="zh-CN"/>
              <a:t>reduction</a:t>
            </a:r>
            <a:r>
              <a:rPr lang="zh-CN" altLang="en-US"/>
              <a:t>参数决定了计算模式。有三种计算模式可选：</a:t>
            </a:r>
            <a:r>
              <a:rPr lang="en-US" altLang="zh-CN">
                <a:ln/>
                <a:solidFill>
                  <a:schemeClr val="accent1"/>
                </a:solidFill>
                <a:effectLst>
                  <a:outerShdw blurRad="38100" dist="25400" dir="5400000" algn="ctr" rotWithShape="0">
                    <a:srgbClr val="6E747A">
                      <a:alpha val="43000"/>
                    </a:srgbClr>
                  </a:outerShdw>
                </a:effectLst>
              </a:rPr>
              <a:t>none</a:t>
            </a:r>
            <a:r>
              <a:rPr lang="zh-CN" altLang="en-US"/>
              <a:t>：逐个元素计算。</a:t>
            </a:r>
            <a:r>
              <a:rPr lang="en-US" altLang="zh-CN"/>
              <a:t> </a:t>
            </a:r>
            <a:r>
              <a:rPr lang="en-US" altLang="zh-CN">
                <a:ln/>
                <a:solidFill>
                  <a:schemeClr val="accent1"/>
                </a:solidFill>
                <a:effectLst>
                  <a:outerShdw blurRad="38100" dist="25400" dir="5400000" algn="ctr" rotWithShape="0">
                    <a:srgbClr val="6E747A">
                      <a:alpha val="43000"/>
                    </a:srgbClr>
                  </a:outerShdw>
                </a:effectLst>
              </a:rPr>
              <a:t>sum</a:t>
            </a:r>
            <a:r>
              <a:rPr lang="zh-CN" altLang="en-US"/>
              <a:t>：所有元素求和，返回标量。</a:t>
            </a:r>
            <a:r>
              <a:rPr lang="en-US" altLang="zh-CN">
                <a:solidFill>
                  <a:schemeClr val="accent1"/>
                </a:solidFill>
                <a:effectLst>
                  <a:outerShdw blurRad="38100" dist="25400" dir="5400000" algn="ctr" rotWithShape="0">
                    <a:srgbClr val="6E747A">
                      <a:alpha val="43000"/>
                    </a:srgbClr>
                  </a:outerShdw>
                </a:effectLst>
                <a:sym typeface="+mn-ea"/>
              </a:rPr>
              <a:t>mean</a:t>
            </a:r>
            <a:r>
              <a:rPr lang="zh-CN" altLang="en-US">
                <a:sym typeface="+mn-ea"/>
              </a:rPr>
              <a:t>：加权平均，返回标量。</a:t>
            </a:r>
            <a:r>
              <a:rPr lang="zh-CN" altLang="en-US"/>
              <a:t>默认计算方式是求平均。</a:t>
            </a:r>
          </a:p>
        </p:txBody>
      </p:sp>
      <p:pic>
        <p:nvPicPr>
          <p:cNvPr id="5" name="图片 4"/>
          <p:cNvPicPr>
            <a:picLocks noChangeAspect="1"/>
          </p:cNvPicPr>
          <p:nvPr/>
        </p:nvPicPr>
        <p:blipFill>
          <a:blip r:embed="rId3"/>
          <a:stretch>
            <a:fillRect/>
          </a:stretch>
        </p:blipFill>
        <p:spPr>
          <a:xfrm>
            <a:off x="1847850" y="2564765"/>
            <a:ext cx="7629525" cy="504825"/>
          </a:xfrm>
          <a:prstGeom prst="rect">
            <a:avLst/>
          </a:prstGeom>
        </p:spPr>
      </p:pic>
      <p:pic>
        <p:nvPicPr>
          <p:cNvPr id="11" name="图片 10"/>
          <p:cNvPicPr>
            <a:picLocks noChangeAspect="1"/>
          </p:cNvPicPr>
          <p:nvPr/>
        </p:nvPicPr>
        <p:blipFill>
          <a:blip r:embed="rId4"/>
          <a:stretch>
            <a:fillRect/>
          </a:stretch>
        </p:blipFill>
        <p:spPr>
          <a:xfrm>
            <a:off x="1631315" y="4293235"/>
            <a:ext cx="7077075"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zh-CN" altLang="en-US" sz="3200" b="1" dirty="0"/>
          </a:p>
          <a:p>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zh-CN" altLang="en-US" sz="3200"/>
              <a:t>优化器</a:t>
            </a:r>
          </a:p>
          <a:p>
            <a:pPr indent="457200"/>
            <a:endParaRPr lang="en-US" altLang="zh-CN" sz="2400"/>
          </a:p>
        </p:txBody>
      </p:sp>
      <p:sp>
        <p:nvSpPr>
          <p:cNvPr id="10" name="文本框 9"/>
          <p:cNvSpPr txBox="1"/>
          <p:nvPr/>
        </p:nvSpPr>
        <p:spPr>
          <a:xfrm>
            <a:off x="1703705" y="3717290"/>
            <a:ext cx="4064000" cy="368300"/>
          </a:xfrm>
          <a:prstGeom prst="rect">
            <a:avLst/>
          </a:prstGeom>
          <a:noFill/>
        </p:spPr>
        <p:txBody>
          <a:bodyPr wrap="square" rtlCol="0">
            <a:spAutoFit/>
          </a:bodyPr>
          <a:lstStyle/>
          <a:p>
            <a:endParaRPr lang="zh-CN" altLang="en-US"/>
          </a:p>
        </p:txBody>
      </p:sp>
      <p:sp>
        <p:nvSpPr>
          <p:cNvPr id="6" name="Title 1"/>
          <p:cNvSpPr txBox="1"/>
          <p:nvPr/>
        </p:nvSpPr>
        <p:spPr>
          <a:xfrm>
            <a:off x="983615" y="1700530"/>
            <a:ext cx="97237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400" dirty="0">
                <a:latin typeface="宋体" panose="02010600030101010101" pitchFamily="2" charset="-122"/>
                <a:ea typeface="宋体" panose="02010600030101010101" pitchFamily="2" charset="-122"/>
                <a:cs typeface="宋体" panose="02010600030101010101" pitchFamily="2" charset="-122"/>
              </a:rPr>
              <a:t>PyTorch </a:t>
            </a:r>
            <a:r>
              <a:rPr lang="zh-CN" altLang="en-US" sz="2400" dirty="0">
                <a:latin typeface="宋体" panose="02010600030101010101" pitchFamily="2" charset="-122"/>
                <a:ea typeface="宋体" panose="02010600030101010101" pitchFamily="2" charset="-122"/>
                <a:cs typeface="宋体" panose="02010600030101010101" pitchFamily="2" charset="-122"/>
              </a:rPr>
              <a:t>中的优化器是用于</a:t>
            </a:r>
            <a:r>
              <a:rPr lang="zh-CN" altLang="en-US" sz="24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管理并更新</a:t>
            </a:r>
            <a:r>
              <a:rPr lang="zh-CN" altLang="en-US" sz="2400" dirty="0">
                <a:latin typeface="宋体" panose="02010600030101010101" pitchFamily="2" charset="-122"/>
                <a:ea typeface="宋体" panose="02010600030101010101" pitchFamily="2" charset="-122"/>
                <a:cs typeface="宋体" panose="02010600030101010101" pitchFamily="2" charset="-122"/>
              </a:rPr>
              <a:t>模型中</a:t>
            </a:r>
            <a:r>
              <a:rPr lang="zh-CN" altLang="en-US" sz="24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可学习参数的值</a:t>
            </a:r>
            <a:r>
              <a:rPr lang="zh-CN" altLang="en-US" sz="2400" dirty="0">
                <a:latin typeface="宋体" panose="02010600030101010101" pitchFamily="2" charset="-122"/>
                <a:ea typeface="宋体" panose="02010600030101010101" pitchFamily="2" charset="-122"/>
                <a:cs typeface="宋体" panose="02010600030101010101" pitchFamily="2" charset="-122"/>
              </a:rPr>
              <a:t>，使得模型输出更加接近真实标签，</a:t>
            </a:r>
            <a:r>
              <a:rPr lang="en-US" altLang="zh-CN" sz="2400" dirty="0">
                <a:latin typeface="宋体" panose="02010600030101010101" pitchFamily="2" charset="-122"/>
                <a:ea typeface="宋体" panose="02010600030101010101" pitchFamily="2" charset="-122"/>
                <a:cs typeface="宋体" panose="02010600030101010101" pitchFamily="2" charset="-122"/>
              </a:rPr>
              <a:t>PyTorch </a:t>
            </a:r>
            <a:r>
              <a:rPr lang="zh-CN" altLang="en-US" sz="2400" dirty="0">
                <a:latin typeface="宋体" panose="02010600030101010101" pitchFamily="2" charset="-122"/>
                <a:ea typeface="宋体" panose="02010600030101010101" pitchFamily="2" charset="-122"/>
                <a:cs typeface="宋体" panose="02010600030101010101" pitchFamily="2" charset="-122"/>
              </a:rPr>
              <a:t>中提供了</a:t>
            </a:r>
            <a:r>
              <a:rPr lang="en-US" altLang="zh-CN" sz="24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Optimizer</a:t>
            </a:r>
            <a:r>
              <a:rPr lang="zh-CN" altLang="en-US" sz="2400" dirty="0">
                <a:latin typeface="宋体" panose="02010600030101010101" pitchFamily="2" charset="-122"/>
                <a:ea typeface="宋体" panose="02010600030101010101" pitchFamily="2" charset="-122"/>
                <a:cs typeface="宋体" panose="02010600030101010101" pitchFamily="2" charset="-122"/>
              </a:rPr>
              <a:t>类，定义如下：</a:t>
            </a:r>
          </a:p>
          <a:p>
            <a:pPr indent="457200" fontAlgn="auto">
              <a:spcAft>
                <a:spcPts val="0"/>
              </a:spcAft>
            </a:pPr>
            <a:r>
              <a:rPr lang="en-US" altLang="zh-CN" sz="2400" dirty="0">
                <a:latin typeface="宋体" panose="02010600030101010101" pitchFamily="2" charset="-122"/>
                <a:ea typeface="宋体" panose="02010600030101010101" pitchFamily="2" charset="-122"/>
                <a:cs typeface="宋体" panose="02010600030101010101" pitchFamily="2" charset="-122"/>
              </a:rPr>
              <a:t> </a:t>
            </a: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pic>
        <p:nvPicPr>
          <p:cNvPr id="7" name="图片 6"/>
          <p:cNvPicPr>
            <a:picLocks noChangeAspect="1"/>
          </p:cNvPicPr>
          <p:nvPr/>
        </p:nvPicPr>
        <p:blipFill>
          <a:blip r:embed="rId3"/>
          <a:stretch>
            <a:fillRect/>
          </a:stretch>
        </p:blipFill>
        <p:spPr>
          <a:xfrm>
            <a:off x="1847850" y="2924810"/>
            <a:ext cx="7058025" cy="1457325"/>
          </a:xfrm>
          <a:prstGeom prst="rect">
            <a:avLst/>
          </a:prstGeom>
        </p:spPr>
      </p:pic>
      <p:sp>
        <p:nvSpPr>
          <p:cNvPr id="8" name="文本框 7"/>
          <p:cNvSpPr txBox="1"/>
          <p:nvPr/>
        </p:nvSpPr>
        <p:spPr>
          <a:xfrm>
            <a:off x="1703705" y="4509135"/>
            <a:ext cx="8264525" cy="1753235"/>
          </a:xfrm>
          <a:prstGeom prst="rect">
            <a:avLst/>
          </a:prstGeom>
          <a:noFill/>
        </p:spPr>
        <p:txBody>
          <a:bodyPr wrap="square" rtlCol="0">
            <a:spAutoFit/>
          </a:bodyPr>
          <a:lstStyle/>
          <a:p>
            <a:r>
              <a:rPr lang="en-US" altLang="zh-CN">
                <a:sym typeface="+mn-ea"/>
              </a:rPr>
              <a:t>•</a:t>
            </a:r>
            <a:r>
              <a:rPr lang="en-US" altLang="zh-CN"/>
              <a:t>defaults</a:t>
            </a:r>
            <a:r>
              <a:rPr lang="zh-CN" altLang="en-US"/>
              <a:t>：优化器的超参数，如</a:t>
            </a:r>
            <a:r>
              <a:rPr lang="en-US" altLang="zh-CN"/>
              <a:t> weight_decay</a:t>
            </a:r>
            <a:r>
              <a:rPr lang="zh-CN" altLang="en-US"/>
              <a:t>，</a:t>
            </a:r>
            <a:r>
              <a:rPr lang="en-US" altLang="zh-CN"/>
              <a:t>momentum</a:t>
            </a:r>
          </a:p>
          <a:p>
            <a:r>
              <a:rPr lang="en-US" altLang="zh-CN">
                <a:sym typeface="+mn-ea"/>
              </a:rPr>
              <a:t>•</a:t>
            </a:r>
            <a:r>
              <a:rPr lang="en-US" altLang="zh-CN"/>
              <a:t>state</a:t>
            </a:r>
            <a:r>
              <a:rPr lang="zh-CN" altLang="en-US"/>
              <a:t>：参数的缓存，如</a:t>
            </a:r>
            <a:r>
              <a:rPr lang="en-US" altLang="zh-CN"/>
              <a:t> momentum </a:t>
            </a:r>
            <a:r>
              <a:rPr lang="zh-CN" altLang="en-US"/>
              <a:t>中需要用到前几次的梯度，就缓存在这个变量中</a:t>
            </a:r>
          </a:p>
          <a:p>
            <a:r>
              <a:rPr lang="en-US" altLang="zh-CN">
                <a:sym typeface="+mn-ea"/>
              </a:rPr>
              <a:t>•</a:t>
            </a:r>
            <a:r>
              <a:rPr lang="en-US" altLang="zh-CN"/>
              <a:t>param_groups</a:t>
            </a:r>
            <a:r>
              <a:rPr lang="zh-CN" altLang="en-US"/>
              <a:t>：管理的参数组，是一个</a:t>
            </a:r>
            <a:r>
              <a:rPr lang="en-US" altLang="zh-CN"/>
              <a:t> list</a:t>
            </a:r>
            <a:r>
              <a:rPr lang="zh-CN" altLang="en-US"/>
              <a:t>，其中每个元素是字典，包括</a:t>
            </a:r>
            <a:r>
              <a:rPr lang="en-US" altLang="zh-CN"/>
              <a:t> momentum</a:t>
            </a:r>
            <a:r>
              <a:rPr lang="zh-CN" altLang="en-US"/>
              <a:t>、</a:t>
            </a:r>
            <a:r>
              <a:rPr lang="en-US" altLang="zh-CN"/>
              <a:t>lr</a:t>
            </a:r>
            <a:r>
              <a:rPr lang="zh-CN" altLang="en-US"/>
              <a:t>、</a:t>
            </a:r>
            <a:r>
              <a:rPr lang="en-US" altLang="zh-CN"/>
              <a:t>weight_decay</a:t>
            </a:r>
            <a:r>
              <a:rPr lang="zh-CN" altLang="en-US"/>
              <a:t>、</a:t>
            </a:r>
            <a:r>
              <a:rPr lang="en-US" altLang="zh-CN"/>
              <a:t>params </a:t>
            </a:r>
            <a:r>
              <a:rPr lang="zh-CN" altLang="en-US"/>
              <a:t>等。</a:t>
            </a:r>
          </a:p>
          <a:p>
            <a:r>
              <a:rPr lang="en-US" altLang="zh-CN">
                <a:sym typeface="+mn-ea"/>
              </a:rPr>
              <a:t>•</a:t>
            </a:r>
            <a:r>
              <a:rPr lang="en-US" altLang="zh-CN"/>
              <a:t>_step_count</a:t>
            </a:r>
            <a:r>
              <a:rPr lang="zh-CN" altLang="en-US"/>
              <a:t>：记录更新</a:t>
            </a:r>
            <a:r>
              <a:rPr lang="en-US" altLang="zh-CN"/>
              <a:t> </a:t>
            </a:r>
            <a:r>
              <a:rPr lang="zh-CN" altLang="en-US"/>
              <a:t>次数，在学习率调整中使用</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zh-CN" altLang="en-US" sz="3200" b="1" dirty="0"/>
          </a:p>
          <a:p>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zh-CN" altLang="en-US" sz="3200"/>
              <a:t>优化器</a:t>
            </a:r>
          </a:p>
          <a:p>
            <a:pPr indent="457200"/>
            <a:endParaRPr lang="en-US" altLang="zh-CN" sz="2400"/>
          </a:p>
        </p:txBody>
      </p:sp>
      <p:sp>
        <p:nvSpPr>
          <p:cNvPr id="10" name="文本框 9"/>
          <p:cNvSpPr txBox="1"/>
          <p:nvPr/>
        </p:nvSpPr>
        <p:spPr>
          <a:xfrm>
            <a:off x="1703705" y="3717290"/>
            <a:ext cx="4064000" cy="368300"/>
          </a:xfrm>
          <a:prstGeom prst="rect">
            <a:avLst/>
          </a:prstGeom>
          <a:noFill/>
        </p:spPr>
        <p:txBody>
          <a:bodyPr wrap="square" rtlCol="0">
            <a:spAutoFit/>
          </a:bodyPr>
          <a:lstStyle/>
          <a:p>
            <a:endParaRPr lang="zh-CN" altLang="en-US"/>
          </a:p>
        </p:txBody>
      </p:sp>
      <p:sp>
        <p:nvSpPr>
          <p:cNvPr id="6" name="Title 1"/>
          <p:cNvSpPr txBox="1"/>
          <p:nvPr/>
        </p:nvSpPr>
        <p:spPr>
          <a:xfrm>
            <a:off x="983615" y="1700530"/>
            <a:ext cx="97237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400" dirty="0">
                <a:latin typeface="宋体" panose="02010600030101010101" pitchFamily="2" charset="-122"/>
                <a:ea typeface="宋体" panose="02010600030101010101" pitchFamily="2" charset="-122"/>
                <a:cs typeface="宋体" panose="02010600030101010101" pitchFamily="2" charset="-122"/>
              </a:rPr>
              <a:t>optimizer </a:t>
            </a:r>
            <a:r>
              <a:rPr lang="zh-CN" altLang="en-US" sz="2400" dirty="0">
                <a:latin typeface="宋体" panose="02010600030101010101" pitchFamily="2" charset="-122"/>
                <a:ea typeface="宋体" panose="02010600030101010101" pitchFamily="2" charset="-122"/>
                <a:cs typeface="宋体" panose="02010600030101010101" pitchFamily="2" charset="-122"/>
              </a:rPr>
              <a:t>的方法</a:t>
            </a:r>
          </a:p>
          <a:p>
            <a:pPr indent="457200" fontAlgn="auto">
              <a:spcAft>
                <a:spcPts val="0"/>
              </a:spcAft>
            </a:pPr>
            <a:r>
              <a:rPr lang="en-US" altLang="zh-CN" sz="2400" dirty="0">
                <a:latin typeface="宋体" panose="02010600030101010101" pitchFamily="2" charset="-122"/>
                <a:ea typeface="宋体" panose="02010600030101010101" pitchFamily="2" charset="-122"/>
                <a:cs typeface="宋体" panose="02010600030101010101" pitchFamily="2" charset="-122"/>
              </a:rPr>
              <a:t> </a:t>
            </a: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8" name="文本框 7"/>
          <p:cNvSpPr txBox="1"/>
          <p:nvPr/>
        </p:nvSpPr>
        <p:spPr>
          <a:xfrm>
            <a:off x="1489075" y="2204720"/>
            <a:ext cx="8264525" cy="3138170"/>
          </a:xfrm>
          <a:prstGeom prst="rect">
            <a:avLst/>
          </a:prstGeom>
          <a:noFill/>
        </p:spPr>
        <p:txBody>
          <a:bodyPr wrap="square" rtlCol="0">
            <a:spAutoFit/>
          </a:bodyPr>
          <a:lstStyle/>
          <a:p>
            <a:r>
              <a:rPr lang="en-US" altLang="zh-CN">
                <a:sym typeface="+mn-ea"/>
              </a:rPr>
              <a:t>•</a:t>
            </a:r>
            <a:r>
              <a:rPr lang="en-US" altLang="zh-CN"/>
              <a:t>zero_grad()</a:t>
            </a:r>
            <a:r>
              <a:rPr lang="zh-CN" altLang="en-US"/>
              <a:t>：清空所管理参数的梯度。由于</a:t>
            </a:r>
            <a:r>
              <a:rPr lang="en-US" altLang="zh-CN"/>
              <a:t> PyTorch </a:t>
            </a:r>
            <a:r>
              <a:rPr lang="zh-CN" altLang="en-US"/>
              <a:t>的特性是张量的梯度不自动清零，因此每次反向传播之后都需要清空梯度</a:t>
            </a:r>
          </a:p>
          <a:p>
            <a:endParaRPr lang="zh-CN" altLang="en-US"/>
          </a:p>
          <a:p>
            <a:r>
              <a:rPr lang="en-US" altLang="zh-CN">
                <a:sym typeface="+mn-ea"/>
              </a:rPr>
              <a:t>•</a:t>
            </a:r>
            <a:r>
              <a:rPr lang="en-US" altLang="zh-CN"/>
              <a:t>step()</a:t>
            </a:r>
            <a:r>
              <a:rPr lang="zh-CN" altLang="en-US"/>
              <a:t>：执行一步梯度更新</a:t>
            </a:r>
          </a:p>
          <a:p>
            <a:endParaRPr lang="zh-CN" altLang="en-US"/>
          </a:p>
          <a:p>
            <a:r>
              <a:rPr lang="en-US" altLang="zh-CN">
                <a:sym typeface="+mn-ea"/>
              </a:rPr>
              <a:t>•</a:t>
            </a:r>
            <a:r>
              <a:rPr lang="en-US" altLang="zh-CN"/>
              <a:t>add_param_group()</a:t>
            </a:r>
            <a:r>
              <a:rPr lang="zh-CN" altLang="en-US"/>
              <a:t>：添加参数组</a:t>
            </a:r>
          </a:p>
          <a:p>
            <a:endParaRPr lang="zh-CN" altLang="en-US"/>
          </a:p>
          <a:p>
            <a:r>
              <a:rPr lang="en-US" altLang="zh-CN">
                <a:sym typeface="+mn-ea"/>
              </a:rPr>
              <a:t>•</a:t>
            </a:r>
            <a:r>
              <a:rPr lang="en-US" altLang="zh-CN"/>
              <a:t>state_dict()</a:t>
            </a:r>
            <a:r>
              <a:rPr lang="zh-CN" altLang="en-US"/>
              <a:t>：获取优化器当前状态信息字典</a:t>
            </a:r>
          </a:p>
          <a:p>
            <a:endParaRPr lang="zh-CN" altLang="en-US"/>
          </a:p>
          <a:p>
            <a:r>
              <a:rPr lang="en-US" altLang="zh-CN">
                <a:sym typeface="+mn-ea"/>
              </a:rPr>
              <a:t>•</a:t>
            </a:r>
            <a:r>
              <a:rPr lang="en-US" altLang="zh-CN"/>
              <a:t>oad_state_dict()</a:t>
            </a:r>
            <a:r>
              <a:rPr lang="zh-CN" altLang="en-US"/>
              <a:t>：加载状态信息字典，包括</a:t>
            </a:r>
            <a:r>
              <a:rPr lang="en-US" altLang="zh-CN"/>
              <a:t> state </a:t>
            </a:r>
            <a:r>
              <a:rPr lang="zh-CN" altLang="en-US"/>
              <a:t>、</a:t>
            </a:r>
            <a:r>
              <a:rPr lang="en-US" altLang="zh-CN"/>
              <a:t>momentum_buffer </a:t>
            </a:r>
            <a:r>
              <a:rPr lang="zh-CN" altLang="en-US"/>
              <a:t>和</a:t>
            </a:r>
            <a:r>
              <a:rPr lang="en-US" altLang="zh-CN"/>
              <a:t> param_groups</a:t>
            </a:r>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zh-CN" altLang="en-US" sz="3200"/>
              <a:t>优化器</a:t>
            </a:r>
          </a:p>
          <a:p>
            <a:pPr indent="457200"/>
            <a:endParaRPr lang="en-US" altLang="zh-CN" sz="2400"/>
          </a:p>
        </p:txBody>
      </p:sp>
      <p:sp>
        <p:nvSpPr>
          <p:cNvPr id="10" name="文本框 9"/>
          <p:cNvSpPr txBox="1"/>
          <p:nvPr/>
        </p:nvSpPr>
        <p:spPr>
          <a:xfrm>
            <a:off x="1703705" y="3717290"/>
            <a:ext cx="4064000" cy="368300"/>
          </a:xfrm>
          <a:prstGeom prst="rect">
            <a:avLst/>
          </a:prstGeom>
          <a:noFill/>
        </p:spPr>
        <p:txBody>
          <a:bodyPr wrap="square" rtlCol="0">
            <a:spAutoFit/>
          </a:bodyPr>
          <a:lstStyle/>
          <a:p>
            <a:endParaRPr lang="zh-CN" altLang="en-US"/>
          </a:p>
        </p:txBody>
      </p:sp>
      <p:sp>
        <p:nvSpPr>
          <p:cNvPr id="6" name="Title 1"/>
          <p:cNvSpPr txBox="1"/>
          <p:nvPr/>
        </p:nvSpPr>
        <p:spPr>
          <a:xfrm>
            <a:off x="983615" y="1700530"/>
            <a:ext cx="97237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2400" dirty="0">
                <a:latin typeface="宋体" panose="02010600030101010101" pitchFamily="2" charset="-122"/>
                <a:ea typeface="宋体" panose="02010600030101010101" pitchFamily="2" charset="-122"/>
                <a:cs typeface="宋体" panose="02010600030101010101" pitchFamily="2" charset="-122"/>
              </a:rPr>
              <a:t>学习率</a:t>
            </a:r>
            <a:r>
              <a:rPr lang="en-US" altLang="zh-CN" sz="2400" dirty="0">
                <a:latin typeface="宋体" panose="02010600030101010101" pitchFamily="2" charset="-122"/>
                <a:ea typeface="宋体" panose="02010600030101010101" pitchFamily="2" charset="-122"/>
                <a:cs typeface="宋体" panose="02010600030101010101" pitchFamily="2" charset="-122"/>
              </a:rPr>
              <a:t> </a:t>
            </a: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5" name="文本框 4"/>
          <p:cNvSpPr txBox="1"/>
          <p:nvPr/>
        </p:nvSpPr>
        <p:spPr>
          <a:xfrm>
            <a:off x="1559560" y="2348865"/>
            <a:ext cx="8722360" cy="645160"/>
          </a:xfrm>
          <a:prstGeom prst="rect">
            <a:avLst/>
          </a:prstGeom>
          <a:noFill/>
        </p:spPr>
        <p:txBody>
          <a:bodyPr wrap="square" rtlCol="0">
            <a:spAutoFit/>
          </a:bodyPr>
          <a:lstStyle/>
          <a:p>
            <a:r>
              <a:rPr lang="zh-CN" altLang="en-US"/>
              <a:t>学习率是影响损失函数收敛的重要因素，控制了梯度下降更新的步伐。下面构造一个损失函数</a:t>
            </a:r>
            <a:r>
              <a:rPr lang="en-US" altLang="zh-CN"/>
              <a:t>              </a:t>
            </a:r>
            <a:r>
              <a:rPr lang="zh-CN" altLang="en-US"/>
              <a:t>，当</a:t>
            </a:r>
            <a:r>
              <a:rPr lang="en-US" altLang="zh-CN"/>
              <a:t>x</a:t>
            </a:r>
            <a:r>
              <a:rPr lang="zh-CN" altLang="en-US"/>
              <a:t>的初始值为</a:t>
            </a:r>
            <a:r>
              <a:rPr lang="en-US" altLang="zh-CN"/>
              <a:t> 2</a:t>
            </a:r>
            <a:r>
              <a:rPr lang="zh-CN" altLang="en-US"/>
              <a:t>，学习率设置为</a:t>
            </a:r>
            <a:r>
              <a:rPr lang="en-US" altLang="zh-CN"/>
              <a:t> 1</a:t>
            </a:r>
            <a:r>
              <a:rPr lang="zh-CN" altLang="en-US"/>
              <a:t>，结果如下。</a:t>
            </a:r>
          </a:p>
        </p:txBody>
      </p:sp>
      <p:graphicFrame>
        <p:nvGraphicFramePr>
          <p:cNvPr id="7" name="对象 6">
            <a:hlinkClick r:id="" action="ppaction://ole?verb=0"/>
          </p:cNvPr>
          <p:cNvGraphicFramePr>
            <a:graphicFrameLocks noChangeAspect="1"/>
          </p:cNvGraphicFramePr>
          <p:nvPr/>
        </p:nvGraphicFramePr>
        <p:xfrm>
          <a:off x="2639695" y="2708910"/>
          <a:ext cx="596900" cy="228600"/>
        </p:xfrm>
        <a:graphic>
          <a:graphicData uri="http://schemas.openxmlformats.org/presentationml/2006/ole">
            <mc:AlternateContent xmlns:mc="http://schemas.openxmlformats.org/markup-compatibility/2006">
              <mc:Choice xmlns:v="urn:schemas-microsoft-com:vml" Requires="v">
                <p:oleObj r:id="rId3" imgW="596900" imgH="228600" progId="Equation.KSEE3">
                  <p:embed/>
                </p:oleObj>
              </mc:Choice>
              <mc:Fallback>
                <p:oleObj r:id="rId3" imgW="596900" imgH="228600" progId="Equation.KSEE3">
                  <p:embed/>
                  <p:pic>
                    <p:nvPicPr>
                      <p:cNvPr id="0" name="图片 1024"/>
                      <p:cNvPicPr/>
                      <p:nvPr/>
                    </p:nvPicPr>
                    <p:blipFill>
                      <a:blip r:embed="rId4"/>
                      <a:stretch>
                        <a:fillRect/>
                      </a:stretch>
                    </p:blipFill>
                    <p:spPr>
                      <a:xfrm>
                        <a:off x="2639695" y="2708910"/>
                        <a:ext cx="596900" cy="228600"/>
                      </a:xfrm>
                      <a:prstGeom prst="rect">
                        <a:avLst/>
                      </a:prstGeom>
                    </p:spPr>
                  </p:pic>
                </p:oleObj>
              </mc:Fallback>
            </mc:AlternateContent>
          </a:graphicData>
        </a:graphic>
      </p:graphicFrame>
      <p:pic>
        <p:nvPicPr>
          <p:cNvPr id="11" name="图片 10"/>
          <p:cNvPicPr>
            <a:picLocks noChangeAspect="1"/>
          </p:cNvPicPr>
          <p:nvPr/>
        </p:nvPicPr>
        <p:blipFill>
          <a:blip r:embed="rId5"/>
          <a:stretch>
            <a:fillRect/>
          </a:stretch>
        </p:blipFill>
        <p:spPr>
          <a:xfrm>
            <a:off x="2495550" y="3026410"/>
            <a:ext cx="5456555" cy="2592705"/>
          </a:xfrm>
          <a:prstGeom prst="rect">
            <a:avLst/>
          </a:prstGeom>
        </p:spPr>
      </p:pic>
      <p:sp>
        <p:nvSpPr>
          <p:cNvPr id="13" name="文本框 12"/>
          <p:cNvSpPr txBox="1"/>
          <p:nvPr/>
        </p:nvSpPr>
        <p:spPr>
          <a:xfrm>
            <a:off x="1631315" y="5651500"/>
            <a:ext cx="6840220" cy="368300"/>
          </a:xfrm>
          <a:prstGeom prst="rect">
            <a:avLst/>
          </a:prstGeom>
          <a:noFill/>
        </p:spPr>
        <p:txBody>
          <a:bodyPr wrap="square" rtlCol="0">
            <a:spAutoFit/>
          </a:bodyPr>
          <a:lstStyle/>
          <a:p>
            <a:r>
              <a:rPr lang="zh-CN" altLang="en-US"/>
              <a:t>损失函数没有减少，而是增大，这时因为学习率太大，无法收敛。</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zh-CN" altLang="en-US" sz="3200" b="1" dirty="0"/>
          </a:p>
          <a:p>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zh-CN" altLang="en-US" sz="3200"/>
              <a:t>优化器</a:t>
            </a:r>
          </a:p>
          <a:p>
            <a:pPr indent="457200"/>
            <a:endParaRPr lang="en-US" altLang="zh-CN" sz="2400"/>
          </a:p>
        </p:txBody>
      </p:sp>
      <p:sp>
        <p:nvSpPr>
          <p:cNvPr id="10" name="文本框 9"/>
          <p:cNvSpPr txBox="1"/>
          <p:nvPr/>
        </p:nvSpPr>
        <p:spPr>
          <a:xfrm>
            <a:off x="1703705" y="3717290"/>
            <a:ext cx="4064000" cy="368300"/>
          </a:xfrm>
          <a:prstGeom prst="rect">
            <a:avLst/>
          </a:prstGeom>
          <a:noFill/>
        </p:spPr>
        <p:txBody>
          <a:bodyPr wrap="square" rtlCol="0">
            <a:spAutoFit/>
          </a:bodyPr>
          <a:lstStyle/>
          <a:p>
            <a:endParaRPr lang="zh-CN" altLang="en-US"/>
          </a:p>
        </p:txBody>
      </p:sp>
      <p:sp>
        <p:nvSpPr>
          <p:cNvPr id="6" name="Title 1"/>
          <p:cNvSpPr txBox="1"/>
          <p:nvPr/>
        </p:nvSpPr>
        <p:spPr>
          <a:xfrm>
            <a:off x="983615" y="1700530"/>
            <a:ext cx="97237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2400" dirty="0">
                <a:latin typeface="宋体" panose="02010600030101010101" pitchFamily="2" charset="-122"/>
                <a:ea typeface="宋体" panose="02010600030101010101" pitchFamily="2" charset="-122"/>
                <a:cs typeface="宋体" panose="02010600030101010101" pitchFamily="2" charset="-122"/>
              </a:rPr>
              <a:t>学习率</a:t>
            </a:r>
            <a:r>
              <a:rPr lang="en-US" altLang="zh-CN" sz="2400" dirty="0">
                <a:latin typeface="宋体" panose="02010600030101010101" pitchFamily="2" charset="-122"/>
                <a:ea typeface="宋体" panose="02010600030101010101" pitchFamily="2" charset="-122"/>
                <a:cs typeface="宋体" panose="02010600030101010101" pitchFamily="2" charset="-122"/>
              </a:rPr>
              <a:t> </a:t>
            </a: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5" name="文本框 4"/>
          <p:cNvSpPr txBox="1"/>
          <p:nvPr/>
        </p:nvSpPr>
        <p:spPr>
          <a:xfrm>
            <a:off x="1559560" y="2348865"/>
            <a:ext cx="8722360" cy="368300"/>
          </a:xfrm>
          <a:prstGeom prst="rect">
            <a:avLst/>
          </a:prstGeom>
          <a:noFill/>
        </p:spPr>
        <p:txBody>
          <a:bodyPr wrap="square" rtlCol="0">
            <a:spAutoFit/>
          </a:bodyPr>
          <a:lstStyle/>
          <a:p>
            <a:r>
              <a:rPr lang="zh-CN" altLang="en-US"/>
              <a:t>把学习率设置为</a:t>
            </a:r>
            <a:r>
              <a:rPr lang="en-US" altLang="zh-CN"/>
              <a:t> 0.01 </a:t>
            </a:r>
            <a:r>
              <a:rPr lang="zh-CN" altLang="en-US"/>
              <a:t>后，结果如。损失函数</a:t>
            </a:r>
            <a:r>
              <a:rPr lang="en-US" altLang="zh-CN"/>
              <a:t>              </a:t>
            </a:r>
            <a:r>
              <a:rPr lang="zh-CN" altLang="en-US"/>
              <a:t>，当</a:t>
            </a:r>
            <a:r>
              <a:rPr lang="en-US" altLang="zh-CN"/>
              <a:t>x</a:t>
            </a:r>
            <a:r>
              <a:rPr lang="zh-CN" altLang="en-US"/>
              <a:t>的初始值为</a:t>
            </a:r>
            <a:r>
              <a:rPr lang="en-US" altLang="zh-CN"/>
              <a:t> 2</a:t>
            </a:r>
            <a:r>
              <a:rPr lang="zh-CN" altLang="en-US"/>
              <a:t>，结果如下：</a:t>
            </a:r>
          </a:p>
        </p:txBody>
      </p:sp>
      <p:graphicFrame>
        <p:nvGraphicFramePr>
          <p:cNvPr id="7" name="对象 6">
            <a:hlinkClick r:id="" action="ppaction://ole?verb=0"/>
          </p:cNvPr>
          <p:cNvGraphicFramePr>
            <a:graphicFrameLocks noChangeAspect="1"/>
          </p:cNvGraphicFramePr>
          <p:nvPr/>
        </p:nvGraphicFramePr>
        <p:xfrm>
          <a:off x="6096000" y="2420620"/>
          <a:ext cx="596900" cy="228600"/>
        </p:xfrm>
        <a:graphic>
          <a:graphicData uri="http://schemas.openxmlformats.org/presentationml/2006/ole">
            <mc:AlternateContent xmlns:mc="http://schemas.openxmlformats.org/markup-compatibility/2006">
              <mc:Choice xmlns:v="urn:schemas-microsoft-com:vml" Requires="v">
                <p:oleObj r:id="rId3" imgW="596900" imgH="228600" progId="Equation.KSEE3">
                  <p:embed/>
                </p:oleObj>
              </mc:Choice>
              <mc:Fallback>
                <p:oleObj r:id="rId3" imgW="596900" imgH="228600" progId="Equation.KSEE3">
                  <p:embed/>
                  <p:pic>
                    <p:nvPicPr>
                      <p:cNvPr id="0" name="图片 1024"/>
                      <p:cNvPicPr/>
                      <p:nvPr/>
                    </p:nvPicPr>
                    <p:blipFill>
                      <a:blip r:embed="rId4"/>
                      <a:stretch>
                        <a:fillRect/>
                      </a:stretch>
                    </p:blipFill>
                    <p:spPr>
                      <a:xfrm>
                        <a:off x="6096000" y="2420620"/>
                        <a:ext cx="596900" cy="228600"/>
                      </a:xfrm>
                      <a:prstGeom prst="rect">
                        <a:avLst/>
                      </a:prstGeom>
                    </p:spPr>
                  </p:pic>
                </p:oleObj>
              </mc:Fallback>
            </mc:AlternateContent>
          </a:graphicData>
        </a:graphic>
      </p:graphicFrame>
      <p:sp>
        <p:nvSpPr>
          <p:cNvPr id="13" name="文本框 12"/>
          <p:cNvSpPr txBox="1"/>
          <p:nvPr/>
        </p:nvSpPr>
        <p:spPr>
          <a:xfrm>
            <a:off x="1631315" y="5651500"/>
            <a:ext cx="6840220" cy="368300"/>
          </a:xfrm>
          <a:prstGeom prst="rect">
            <a:avLst/>
          </a:prstGeom>
          <a:noFill/>
        </p:spPr>
        <p:txBody>
          <a:bodyPr wrap="square" rtlCol="0">
            <a:spAutoFit/>
          </a:bodyPr>
          <a:lstStyle/>
          <a:p>
            <a:r>
              <a:rPr lang="zh-CN" altLang="en-US"/>
              <a:t>从上面可以看出，适当的学习率可以加快模型的收敛。</a:t>
            </a:r>
          </a:p>
        </p:txBody>
      </p:sp>
      <p:pic>
        <p:nvPicPr>
          <p:cNvPr id="8" name="图片 7"/>
          <p:cNvPicPr>
            <a:picLocks noChangeAspect="1"/>
          </p:cNvPicPr>
          <p:nvPr/>
        </p:nvPicPr>
        <p:blipFill>
          <a:blip r:embed="rId5"/>
          <a:stretch>
            <a:fillRect/>
          </a:stretch>
        </p:blipFill>
        <p:spPr>
          <a:xfrm>
            <a:off x="3084830" y="2981960"/>
            <a:ext cx="4674235" cy="241617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zh-CN" altLang="en-US" sz="3200"/>
              <a:t>优化器</a:t>
            </a:r>
          </a:p>
          <a:p>
            <a:pPr indent="457200"/>
            <a:endParaRPr lang="en-US" altLang="zh-CN" sz="2400"/>
          </a:p>
        </p:txBody>
      </p:sp>
      <p:sp>
        <p:nvSpPr>
          <p:cNvPr id="10" name="文本框 9"/>
          <p:cNvSpPr txBox="1"/>
          <p:nvPr/>
        </p:nvSpPr>
        <p:spPr>
          <a:xfrm>
            <a:off x="1775460" y="3479800"/>
            <a:ext cx="6055995" cy="2584450"/>
          </a:xfrm>
          <a:prstGeom prst="rect">
            <a:avLst/>
          </a:prstGeom>
          <a:noFill/>
        </p:spPr>
        <p:txBody>
          <a:bodyPr wrap="square" rtlCol="0">
            <a:spAutoFit/>
          </a:bodyPr>
          <a:lstStyle/>
          <a:p>
            <a:r>
              <a:rPr lang="en-US" altLang="zh-CN">
                <a:sym typeface="+mn-ea"/>
              </a:rPr>
              <a:t>•</a:t>
            </a:r>
            <a:r>
              <a:rPr lang="en-US" altLang="zh-CN"/>
              <a:t>params</a:t>
            </a:r>
            <a:r>
              <a:rPr lang="zh-CN" altLang="en-US"/>
              <a:t>：管理的参数组</a:t>
            </a:r>
          </a:p>
          <a:p>
            <a:endParaRPr lang="zh-CN" altLang="en-US"/>
          </a:p>
          <a:p>
            <a:r>
              <a:rPr lang="en-US" altLang="zh-CN">
                <a:sym typeface="+mn-ea"/>
              </a:rPr>
              <a:t>•</a:t>
            </a:r>
            <a:r>
              <a:rPr lang="en-US" altLang="zh-CN"/>
              <a:t>lr</a:t>
            </a:r>
            <a:r>
              <a:rPr lang="zh-CN" altLang="en-US"/>
              <a:t>：初始学习率</a:t>
            </a:r>
          </a:p>
          <a:p>
            <a:endParaRPr lang="zh-CN" altLang="en-US"/>
          </a:p>
          <a:p>
            <a:r>
              <a:rPr lang="en-US" altLang="zh-CN">
                <a:sym typeface="+mn-ea"/>
              </a:rPr>
              <a:t>•</a:t>
            </a:r>
            <a:r>
              <a:rPr lang="en-US" altLang="zh-CN"/>
              <a:t>momentum</a:t>
            </a:r>
            <a:r>
              <a:rPr lang="zh-CN" altLang="en-US"/>
              <a:t>：动量系数</a:t>
            </a:r>
            <a:r>
              <a:rPr lang="en-US" altLang="zh-CN"/>
              <a:t> </a:t>
            </a:r>
          </a:p>
          <a:p>
            <a:endParaRPr lang="en-US" altLang="zh-CN"/>
          </a:p>
          <a:p>
            <a:r>
              <a:rPr lang="en-US" altLang="zh-CN">
                <a:sym typeface="+mn-ea"/>
              </a:rPr>
              <a:t>•</a:t>
            </a:r>
            <a:r>
              <a:rPr lang="en-US" altLang="zh-CN"/>
              <a:t>weight_decay</a:t>
            </a:r>
            <a:r>
              <a:rPr lang="zh-CN" altLang="en-US"/>
              <a:t>：</a:t>
            </a:r>
            <a:r>
              <a:rPr lang="en-US" altLang="zh-CN"/>
              <a:t>L2 </a:t>
            </a:r>
            <a:r>
              <a:rPr lang="zh-CN" altLang="en-US"/>
              <a:t>正则化系数</a:t>
            </a:r>
          </a:p>
          <a:p>
            <a:endParaRPr lang="zh-CN" altLang="en-US"/>
          </a:p>
          <a:p>
            <a:r>
              <a:rPr lang="en-US" altLang="zh-CN">
                <a:sym typeface="+mn-ea"/>
              </a:rPr>
              <a:t>•</a:t>
            </a:r>
            <a:r>
              <a:rPr lang="en-US" altLang="zh-CN"/>
              <a:t>nesterov</a:t>
            </a:r>
            <a:r>
              <a:rPr lang="zh-CN" altLang="en-US"/>
              <a:t>：是否采用</a:t>
            </a:r>
            <a:r>
              <a:rPr lang="en-US" altLang="zh-CN"/>
              <a:t> NAG</a:t>
            </a:r>
            <a:endParaRPr lang="zh-CN" altLang="en-US"/>
          </a:p>
        </p:txBody>
      </p:sp>
      <p:sp>
        <p:nvSpPr>
          <p:cNvPr id="6" name="Title 1"/>
          <p:cNvSpPr txBox="1"/>
          <p:nvPr/>
        </p:nvSpPr>
        <p:spPr>
          <a:xfrm>
            <a:off x="983615" y="1700530"/>
            <a:ext cx="97237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400" dirty="0">
                <a:latin typeface="宋体" panose="02010600030101010101" pitchFamily="2" charset="-122"/>
                <a:ea typeface="宋体" panose="02010600030101010101" pitchFamily="2" charset="-122"/>
                <a:cs typeface="宋体" panose="02010600030101010101" pitchFamily="2" charset="-122"/>
              </a:rPr>
              <a:t>optim.SGD</a:t>
            </a:r>
            <a:r>
              <a:rPr lang="zh-CN" altLang="en-US" sz="2400" dirty="0">
                <a:latin typeface="宋体" panose="02010600030101010101" pitchFamily="2" charset="-122"/>
                <a:ea typeface="宋体" panose="02010600030101010101" pitchFamily="2" charset="-122"/>
                <a:cs typeface="宋体" panose="02010600030101010101" pitchFamily="2" charset="-122"/>
              </a:rPr>
              <a:t>（随机梯度下降法）</a:t>
            </a:r>
            <a:r>
              <a:rPr lang="en-US" altLang="zh-CN" sz="2400" dirty="0">
                <a:latin typeface="宋体" panose="02010600030101010101" pitchFamily="2" charset="-122"/>
                <a:ea typeface="宋体" panose="02010600030101010101" pitchFamily="2" charset="-122"/>
                <a:cs typeface="宋体" panose="02010600030101010101" pitchFamily="2" charset="-122"/>
              </a:rPr>
              <a:t> </a:t>
            </a: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5" name="文本框 4"/>
          <p:cNvSpPr txBox="1"/>
          <p:nvPr/>
        </p:nvSpPr>
        <p:spPr>
          <a:xfrm>
            <a:off x="1559560" y="2348865"/>
            <a:ext cx="8722360" cy="645160"/>
          </a:xfrm>
          <a:prstGeom prst="rect">
            <a:avLst/>
          </a:prstGeom>
          <a:noFill/>
        </p:spPr>
        <p:txBody>
          <a:bodyPr wrap="square" rtlCol="0">
            <a:spAutoFit/>
          </a:bodyPr>
          <a:lstStyle/>
          <a:p>
            <a:r>
              <a:rPr lang="en-US" altLang="zh-CN"/>
              <a:t>optim.SGD(params, lr=&lt;required parameter&gt;, momentum=0, dampening=0, weight_decay=0, nesterov=False</a:t>
            </a:r>
            <a:r>
              <a:rPr lang="zh-CN" altLang="en-US"/>
              <a:t>）</a:t>
            </a:r>
          </a:p>
        </p:txBody>
      </p:sp>
      <p:sp>
        <p:nvSpPr>
          <p:cNvPr id="11" name="文本框 10"/>
          <p:cNvSpPr txBox="1"/>
          <p:nvPr/>
        </p:nvSpPr>
        <p:spPr>
          <a:xfrm>
            <a:off x="1703705" y="3068955"/>
            <a:ext cx="4064000" cy="368300"/>
          </a:xfrm>
          <a:prstGeom prst="rect">
            <a:avLst/>
          </a:prstGeom>
          <a:noFill/>
        </p:spPr>
        <p:txBody>
          <a:bodyPr wrap="square" rtlCol="0">
            <a:spAutoFit/>
          </a:bodyPr>
          <a:lstStyle/>
          <a:p>
            <a:r>
              <a:rPr lang="zh-CN" altLang="en-US"/>
              <a:t>主要参数：</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zh-CN" altLang="en-US" sz="3200"/>
              <a:t>训练与评估</a:t>
            </a:r>
          </a:p>
          <a:p>
            <a:pPr indent="457200"/>
            <a:endParaRPr lang="en-US" altLang="zh-CN" sz="2400"/>
          </a:p>
        </p:txBody>
      </p:sp>
      <p:sp>
        <p:nvSpPr>
          <p:cNvPr id="10" name="文本框 9"/>
          <p:cNvSpPr txBox="1"/>
          <p:nvPr/>
        </p:nvSpPr>
        <p:spPr>
          <a:xfrm>
            <a:off x="1703705" y="3717290"/>
            <a:ext cx="4064000" cy="368300"/>
          </a:xfrm>
          <a:prstGeom prst="rect">
            <a:avLst/>
          </a:prstGeom>
          <a:noFill/>
        </p:spPr>
        <p:txBody>
          <a:bodyPr wrap="square" rtlCol="0">
            <a:spAutoFit/>
          </a:bodyPr>
          <a:lstStyle/>
          <a:p>
            <a:endParaRPr lang="zh-CN" altLang="en-US"/>
          </a:p>
        </p:txBody>
      </p:sp>
      <p:sp>
        <p:nvSpPr>
          <p:cNvPr id="6" name="Title 1"/>
          <p:cNvSpPr txBox="1"/>
          <p:nvPr/>
        </p:nvSpPr>
        <p:spPr>
          <a:xfrm>
            <a:off x="983615" y="1700530"/>
            <a:ext cx="97237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2400" dirty="0">
                <a:latin typeface="宋体" panose="02010600030101010101" pitchFamily="2" charset="-122"/>
                <a:ea typeface="宋体" panose="02010600030101010101" pitchFamily="2" charset="-122"/>
                <a:cs typeface="宋体" panose="02010600030101010101" pitchFamily="2" charset="-122"/>
              </a:rPr>
              <a:t>在完成了模型的训练后，需要在测试集</a:t>
            </a:r>
            <a:r>
              <a:rPr lang="en-US" altLang="zh-CN" sz="2400" dirty="0">
                <a:latin typeface="宋体" panose="02010600030101010101" pitchFamily="2" charset="-122"/>
                <a:ea typeface="宋体" panose="02010600030101010101" pitchFamily="2" charset="-122"/>
                <a:cs typeface="宋体" panose="02010600030101010101" pitchFamily="2" charset="-122"/>
              </a:rPr>
              <a:t>/</a:t>
            </a:r>
            <a:r>
              <a:rPr lang="zh-CN" altLang="en-US" sz="2400" dirty="0">
                <a:latin typeface="宋体" panose="02010600030101010101" pitchFamily="2" charset="-122"/>
                <a:ea typeface="宋体" panose="02010600030101010101" pitchFamily="2" charset="-122"/>
                <a:cs typeface="宋体" panose="02010600030101010101" pitchFamily="2" charset="-122"/>
              </a:rPr>
              <a:t>验证集上完成模型的验证，以确保我们的模型具有</a:t>
            </a:r>
            <a:r>
              <a:rPr lang="zh-CN" altLang="en-US" sz="24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泛化能力</a:t>
            </a:r>
            <a:r>
              <a:rPr lang="zh-CN" altLang="en-US" sz="2400" dirty="0">
                <a:latin typeface="宋体" panose="02010600030101010101" pitchFamily="2" charset="-122"/>
                <a:ea typeface="宋体" panose="02010600030101010101" pitchFamily="2" charset="-122"/>
                <a:cs typeface="宋体" panose="02010600030101010101" pitchFamily="2" charset="-122"/>
              </a:rPr>
              <a:t>、</a:t>
            </a:r>
            <a:r>
              <a:rPr lang="zh-CN" altLang="en-US" sz="24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不会出现过拟合</a:t>
            </a:r>
            <a:r>
              <a:rPr lang="zh-CN" altLang="en-US" sz="2400" dirty="0">
                <a:latin typeface="宋体" panose="02010600030101010101" pitchFamily="2" charset="-122"/>
                <a:ea typeface="宋体" panose="02010600030101010101" pitchFamily="2" charset="-122"/>
                <a:cs typeface="宋体" panose="02010600030101010101" pitchFamily="2" charset="-122"/>
              </a:rPr>
              <a:t>等问题。在</a:t>
            </a:r>
            <a:r>
              <a:rPr lang="en-US" altLang="zh-CN" sz="2400" dirty="0">
                <a:latin typeface="宋体" panose="02010600030101010101" pitchFamily="2" charset="-122"/>
                <a:ea typeface="宋体" panose="02010600030101010101" pitchFamily="2" charset="-122"/>
                <a:cs typeface="宋体" panose="02010600030101010101" pitchFamily="2" charset="-122"/>
              </a:rPr>
              <a:t>PyTorch</a:t>
            </a:r>
            <a:r>
              <a:rPr lang="zh-CN" altLang="en-US" sz="2400" dirty="0">
                <a:latin typeface="宋体" panose="02010600030101010101" pitchFamily="2" charset="-122"/>
                <a:ea typeface="宋体" panose="02010600030101010101" pitchFamily="2" charset="-122"/>
                <a:cs typeface="宋体" panose="02010600030101010101" pitchFamily="2" charset="-122"/>
              </a:rPr>
              <a:t>中，训练和评估的流程是一致的，只是在训练过程中需要将模型的参数</a:t>
            </a:r>
            <a:r>
              <a:rPr lang="zh-CN" altLang="en-US" sz="24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进行更新</a:t>
            </a:r>
            <a:r>
              <a:rPr lang="zh-CN" altLang="en-US" sz="2400" dirty="0">
                <a:latin typeface="宋体" panose="02010600030101010101" pitchFamily="2" charset="-122"/>
                <a:ea typeface="宋体" panose="02010600030101010101" pitchFamily="2" charset="-122"/>
                <a:cs typeface="宋体" panose="02010600030101010101" pitchFamily="2" charset="-122"/>
              </a:rPr>
              <a:t>，而在评估过程中则</a:t>
            </a:r>
            <a:r>
              <a:rPr lang="zh-CN" altLang="en-US" sz="24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不需要更新参数</a:t>
            </a:r>
            <a:r>
              <a:rPr lang="zh-CN" altLang="en-US" sz="2400" dirty="0">
                <a:latin typeface="宋体" panose="02010600030101010101" pitchFamily="2" charset="-122"/>
                <a:ea typeface="宋体" panose="02010600030101010101" pitchFamily="2" charset="-122"/>
                <a:cs typeface="宋体" panose="02010600030101010101" pitchFamily="2" charset="-122"/>
              </a:rPr>
              <a:t>。</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zh-CN" altLang="en-US" sz="3200"/>
              <a:t>训练与评估</a:t>
            </a:r>
          </a:p>
          <a:p>
            <a:pPr indent="457200"/>
            <a:endParaRPr lang="en-US" altLang="zh-CN" sz="2400"/>
          </a:p>
        </p:txBody>
      </p:sp>
      <p:sp>
        <p:nvSpPr>
          <p:cNvPr id="10" name="文本框 9"/>
          <p:cNvSpPr txBox="1"/>
          <p:nvPr/>
        </p:nvSpPr>
        <p:spPr>
          <a:xfrm>
            <a:off x="1703705" y="3717290"/>
            <a:ext cx="4064000" cy="368300"/>
          </a:xfrm>
          <a:prstGeom prst="rect">
            <a:avLst/>
          </a:prstGeom>
          <a:noFill/>
        </p:spPr>
        <p:txBody>
          <a:bodyPr wrap="square" rtlCol="0">
            <a:spAutoFit/>
          </a:bodyPr>
          <a:lstStyle/>
          <a:p>
            <a:endParaRPr lang="zh-CN" altLang="en-US"/>
          </a:p>
        </p:txBody>
      </p:sp>
      <p:sp>
        <p:nvSpPr>
          <p:cNvPr id="6" name="Title 1"/>
          <p:cNvSpPr txBox="1"/>
          <p:nvPr/>
        </p:nvSpPr>
        <p:spPr>
          <a:xfrm>
            <a:off x="1199515" y="1628775"/>
            <a:ext cx="941705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2400" dirty="0">
                <a:latin typeface="宋体" panose="02010600030101010101" pitchFamily="2" charset="-122"/>
                <a:ea typeface="宋体" panose="02010600030101010101" pitchFamily="2" charset="-122"/>
                <a:cs typeface="宋体" panose="02010600030101010101" pitchFamily="2" charset="-122"/>
              </a:rPr>
              <a:t>首先应该设置模型的状态：如果是训练状态，那么模型的参数应该</a:t>
            </a:r>
            <a:r>
              <a:rPr lang="zh-CN" altLang="en-US" sz="24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支持反向传播</a:t>
            </a:r>
            <a:r>
              <a:rPr lang="zh-CN" altLang="en-US" sz="2400" dirty="0">
                <a:latin typeface="宋体" panose="02010600030101010101" pitchFamily="2" charset="-122"/>
                <a:ea typeface="宋体" panose="02010600030101010101" pitchFamily="2" charset="-122"/>
                <a:cs typeface="宋体" panose="02010600030101010101" pitchFamily="2" charset="-122"/>
              </a:rPr>
              <a:t>的修改；如果是验证</a:t>
            </a:r>
            <a:r>
              <a:rPr lang="en-US" altLang="zh-CN" sz="2400" dirty="0">
                <a:latin typeface="宋体" panose="02010600030101010101" pitchFamily="2" charset="-122"/>
                <a:ea typeface="宋体" panose="02010600030101010101" pitchFamily="2" charset="-122"/>
                <a:cs typeface="宋体" panose="02010600030101010101" pitchFamily="2" charset="-122"/>
              </a:rPr>
              <a:t>/</a:t>
            </a:r>
            <a:r>
              <a:rPr lang="zh-CN" altLang="en-US" sz="2400" dirty="0">
                <a:latin typeface="宋体" panose="02010600030101010101" pitchFamily="2" charset="-122"/>
                <a:ea typeface="宋体" panose="02010600030101010101" pitchFamily="2" charset="-122"/>
                <a:cs typeface="宋体" panose="02010600030101010101" pitchFamily="2" charset="-122"/>
              </a:rPr>
              <a:t>测试状态，则</a:t>
            </a:r>
            <a:r>
              <a:rPr lang="zh-CN" altLang="en-US" sz="24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不应该修改模型参数</a:t>
            </a:r>
            <a:r>
              <a:rPr lang="zh-CN" altLang="en-US" sz="2400" dirty="0">
                <a:latin typeface="宋体" panose="02010600030101010101" pitchFamily="2" charset="-122"/>
                <a:ea typeface="宋体" panose="02010600030101010101" pitchFamily="2" charset="-122"/>
                <a:cs typeface="宋体" panose="02010600030101010101" pitchFamily="2" charset="-122"/>
              </a:rPr>
              <a:t>。在</a:t>
            </a:r>
            <a:r>
              <a:rPr lang="en-US" altLang="zh-CN" sz="2400" dirty="0">
                <a:latin typeface="宋体" panose="02010600030101010101" pitchFamily="2" charset="-122"/>
                <a:ea typeface="宋体" panose="02010600030101010101" pitchFamily="2" charset="-122"/>
                <a:cs typeface="宋体" panose="02010600030101010101" pitchFamily="2" charset="-122"/>
              </a:rPr>
              <a:t>PyTorch</a:t>
            </a:r>
            <a:r>
              <a:rPr lang="zh-CN" altLang="en-US" sz="2400" dirty="0">
                <a:latin typeface="宋体" panose="02010600030101010101" pitchFamily="2" charset="-122"/>
                <a:ea typeface="宋体" panose="02010600030101010101" pitchFamily="2" charset="-122"/>
                <a:cs typeface="宋体" panose="02010600030101010101" pitchFamily="2" charset="-122"/>
              </a:rPr>
              <a:t>中，模型的状态设置非常简便，如下的两个操作二选一即可：</a:t>
            </a:r>
          </a:p>
        </p:txBody>
      </p:sp>
      <p:pic>
        <p:nvPicPr>
          <p:cNvPr id="5" name="图片 4"/>
          <p:cNvPicPr>
            <a:picLocks noChangeAspect="1"/>
          </p:cNvPicPr>
          <p:nvPr/>
        </p:nvPicPr>
        <p:blipFill>
          <a:blip r:embed="rId3"/>
          <a:stretch>
            <a:fillRect/>
          </a:stretch>
        </p:blipFill>
        <p:spPr>
          <a:xfrm>
            <a:off x="2063750" y="3220720"/>
            <a:ext cx="7534275" cy="128651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zh-CN" altLang="en-US" sz="3200"/>
              <a:t>训练与评估</a:t>
            </a:r>
          </a:p>
          <a:p>
            <a:pPr indent="457200"/>
            <a:endParaRPr lang="en-US" altLang="zh-CN" sz="2400"/>
          </a:p>
        </p:txBody>
      </p:sp>
      <p:sp>
        <p:nvSpPr>
          <p:cNvPr id="10" name="文本框 9"/>
          <p:cNvSpPr txBox="1"/>
          <p:nvPr/>
        </p:nvSpPr>
        <p:spPr>
          <a:xfrm>
            <a:off x="1703705" y="3717290"/>
            <a:ext cx="4064000" cy="368300"/>
          </a:xfrm>
          <a:prstGeom prst="rect">
            <a:avLst/>
          </a:prstGeom>
          <a:noFill/>
        </p:spPr>
        <p:txBody>
          <a:bodyPr wrap="square" rtlCol="0">
            <a:spAutoFit/>
          </a:bodyPr>
          <a:lstStyle/>
          <a:p>
            <a:endParaRPr lang="zh-CN" altLang="en-US"/>
          </a:p>
        </p:txBody>
      </p:sp>
      <p:sp>
        <p:nvSpPr>
          <p:cNvPr id="6" name="Title 1"/>
          <p:cNvSpPr txBox="1"/>
          <p:nvPr/>
        </p:nvSpPr>
        <p:spPr>
          <a:xfrm>
            <a:off x="1199515" y="1628775"/>
            <a:ext cx="941705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2400" dirty="0">
                <a:latin typeface="宋体" panose="02010600030101010101" pitchFamily="2" charset="-122"/>
                <a:ea typeface="宋体" panose="02010600030101010101" pitchFamily="2" charset="-122"/>
                <a:cs typeface="宋体" panose="02010600030101010101" pitchFamily="2" charset="-122"/>
              </a:rPr>
              <a:t>验证</a:t>
            </a:r>
            <a:r>
              <a:rPr lang="en-US" altLang="zh-CN" sz="2400" dirty="0">
                <a:latin typeface="宋体" panose="02010600030101010101" pitchFamily="2" charset="-122"/>
                <a:ea typeface="宋体" panose="02010600030101010101" pitchFamily="2" charset="-122"/>
                <a:cs typeface="宋体" panose="02010600030101010101" pitchFamily="2" charset="-122"/>
              </a:rPr>
              <a:t>/</a:t>
            </a:r>
            <a:r>
              <a:rPr lang="zh-CN" altLang="en-US" sz="2400" dirty="0">
                <a:latin typeface="宋体" panose="02010600030101010101" pitchFamily="2" charset="-122"/>
                <a:ea typeface="宋体" panose="02010600030101010101" pitchFamily="2" charset="-122"/>
                <a:cs typeface="宋体" panose="02010600030101010101" pitchFamily="2" charset="-122"/>
              </a:rPr>
              <a:t>测试的流程基本与训练过程一致，不同点在于：</a:t>
            </a:r>
          </a:p>
        </p:txBody>
      </p:sp>
      <p:sp>
        <p:nvSpPr>
          <p:cNvPr id="8" name="文本框 7"/>
          <p:cNvSpPr txBox="1"/>
          <p:nvPr/>
        </p:nvSpPr>
        <p:spPr>
          <a:xfrm>
            <a:off x="2063750" y="2493010"/>
            <a:ext cx="6361430" cy="2030095"/>
          </a:xfrm>
          <a:prstGeom prst="rect">
            <a:avLst/>
          </a:prstGeom>
          <a:noFill/>
        </p:spPr>
        <p:txBody>
          <a:bodyPr wrap="square" rtlCol="0">
            <a:spAutoFit/>
          </a:bodyPr>
          <a:lstStyle/>
          <a:p>
            <a:r>
              <a:rPr lang="en-US" altLang="zh-CN">
                <a:sym typeface="+mn-ea"/>
              </a:rPr>
              <a:t>•</a:t>
            </a:r>
            <a:r>
              <a:rPr lang="zh-CN" altLang="en-US"/>
              <a:t>需要预先设置</a:t>
            </a:r>
            <a:r>
              <a:rPr lang="en-US" altLang="zh-CN"/>
              <a:t>torch.no_grad</a:t>
            </a:r>
            <a:r>
              <a:rPr lang="zh-CN" altLang="en-US"/>
              <a:t>，以及将</a:t>
            </a:r>
            <a:r>
              <a:rPr lang="en-US" altLang="zh-CN"/>
              <a:t>model</a:t>
            </a:r>
            <a:r>
              <a:rPr lang="zh-CN" altLang="en-US"/>
              <a:t>调至</a:t>
            </a:r>
            <a:r>
              <a:rPr lang="en-US" altLang="zh-CN"/>
              <a:t>eval</a:t>
            </a:r>
            <a:r>
              <a:rPr lang="zh-CN" altLang="en-US"/>
              <a:t>模式</a:t>
            </a:r>
          </a:p>
          <a:p>
            <a:endParaRPr lang="en-US" altLang="zh-CN"/>
          </a:p>
          <a:p>
            <a:r>
              <a:rPr lang="en-US" altLang="zh-CN">
                <a:sym typeface="+mn-ea"/>
              </a:rPr>
              <a:t>•</a:t>
            </a:r>
            <a:r>
              <a:rPr lang="zh-CN" altLang="en-US"/>
              <a:t>不需要将优化器的梯度置零</a:t>
            </a:r>
          </a:p>
          <a:p>
            <a:endParaRPr lang="en-US" altLang="zh-CN"/>
          </a:p>
          <a:p>
            <a:r>
              <a:rPr lang="en-US" altLang="zh-CN">
                <a:sym typeface="+mn-ea"/>
              </a:rPr>
              <a:t>•</a:t>
            </a:r>
            <a:r>
              <a:rPr lang="zh-CN" altLang="en-US"/>
              <a:t>不需要将</a:t>
            </a:r>
            <a:r>
              <a:rPr lang="en-US" altLang="zh-CN"/>
              <a:t>loss</a:t>
            </a:r>
            <a:r>
              <a:rPr lang="zh-CN" altLang="en-US"/>
              <a:t>反向回传到网络</a:t>
            </a:r>
          </a:p>
          <a:p>
            <a:endParaRPr lang="en-US" altLang="zh-CN"/>
          </a:p>
          <a:p>
            <a:r>
              <a:rPr lang="en-US" altLang="zh-CN">
                <a:sym typeface="+mn-ea"/>
              </a:rPr>
              <a:t>•</a:t>
            </a:r>
            <a:r>
              <a:rPr lang="zh-CN" altLang="en-US"/>
              <a:t>不需要更新</a:t>
            </a:r>
            <a:r>
              <a:rPr lang="en-US" altLang="zh-CN"/>
              <a:t>optimizer</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zh-CN" altLang="en-US" sz="3200"/>
              <a:t>模型保存与加载</a:t>
            </a:r>
          </a:p>
          <a:p>
            <a:pPr indent="457200"/>
            <a:endParaRPr lang="en-US" altLang="zh-CN" sz="2400"/>
          </a:p>
        </p:txBody>
      </p:sp>
      <p:sp>
        <p:nvSpPr>
          <p:cNvPr id="10" name="文本框 9"/>
          <p:cNvSpPr txBox="1"/>
          <p:nvPr/>
        </p:nvSpPr>
        <p:spPr>
          <a:xfrm>
            <a:off x="1703705" y="3717290"/>
            <a:ext cx="4064000" cy="368300"/>
          </a:xfrm>
          <a:prstGeom prst="rect">
            <a:avLst/>
          </a:prstGeom>
          <a:noFill/>
        </p:spPr>
        <p:txBody>
          <a:bodyPr wrap="square" rtlCol="0">
            <a:spAutoFit/>
          </a:bodyPr>
          <a:lstStyle/>
          <a:p>
            <a:endParaRPr lang="zh-CN" altLang="en-US"/>
          </a:p>
        </p:txBody>
      </p:sp>
      <p:sp>
        <p:nvSpPr>
          <p:cNvPr id="6" name="Title 1"/>
          <p:cNvSpPr txBox="1"/>
          <p:nvPr/>
        </p:nvSpPr>
        <p:spPr>
          <a:xfrm>
            <a:off x="1199515" y="1628775"/>
            <a:ext cx="941705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2400" dirty="0">
                <a:latin typeface="宋体" panose="02010600030101010101" pitchFamily="2" charset="-122"/>
                <a:ea typeface="宋体" panose="02010600030101010101" pitchFamily="2" charset="-122"/>
                <a:cs typeface="宋体" panose="02010600030101010101" pitchFamily="2" charset="-122"/>
              </a:rPr>
              <a:t>模型在内存中是以对象的逻辑结构保存的，但是在硬盘中是以二进制流的方式保存的</a:t>
            </a:r>
          </a:p>
        </p:txBody>
      </p:sp>
      <p:sp>
        <p:nvSpPr>
          <p:cNvPr id="5" name="文本框 4"/>
          <p:cNvSpPr txBox="1"/>
          <p:nvPr/>
        </p:nvSpPr>
        <p:spPr>
          <a:xfrm>
            <a:off x="1631315" y="2780665"/>
            <a:ext cx="8292465" cy="1476375"/>
          </a:xfrm>
          <a:prstGeom prst="rect">
            <a:avLst/>
          </a:prstGeom>
          <a:noFill/>
        </p:spPr>
        <p:txBody>
          <a:bodyPr wrap="square" rtlCol="0">
            <a:spAutoFit/>
          </a:bodyPr>
          <a:lstStyle/>
          <a:p>
            <a:r>
              <a:rPr lang="en-US" altLang="zh-CN">
                <a:sym typeface="+mn-ea"/>
              </a:rPr>
              <a:t>•</a:t>
            </a:r>
            <a:r>
              <a:rPr lang="zh-CN" altLang="en-US"/>
              <a:t>序列化是指将内存中的数据以二进制序列的方式</a:t>
            </a:r>
            <a:r>
              <a:rPr lang="zh-CN" altLang="en-US">
                <a:ln/>
                <a:solidFill>
                  <a:schemeClr val="accent1"/>
                </a:solidFill>
                <a:effectLst>
                  <a:outerShdw blurRad="38100" dist="25400" dir="5400000" algn="ctr" rotWithShape="0">
                    <a:srgbClr val="6E747A">
                      <a:alpha val="43000"/>
                    </a:srgbClr>
                  </a:outerShdw>
                </a:effectLst>
              </a:rPr>
              <a:t>保存到硬盘中</a:t>
            </a:r>
            <a:r>
              <a:rPr lang="zh-CN" altLang="en-US"/>
              <a:t>。</a:t>
            </a:r>
            <a:r>
              <a:rPr lang="en-US" altLang="zh-CN"/>
              <a:t>PyTorch </a:t>
            </a:r>
            <a:r>
              <a:rPr lang="zh-CN" altLang="en-US"/>
              <a:t>的模型保存就是序列化。</a:t>
            </a:r>
          </a:p>
          <a:p>
            <a:endParaRPr lang="zh-CN" altLang="en-US"/>
          </a:p>
          <a:p>
            <a:r>
              <a:rPr lang="en-US" altLang="zh-CN">
                <a:sym typeface="+mn-ea"/>
              </a:rPr>
              <a:t>•</a:t>
            </a:r>
            <a:r>
              <a:rPr lang="zh-CN" altLang="en-US"/>
              <a:t>反序列化是指将硬盘中的二进制序列加载到内存中，得到</a:t>
            </a:r>
            <a:r>
              <a:rPr lang="zh-CN" altLang="en-US">
                <a:ln/>
                <a:solidFill>
                  <a:schemeClr val="accent1"/>
                </a:solidFill>
                <a:effectLst>
                  <a:outerShdw blurRad="38100" dist="25400" dir="5400000" algn="ctr" rotWithShape="0">
                    <a:srgbClr val="6E747A">
                      <a:alpha val="43000"/>
                    </a:srgbClr>
                  </a:outerShdw>
                </a:effectLst>
              </a:rPr>
              <a:t>模型的对象</a:t>
            </a:r>
            <a:r>
              <a:rPr lang="zh-CN" altLang="en-US"/>
              <a:t>。</a:t>
            </a:r>
            <a:r>
              <a:rPr lang="en-US" altLang="zh-CN"/>
              <a:t>PyTorch </a:t>
            </a:r>
            <a:r>
              <a:rPr lang="zh-CN" altLang="en-US"/>
              <a:t>的模型加载就是反序列化。</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zh-CN" altLang="en-US" sz="3200"/>
              <a:t>模型保存与加载</a:t>
            </a:r>
          </a:p>
          <a:p>
            <a:pPr indent="457200"/>
            <a:endParaRPr lang="en-US" altLang="zh-CN" sz="2400"/>
          </a:p>
        </p:txBody>
      </p:sp>
      <p:sp>
        <p:nvSpPr>
          <p:cNvPr id="10" name="文本框 9"/>
          <p:cNvSpPr txBox="1"/>
          <p:nvPr/>
        </p:nvSpPr>
        <p:spPr>
          <a:xfrm>
            <a:off x="1703705" y="3357245"/>
            <a:ext cx="7508875" cy="1476375"/>
          </a:xfrm>
          <a:prstGeom prst="rect">
            <a:avLst/>
          </a:prstGeom>
          <a:noFill/>
        </p:spPr>
        <p:txBody>
          <a:bodyPr wrap="square" rtlCol="0">
            <a:spAutoFit/>
          </a:bodyPr>
          <a:lstStyle/>
          <a:p>
            <a:r>
              <a:rPr lang="en-US" altLang="zh-CN">
                <a:sym typeface="+mn-ea"/>
              </a:rPr>
              <a:t>•</a:t>
            </a:r>
            <a:r>
              <a:rPr lang="en-US" altLang="zh-CN"/>
              <a:t>obj</a:t>
            </a:r>
            <a:r>
              <a:rPr lang="zh-CN" altLang="en-US"/>
              <a:t>：保存的对象，可以是模型。也可以是</a:t>
            </a:r>
            <a:r>
              <a:rPr lang="en-US" altLang="zh-CN"/>
              <a:t> dict</a:t>
            </a:r>
            <a:r>
              <a:rPr lang="zh-CN" altLang="en-US"/>
              <a:t>。因为一般在保存模型时，不仅要保存模型，还需要保存优化器、此时对应的</a:t>
            </a:r>
            <a:r>
              <a:rPr lang="en-US" altLang="zh-CN"/>
              <a:t> epoch </a:t>
            </a:r>
            <a:r>
              <a:rPr lang="zh-CN" altLang="en-US"/>
              <a:t>等参数。这时就可以用</a:t>
            </a:r>
            <a:r>
              <a:rPr lang="en-US" altLang="zh-CN"/>
              <a:t> dict </a:t>
            </a:r>
            <a:r>
              <a:rPr lang="zh-CN" altLang="en-US"/>
              <a:t>包装起来。</a:t>
            </a:r>
          </a:p>
          <a:p>
            <a:endParaRPr lang="zh-CN" altLang="en-US"/>
          </a:p>
          <a:p>
            <a:r>
              <a:rPr lang="en-US" altLang="zh-CN">
                <a:sym typeface="+mn-ea"/>
              </a:rPr>
              <a:t>•</a:t>
            </a:r>
            <a:r>
              <a:rPr lang="en-US" altLang="zh-CN"/>
              <a:t>f</a:t>
            </a:r>
            <a:r>
              <a:rPr lang="zh-CN" altLang="en-US"/>
              <a:t>：输出路径</a:t>
            </a:r>
          </a:p>
        </p:txBody>
      </p:sp>
      <p:sp>
        <p:nvSpPr>
          <p:cNvPr id="6" name="Title 1"/>
          <p:cNvSpPr txBox="1"/>
          <p:nvPr/>
        </p:nvSpPr>
        <p:spPr>
          <a:xfrm>
            <a:off x="1271270" y="1628775"/>
            <a:ext cx="941705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400" dirty="0">
                <a:latin typeface="宋体" panose="02010600030101010101" pitchFamily="2" charset="-122"/>
                <a:ea typeface="宋体" panose="02010600030101010101" pitchFamily="2" charset="-122"/>
                <a:cs typeface="宋体" panose="02010600030101010101" pitchFamily="2" charset="-122"/>
              </a:rPr>
              <a:t>torch.save</a:t>
            </a:r>
            <a:r>
              <a:rPr lang="zh-CN" altLang="en-US" sz="2400" dirty="0">
                <a:latin typeface="宋体" panose="02010600030101010101" pitchFamily="2" charset="-122"/>
                <a:ea typeface="宋体" panose="02010600030101010101" pitchFamily="2" charset="-122"/>
                <a:cs typeface="宋体" panose="02010600030101010101" pitchFamily="2" charset="-122"/>
              </a:rPr>
              <a:t>：模型保存</a:t>
            </a:r>
          </a:p>
          <a:p>
            <a:pPr indent="457200" fontAlgn="auto">
              <a:spcAft>
                <a:spcPts val="0"/>
              </a:spcAft>
            </a:pPr>
            <a:r>
              <a:rPr lang="en-US" altLang="zh-CN" sz="2400" dirty="0">
                <a:latin typeface="宋体" panose="02010600030101010101" pitchFamily="2" charset="-122"/>
                <a:ea typeface="宋体" panose="02010600030101010101" pitchFamily="2" charset="-122"/>
                <a:cs typeface="宋体" panose="02010600030101010101" pitchFamily="2" charset="-122"/>
              </a:rPr>
              <a:t>torch.save(obj, f, pickle_module, pickle_protocol=2, _use_new_zipfile_serialization=False)</a:t>
            </a:r>
          </a:p>
          <a:p>
            <a:pPr indent="457200" fontAlgn="auto">
              <a:spcAft>
                <a:spcPts val="0"/>
              </a:spcAft>
            </a:pPr>
            <a:endParaRPr lang="en-US" altLang="zh-CN" sz="2400" dirty="0">
              <a:latin typeface="宋体" panose="02010600030101010101" pitchFamily="2" charset="-122"/>
              <a:ea typeface="宋体" panose="02010600030101010101" pitchFamily="2" charset="-122"/>
              <a:cs typeface="宋体" panose="02010600030101010101" pitchFamily="2" charset="-122"/>
            </a:endParaRPr>
          </a:p>
        </p:txBody>
      </p:sp>
      <p:sp>
        <p:nvSpPr>
          <p:cNvPr id="5" name="文本框 4"/>
          <p:cNvSpPr txBox="1"/>
          <p:nvPr/>
        </p:nvSpPr>
        <p:spPr>
          <a:xfrm>
            <a:off x="1631315" y="2780665"/>
            <a:ext cx="8292465" cy="368300"/>
          </a:xfrm>
          <a:prstGeom prst="rect">
            <a:avLst/>
          </a:prstGeom>
          <a:noFill/>
        </p:spPr>
        <p:txBody>
          <a:bodyPr wrap="square" rtlCol="0">
            <a:spAutoFit/>
          </a:bodyPr>
          <a:lstStyle/>
          <a:p>
            <a:r>
              <a:rPr lang="zh-CN" altLang="en-US"/>
              <a:t>主要参数：</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zh-CN" altLang="en-US" sz="3200"/>
              <a:t>模型保存与加载</a:t>
            </a:r>
          </a:p>
          <a:p>
            <a:pPr indent="457200"/>
            <a:endParaRPr lang="en-US" altLang="zh-CN" sz="2400"/>
          </a:p>
        </p:txBody>
      </p:sp>
      <p:sp>
        <p:nvSpPr>
          <p:cNvPr id="6" name="Title 1"/>
          <p:cNvSpPr txBox="1"/>
          <p:nvPr/>
        </p:nvSpPr>
        <p:spPr>
          <a:xfrm>
            <a:off x="1271270" y="1628775"/>
            <a:ext cx="941705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400" dirty="0">
                <a:latin typeface="宋体" panose="02010600030101010101" pitchFamily="2" charset="-122"/>
                <a:ea typeface="宋体" panose="02010600030101010101" pitchFamily="2" charset="-122"/>
                <a:cs typeface="宋体" panose="02010600030101010101" pitchFamily="2" charset="-122"/>
              </a:rPr>
              <a:t>torch.save</a:t>
            </a:r>
            <a:r>
              <a:rPr lang="zh-CN" altLang="en-US" sz="2400" dirty="0">
                <a:latin typeface="宋体" panose="02010600030101010101" pitchFamily="2" charset="-122"/>
                <a:ea typeface="宋体" panose="02010600030101010101" pitchFamily="2" charset="-122"/>
                <a:cs typeface="宋体" panose="02010600030101010101" pitchFamily="2" charset="-122"/>
              </a:rPr>
              <a:t>：模型保存</a:t>
            </a:r>
          </a:p>
          <a:p>
            <a:pPr indent="457200" fontAlgn="auto">
              <a:spcAft>
                <a:spcPts val="0"/>
              </a:spcAft>
            </a:pPr>
            <a:r>
              <a:rPr lang="en-US" altLang="zh-CN" sz="2400">
                <a:sym typeface="+mn-ea"/>
              </a:rPr>
              <a:t>•</a:t>
            </a:r>
            <a:r>
              <a:rPr lang="zh-CN" altLang="en-US" sz="2400" dirty="0">
                <a:latin typeface="宋体" panose="02010600030101010101" pitchFamily="2" charset="-122"/>
                <a:ea typeface="宋体" panose="02010600030101010101" pitchFamily="2" charset="-122"/>
                <a:cs typeface="宋体" panose="02010600030101010101" pitchFamily="2" charset="-122"/>
              </a:rPr>
              <a:t>保存整个</a:t>
            </a:r>
            <a:r>
              <a:rPr lang="en-US" altLang="zh-CN" sz="2400" dirty="0">
                <a:latin typeface="宋体" panose="02010600030101010101" pitchFamily="2" charset="-122"/>
                <a:ea typeface="宋体" panose="02010600030101010101" pitchFamily="2" charset="-122"/>
                <a:cs typeface="宋体" panose="02010600030101010101" pitchFamily="2" charset="-122"/>
              </a:rPr>
              <a:t> Module</a:t>
            </a:r>
            <a:r>
              <a:rPr lang="zh-CN" altLang="en-US" sz="2400" dirty="0">
                <a:latin typeface="宋体" panose="02010600030101010101" pitchFamily="2" charset="-122"/>
                <a:ea typeface="宋体" panose="02010600030101010101" pitchFamily="2" charset="-122"/>
                <a:cs typeface="宋体" panose="02010600030101010101" pitchFamily="2" charset="-122"/>
              </a:rPr>
              <a:t>：这种方法比较耗时，保存的文件大</a:t>
            </a:r>
          </a:p>
          <a:p>
            <a:pPr indent="457200" fontAlgn="auto">
              <a:spcAft>
                <a:spcPts val="0"/>
              </a:spcAft>
            </a:pPr>
            <a:endParaRPr lang="en-US" altLang="zh-CN" sz="2400" dirty="0">
              <a:latin typeface="宋体" panose="02010600030101010101" pitchFamily="2" charset="-122"/>
              <a:ea typeface="宋体" panose="02010600030101010101" pitchFamily="2" charset="-122"/>
              <a:cs typeface="宋体" panose="02010600030101010101" pitchFamily="2" charset="-122"/>
            </a:endParaRPr>
          </a:p>
          <a:p>
            <a:pPr indent="457200" fontAlgn="auto">
              <a:spcAft>
                <a:spcPts val="0"/>
              </a:spcAft>
            </a:pPr>
            <a:r>
              <a:rPr lang="en-US" altLang="zh-CN" sz="2400" dirty="0">
                <a:latin typeface="宋体" panose="02010600030101010101" pitchFamily="2" charset="-122"/>
                <a:ea typeface="宋体" panose="02010600030101010101" pitchFamily="2" charset="-122"/>
                <a:cs typeface="宋体" panose="02010600030101010101" pitchFamily="2" charset="-122"/>
              </a:rPr>
              <a:t>torch.savev(net, path)</a:t>
            </a:r>
          </a:p>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a:p>
            <a:pPr indent="457200" fontAlgn="auto">
              <a:spcAft>
                <a:spcPts val="0"/>
              </a:spcAft>
            </a:pPr>
            <a:r>
              <a:rPr lang="en-US" altLang="zh-CN" sz="2400">
                <a:sym typeface="+mn-ea"/>
              </a:rPr>
              <a:t>•</a:t>
            </a:r>
            <a:r>
              <a:rPr lang="zh-CN" altLang="en-US" sz="2400" dirty="0">
                <a:latin typeface="宋体" panose="02010600030101010101" pitchFamily="2" charset="-122"/>
                <a:ea typeface="宋体" panose="02010600030101010101" pitchFamily="2" charset="-122"/>
                <a:cs typeface="宋体" panose="02010600030101010101" pitchFamily="2" charset="-122"/>
              </a:rPr>
              <a:t>只保存模型的参数：推荐这种方法，运行比较快，保存的文件比较小</a:t>
            </a:r>
          </a:p>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a:p>
            <a:pPr indent="457200" fontAlgn="auto">
              <a:spcAft>
                <a:spcPts val="0"/>
              </a:spcAft>
            </a:pPr>
            <a:r>
              <a:rPr lang="en-US" altLang="zh-CN" sz="2400" dirty="0">
                <a:latin typeface="宋体" panose="02010600030101010101" pitchFamily="2" charset="-122"/>
                <a:ea typeface="宋体" panose="02010600030101010101" pitchFamily="2" charset="-122"/>
                <a:cs typeface="宋体" panose="02010600030101010101" pitchFamily="2" charset="-122"/>
              </a:rPr>
              <a:t>state_sict = net.state_dict()</a:t>
            </a:r>
          </a:p>
          <a:p>
            <a:pPr indent="457200" fontAlgn="auto">
              <a:spcAft>
                <a:spcPts val="0"/>
              </a:spcAft>
            </a:pPr>
            <a:r>
              <a:rPr lang="en-US" altLang="zh-CN" sz="2400" dirty="0">
                <a:latin typeface="宋体" panose="02010600030101010101" pitchFamily="2" charset="-122"/>
                <a:ea typeface="宋体" panose="02010600030101010101" pitchFamily="2" charset="-122"/>
                <a:cs typeface="宋体" panose="02010600030101010101" pitchFamily="2" charset="-122"/>
              </a:rPr>
              <a:t>torch.savev(state_sict, path)</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zh-CN" altLang="en-US" sz="3200"/>
              <a:t>模型保存与加载</a:t>
            </a:r>
          </a:p>
          <a:p>
            <a:pPr indent="457200"/>
            <a:endParaRPr lang="en-US" altLang="zh-CN" sz="2400"/>
          </a:p>
        </p:txBody>
      </p:sp>
      <p:sp>
        <p:nvSpPr>
          <p:cNvPr id="6" name="Title 1"/>
          <p:cNvSpPr txBox="1"/>
          <p:nvPr/>
        </p:nvSpPr>
        <p:spPr>
          <a:xfrm>
            <a:off x="1271270" y="1628775"/>
            <a:ext cx="941705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400" dirty="0">
                <a:latin typeface="宋体" panose="02010600030101010101" pitchFamily="2" charset="-122"/>
                <a:ea typeface="宋体" panose="02010600030101010101" pitchFamily="2" charset="-122"/>
                <a:cs typeface="宋体" panose="02010600030101010101" pitchFamily="2" charset="-122"/>
              </a:rPr>
              <a:t>torch.load</a:t>
            </a:r>
            <a:r>
              <a:rPr lang="zh-CN" altLang="en-US" sz="2400" dirty="0">
                <a:latin typeface="宋体" panose="02010600030101010101" pitchFamily="2" charset="-122"/>
                <a:ea typeface="宋体" panose="02010600030101010101" pitchFamily="2" charset="-122"/>
                <a:cs typeface="宋体" panose="02010600030101010101" pitchFamily="2" charset="-122"/>
              </a:rPr>
              <a:t>：模型加载</a:t>
            </a:r>
          </a:p>
          <a:p>
            <a:pPr indent="457200" fontAlgn="auto">
              <a:spcAft>
                <a:spcPts val="0"/>
              </a:spcAft>
            </a:pPr>
            <a:r>
              <a:rPr lang="en-US" altLang="zh-CN" sz="2400">
                <a:sym typeface="+mn-ea"/>
              </a:rPr>
              <a:t>•</a:t>
            </a:r>
            <a:r>
              <a:rPr lang="zh-CN" altLang="en-US" sz="2000">
                <a:latin typeface="宋体" panose="02010600030101010101" pitchFamily="2" charset="-122"/>
                <a:ea typeface="宋体" panose="02010600030101010101" pitchFamily="2" charset="-122"/>
                <a:sym typeface="+mn-ea"/>
              </a:rPr>
              <a:t>加载</a:t>
            </a:r>
            <a:r>
              <a:rPr lang="zh-CN" altLang="en-US" sz="2000" dirty="0">
                <a:latin typeface="宋体" panose="02010600030101010101" pitchFamily="2" charset="-122"/>
                <a:ea typeface="宋体" panose="02010600030101010101" pitchFamily="2" charset="-122"/>
                <a:cs typeface="宋体" panose="02010600030101010101" pitchFamily="2" charset="-122"/>
              </a:rPr>
              <a:t>整个</a:t>
            </a:r>
            <a:r>
              <a:rPr lang="en-US" altLang="zh-CN" sz="2000" dirty="0">
                <a:latin typeface="宋体" panose="02010600030101010101" pitchFamily="2" charset="-122"/>
                <a:ea typeface="宋体" panose="02010600030101010101" pitchFamily="2" charset="-122"/>
                <a:cs typeface="宋体" panose="02010600030101010101" pitchFamily="2" charset="-122"/>
              </a:rPr>
              <a:t> Module</a:t>
            </a:r>
            <a:r>
              <a:rPr lang="zh-CN" altLang="en-US" sz="2000" dirty="0">
                <a:latin typeface="宋体" panose="02010600030101010101" pitchFamily="2" charset="-122"/>
                <a:ea typeface="宋体" panose="02010600030101010101" pitchFamily="2" charset="-122"/>
                <a:cs typeface="宋体" panose="02010600030101010101" pitchFamily="2" charset="-122"/>
              </a:rPr>
              <a:t>：如果保存的时候，保存的是整个模型，那么加载时就加载整个模型。这种方法不需要事先创建一个模型对象，也不用知道模型的结构</a:t>
            </a:r>
          </a:p>
          <a:p>
            <a:pPr indent="457200" fontAlgn="auto">
              <a:spcAft>
                <a:spcPts val="0"/>
              </a:spcAft>
            </a:pPr>
            <a:r>
              <a:rPr lang="en-US" altLang="zh-CN" sz="2000" dirty="0">
                <a:latin typeface="宋体" panose="02010600030101010101" pitchFamily="2" charset="-122"/>
                <a:ea typeface="宋体" panose="02010600030101010101" pitchFamily="2" charset="-122"/>
                <a:cs typeface="宋体" panose="02010600030101010101" pitchFamily="2" charset="-122"/>
              </a:rPr>
              <a:t>path_model = "./model.pkl"</a:t>
            </a:r>
          </a:p>
          <a:p>
            <a:pPr indent="457200" fontAlgn="auto">
              <a:spcAft>
                <a:spcPts val="0"/>
              </a:spcAft>
            </a:pPr>
            <a:r>
              <a:rPr lang="en-US" altLang="zh-CN" sz="2000" dirty="0">
                <a:latin typeface="宋体" panose="02010600030101010101" pitchFamily="2" charset="-122"/>
                <a:ea typeface="宋体" panose="02010600030101010101" pitchFamily="2" charset="-122"/>
                <a:cs typeface="宋体" panose="02010600030101010101" pitchFamily="2" charset="-122"/>
              </a:rPr>
              <a:t>net_load = torch.load(path_model)</a:t>
            </a:r>
          </a:p>
          <a:p>
            <a:pPr indent="457200" fontAlgn="auto">
              <a:spcAft>
                <a:spcPts val="0"/>
              </a:spcAft>
            </a:pPr>
            <a:endParaRPr lang="en-US" altLang="zh-CN" sz="2000" dirty="0">
              <a:latin typeface="宋体" panose="02010600030101010101" pitchFamily="2" charset="-122"/>
              <a:ea typeface="宋体" panose="02010600030101010101" pitchFamily="2" charset="-122"/>
              <a:cs typeface="宋体" panose="02010600030101010101" pitchFamily="2" charset="-122"/>
            </a:endParaRPr>
          </a:p>
          <a:p>
            <a:pPr indent="457200" fontAlgn="auto">
              <a:spcAft>
                <a:spcPts val="0"/>
              </a:spcAft>
            </a:pPr>
            <a:r>
              <a:rPr lang="en-US" altLang="zh-CN" sz="2000" dirty="0">
                <a:latin typeface="宋体" panose="02010600030101010101" pitchFamily="2" charset="-122"/>
                <a:ea typeface="宋体" panose="02010600030101010101" pitchFamily="2" charset="-122"/>
                <a:cs typeface="宋体" panose="02010600030101010101" pitchFamily="2" charset="-122"/>
              </a:rPr>
              <a:t>print(net_load)</a:t>
            </a:r>
          </a:p>
          <a:p>
            <a:pPr indent="457200" fontAlgn="auto">
              <a:spcAft>
                <a:spcPts val="0"/>
              </a:spcAft>
            </a:pPr>
            <a:endParaRPr lang="en-US" altLang="zh-CN" sz="2000" dirty="0">
              <a:latin typeface="宋体" panose="02010600030101010101" pitchFamily="2" charset="-122"/>
              <a:ea typeface="宋体" panose="02010600030101010101" pitchFamily="2" charset="-122"/>
              <a:cs typeface="宋体" panose="02010600030101010101" pitchFamily="2" charset="-122"/>
            </a:endParaRPr>
          </a:p>
        </p:txBody>
      </p:sp>
      <p:sp>
        <p:nvSpPr>
          <p:cNvPr id="5" name="文本框 4"/>
          <p:cNvSpPr txBox="1"/>
          <p:nvPr/>
        </p:nvSpPr>
        <p:spPr>
          <a:xfrm>
            <a:off x="1606550" y="3860800"/>
            <a:ext cx="4064000" cy="368300"/>
          </a:xfrm>
          <a:prstGeom prst="rect">
            <a:avLst/>
          </a:prstGeom>
          <a:noFill/>
        </p:spPr>
        <p:txBody>
          <a:bodyPr wrap="square" rtlCol="0">
            <a:spAutoFit/>
          </a:bodyPr>
          <a:lstStyle/>
          <a:p>
            <a:r>
              <a:rPr lang="zh-CN" altLang="en-US"/>
              <a:t>输出如下：</a:t>
            </a:r>
          </a:p>
        </p:txBody>
      </p:sp>
      <p:pic>
        <p:nvPicPr>
          <p:cNvPr id="7" name="图片 6"/>
          <p:cNvPicPr>
            <a:picLocks noChangeAspect="1"/>
          </p:cNvPicPr>
          <p:nvPr/>
        </p:nvPicPr>
        <p:blipFill>
          <a:blip r:embed="rId3"/>
          <a:stretch>
            <a:fillRect/>
          </a:stretch>
        </p:blipFill>
        <p:spPr>
          <a:xfrm>
            <a:off x="2176145" y="4293235"/>
            <a:ext cx="5992495" cy="215265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zh-CN" altLang="en-US" sz="3200"/>
              <a:t>模型保存与加载</a:t>
            </a:r>
          </a:p>
          <a:p>
            <a:pPr indent="457200"/>
            <a:endParaRPr lang="en-US" altLang="zh-CN" sz="2400"/>
          </a:p>
        </p:txBody>
      </p:sp>
      <p:sp>
        <p:nvSpPr>
          <p:cNvPr id="6" name="Title 1"/>
          <p:cNvSpPr txBox="1"/>
          <p:nvPr/>
        </p:nvSpPr>
        <p:spPr>
          <a:xfrm>
            <a:off x="1271270" y="1628775"/>
            <a:ext cx="941705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400" dirty="0">
                <a:latin typeface="宋体" panose="02010600030101010101" pitchFamily="2" charset="-122"/>
                <a:ea typeface="宋体" panose="02010600030101010101" pitchFamily="2" charset="-122"/>
                <a:cs typeface="宋体" panose="02010600030101010101" pitchFamily="2" charset="-122"/>
              </a:rPr>
              <a:t>torch.load</a:t>
            </a:r>
            <a:r>
              <a:rPr lang="zh-CN" altLang="en-US" sz="2400" dirty="0">
                <a:latin typeface="宋体" panose="02010600030101010101" pitchFamily="2" charset="-122"/>
                <a:ea typeface="宋体" panose="02010600030101010101" pitchFamily="2" charset="-122"/>
                <a:cs typeface="宋体" panose="02010600030101010101" pitchFamily="2" charset="-122"/>
              </a:rPr>
              <a:t>：模型加载</a:t>
            </a:r>
          </a:p>
          <a:p>
            <a:pPr indent="457200" fontAlgn="auto">
              <a:spcAft>
                <a:spcPts val="0"/>
              </a:spcAft>
            </a:pPr>
            <a:r>
              <a:rPr lang="en-US" altLang="zh-CN" sz="2400">
                <a:sym typeface="+mn-ea"/>
              </a:rPr>
              <a:t>•</a:t>
            </a:r>
            <a:r>
              <a:rPr lang="zh-CN" altLang="en-US" sz="2000" dirty="0">
                <a:latin typeface="宋体" panose="02010600030101010101" pitchFamily="2" charset="-122"/>
                <a:ea typeface="宋体" panose="02010600030101010101" pitchFamily="2" charset="-122"/>
                <a:cs typeface="宋体" panose="02010600030101010101" pitchFamily="2" charset="-122"/>
              </a:rPr>
              <a:t>只加载模型的参数：如果保存的时候，保存的是模型的参数，那么加载时就参数。这种方法需要事先创建一个模型对象，再使用模型的</a:t>
            </a:r>
            <a:r>
              <a:rPr lang="en-US" altLang="zh-CN" sz="2000" dirty="0">
                <a:latin typeface="宋体" panose="02010600030101010101" pitchFamily="2" charset="-122"/>
                <a:ea typeface="宋体" panose="02010600030101010101" pitchFamily="2" charset="-122"/>
                <a:cs typeface="宋体" panose="02010600030101010101" pitchFamily="2" charset="-122"/>
              </a:rPr>
              <a:t>load_state_dict()</a:t>
            </a:r>
            <a:r>
              <a:rPr lang="zh-CN" altLang="en-US" sz="2000" dirty="0">
                <a:latin typeface="宋体" panose="02010600030101010101" pitchFamily="2" charset="-122"/>
                <a:ea typeface="宋体" panose="02010600030101010101" pitchFamily="2" charset="-122"/>
                <a:cs typeface="宋体" panose="02010600030101010101" pitchFamily="2" charset="-122"/>
              </a:rPr>
              <a:t>方法把参数加载到模型中，代码如下：</a:t>
            </a:r>
          </a:p>
          <a:p>
            <a:pPr indent="457200" fontAlgn="auto">
              <a:spcAft>
                <a:spcPts val="0"/>
              </a:spcAft>
            </a:pPr>
            <a:endParaRPr lang="en-US" altLang="zh-CN" sz="2000" dirty="0">
              <a:latin typeface="宋体" panose="02010600030101010101" pitchFamily="2" charset="-122"/>
              <a:ea typeface="宋体" panose="02010600030101010101" pitchFamily="2" charset="-122"/>
              <a:cs typeface="宋体" panose="02010600030101010101" pitchFamily="2" charset="-122"/>
            </a:endParaRPr>
          </a:p>
          <a:p>
            <a:pPr indent="457200" fontAlgn="auto">
              <a:spcAft>
                <a:spcPts val="0"/>
              </a:spcAft>
            </a:pPr>
            <a:r>
              <a:rPr lang="en-US" altLang="zh-CN" sz="2000" dirty="0">
                <a:latin typeface="宋体" panose="02010600030101010101" pitchFamily="2" charset="-122"/>
                <a:ea typeface="宋体" panose="02010600030101010101" pitchFamily="2" charset="-122"/>
                <a:cs typeface="宋体" panose="02010600030101010101" pitchFamily="2" charset="-122"/>
              </a:rPr>
              <a:t>path_state_dict = "./model_state_dict.pkl"</a:t>
            </a:r>
          </a:p>
          <a:p>
            <a:pPr indent="457200" fontAlgn="auto">
              <a:spcAft>
                <a:spcPts val="0"/>
              </a:spcAft>
            </a:pPr>
            <a:r>
              <a:rPr lang="en-US" altLang="zh-CN" sz="2000" dirty="0">
                <a:latin typeface="宋体" panose="02010600030101010101" pitchFamily="2" charset="-122"/>
                <a:ea typeface="宋体" panose="02010600030101010101" pitchFamily="2" charset="-122"/>
                <a:cs typeface="宋体" panose="02010600030101010101" pitchFamily="2" charset="-122"/>
              </a:rPr>
              <a:t>state_dict_load = torch.load(path_state_dict)</a:t>
            </a:r>
          </a:p>
          <a:p>
            <a:pPr indent="457200" fontAlgn="auto">
              <a:spcAft>
                <a:spcPts val="0"/>
              </a:spcAft>
            </a:pPr>
            <a:r>
              <a:rPr lang="en-US" altLang="zh-CN" sz="2000" dirty="0">
                <a:latin typeface="宋体" panose="02010600030101010101" pitchFamily="2" charset="-122"/>
                <a:ea typeface="宋体" panose="02010600030101010101" pitchFamily="2" charset="-122"/>
                <a:cs typeface="宋体" panose="02010600030101010101" pitchFamily="2" charset="-122"/>
              </a:rPr>
              <a:t>net_new = LeNet2(classes=2019)</a:t>
            </a:r>
          </a:p>
          <a:p>
            <a:pPr indent="457200" fontAlgn="auto">
              <a:spcAft>
                <a:spcPts val="0"/>
              </a:spcAft>
            </a:pPr>
            <a:endParaRPr lang="en-US" altLang="zh-CN" sz="2000" dirty="0">
              <a:latin typeface="宋体" panose="02010600030101010101" pitchFamily="2" charset="-122"/>
              <a:ea typeface="宋体" panose="02010600030101010101" pitchFamily="2" charset="-122"/>
              <a:cs typeface="宋体" panose="02010600030101010101" pitchFamily="2" charset="-122"/>
            </a:endParaRPr>
          </a:p>
          <a:p>
            <a:pPr indent="457200" fontAlgn="auto">
              <a:spcAft>
                <a:spcPts val="0"/>
              </a:spcAft>
            </a:pPr>
            <a:r>
              <a:rPr lang="en-US" altLang="zh-CN" sz="2000" dirty="0">
                <a:latin typeface="宋体" panose="02010600030101010101" pitchFamily="2" charset="-122"/>
                <a:ea typeface="宋体" panose="02010600030101010101" pitchFamily="2" charset="-122"/>
                <a:cs typeface="宋体" panose="02010600030101010101" pitchFamily="2" charset="-122"/>
              </a:rPr>
              <a:t>print("</a:t>
            </a:r>
            <a:r>
              <a:rPr lang="zh-CN" altLang="en-US" sz="2000" dirty="0">
                <a:latin typeface="宋体" panose="02010600030101010101" pitchFamily="2" charset="-122"/>
                <a:ea typeface="宋体" panose="02010600030101010101" pitchFamily="2" charset="-122"/>
                <a:cs typeface="宋体" panose="02010600030101010101" pitchFamily="2" charset="-122"/>
              </a:rPr>
              <a:t>加载前</a:t>
            </a:r>
            <a:r>
              <a:rPr lang="en-US" altLang="zh-CN" sz="2000" dirty="0">
                <a:latin typeface="宋体" panose="02010600030101010101" pitchFamily="2" charset="-122"/>
                <a:ea typeface="宋体" panose="02010600030101010101" pitchFamily="2" charset="-122"/>
                <a:cs typeface="宋体" panose="02010600030101010101" pitchFamily="2" charset="-122"/>
              </a:rPr>
              <a:t>: ", net_new.features[0].weight[0, ...])</a:t>
            </a:r>
          </a:p>
          <a:p>
            <a:pPr indent="457200" fontAlgn="auto">
              <a:spcAft>
                <a:spcPts val="0"/>
              </a:spcAft>
            </a:pPr>
            <a:r>
              <a:rPr lang="en-US" altLang="zh-CN" sz="2000" dirty="0">
                <a:latin typeface="宋体" panose="02010600030101010101" pitchFamily="2" charset="-122"/>
                <a:ea typeface="宋体" panose="02010600030101010101" pitchFamily="2" charset="-122"/>
                <a:cs typeface="宋体" panose="02010600030101010101" pitchFamily="2" charset="-122"/>
              </a:rPr>
              <a:t>net_new.load_state_dict(state_dict_load)</a:t>
            </a:r>
          </a:p>
          <a:p>
            <a:pPr indent="457200" fontAlgn="auto">
              <a:spcAft>
                <a:spcPts val="0"/>
              </a:spcAft>
            </a:pPr>
            <a:r>
              <a:rPr lang="en-US" altLang="zh-CN" sz="2000" dirty="0">
                <a:latin typeface="宋体" panose="02010600030101010101" pitchFamily="2" charset="-122"/>
                <a:ea typeface="宋体" panose="02010600030101010101" pitchFamily="2" charset="-122"/>
                <a:cs typeface="宋体" panose="02010600030101010101" pitchFamily="2" charset="-122"/>
              </a:rPr>
              <a:t>print("</a:t>
            </a:r>
            <a:r>
              <a:rPr lang="zh-CN" altLang="en-US" sz="2000" dirty="0">
                <a:latin typeface="宋体" panose="02010600030101010101" pitchFamily="2" charset="-122"/>
                <a:ea typeface="宋体" panose="02010600030101010101" pitchFamily="2" charset="-122"/>
                <a:cs typeface="宋体" panose="02010600030101010101" pitchFamily="2" charset="-122"/>
              </a:rPr>
              <a:t>加载后</a:t>
            </a:r>
            <a:r>
              <a:rPr lang="en-US" altLang="zh-CN" sz="2000" dirty="0">
                <a:latin typeface="宋体" panose="02010600030101010101" pitchFamily="2" charset="-122"/>
                <a:ea typeface="宋体" panose="02010600030101010101" pitchFamily="2" charset="-122"/>
                <a:cs typeface="宋体" panose="02010600030101010101" pitchFamily="2" charset="-122"/>
              </a:rPr>
              <a:t>: ", net_new.features[0].weight[0, ...])</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en-US" altLang="zh-CN" sz="3200"/>
              <a:t>Linux</a:t>
            </a:r>
            <a:endParaRPr lang="zh-CN" altLang="en-US" sz="3200"/>
          </a:p>
          <a:p>
            <a:pPr indent="457200"/>
            <a:endParaRPr lang="en-US" altLang="zh-CN" sz="2400"/>
          </a:p>
        </p:txBody>
      </p:sp>
      <p:sp>
        <p:nvSpPr>
          <p:cNvPr id="6" name="Title 1"/>
          <p:cNvSpPr txBox="1"/>
          <p:nvPr/>
        </p:nvSpPr>
        <p:spPr>
          <a:xfrm>
            <a:off x="1271270" y="1628775"/>
            <a:ext cx="941705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en-US" altLang="zh-CN" sz="2000" dirty="0">
              <a:latin typeface="宋体" panose="02010600030101010101" pitchFamily="2" charset="-122"/>
              <a:ea typeface="宋体" panose="02010600030101010101" pitchFamily="2" charset="-122"/>
              <a:cs typeface="宋体" panose="02010600030101010101" pitchFamily="2" charset="-122"/>
            </a:endParaRPr>
          </a:p>
          <a:p>
            <a:pPr indent="457200" fontAlgn="auto">
              <a:spcAft>
                <a:spcPts val="0"/>
              </a:spcAft>
            </a:pPr>
            <a:r>
              <a:rPr lang="en-US" altLang="zh-CN" sz="2000" dirty="0">
                <a:latin typeface="宋体" panose="02010600030101010101" pitchFamily="2" charset="-122"/>
                <a:ea typeface="宋体" panose="02010600030101010101" pitchFamily="2" charset="-122"/>
                <a:cs typeface="宋体" panose="02010600030101010101" pitchFamily="2" charset="-122"/>
              </a:rPr>
              <a:t>Linux</a:t>
            </a:r>
            <a:r>
              <a:rPr lang="zh-CN" altLang="en-US" sz="2000" dirty="0">
                <a:latin typeface="宋体" panose="02010600030101010101" pitchFamily="2" charset="-122"/>
                <a:ea typeface="宋体" panose="02010600030101010101" pitchFamily="2" charset="-122"/>
                <a:cs typeface="宋体" panose="02010600030101010101" pitchFamily="2" charset="-122"/>
              </a:rPr>
              <a:t>，全称</a:t>
            </a:r>
            <a:r>
              <a:rPr lang="en-US" altLang="zh-CN" sz="2000" dirty="0">
                <a:latin typeface="宋体" panose="02010600030101010101" pitchFamily="2" charset="-122"/>
                <a:ea typeface="宋体" panose="02010600030101010101" pitchFamily="2" charset="-122"/>
                <a:cs typeface="宋体" panose="02010600030101010101" pitchFamily="2" charset="-122"/>
              </a:rPr>
              <a:t>GNU/Linux</a:t>
            </a:r>
            <a:r>
              <a:rPr lang="zh-CN" altLang="en-US" sz="2000" dirty="0">
                <a:latin typeface="宋体" panose="02010600030101010101" pitchFamily="2" charset="-122"/>
                <a:ea typeface="宋体" panose="02010600030101010101" pitchFamily="2" charset="-122"/>
                <a:cs typeface="宋体" panose="02010600030101010101" pitchFamily="2" charset="-122"/>
              </a:rPr>
              <a:t>，是一种免费使用和自由传播的</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类</a:t>
            </a:r>
            <a:r>
              <a:rPr lang="en-US" altLang="zh-CN"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UNIX</a:t>
            </a:r>
            <a:r>
              <a:rPr lang="zh-CN" altLang="en-US" sz="2000" dirty="0">
                <a:latin typeface="宋体" panose="02010600030101010101" pitchFamily="2" charset="-122"/>
                <a:ea typeface="宋体" panose="02010600030101010101" pitchFamily="2" charset="-122"/>
                <a:cs typeface="宋体" panose="02010600030101010101" pitchFamily="2" charset="-122"/>
              </a:rPr>
              <a:t>操作系统，其内核由林纳斯</a:t>
            </a:r>
            <a:r>
              <a:rPr lang="en-US" altLang="zh-CN" sz="2000" dirty="0">
                <a:latin typeface="宋体" panose="02010600030101010101" pitchFamily="2" charset="-122"/>
                <a:ea typeface="宋体" panose="02010600030101010101" pitchFamily="2" charset="-122"/>
                <a:cs typeface="宋体" panose="02010600030101010101" pitchFamily="2" charset="-122"/>
              </a:rPr>
              <a:t>·</a:t>
            </a:r>
            <a:r>
              <a:rPr lang="zh-CN" altLang="en-US" sz="2000" dirty="0">
                <a:latin typeface="宋体" panose="02010600030101010101" pitchFamily="2" charset="-122"/>
                <a:ea typeface="宋体" panose="02010600030101010101" pitchFamily="2" charset="-122"/>
                <a:cs typeface="宋体" panose="02010600030101010101" pitchFamily="2" charset="-122"/>
              </a:rPr>
              <a:t>本纳第克特</a:t>
            </a:r>
            <a:r>
              <a:rPr lang="en-US" altLang="zh-CN" sz="2000" dirty="0">
                <a:latin typeface="宋体" panose="02010600030101010101" pitchFamily="2" charset="-122"/>
                <a:ea typeface="宋体" panose="02010600030101010101" pitchFamily="2" charset="-122"/>
                <a:cs typeface="宋体" panose="02010600030101010101" pitchFamily="2" charset="-122"/>
              </a:rPr>
              <a:t>·</a:t>
            </a:r>
            <a:r>
              <a:rPr lang="zh-CN" altLang="en-US" sz="2000" dirty="0">
                <a:latin typeface="宋体" panose="02010600030101010101" pitchFamily="2" charset="-122"/>
                <a:ea typeface="宋体" panose="02010600030101010101" pitchFamily="2" charset="-122"/>
                <a:cs typeface="宋体" panose="02010600030101010101" pitchFamily="2" charset="-122"/>
              </a:rPr>
              <a:t>托瓦兹于</a:t>
            </a:r>
            <a:r>
              <a:rPr lang="en-US" altLang="zh-CN" sz="2000" dirty="0">
                <a:latin typeface="宋体" panose="02010600030101010101" pitchFamily="2" charset="-122"/>
                <a:ea typeface="宋体" panose="02010600030101010101" pitchFamily="2" charset="-122"/>
                <a:cs typeface="宋体" panose="02010600030101010101" pitchFamily="2" charset="-122"/>
              </a:rPr>
              <a:t>1991</a:t>
            </a:r>
            <a:r>
              <a:rPr lang="zh-CN" altLang="en-US" sz="2000" dirty="0">
                <a:latin typeface="宋体" panose="02010600030101010101" pitchFamily="2" charset="-122"/>
                <a:ea typeface="宋体" panose="02010600030101010101" pitchFamily="2" charset="-122"/>
                <a:cs typeface="宋体" panose="02010600030101010101" pitchFamily="2" charset="-122"/>
              </a:rPr>
              <a:t>年</a:t>
            </a:r>
            <a:r>
              <a:rPr lang="en-US" altLang="zh-CN" sz="2000" dirty="0">
                <a:latin typeface="宋体" panose="02010600030101010101" pitchFamily="2" charset="-122"/>
                <a:ea typeface="宋体" panose="02010600030101010101" pitchFamily="2" charset="-122"/>
                <a:cs typeface="宋体" panose="02010600030101010101" pitchFamily="2" charset="-122"/>
              </a:rPr>
              <a:t>10</a:t>
            </a:r>
            <a:r>
              <a:rPr lang="zh-CN" altLang="en-US" sz="2000" dirty="0">
                <a:latin typeface="宋体" panose="02010600030101010101" pitchFamily="2" charset="-122"/>
                <a:ea typeface="宋体" panose="02010600030101010101" pitchFamily="2" charset="-122"/>
                <a:cs typeface="宋体" panose="02010600030101010101" pitchFamily="2" charset="-122"/>
              </a:rPr>
              <a:t>月</a:t>
            </a:r>
            <a:r>
              <a:rPr lang="en-US" altLang="zh-CN" sz="2000" dirty="0">
                <a:latin typeface="宋体" panose="02010600030101010101" pitchFamily="2" charset="-122"/>
                <a:ea typeface="宋体" panose="02010600030101010101" pitchFamily="2" charset="-122"/>
                <a:cs typeface="宋体" panose="02010600030101010101" pitchFamily="2" charset="-122"/>
              </a:rPr>
              <a:t>5</a:t>
            </a:r>
            <a:r>
              <a:rPr lang="zh-CN" altLang="en-US" sz="2000" dirty="0">
                <a:latin typeface="宋体" panose="02010600030101010101" pitchFamily="2" charset="-122"/>
                <a:ea typeface="宋体" panose="02010600030101010101" pitchFamily="2" charset="-122"/>
                <a:cs typeface="宋体" panose="02010600030101010101" pitchFamily="2" charset="-122"/>
              </a:rPr>
              <a:t>日首次发布，它主要受到</a:t>
            </a:r>
            <a:r>
              <a:rPr lang="en-US" altLang="zh-CN"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Minix</a:t>
            </a:r>
            <a:r>
              <a:rPr lang="zh-CN" altLang="en-US" sz="2000" dirty="0">
                <a:latin typeface="宋体" panose="02010600030101010101" pitchFamily="2" charset="-122"/>
                <a:ea typeface="宋体" panose="02010600030101010101" pitchFamily="2" charset="-122"/>
                <a:cs typeface="宋体" panose="02010600030101010101" pitchFamily="2" charset="-122"/>
              </a:rPr>
              <a:t>和</a:t>
            </a:r>
            <a:r>
              <a:rPr lang="en-US" altLang="zh-CN"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Unix</a:t>
            </a:r>
            <a:r>
              <a:rPr lang="zh-CN" altLang="en-US" sz="2000" dirty="0">
                <a:latin typeface="宋体" panose="02010600030101010101" pitchFamily="2" charset="-122"/>
                <a:ea typeface="宋体" panose="02010600030101010101" pitchFamily="2" charset="-122"/>
                <a:cs typeface="宋体" panose="02010600030101010101" pitchFamily="2" charset="-122"/>
              </a:rPr>
              <a:t>思想的启发，是一个基于</a:t>
            </a:r>
            <a:r>
              <a:rPr lang="en-US" altLang="zh-CN" sz="2000" dirty="0">
                <a:latin typeface="宋体" panose="02010600030101010101" pitchFamily="2" charset="-122"/>
                <a:ea typeface="宋体" panose="02010600030101010101" pitchFamily="2" charset="-122"/>
                <a:cs typeface="宋体" panose="02010600030101010101" pitchFamily="2" charset="-122"/>
              </a:rPr>
              <a:t>POSIX</a:t>
            </a:r>
            <a:r>
              <a:rPr lang="zh-CN" altLang="en-US" sz="2000" dirty="0">
                <a:latin typeface="宋体" panose="02010600030101010101" pitchFamily="2" charset="-122"/>
                <a:ea typeface="宋体" panose="02010600030101010101" pitchFamily="2" charset="-122"/>
                <a:cs typeface="宋体" panose="02010600030101010101" pitchFamily="2" charset="-122"/>
              </a:rPr>
              <a:t>的</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多用户</a:t>
            </a: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多任务</a:t>
            </a: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支持多线程</a:t>
            </a:r>
            <a:r>
              <a:rPr lang="zh-CN" altLang="en-US" sz="2000" dirty="0">
                <a:latin typeface="宋体" panose="02010600030101010101" pitchFamily="2" charset="-122"/>
                <a:ea typeface="宋体" panose="02010600030101010101" pitchFamily="2" charset="-122"/>
                <a:cs typeface="宋体" panose="02010600030101010101" pitchFamily="2" charset="-122"/>
              </a:rPr>
              <a:t>和</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多</a:t>
            </a:r>
            <a:r>
              <a:rPr lang="en-US" altLang="zh-CN"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CPU</a:t>
            </a:r>
            <a:r>
              <a:rPr lang="zh-CN" altLang="en-US" sz="2000" dirty="0">
                <a:latin typeface="宋体" panose="02010600030101010101" pitchFamily="2" charset="-122"/>
                <a:ea typeface="宋体" panose="02010600030101010101" pitchFamily="2" charset="-122"/>
                <a:cs typeface="宋体" panose="02010600030101010101" pitchFamily="2" charset="-122"/>
              </a:rPr>
              <a:t>的操作系统。它能运行主要的</a:t>
            </a:r>
            <a:r>
              <a:rPr lang="en-US" altLang="zh-CN" sz="2000" dirty="0">
                <a:latin typeface="宋体" panose="02010600030101010101" pitchFamily="2" charset="-122"/>
                <a:ea typeface="宋体" panose="02010600030101010101" pitchFamily="2" charset="-122"/>
                <a:cs typeface="宋体" panose="02010600030101010101" pitchFamily="2" charset="-122"/>
              </a:rPr>
              <a:t>Unix</a:t>
            </a:r>
            <a:r>
              <a:rPr lang="zh-CN" altLang="en-US" sz="2000" dirty="0">
                <a:latin typeface="宋体" panose="02010600030101010101" pitchFamily="2" charset="-122"/>
                <a:ea typeface="宋体" panose="02010600030101010101" pitchFamily="2" charset="-122"/>
                <a:cs typeface="宋体" panose="02010600030101010101" pitchFamily="2" charset="-122"/>
              </a:rPr>
              <a:t>工具软件、应用程序和网络协议。</a:t>
            </a:r>
          </a:p>
          <a:p>
            <a:pPr indent="457200" fontAlgn="auto">
              <a:spcAft>
                <a:spcPts val="0"/>
              </a:spcAft>
            </a:pPr>
            <a:endParaRPr lang="en-US" altLang="zh-CN" sz="2000" dirty="0">
              <a:latin typeface="宋体" panose="02010600030101010101" pitchFamily="2" charset="-122"/>
              <a:ea typeface="宋体" panose="02010600030101010101" pitchFamily="2" charset="-122"/>
              <a:cs typeface="宋体" panose="02010600030101010101" pitchFamily="2" charset="-122"/>
            </a:endParaRPr>
          </a:p>
        </p:txBody>
      </p:sp>
      <p:pic>
        <p:nvPicPr>
          <p:cNvPr id="5" name="图片 4"/>
          <p:cNvPicPr>
            <a:picLocks noChangeAspect="1"/>
          </p:cNvPicPr>
          <p:nvPr/>
        </p:nvPicPr>
        <p:blipFill>
          <a:blip r:embed="rId3"/>
          <a:stretch>
            <a:fillRect/>
          </a:stretch>
        </p:blipFill>
        <p:spPr>
          <a:xfrm>
            <a:off x="2482850" y="3361055"/>
            <a:ext cx="6188710" cy="301307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en-US" altLang="zh-CN" sz="3200"/>
              <a:t>Linux</a:t>
            </a:r>
            <a:endParaRPr lang="zh-CN" altLang="en-US" sz="3200"/>
          </a:p>
          <a:p>
            <a:pPr indent="457200"/>
            <a:endParaRPr lang="en-US" altLang="zh-CN" sz="2400"/>
          </a:p>
        </p:txBody>
      </p:sp>
      <p:sp>
        <p:nvSpPr>
          <p:cNvPr id="6" name="Title 1"/>
          <p:cNvSpPr txBox="1"/>
          <p:nvPr/>
        </p:nvSpPr>
        <p:spPr>
          <a:xfrm>
            <a:off x="1271270" y="1628775"/>
            <a:ext cx="941705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2000" dirty="0">
                <a:latin typeface="宋体" panose="02010600030101010101" pitchFamily="2" charset="-122"/>
                <a:ea typeface="宋体" panose="02010600030101010101" pitchFamily="2" charset="-122"/>
                <a:cs typeface="宋体" panose="02010600030101010101" pitchFamily="2" charset="-122"/>
              </a:rPr>
              <a:t>今天各种场合都有使用各种</a:t>
            </a:r>
            <a:r>
              <a:rPr lang="en-US" altLang="zh-CN" sz="2000" dirty="0">
                <a:latin typeface="宋体" panose="02010600030101010101" pitchFamily="2" charset="-122"/>
                <a:ea typeface="宋体" panose="02010600030101010101" pitchFamily="2" charset="-122"/>
                <a:cs typeface="宋体" panose="02010600030101010101" pitchFamily="2" charset="-122"/>
              </a:rPr>
              <a:t> Linux </a:t>
            </a:r>
            <a:r>
              <a:rPr lang="zh-CN" altLang="en-US" sz="2000" dirty="0">
                <a:latin typeface="宋体" panose="02010600030101010101" pitchFamily="2" charset="-122"/>
                <a:ea typeface="宋体" panose="02010600030101010101" pitchFamily="2" charset="-122"/>
                <a:cs typeface="宋体" panose="02010600030101010101" pitchFamily="2" charset="-122"/>
              </a:rPr>
              <a:t>发行版，从嵌入式设备到超级计算机，并且在服务器领域确定了地位，通常服务器使用</a:t>
            </a:r>
            <a:r>
              <a:rPr lang="en-US" altLang="zh-CN" sz="2000" dirty="0">
                <a:latin typeface="宋体" panose="02010600030101010101" pitchFamily="2" charset="-122"/>
                <a:ea typeface="宋体" panose="02010600030101010101" pitchFamily="2" charset="-122"/>
                <a:cs typeface="宋体" panose="02010600030101010101" pitchFamily="2" charset="-122"/>
              </a:rPr>
              <a:t> LAMP</a:t>
            </a: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a:latin typeface="宋体" panose="02010600030101010101" pitchFamily="2" charset="-122"/>
                <a:ea typeface="宋体" panose="02010600030101010101" pitchFamily="2" charset="-122"/>
                <a:cs typeface="宋体" panose="02010600030101010101" pitchFamily="2" charset="-122"/>
              </a:rPr>
              <a:t>Linux + Apache + MySQL + PHP</a:t>
            </a:r>
            <a:r>
              <a:rPr lang="zh-CN" altLang="en-US" sz="2000" dirty="0">
                <a:latin typeface="宋体" panose="02010600030101010101" pitchFamily="2" charset="-122"/>
                <a:ea typeface="宋体" panose="02010600030101010101" pitchFamily="2" charset="-122"/>
                <a:cs typeface="宋体" panose="02010600030101010101" pitchFamily="2" charset="-122"/>
              </a:rPr>
              <a:t>）或</a:t>
            </a:r>
            <a:r>
              <a:rPr lang="en-US" altLang="zh-CN" sz="2000" dirty="0">
                <a:latin typeface="宋体" panose="02010600030101010101" pitchFamily="2" charset="-122"/>
                <a:ea typeface="宋体" panose="02010600030101010101" pitchFamily="2" charset="-122"/>
                <a:cs typeface="宋体" panose="02010600030101010101" pitchFamily="2" charset="-122"/>
              </a:rPr>
              <a:t> LNMP</a:t>
            </a: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a:latin typeface="宋体" panose="02010600030101010101" pitchFamily="2" charset="-122"/>
                <a:ea typeface="宋体" panose="02010600030101010101" pitchFamily="2" charset="-122"/>
                <a:cs typeface="宋体" panose="02010600030101010101" pitchFamily="2" charset="-122"/>
              </a:rPr>
              <a:t>Linux + Nginx+ MySQL + PHP</a:t>
            </a:r>
            <a:r>
              <a:rPr lang="zh-CN" altLang="en-US" sz="2000" dirty="0">
                <a:latin typeface="宋体" panose="02010600030101010101" pitchFamily="2" charset="-122"/>
                <a:ea typeface="宋体" panose="02010600030101010101" pitchFamily="2" charset="-122"/>
                <a:cs typeface="宋体" panose="02010600030101010101" pitchFamily="2" charset="-122"/>
              </a:rPr>
              <a:t>）组合。</a:t>
            </a:r>
            <a:r>
              <a:rPr lang="en-US" altLang="zh-CN" sz="2000" dirty="0">
                <a:latin typeface="宋体" panose="02010600030101010101" pitchFamily="2" charset="-122"/>
                <a:ea typeface="宋体" panose="02010600030101010101" pitchFamily="2" charset="-122"/>
                <a:cs typeface="宋体" panose="02010600030101010101" pitchFamily="2" charset="-122"/>
              </a:rPr>
              <a:t>Linux</a:t>
            </a:r>
            <a:r>
              <a:rPr lang="zh-CN" altLang="en-US" sz="2000" dirty="0">
                <a:latin typeface="宋体" panose="02010600030101010101" pitchFamily="2" charset="-122"/>
                <a:ea typeface="宋体" panose="02010600030101010101" pitchFamily="2" charset="-122"/>
                <a:cs typeface="宋体" panose="02010600030101010101" pitchFamily="2" charset="-122"/>
              </a:rPr>
              <a:t>具有以下有点：</a:t>
            </a:r>
          </a:p>
          <a:p>
            <a:pPr indent="457200" fontAlgn="auto">
              <a:spcAft>
                <a:spcPts val="0"/>
              </a:spcAft>
            </a:pPr>
            <a:endParaRPr lang="en-US" altLang="zh-CN" sz="2000" dirty="0">
              <a:latin typeface="宋体" panose="02010600030101010101" pitchFamily="2" charset="-122"/>
              <a:ea typeface="宋体" panose="02010600030101010101" pitchFamily="2" charset="-122"/>
              <a:cs typeface="宋体" panose="02010600030101010101" pitchFamily="2" charset="-122"/>
            </a:endParaRPr>
          </a:p>
        </p:txBody>
      </p:sp>
      <p:sp>
        <p:nvSpPr>
          <p:cNvPr id="7" name="文本框 6"/>
          <p:cNvSpPr txBox="1"/>
          <p:nvPr/>
        </p:nvSpPr>
        <p:spPr>
          <a:xfrm>
            <a:off x="1631315" y="2853055"/>
            <a:ext cx="8867140" cy="3415030"/>
          </a:xfrm>
          <a:prstGeom prst="rect">
            <a:avLst/>
          </a:prstGeom>
          <a:noFill/>
        </p:spPr>
        <p:txBody>
          <a:bodyPr wrap="square" rtlCol="0">
            <a:spAutoFit/>
          </a:bodyPr>
          <a:lstStyle/>
          <a:p>
            <a:r>
              <a:rPr lang="en-US" altLang="zh-CN">
                <a:sym typeface="+mn-ea"/>
              </a:rPr>
              <a:t>•</a:t>
            </a:r>
            <a:r>
              <a:rPr lang="zh-CN" altLang="en-US"/>
              <a:t>免费：无需购买许可证，且可自由使用和分发</a:t>
            </a:r>
          </a:p>
          <a:p>
            <a:endParaRPr lang="zh-CN" altLang="en-US"/>
          </a:p>
          <a:p>
            <a:r>
              <a:rPr lang="en-US" altLang="zh-CN">
                <a:sym typeface="+mn-ea"/>
              </a:rPr>
              <a:t>•</a:t>
            </a:r>
            <a:r>
              <a:rPr lang="zh-CN" altLang="en-US"/>
              <a:t>开源：源代码完全公开，用户或开发者可以查看、修改和优化代码，满足特定需求</a:t>
            </a:r>
          </a:p>
          <a:p>
            <a:endParaRPr lang="zh-CN" altLang="en-US"/>
          </a:p>
          <a:p>
            <a:r>
              <a:rPr lang="en-US" altLang="zh-CN">
                <a:sym typeface="+mn-ea"/>
              </a:rPr>
              <a:t>•</a:t>
            </a:r>
            <a:r>
              <a:rPr lang="en-US" altLang="zh-CN"/>
              <a:t> </a:t>
            </a:r>
            <a:r>
              <a:rPr lang="zh-CN" altLang="en-US"/>
              <a:t>稳定性高：</a:t>
            </a:r>
            <a:r>
              <a:rPr lang="en-US" altLang="zh-CN"/>
              <a:t>Linux </a:t>
            </a:r>
            <a:r>
              <a:rPr lang="zh-CN" altLang="en-US"/>
              <a:t>服务器常用于云计算、数据中心等场景，可长时间运行不崩溃，且资源占用低</a:t>
            </a:r>
          </a:p>
          <a:p>
            <a:endParaRPr lang="zh-CN" altLang="en-US"/>
          </a:p>
          <a:p>
            <a:r>
              <a:rPr lang="en-US" altLang="zh-CN">
                <a:sym typeface="+mn-ea"/>
              </a:rPr>
              <a:t>•</a:t>
            </a:r>
            <a:r>
              <a:rPr lang="zh-CN" altLang="en-US"/>
              <a:t>安全性强：权限管理严格，默认采用用户权限分离机制，默认关闭不必要的服务和端口，减少被攻击的风险</a:t>
            </a:r>
          </a:p>
          <a:p>
            <a:endParaRPr lang="zh-CN" altLang="en-US"/>
          </a:p>
          <a:p>
            <a:r>
              <a:rPr lang="en-US" altLang="zh-CN">
                <a:sym typeface="+mn-ea"/>
              </a:rPr>
              <a:t>•</a:t>
            </a:r>
            <a:r>
              <a:rPr lang="zh-CN" altLang="en-US"/>
              <a:t>社区支持丰富：开源社区推动了大量工具和框架的发展（如</a:t>
            </a:r>
            <a:r>
              <a:rPr lang="en-US" altLang="zh-CN"/>
              <a:t> Docker</a:t>
            </a:r>
            <a:r>
              <a:rPr lang="zh-CN" altLang="en-US"/>
              <a:t>、</a:t>
            </a:r>
            <a:r>
              <a:rPr lang="en-US" altLang="zh-CN"/>
              <a:t>Kubernetes</a:t>
            </a:r>
            <a:r>
              <a:rPr lang="zh-CN" altLang="en-US"/>
              <a:t>），形成庞大的生态系统</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en-US" altLang="zh-CN" sz="3200"/>
              <a:t>Linux</a:t>
            </a:r>
            <a:endParaRPr lang="zh-CN" altLang="en-US" sz="3200"/>
          </a:p>
          <a:p>
            <a:pPr indent="457200"/>
            <a:endParaRPr lang="en-US" altLang="zh-CN" sz="2400"/>
          </a:p>
        </p:txBody>
      </p:sp>
      <p:sp>
        <p:nvSpPr>
          <p:cNvPr id="6" name="Title 1"/>
          <p:cNvSpPr txBox="1"/>
          <p:nvPr/>
        </p:nvSpPr>
        <p:spPr>
          <a:xfrm>
            <a:off x="1271270" y="1628775"/>
            <a:ext cx="941705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dirty="0">
                <a:latin typeface="宋体" panose="02010600030101010101" pitchFamily="2" charset="-122"/>
                <a:ea typeface="宋体" panose="02010600030101010101" pitchFamily="2" charset="-122"/>
                <a:cs typeface="宋体" panose="02010600030101010101" pitchFamily="2" charset="-122"/>
              </a:rPr>
              <a:t>Linux </a:t>
            </a:r>
            <a:r>
              <a:rPr lang="zh-CN" altLang="en-US" sz="2000" dirty="0">
                <a:latin typeface="宋体" panose="02010600030101010101" pitchFamily="2" charset="-122"/>
                <a:ea typeface="宋体" panose="02010600030101010101" pitchFamily="2" charset="-122"/>
                <a:cs typeface="宋体" panose="02010600030101010101" pitchFamily="2" charset="-122"/>
              </a:rPr>
              <a:t>的发行版说简单点就是将</a:t>
            </a:r>
            <a:r>
              <a:rPr lang="en-US" altLang="zh-CN" sz="2000" dirty="0">
                <a:latin typeface="宋体" panose="02010600030101010101" pitchFamily="2" charset="-122"/>
                <a:ea typeface="宋体" panose="02010600030101010101" pitchFamily="2" charset="-122"/>
                <a:cs typeface="宋体" panose="02010600030101010101" pitchFamily="2" charset="-122"/>
              </a:rPr>
              <a:t> Linux </a:t>
            </a:r>
            <a:r>
              <a:rPr lang="zh-CN" altLang="en-US" sz="2000" dirty="0">
                <a:latin typeface="宋体" panose="02010600030101010101" pitchFamily="2" charset="-122"/>
                <a:ea typeface="宋体" panose="02010600030101010101" pitchFamily="2" charset="-122"/>
                <a:cs typeface="宋体" panose="02010600030101010101" pitchFamily="2" charset="-122"/>
              </a:rPr>
              <a:t>内核与应用软件做一个打包，目前市面上较知名的发行版有：</a:t>
            </a:r>
            <a:r>
              <a:rPr lang="en-US" altLang="zh-CN" sz="2000" dirty="0">
                <a:latin typeface="宋体" panose="02010600030101010101" pitchFamily="2" charset="-122"/>
                <a:ea typeface="宋体" panose="02010600030101010101" pitchFamily="2" charset="-122"/>
                <a:cs typeface="宋体" panose="02010600030101010101" pitchFamily="2" charset="-122"/>
              </a:rPr>
              <a:t>Ubuntu</a:t>
            </a: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a:latin typeface="宋体" panose="02010600030101010101" pitchFamily="2" charset="-122"/>
                <a:ea typeface="宋体" panose="02010600030101010101" pitchFamily="2" charset="-122"/>
                <a:cs typeface="宋体" panose="02010600030101010101" pitchFamily="2" charset="-122"/>
              </a:rPr>
              <a:t>RedHat</a:t>
            </a: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a:latin typeface="宋体" panose="02010600030101010101" pitchFamily="2" charset="-122"/>
                <a:ea typeface="宋体" panose="02010600030101010101" pitchFamily="2" charset="-122"/>
                <a:cs typeface="宋体" panose="02010600030101010101" pitchFamily="2" charset="-122"/>
              </a:rPr>
              <a:t>CentOS</a:t>
            </a: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a:latin typeface="宋体" panose="02010600030101010101" pitchFamily="2" charset="-122"/>
                <a:ea typeface="宋体" panose="02010600030101010101" pitchFamily="2" charset="-122"/>
                <a:cs typeface="宋体" panose="02010600030101010101" pitchFamily="2" charset="-122"/>
              </a:rPr>
              <a:t>Debian</a:t>
            </a: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a:latin typeface="宋体" panose="02010600030101010101" pitchFamily="2" charset="-122"/>
                <a:ea typeface="宋体" panose="02010600030101010101" pitchFamily="2" charset="-122"/>
                <a:cs typeface="宋体" panose="02010600030101010101" pitchFamily="2" charset="-122"/>
              </a:rPr>
              <a:t>Fedora</a:t>
            </a: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a:latin typeface="宋体" panose="02010600030101010101" pitchFamily="2" charset="-122"/>
                <a:ea typeface="宋体" panose="02010600030101010101" pitchFamily="2" charset="-122"/>
                <a:cs typeface="宋体" panose="02010600030101010101" pitchFamily="2" charset="-122"/>
              </a:rPr>
              <a:t>SuSE</a:t>
            </a: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a:latin typeface="宋体" panose="02010600030101010101" pitchFamily="2" charset="-122"/>
                <a:ea typeface="宋体" panose="02010600030101010101" pitchFamily="2" charset="-122"/>
                <a:cs typeface="宋体" panose="02010600030101010101" pitchFamily="2" charset="-122"/>
              </a:rPr>
              <a:t>OpenSUSE</a:t>
            </a: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a:latin typeface="宋体" panose="02010600030101010101" pitchFamily="2" charset="-122"/>
                <a:ea typeface="宋体" panose="02010600030101010101" pitchFamily="2" charset="-122"/>
                <a:cs typeface="宋体" panose="02010600030101010101" pitchFamily="2" charset="-122"/>
              </a:rPr>
              <a:t>Arch Linux</a:t>
            </a: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a:latin typeface="宋体" panose="02010600030101010101" pitchFamily="2" charset="-122"/>
                <a:ea typeface="宋体" panose="02010600030101010101" pitchFamily="2" charset="-122"/>
                <a:cs typeface="宋体" panose="02010600030101010101" pitchFamily="2" charset="-122"/>
              </a:rPr>
              <a:t>SolusOS </a:t>
            </a:r>
            <a:r>
              <a:rPr lang="zh-CN" altLang="en-US" sz="2000" dirty="0">
                <a:latin typeface="宋体" panose="02010600030101010101" pitchFamily="2" charset="-122"/>
                <a:ea typeface="宋体" panose="02010600030101010101" pitchFamily="2" charset="-122"/>
                <a:cs typeface="宋体" panose="02010600030101010101" pitchFamily="2" charset="-122"/>
              </a:rPr>
              <a:t>等。</a:t>
            </a:r>
          </a:p>
        </p:txBody>
      </p:sp>
      <p:pic>
        <p:nvPicPr>
          <p:cNvPr id="7" name="图片 6"/>
          <p:cNvPicPr>
            <a:picLocks noChangeAspect="1"/>
          </p:cNvPicPr>
          <p:nvPr/>
        </p:nvPicPr>
        <p:blipFill>
          <a:blip r:embed="rId3"/>
          <a:stretch>
            <a:fillRect/>
          </a:stretch>
        </p:blipFill>
        <p:spPr>
          <a:xfrm>
            <a:off x="2279650" y="2983230"/>
            <a:ext cx="7534275" cy="259778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en-US" altLang="zh-CN" sz="3200"/>
              <a:t>Linux</a:t>
            </a:r>
            <a:endParaRPr lang="zh-CN" altLang="en-US" sz="3200"/>
          </a:p>
          <a:p>
            <a:pPr indent="457200"/>
            <a:endParaRPr lang="en-US" altLang="zh-CN" sz="2400"/>
          </a:p>
        </p:txBody>
      </p:sp>
      <p:sp>
        <p:nvSpPr>
          <p:cNvPr id="6" name="Title 1"/>
          <p:cNvSpPr txBox="1"/>
          <p:nvPr/>
        </p:nvSpPr>
        <p:spPr>
          <a:xfrm>
            <a:off x="1271270" y="1628775"/>
            <a:ext cx="941705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a:sym typeface="+mn-ea"/>
              </a:rPr>
              <a:t>•</a:t>
            </a:r>
            <a:r>
              <a:rPr lang="zh-CN" altLang="en-US" sz="2000" dirty="0">
                <a:latin typeface="宋体" panose="02010600030101010101" pitchFamily="2" charset="-122"/>
                <a:ea typeface="宋体" panose="02010600030101010101" pitchFamily="2" charset="-122"/>
                <a:cs typeface="宋体" panose="02010600030101010101" pitchFamily="2" charset="-122"/>
              </a:rPr>
              <a:t>红帽企业版</a:t>
            </a:r>
            <a:r>
              <a:rPr lang="en-US" altLang="zh-CN" sz="2000" dirty="0">
                <a:latin typeface="宋体" panose="02010600030101010101" pitchFamily="2" charset="-122"/>
                <a:ea typeface="宋体" panose="02010600030101010101" pitchFamily="2" charset="-122"/>
                <a:cs typeface="宋体" panose="02010600030101010101" pitchFamily="2" charset="-122"/>
              </a:rPr>
              <a:t> Linux</a:t>
            </a: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a:latin typeface="宋体" panose="02010600030101010101" pitchFamily="2" charset="-122"/>
                <a:ea typeface="宋体" panose="02010600030101010101" pitchFamily="2" charset="-122"/>
                <a:cs typeface="宋体" panose="02010600030101010101" pitchFamily="2" charset="-122"/>
              </a:rPr>
              <a:t>RHEL</a:t>
            </a:r>
            <a:r>
              <a:rPr lang="zh-CN" altLang="en-US" sz="2000" dirty="0">
                <a:latin typeface="宋体" panose="02010600030101010101" pitchFamily="2" charset="-122"/>
                <a:ea typeface="宋体" panose="02010600030101010101" pitchFamily="2" charset="-122"/>
                <a:cs typeface="宋体" panose="02010600030101010101" pitchFamily="2" charset="-122"/>
              </a:rPr>
              <a:t>是全世界内</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使用最广泛的</a:t>
            </a:r>
            <a:r>
              <a:rPr lang="en-US" altLang="zh-CN"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 Linux</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系统</a:t>
            </a:r>
            <a:r>
              <a:rPr lang="zh-CN" altLang="en-US" sz="2000" dirty="0">
                <a:latin typeface="宋体" panose="02010600030101010101" pitchFamily="2" charset="-122"/>
                <a:ea typeface="宋体" panose="02010600030101010101" pitchFamily="2" charset="-122"/>
                <a:cs typeface="宋体" panose="02010600030101010101" pitchFamily="2" charset="-122"/>
              </a:rPr>
              <a:t>。它具有极强的性能与稳定性，是众多生成环境中使用的（</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收费的</a:t>
            </a:r>
            <a:r>
              <a:rPr lang="zh-CN" altLang="en-US" sz="2000" dirty="0">
                <a:latin typeface="宋体" panose="02010600030101010101" pitchFamily="2" charset="-122"/>
                <a:ea typeface="宋体" panose="02010600030101010101" pitchFamily="2" charset="-122"/>
                <a:cs typeface="宋体" panose="02010600030101010101" pitchFamily="2" charset="-122"/>
              </a:rPr>
              <a:t>）系统。</a:t>
            </a:r>
          </a:p>
          <a:p>
            <a:pPr indent="457200" fontAlgn="auto">
              <a:spcAft>
                <a:spcPts val="0"/>
              </a:spcAft>
            </a:pPr>
            <a:endParaRPr lang="en-US" altLang="zh-CN" sz="2000" dirty="0">
              <a:latin typeface="宋体" panose="02010600030101010101" pitchFamily="2" charset="-122"/>
              <a:ea typeface="宋体" panose="02010600030101010101" pitchFamily="2" charset="-122"/>
              <a:cs typeface="宋体" panose="02010600030101010101" pitchFamily="2" charset="-122"/>
            </a:endParaRPr>
          </a:p>
          <a:p>
            <a:pPr indent="457200" fontAlgn="auto">
              <a:spcAft>
                <a:spcPts val="0"/>
              </a:spcAft>
            </a:pPr>
            <a:r>
              <a:rPr lang="en-US" altLang="zh-CN" sz="2000">
                <a:sym typeface="+mn-ea"/>
              </a:rPr>
              <a:t>•</a:t>
            </a:r>
            <a:r>
              <a:rPr lang="en-US" altLang="zh-CN" sz="2000" dirty="0">
                <a:latin typeface="宋体" panose="02010600030101010101" pitchFamily="2" charset="-122"/>
                <a:ea typeface="宋体" panose="02010600030101010101" pitchFamily="2" charset="-122"/>
                <a:cs typeface="宋体" panose="02010600030101010101" pitchFamily="2" charset="-122"/>
              </a:rPr>
              <a:t>Fedora </a:t>
            </a:r>
            <a:r>
              <a:rPr lang="zh-CN" altLang="en-US" sz="2000" dirty="0">
                <a:latin typeface="宋体" panose="02010600030101010101" pitchFamily="2" charset="-122"/>
                <a:ea typeface="宋体" panose="02010600030101010101" pitchFamily="2" charset="-122"/>
                <a:cs typeface="宋体" panose="02010600030101010101" pitchFamily="2" charset="-122"/>
              </a:rPr>
              <a:t>：由红帽公司发布的桌面版系统套件，用户可以免费体验到最新的技术或工具，这些技术或工具在成熟后会被加入到</a:t>
            </a:r>
            <a:r>
              <a:rPr lang="en-US" altLang="zh-CN" sz="2000" dirty="0">
                <a:latin typeface="宋体" panose="02010600030101010101" pitchFamily="2" charset="-122"/>
                <a:ea typeface="宋体" panose="02010600030101010101" pitchFamily="2" charset="-122"/>
                <a:cs typeface="宋体" panose="02010600030101010101" pitchFamily="2" charset="-122"/>
              </a:rPr>
              <a:t>RHEL</a:t>
            </a:r>
            <a:r>
              <a:rPr lang="zh-CN" altLang="en-US" sz="2000" dirty="0">
                <a:latin typeface="宋体" panose="02010600030101010101" pitchFamily="2" charset="-122"/>
                <a:ea typeface="宋体" panose="02010600030101010101" pitchFamily="2" charset="-122"/>
                <a:cs typeface="宋体" panose="02010600030101010101" pitchFamily="2" charset="-122"/>
              </a:rPr>
              <a:t>系统中，因此</a:t>
            </a:r>
            <a:r>
              <a:rPr lang="en-US" altLang="zh-CN" sz="2000" dirty="0">
                <a:latin typeface="宋体" panose="02010600030101010101" pitchFamily="2" charset="-122"/>
                <a:ea typeface="宋体" panose="02010600030101010101" pitchFamily="2" charset="-122"/>
                <a:cs typeface="宋体" panose="02010600030101010101" pitchFamily="2" charset="-122"/>
              </a:rPr>
              <a:t> Fedora</a:t>
            </a:r>
            <a:r>
              <a:rPr lang="zh-CN" altLang="en-US" sz="2000" dirty="0">
                <a:latin typeface="宋体" panose="02010600030101010101" pitchFamily="2" charset="-122"/>
                <a:ea typeface="宋体" panose="02010600030101010101" pitchFamily="2" charset="-122"/>
                <a:cs typeface="宋体" panose="02010600030101010101" pitchFamily="2" charset="-122"/>
              </a:rPr>
              <a:t>也成为</a:t>
            </a:r>
            <a:r>
              <a:rPr lang="en-US" altLang="zh-CN"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RHEL</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系统的试验版本</a:t>
            </a:r>
            <a:r>
              <a:rPr lang="zh-CN" altLang="en-US" sz="2000" dirty="0">
                <a:latin typeface="宋体" panose="02010600030101010101" pitchFamily="2" charset="-122"/>
                <a:ea typeface="宋体" panose="02010600030101010101" pitchFamily="2" charset="-122"/>
                <a:cs typeface="宋体" panose="02010600030101010101" pitchFamily="2" charset="-122"/>
              </a:rPr>
              <a:t>。</a:t>
            </a:r>
          </a:p>
          <a:p>
            <a:pPr indent="457200" fontAlgn="auto">
              <a:spcAft>
                <a:spcPts val="0"/>
              </a:spcAft>
            </a:pPr>
            <a:endParaRPr lang="en-US" altLang="zh-CN" sz="2000" dirty="0">
              <a:latin typeface="宋体" panose="02010600030101010101" pitchFamily="2" charset="-122"/>
              <a:ea typeface="宋体" panose="02010600030101010101" pitchFamily="2" charset="-122"/>
              <a:cs typeface="宋体" panose="02010600030101010101" pitchFamily="2" charset="-122"/>
            </a:endParaRPr>
          </a:p>
          <a:p>
            <a:pPr indent="457200" fontAlgn="auto">
              <a:spcAft>
                <a:spcPts val="0"/>
              </a:spcAft>
            </a:pPr>
            <a:r>
              <a:rPr lang="en-US" altLang="zh-CN" sz="2000">
                <a:sym typeface="+mn-ea"/>
              </a:rPr>
              <a:t>•</a:t>
            </a:r>
            <a:r>
              <a:rPr lang="en-US" altLang="zh-CN" sz="2000" dirty="0">
                <a:latin typeface="宋体" panose="02010600030101010101" pitchFamily="2" charset="-122"/>
                <a:ea typeface="宋体" panose="02010600030101010101" pitchFamily="2" charset="-122"/>
                <a:cs typeface="宋体" panose="02010600030101010101" pitchFamily="2" charset="-122"/>
              </a:rPr>
              <a:t>CentOS </a:t>
            </a:r>
            <a:r>
              <a:rPr lang="zh-CN" altLang="en-US" sz="2000" dirty="0">
                <a:latin typeface="宋体" panose="02010600030101010101" pitchFamily="2" charset="-122"/>
                <a:ea typeface="宋体" panose="02010600030101010101" pitchFamily="2" charset="-122"/>
                <a:cs typeface="宋体" panose="02010600030101010101" pitchFamily="2" charset="-122"/>
              </a:rPr>
              <a:t>：通过把</a:t>
            </a:r>
            <a:r>
              <a:rPr lang="en-US" altLang="zh-CN" sz="2000" dirty="0">
                <a:latin typeface="宋体" panose="02010600030101010101" pitchFamily="2" charset="-122"/>
                <a:ea typeface="宋体" panose="02010600030101010101" pitchFamily="2" charset="-122"/>
                <a:cs typeface="宋体" panose="02010600030101010101" pitchFamily="2" charset="-122"/>
              </a:rPr>
              <a:t>RHEL</a:t>
            </a:r>
            <a:r>
              <a:rPr lang="zh-CN" altLang="en-US" sz="2000" dirty="0">
                <a:latin typeface="宋体" panose="02010600030101010101" pitchFamily="2" charset="-122"/>
                <a:ea typeface="宋体" panose="02010600030101010101" pitchFamily="2" charset="-122"/>
                <a:cs typeface="宋体" panose="02010600030101010101" pitchFamily="2" charset="-122"/>
              </a:rPr>
              <a:t>系统重新编译并发布给用户免费使用的</a:t>
            </a:r>
            <a:r>
              <a:rPr lang="en-US" altLang="zh-CN" sz="2000" dirty="0">
                <a:latin typeface="宋体" panose="02010600030101010101" pitchFamily="2" charset="-122"/>
                <a:ea typeface="宋体" panose="02010600030101010101" pitchFamily="2" charset="-122"/>
                <a:cs typeface="宋体" panose="02010600030101010101" pitchFamily="2" charset="-122"/>
              </a:rPr>
              <a:t> Linux</a:t>
            </a:r>
            <a:r>
              <a:rPr lang="zh-CN" altLang="en-US" sz="2000" dirty="0">
                <a:latin typeface="宋体" panose="02010600030101010101" pitchFamily="2" charset="-122"/>
                <a:ea typeface="宋体" panose="02010600030101010101" pitchFamily="2" charset="-122"/>
                <a:cs typeface="宋体" panose="02010600030101010101" pitchFamily="2" charset="-122"/>
              </a:rPr>
              <a:t>系统，具有广泛的使用人群。</a:t>
            </a:r>
          </a:p>
          <a:p>
            <a:pPr indent="457200" fontAlgn="auto">
              <a:spcAft>
                <a:spcPts val="0"/>
              </a:spcAft>
            </a:pPr>
            <a:endParaRPr lang="en-US" altLang="zh-CN" sz="2000" dirty="0">
              <a:latin typeface="宋体" panose="02010600030101010101" pitchFamily="2" charset="-122"/>
              <a:ea typeface="宋体" panose="02010600030101010101" pitchFamily="2" charset="-122"/>
              <a:cs typeface="宋体" panose="02010600030101010101" pitchFamily="2" charset="-122"/>
            </a:endParaRPr>
          </a:p>
          <a:p>
            <a:pPr indent="457200" fontAlgn="auto">
              <a:spcAft>
                <a:spcPts val="0"/>
              </a:spcAft>
            </a:pPr>
            <a:r>
              <a:rPr lang="en-US" altLang="zh-CN" sz="2000">
                <a:sym typeface="+mn-ea"/>
              </a:rPr>
              <a:t>•</a:t>
            </a:r>
            <a:r>
              <a:rPr lang="en-US" altLang="zh-CN" sz="2000" dirty="0">
                <a:latin typeface="宋体" panose="02010600030101010101" pitchFamily="2" charset="-122"/>
                <a:ea typeface="宋体" panose="02010600030101010101" pitchFamily="2" charset="-122"/>
                <a:cs typeface="宋体" panose="02010600030101010101" pitchFamily="2" charset="-122"/>
              </a:rPr>
              <a:t>Deepin </a:t>
            </a:r>
            <a:r>
              <a:rPr lang="zh-CN" altLang="en-US" sz="2000" dirty="0">
                <a:latin typeface="宋体" panose="02010600030101010101" pitchFamily="2" charset="-122"/>
                <a:ea typeface="宋体" panose="02010600030101010101" pitchFamily="2" charset="-122"/>
                <a:cs typeface="宋体" panose="02010600030101010101" pitchFamily="2" charset="-122"/>
              </a:rPr>
              <a:t>：中国发行，对优秀的开源成品进行集成和配置。</a:t>
            </a:r>
          </a:p>
          <a:p>
            <a:pPr indent="457200" fontAlgn="auto">
              <a:spcAft>
                <a:spcPts val="0"/>
              </a:spcAft>
            </a:pPr>
            <a:endParaRPr lang="en-US" altLang="zh-CN" sz="2000" dirty="0">
              <a:latin typeface="宋体" panose="02010600030101010101" pitchFamily="2" charset="-122"/>
              <a:ea typeface="宋体" panose="02010600030101010101" pitchFamily="2" charset="-122"/>
              <a:cs typeface="宋体" panose="02010600030101010101" pitchFamily="2" charset="-122"/>
            </a:endParaRPr>
          </a:p>
          <a:p>
            <a:pPr indent="457200" fontAlgn="auto">
              <a:spcAft>
                <a:spcPts val="0"/>
              </a:spcAft>
            </a:pPr>
            <a:r>
              <a:rPr lang="en-US" altLang="zh-CN" sz="2000">
                <a:sym typeface="+mn-ea"/>
              </a:rPr>
              <a:t>•</a:t>
            </a:r>
            <a:r>
              <a:rPr lang="en-US" altLang="zh-CN" sz="2000" dirty="0">
                <a:latin typeface="宋体" panose="02010600030101010101" pitchFamily="2" charset="-122"/>
                <a:ea typeface="宋体" panose="02010600030101010101" pitchFamily="2" charset="-122"/>
                <a:cs typeface="宋体" panose="02010600030101010101" pitchFamily="2" charset="-122"/>
              </a:rPr>
              <a:t>Debian </a:t>
            </a: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稳定性、安全性强</a:t>
            </a:r>
            <a:r>
              <a:rPr lang="zh-CN" altLang="en-US" sz="2000" dirty="0">
                <a:latin typeface="宋体" panose="02010600030101010101" pitchFamily="2" charset="-122"/>
                <a:ea typeface="宋体" panose="02010600030101010101" pitchFamily="2" charset="-122"/>
                <a:cs typeface="宋体" panose="02010600030101010101" pitchFamily="2" charset="-122"/>
              </a:rPr>
              <a:t>，提供了免费的基础支持，在国外拥有很高的认可度和使用率。</a:t>
            </a:r>
          </a:p>
          <a:p>
            <a:pPr indent="457200" fontAlgn="auto">
              <a:spcAft>
                <a:spcPts val="0"/>
              </a:spcAft>
            </a:pPr>
            <a:endParaRPr lang="en-US" altLang="zh-CN" sz="2000" dirty="0">
              <a:latin typeface="宋体" panose="02010600030101010101" pitchFamily="2" charset="-122"/>
              <a:ea typeface="宋体" panose="02010600030101010101" pitchFamily="2" charset="-122"/>
              <a:cs typeface="宋体" panose="02010600030101010101" pitchFamily="2" charset="-122"/>
            </a:endParaRPr>
          </a:p>
          <a:p>
            <a:pPr indent="457200" fontAlgn="auto">
              <a:spcAft>
                <a:spcPts val="0"/>
              </a:spcAft>
            </a:pPr>
            <a:r>
              <a:rPr lang="en-US" altLang="zh-CN" sz="2000">
                <a:sym typeface="+mn-ea"/>
              </a:rPr>
              <a:t>•</a:t>
            </a:r>
            <a:r>
              <a:rPr lang="en-US" altLang="zh-CN" sz="2000" dirty="0">
                <a:latin typeface="宋体" panose="02010600030101010101" pitchFamily="2" charset="-122"/>
                <a:ea typeface="宋体" panose="02010600030101010101" pitchFamily="2" charset="-122"/>
                <a:cs typeface="宋体" panose="02010600030101010101" pitchFamily="2" charset="-122"/>
              </a:rPr>
              <a:t>Ubuntu </a:t>
            </a:r>
            <a:r>
              <a:rPr lang="zh-CN" altLang="en-US" sz="2000" dirty="0">
                <a:latin typeface="宋体" panose="02010600030101010101" pitchFamily="2" charset="-122"/>
                <a:ea typeface="宋体" panose="02010600030101010101" pitchFamily="2" charset="-122"/>
                <a:cs typeface="宋体" panose="02010600030101010101" pitchFamily="2" charset="-122"/>
              </a:rPr>
              <a:t>：是一款派生自</a:t>
            </a:r>
            <a:r>
              <a:rPr lang="en-US" altLang="zh-CN" sz="2000" dirty="0">
                <a:latin typeface="宋体" panose="02010600030101010101" pitchFamily="2" charset="-122"/>
                <a:ea typeface="宋体" panose="02010600030101010101" pitchFamily="2" charset="-122"/>
                <a:cs typeface="宋体" panose="02010600030101010101" pitchFamily="2" charset="-122"/>
              </a:rPr>
              <a:t>Debian</a:t>
            </a:r>
            <a:r>
              <a:rPr lang="zh-CN" altLang="en-US" sz="2000" dirty="0">
                <a:latin typeface="宋体" panose="02010600030101010101" pitchFamily="2" charset="-122"/>
                <a:ea typeface="宋体" panose="02010600030101010101" pitchFamily="2" charset="-122"/>
                <a:cs typeface="宋体" panose="02010600030101010101" pitchFamily="2" charset="-122"/>
              </a:rPr>
              <a:t>的操作系统，对新款硬件具有极强的兼容能力。</a:t>
            </a:r>
            <a:r>
              <a:rPr lang="en-US" altLang="zh-CN" sz="2000" dirty="0">
                <a:latin typeface="宋体" panose="02010600030101010101" pitchFamily="2" charset="-122"/>
                <a:ea typeface="宋体" panose="02010600030101010101" pitchFamily="2" charset="-122"/>
                <a:cs typeface="宋体" panose="02010600030101010101" pitchFamily="2" charset="-122"/>
              </a:rPr>
              <a:t>Ubuntu</a:t>
            </a:r>
            <a:r>
              <a:rPr lang="zh-CN" altLang="en-US" sz="2000" dirty="0">
                <a:latin typeface="宋体" panose="02010600030101010101" pitchFamily="2" charset="-122"/>
                <a:ea typeface="宋体" panose="02010600030101010101" pitchFamily="2" charset="-122"/>
                <a:cs typeface="宋体" panose="02010600030101010101" pitchFamily="2" charset="-122"/>
              </a:rPr>
              <a:t>与</a:t>
            </a:r>
            <a:r>
              <a:rPr lang="en-US" altLang="zh-CN" sz="2000" dirty="0">
                <a:latin typeface="宋体" panose="02010600030101010101" pitchFamily="2" charset="-122"/>
                <a:ea typeface="宋体" panose="02010600030101010101" pitchFamily="2" charset="-122"/>
                <a:cs typeface="宋体" panose="02010600030101010101" pitchFamily="2" charset="-122"/>
              </a:rPr>
              <a:t>Fedora</a:t>
            </a:r>
            <a:r>
              <a:rPr lang="zh-CN" altLang="en-US" sz="2000" dirty="0">
                <a:latin typeface="宋体" panose="02010600030101010101" pitchFamily="2" charset="-122"/>
                <a:ea typeface="宋体" panose="02010600030101010101" pitchFamily="2" charset="-122"/>
                <a:cs typeface="宋体" panose="02010600030101010101" pitchFamily="2" charset="-122"/>
              </a:rPr>
              <a:t>都是极其出色的</a:t>
            </a:r>
            <a:r>
              <a:rPr lang="en-US" altLang="zh-CN" sz="2000" dirty="0">
                <a:latin typeface="宋体" panose="02010600030101010101" pitchFamily="2" charset="-122"/>
                <a:ea typeface="宋体" panose="02010600030101010101" pitchFamily="2" charset="-122"/>
                <a:cs typeface="宋体" panose="02010600030101010101" pitchFamily="2" charset="-122"/>
              </a:rPr>
              <a:t> Linux</a:t>
            </a:r>
            <a:r>
              <a:rPr lang="zh-CN" altLang="en-US" sz="2000" dirty="0">
                <a:latin typeface="宋体" panose="02010600030101010101" pitchFamily="2" charset="-122"/>
                <a:ea typeface="宋体" panose="02010600030101010101" pitchFamily="2" charset="-122"/>
                <a:cs typeface="宋体" panose="02010600030101010101" pitchFamily="2" charset="-122"/>
              </a:rPr>
              <a:t>桌面系统，而且</a:t>
            </a:r>
            <a:r>
              <a:rPr lang="en-US" altLang="zh-CN" sz="2000" dirty="0">
                <a:latin typeface="宋体" panose="02010600030101010101" pitchFamily="2" charset="-122"/>
                <a:ea typeface="宋体" panose="02010600030101010101" pitchFamily="2" charset="-122"/>
                <a:cs typeface="宋体" panose="02010600030101010101" pitchFamily="2" charset="-122"/>
              </a:rPr>
              <a:t> </a:t>
            </a:r>
            <a:r>
              <a:rPr lang="en-US" altLang="zh-CN"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Ubuntu</a:t>
            </a:r>
            <a:r>
              <a:rPr lang="zh-CN" altLang="en-US" sz="2000" dirty="0">
                <a:latin typeface="宋体" panose="02010600030101010101" pitchFamily="2" charset="-122"/>
                <a:ea typeface="宋体" panose="02010600030101010101" pitchFamily="2" charset="-122"/>
                <a:cs typeface="宋体" panose="02010600030101010101" pitchFamily="2" charset="-122"/>
              </a:rPr>
              <a:t>也可用于</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服务器领域</a:t>
            </a:r>
          </a:p>
          <a:p>
            <a:pPr indent="457200" fontAlgn="auto">
              <a:spcAft>
                <a:spcPts val="0"/>
              </a:spcAft>
            </a:pPr>
            <a:endPar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en-US" altLang="zh-CN" sz="3200"/>
              <a:t>Linux</a:t>
            </a:r>
            <a:endParaRPr lang="zh-CN" altLang="en-US" sz="3200"/>
          </a:p>
          <a:p>
            <a:pPr indent="457200"/>
            <a:endParaRPr lang="en-US" altLang="zh-CN" sz="2400"/>
          </a:p>
        </p:txBody>
      </p:sp>
      <p:sp>
        <p:nvSpPr>
          <p:cNvPr id="6" name="Title 1"/>
          <p:cNvSpPr txBox="1"/>
          <p:nvPr/>
        </p:nvSpPr>
        <p:spPr>
          <a:xfrm>
            <a:off x="1271270" y="1628775"/>
            <a:ext cx="941705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2000" dirty="0">
                <a:latin typeface="宋体" panose="02010600030101010101" pitchFamily="2" charset="-122"/>
                <a:ea typeface="宋体" panose="02010600030101010101" pitchFamily="2" charset="-122"/>
                <a:cs typeface="宋体" panose="02010600030101010101" pitchFamily="2" charset="-122"/>
              </a:rPr>
              <a:t>目前国内</a:t>
            </a:r>
            <a:r>
              <a:rPr lang="en-US" altLang="zh-CN" sz="2000" dirty="0">
                <a:latin typeface="宋体" panose="02010600030101010101" pitchFamily="2" charset="-122"/>
                <a:ea typeface="宋体" panose="02010600030101010101" pitchFamily="2" charset="-122"/>
                <a:cs typeface="宋体" panose="02010600030101010101" pitchFamily="2" charset="-122"/>
              </a:rPr>
              <a:t> Linux </a:t>
            </a:r>
            <a:r>
              <a:rPr lang="zh-CN" altLang="en-US" sz="2000" dirty="0">
                <a:latin typeface="宋体" panose="02010600030101010101" pitchFamily="2" charset="-122"/>
                <a:ea typeface="宋体" panose="02010600030101010101" pitchFamily="2" charset="-122"/>
                <a:cs typeface="宋体" panose="02010600030101010101" pitchFamily="2" charset="-122"/>
              </a:rPr>
              <a:t>更多的是应用于服务器上，而桌面操作系统更多使用的是</a:t>
            </a:r>
            <a:r>
              <a:rPr lang="en-US" altLang="zh-CN" sz="2000" dirty="0">
                <a:latin typeface="宋体" panose="02010600030101010101" pitchFamily="2" charset="-122"/>
                <a:ea typeface="宋体" panose="02010600030101010101" pitchFamily="2" charset="-122"/>
                <a:cs typeface="宋体" panose="02010600030101010101" pitchFamily="2" charset="-122"/>
              </a:rPr>
              <a:t> Windows</a:t>
            </a:r>
            <a:r>
              <a:rPr lang="zh-CN" altLang="en-US" sz="2000" dirty="0">
                <a:latin typeface="宋体" panose="02010600030101010101" pitchFamily="2" charset="-122"/>
                <a:ea typeface="宋体" panose="02010600030101010101" pitchFamily="2" charset="-122"/>
                <a:cs typeface="宋体" panose="02010600030101010101" pitchFamily="2" charset="-122"/>
              </a:rPr>
              <a:t>。主要区别如下：</a:t>
            </a:r>
          </a:p>
        </p:txBody>
      </p:sp>
      <p:pic>
        <p:nvPicPr>
          <p:cNvPr id="5" name="图片 4"/>
          <p:cNvPicPr>
            <a:picLocks noChangeAspect="1"/>
          </p:cNvPicPr>
          <p:nvPr/>
        </p:nvPicPr>
        <p:blipFill>
          <a:blip r:embed="rId3"/>
          <a:stretch>
            <a:fillRect/>
          </a:stretch>
        </p:blipFill>
        <p:spPr>
          <a:xfrm>
            <a:off x="1919605" y="2420620"/>
            <a:ext cx="8096250" cy="415861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en-US" altLang="zh-CN" sz="3200"/>
              <a:t>Linux</a:t>
            </a:r>
            <a:r>
              <a:rPr lang="zh-CN" altLang="en-US" sz="3200"/>
              <a:t>系统启动过程</a:t>
            </a:r>
          </a:p>
          <a:p>
            <a:pPr indent="457200"/>
            <a:endParaRPr lang="en-US" altLang="zh-CN" sz="2400"/>
          </a:p>
        </p:txBody>
      </p:sp>
      <p:sp>
        <p:nvSpPr>
          <p:cNvPr id="6" name="Title 1"/>
          <p:cNvSpPr txBox="1"/>
          <p:nvPr/>
        </p:nvSpPr>
        <p:spPr>
          <a:xfrm>
            <a:off x="1271270" y="1628775"/>
            <a:ext cx="941705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dirty="0">
                <a:latin typeface="宋体" panose="02010600030101010101" pitchFamily="2" charset="-122"/>
                <a:ea typeface="宋体" panose="02010600030101010101" pitchFamily="2" charset="-122"/>
                <a:cs typeface="宋体" panose="02010600030101010101" pitchFamily="2" charset="-122"/>
              </a:rPr>
              <a:t>linux</a:t>
            </a:r>
            <a:r>
              <a:rPr lang="zh-CN" altLang="en-US" sz="2000" dirty="0">
                <a:latin typeface="宋体" panose="02010600030101010101" pitchFamily="2" charset="-122"/>
                <a:ea typeface="宋体" panose="02010600030101010101" pitchFamily="2" charset="-122"/>
                <a:cs typeface="宋体" panose="02010600030101010101" pitchFamily="2" charset="-122"/>
              </a:rPr>
              <a:t>启动时可以看到许多启动信息。</a:t>
            </a:r>
            <a:r>
              <a:rPr lang="en-US" altLang="zh-CN" sz="2000" dirty="0">
                <a:latin typeface="宋体" panose="02010600030101010101" pitchFamily="2" charset="-122"/>
                <a:ea typeface="宋体" panose="02010600030101010101" pitchFamily="2" charset="-122"/>
                <a:cs typeface="宋体" panose="02010600030101010101" pitchFamily="2" charset="-122"/>
              </a:rPr>
              <a:t>Linux</a:t>
            </a:r>
            <a:r>
              <a:rPr lang="zh-CN" altLang="en-US" sz="2000" dirty="0">
                <a:latin typeface="宋体" panose="02010600030101010101" pitchFamily="2" charset="-122"/>
                <a:ea typeface="宋体" panose="02010600030101010101" pitchFamily="2" charset="-122"/>
                <a:cs typeface="宋体" panose="02010600030101010101" pitchFamily="2" charset="-122"/>
              </a:rPr>
              <a:t>系统的启动过程可以分为</a:t>
            </a:r>
            <a:r>
              <a:rPr lang="en-US" altLang="zh-CN" sz="2000" dirty="0">
                <a:latin typeface="宋体" panose="02010600030101010101" pitchFamily="2" charset="-122"/>
                <a:ea typeface="宋体" panose="02010600030101010101" pitchFamily="2" charset="-122"/>
                <a:cs typeface="宋体" panose="02010600030101010101" pitchFamily="2" charset="-122"/>
              </a:rPr>
              <a:t>5</a:t>
            </a:r>
            <a:r>
              <a:rPr lang="zh-CN" altLang="en-US" sz="2000" dirty="0">
                <a:latin typeface="宋体" panose="02010600030101010101" pitchFamily="2" charset="-122"/>
                <a:ea typeface="宋体" panose="02010600030101010101" pitchFamily="2" charset="-122"/>
                <a:cs typeface="宋体" panose="02010600030101010101" pitchFamily="2" charset="-122"/>
              </a:rPr>
              <a:t>个阶段：</a:t>
            </a:r>
          </a:p>
          <a:p>
            <a:pPr indent="457200" fontAlgn="auto">
              <a:spcAft>
                <a:spcPts val="0"/>
              </a:spcAft>
            </a:pPr>
            <a:endParaRPr lang="en-US" altLang="zh-CN" sz="2000" dirty="0">
              <a:latin typeface="宋体" panose="02010600030101010101" pitchFamily="2" charset="-122"/>
              <a:ea typeface="宋体" panose="02010600030101010101" pitchFamily="2" charset="-122"/>
              <a:cs typeface="宋体" panose="02010600030101010101" pitchFamily="2" charset="-122"/>
            </a:endParaRPr>
          </a:p>
          <a:p>
            <a:pPr indent="457200" fontAlgn="auto">
              <a:spcAft>
                <a:spcPts val="0"/>
              </a:spcAft>
            </a:pPr>
            <a:r>
              <a:rPr lang="en-US" altLang="zh-CN" sz="2000">
                <a:sym typeface="+mn-ea"/>
              </a:rPr>
              <a:t>•</a:t>
            </a:r>
            <a:r>
              <a:rPr lang="zh-CN" altLang="en-US" sz="2000" dirty="0">
                <a:latin typeface="宋体" panose="02010600030101010101" pitchFamily="2" charset="-122"/>
                <a:ea typeface="宋体" panose="02010600030101010101" pitchFamily="2" charset="-122"/>
                <a:cs typeface="宋体" panose="02010600030101010101" pitchFamily="2" charset="-122"/>
              </a:rPr>
              <a:t>内核的引导。</a:t>
            </a:r>
          </a:p>
          <a:p>
            <a:pPr indent="457200" fontAlgn="auto">
              <a:spcAft>
                <a:spcPts val="0"/>
              </a:spcAft>
            </a:pPr>
            <a:endParaRPr lang="en-US" altLang="zh-CN" sz="2000">
              <a:sym typeface="+mn-ea"/>
            </a:endParaRPr>
          </a:p>
          <a:p>
            <a:pPr indent="457200" fontAlgn="auto">
              <a:spcAft>
                <a:spcPts val="0"/>
              </a:spcAft>
            </a:pPr>
            <a:r>
              <a:rPr lang="en-US" altLang="zh-CN" sz="2000">
                <a:sym typeface="+mn-ea"/>
              </a:rPr>
              <a:t>•</a:t>
            </a:r>
            <a:r>
              <a:rPr lang="zh-CN" altLang="en-US" sz="2000" dirty="0">
                <a:latin typeface="宋体" panose="02010600030101010101" pitchFamily="2" charset="-122"/>
                <a:ea typeface="宋体" panose="02010600030101010101" pitchFamily="2" charset="-122"/>
                <a:cs typeface="宋体" panose="02010600030101010101" pitchFamily="2" charset="-122"/>
              </a:rPr>
              <a:t>运行</a:t>
            </a:r>
            <a:r>
              <a:rPr lang="en-US" altLang="zh-CN" sz="2000" dirty="0">
                <a:latin typeface="宋体" panose="02010600030101010101" pitchFamily="2" charset="-122"/>
                <a:ea typeface="宋体" panose="02010600030101010101" pitchFamily="2" charset="-122"/>
                <a:cs typeface="宋体" panose="02010600030101010101" pitchFamily="2" charset="-122"/>
              </a:rPr>
              <a:t> init</a:t>
            </a:r>
            <a:r>
              <a:rPr lang="zh-CN" altLang="en-US" sz="2000" dirty="0">
                <a:latin typeface="宋体" panose="02010600030101010101" pitchFamily="2" charset="-122"/>
                <a:ea typeface="宋体" panose="02010600030101010101" pitchFamily="2" charset="-122"/>
                <a:cs typeface="宋体" panose="02010600030101010101" pitchFamily="2" charset="-122"/>
              </a:rPr>
              <a:t>。</a:t>
            </a:r>
          </a:p>
          <a:p>
            <a:pPr indent="457200" fontAlgn="auto">
              <a:spcAft>
                <a:spcPts val="0"/>
              </a:spcAft>
            </a:pPr>
            <a:endParaRPr lang="en-US" altLang="zh-CN" sz="2000">
              <a:sym typeface="+mn-ea"/>
            </a:endParaRPr>
          </a:p>
          <a:p>
            <a:pPr indent="457200" fontAlgn="auto">
              <a:spcAft>
                <a:spcPts val="0"/>
              </a:spcAft>
            </a:pPr>
            <a:r>
              <a:rPr lang="en-US" altLang="zh-CN" sz="2000">
                <a:sym typeface="+mn-ea"/>
              </a:rPr>
              <a:t>•</a:t>
            </a:r>
            <a:r>
              <a:rPr lang="zh-CN" altLang="en-US" sz="2000" dirty="0">
                <a:latin typeface="宋体" panose="02010600030101010101" pitchFamily="2" charset="-122"/>
                <a:ea typeface="宋体" panose="02010600030101010101" pitchFamily="2" charset="-122"/>
                <a:cs typeface="宋体" panose="02010600030101010101" pitchFamily="2" charset="-122"/>
              </a:rPr>
              <a:t>系统初始化。</a:t>
            </a:r>
          </a:p>
          <a:p>
            <a:pPr indent="457200" fontAlgn="auto">
              <a:spcAft>
                <a:spcPts val="0"/>
              </a:spcAft>
            </a:pPr>
            <a:endParaRPr lang="en-US" altLang="zh-CN" sz="2000">
              <a:sym typeface="+mn-ea"/>
            </a:endParaRPr>
          </a:p>
          <a:p>
            <a:pPr indent="457200" fontAlgn="auto">
              <a:spcAft>
                <a:spcPts val="0"/>
              </a:spcAft>
            </a:pPr>
            <a:r>
              <a:rPr lang="en-US" altLang="zh-CN" sz="2000">
                <a:sym typeface="+mn-ea"/>
              </a:rPr>
              <a:t>•</a:t>
            </a:r>
            <a:r>
              <a:rPr lang="zh-CN" altLang="en-US" sz="2000" dirty="0">
                <a:latin typeface="宋体" panose="02010600030101010101" pitchFamily="2" charset="-122"/>
                <a:ea typeface="宋体" panose="02010600030101010101" pitchFamily="2" charset="-122"/>
                <a:cs typeface="宋体" panose="02010600030101010101" pitchFamily="2" charset="-122"/>
              </a:rPr>
              <a:t>建立终端</a:t>
            </a:r>
            <a:r>
              <a:rPr lang="en-US" altLang="zh-CN" sz="2000" dirty="0">
                <a:latin typeface="宋体" panose="02010600030101010101" pitchFamily="2" charset="-122"/>
                <a:ea typeface="宋体" panose="02010600030101010101" pitchFamily="2" charset="-122"/>
                <a:cs typeface="宋体" panose="02010600030101010101" pitchFamily="2" charset="-122"/>
              </a:rPr>
              <a:t> </a:t>
            </a:r>
            <a:r>
              <a:rPr lang="zh-CN" altLang="en-US" sz="2000" dirty="0">
                <a:latin typeface="宋体" panose="02010600030101010101" pitchFamily="2" charset="-122"/>
                <a:ea typeface="宋体" panose="02010600030101010101" pitchFamily="2" charset="-122"/>
                <a:cs typeface="宋体" panose="02010600030101010101" pitchFamily="2" charset="-122"/>
              </a:rPr>
              <a:t>。</a:t>
            </a:r>
          </a:p>
          <a:p>
            <a:pPr indent="457200" fontAlgn="auto">
              <a:spcAft>
                <a:spcPts val="0"/>
              </a:spcAft>
            </a:pPr>
            <a:endParaRPr lang="en-US" altLang="zh-CN" sz="2000">
              <a:sym typeface="+mn-ea"/>
            </a:endParaRPr>
          </a:p>
          <a:p>
            <a:pPr indent="457200" fontAlgn="auto">
              <a:spcAft>
                <a:spcPts val="0"/>
              </a:spcAft>
            </a:pPr>
            <a:r>
              <a:rPr lang="en-US" altLang="zh-CN" sz="2000">
                <a:sym typeface="+mn-ea"/>
              </a:rPr>
              <a:t>•</a:t>
            </a:r>
            <a:r>
              <a:rPr lang="zh-CN" altLang="en-US" sz="2000" dirty="0">
                <a:latin typeface="宋体" panose="02010600030101010101" pitchFamily="2" charset="-122"/>
                <a:ea typeface="宋体" panose="02010600030101010101" pitchFamily="2" charset="-122"/>
                <a:cs typeface="宋体" panose="02010600030101010101" pitchFamily="2" charset="-122"/>
              </a:rPr>
              <a:t>用户登录系统。</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en-US" altLang="zh-CN" sz="3200"/>
              <a:t>Linux</a:t>
            </a:r>
            <a:r>
              <a:rPr lang="zh-CN" altLang="en-US" sz="3200"/>
              <a:t>系统启动过程</a:t>
            </a:r>
          </a:p>
          <a:p>
            <a:pPr indent="457200"/>
            <a:endParaRPr lang="en-US" altLang="zh-CN" sz="2400"/>
          </a:p>
        </p:txBody>
      </p:sp>
      <p:sp>
        <p:nvSpPr>
          <p:cNvPr id="6" name="Title 1"/>
          <p:cNvSpPr txBox="1"/>
          <p:nvPr/>
        </p:nvSpPr>
        <p:spPr>
          <a:xfrm>
            <a:off x="1271270" y="1628775"/>
            <a:ext cx="941705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a:sym typeface="+mn-ea"/>
              </a:rPr>
              <a:t>•</a:t>
            </a:r>
            <a:r>
              <a:rPr lang="zh-CN" altLang="en-US" sz="2000" dirty="0">
                <a:latin typeface="宋体" panose="02010600030101010101" pitchFamily="2" charset="-122"/>
                <a:ea typeface="宋体" panose="02010600030101010101" pitchFamily="2" charset="-122"/>
                <a:cs typeface="宋体" panose="02010600030101010101" pitchFamily="2" charset="-122"/>
              </a:rPr>
              <a:t>内核的引导：当计算机打开电源后，首先是</a:t>
            </a:r>
            <a:r>
              <a:rPr lang="en-US" altLang="zh-CN" sz="2000" dirty="0">
                <a:latin typeface="宋体" panose="02010600030101010101" pitchFamily="2" charset="-122"/>
                <a:ea typeface="宋体" panose="02010600030101010101" pitchFamily="2" charset="-122"/>
                <a:cs typeface="宋体" panose="02010600030101010101" pitchFamily="2" charset="-122"/>
              </a:rPr>
              <a:t>BIOS</a:t>
            </a:r>
            <a:r>
              <a:rPr lang="zh-CN" altLang="en-US" sz="2000" dirty="0">
                <a:latin typeface="宋体" panose="02010600030101010101" pitchFamily="2" charset="-122"/>
                <a:ea typeface="宋体" panose="02010600030101010101" pitchFamily="2" charset="-122"/>
                <a:cs typeface="宋体" panose="02010600030101010101" pitchFamily="2" charset="-122"/>
              </a:rPr>
              <a:t>开机自检，按照</a:t>
            </a:r>
            <a:r>
              <a:rPr lang="en-US" altLang="zh-CN" sz="2000" dirty="0">
                <a:latin typeface="宋体" panose="02010600030101010101" pitchFamily="2" charset="-122"/>
                <a:ea typeface="宋体" panose="02010600030101010101" pitchFamily="2" charset="-122"/>
                <a:cs typeface="宋体" panose="02010600030101010101" pitchFamily="2" charset="-122"/>
              </a:rPr>
              <a:t>BIOS</a:t>
            </a:r>
            <a:r>
              <a:rPr lang="zh-CN" altLang="en-US" sz="2000" dirty="0">
                <a:latin typeface="宋体" panose="02010600030101010101" pitchFamily="2" charset="-122"/>
                <a:ea typeface="宋体" panose="02010600030101010101" pitchFamily="2" charset="-122"/>
                <a:cs typeface="宋体" panose="02010600030101010101" pitchFamily="2" charset="-122"/>
              </a:rPr>
              <a:t>中设置的启动设备（通常是硬盘）来启动。操作系统接管硬件以后，首先读入</a:t>
            </a:r>
            <a:r>
              <a:rPr lang="en-US" altLang="zh-CN" sz="2000" dirty="0">
                <a:latin typeface="宋体" panose="02010600030101010101" pitchFamily="2" charset="-122"/>
                <a:ea typeface="宋体" panose="02010600030101010101" pitchFamily="2" charset="-122"/>
                <a:cs typeface="宋体" panose="02010600030101010101" pitchFamily="2" charset="-122"/>
              </a:rPr>
              <a:t> /boot </a:t>
            </a:r>
            <a:r>
              <a:rPr lang="zh-CN" altLang="en-US" sz="2000" dirty="0">
                <a:latin typeface="宋体" panose="02010600030101010101" pitchFamily="2" charset="-122"/>
                <a:ea typeface="宋体" panose="02010600030101010101" pitchFamily="2" charset="-122"/>
                <a:cs typeface="宋体" panose="02010600030101010101" pitchFamily="2" charset="-122"/>
              </a:rPr>
              <a:t>目录下的内核文件。</a:t>
            </a:r>
          </a:p>
        </p:txBody>
      </p:sp>
      <p:pic>
        <p:nvPicPr>
          <p:cNvPr id="5" name="图片 4"/>
          <p:cNvPicPr>
            <a:picLocks noChangeAspect="1"/>
          </p:cNvPicPr>
          <p:nvPr/>
        </p:nvPicPr>
        <p:blipFill>
          <a:blip r:embed="rId3"/>
          <a:stretch>
            <a:fillRect/>
          </a:stretch>
        </p:blipFill>
        <p:spPr>
          <a:xfrm>
            <a:off x="2783840" y="2708910"/>
            <a:ext cx="6105525" cy="1057275"/>
          </a:xfrm>
          <a:prstGeom prst="rect">
            <a:avLst/>
          </a:prstGeom>
        </p:spPr>
      </p:pic>
      <p:sp>
        <p:nvSpPr>
          <p:cNvPr id="7" name="文本框 6"/>
          <p:cNvSpPr txBox="1"/>
          <p:nvPr/>
        </p:nvSpPr>
        <p:spPr>
          <a:xfrm>
            <a:off x="1775460" y="3896360"/>
            <a:ext cx="9273540" cy="706755"/>
          </a:xfrm>
          <a:prstGeom prst="rect">
            <a:avLst/>
          </a:prstGeom>
          <a:noFill/>
        </p:spPr>
        <p:txBody>
          <a:bodyPr wrap="square" rtlCol="0">
            <a:spAutoFit/>
          </a:bodyPr>
          <a:lstStyle/>
          <a:p>
            <a:r>
              <a:rPr lang="en-US" altLang="zh-CN" sz="2000">
                <a:sym typeface="+mn-ea"/>
              </a:rPr>
              <a:t>•</a:t>
            </a:r>
            <a:r>
              <a:rPr lang="zh-CN" altLang="en-US" sz="2000" dirty="0">
                <a:latin typeface="宋体" panose="02010600030101010101" pitchFamily="2" charset="-122"/>
                <a:cs typeface="宋体" panose="02010600030101010101" pitchFamily="2" charset="-122"/>
                <a:sym typeface="+mn-ea"/>
              </a:rPr>
              <a:t>运行</a:t>
            </a:r>
            <a:r>
              <a:rPr lang="en-US" altLang="zh-CN" sz="2000" dirty="0">
                <a:latin typeface="宋体" panose="02010600030101010101" pitchFamily="2" charset="-122"/>
                <a:cs typeface="宋体" panose="02010600030101010101" pitchFamily="2" charset="-122"/>
                <a:sym typeface="+mn-ea"/>
              </a:rPr>
              <a:t>init</a:t>
            </a:r>
            <a:r>
              <a:rPr lang="zh-CN" altLang="en-US" sz="2000" dirty="0">
                <a:latin typeface="宋体" panose="02010600030101010101" pitchFamily="2" charset="-122"/>
                <a:cs typeface="宋体" panose="02010600030101010101" pitchFamily="2" charset="-122"/>
                <a:sym typeface="+mn-ea"/>
              </a:rPr>
              <a:t>：</a:t>
            </a:r>
            <a:r>
              <a:rPr lang="en-US" altLang="zh-CN" sz="2000" dirty="0">
                <a:latin typeface="宋体" panose="02010600030101010101" pitchFamily="2" charset="-122"/>
                <a:cs typeface="宋体" panose="02010600030101010101" pitchFamily="2" charset="-122"/>
                <a:sym typeface="+mn-ea"/>
              </a:rPr>
              <a:t>init</a:t>
            </a:r>
            <a:r>
              <a:rPr lang="zh-CN" altLang="en-US" sz="2000" dirty="0">
                <a:latin typeface="宋体" panose="02010600030101010101" pitchFamily="2" charset="-122"/>
                <a:cs typeface="宋体" panose="02010600030101010101" pitchFamily="2" charset="-122"/>
                <a:sym typeface="+mn-ea"/>
              </a:rPr>
              <a:t>进程是系统所有进程的起点，</a:t>
            </a:r>
            <a:r>
              <a:rPr lang="en-US" altLang="zh-CN" sz="2000" dirty="0">
                <a:latin typeface="宋体" panose="02010600030101010101" pitchFamily="2" charset="-122"/>
                <a:cs typeface="宋体" panose="02010600030101010101" pitchFamily="2" charset="-122"/>
                <a:sym typeface="+mn-ea"/>
              </a:rPr>
              <a:t>init </a:t>
            </a:r>
            <a:r>
              <a:rPr lang="zh-CN" altLang="en-US" sz="2000" dirty="0">
                <a:latin typeface="宋体" panose="02010600030101010101" pitchFamily="2" charset="-122"/>
                <a:cs typeface="宋体" panose="02010600030101010101" pitchFamily="2" charset="-122"/>
                <a:sym typeface="+mn-ea"/>
              </a:rPr>
              <a:t>程序首先是需要读取配置文件</a:t>
            </a:r>
            <a:r>
              <a:rPr lang="en-US" altLang="zh-CN" sz="2000" dirty="0">
                <a:latin typeface="宋体" panose="02010600030101010101" pitchFamily="2" charset="-122"/>
                <a:cs typeface="宋体" panose="02010600030101010101" pitchFamily="2" charset="-122"/>
                <a:sym typeface="+mn-ea"/>
              </a:rPr>
              <a:t> /etc/inittab</a:t>
            </a:r>
            <a:r>
              <a:rPr lang="zh-CN" altLang="en-US" sz="2000" dirty="0">
                <a:latin typeface="宋体" panose="02010600030101010101" pitchFamily="2" charset="-122"/>
                <a:cs typeface="宋体" panose="02010600030101010101" pitchFamily="2" charset="-122"/>
                <a:sym typeface="+mn-ea"/>
              </a:rPr>
              <a:t>。</a:t>
            </a:r>
            <a:endParaRPr lang="zh-CN" altLang="en-US" sz="2000"/>
          </a:p>
        </p:txBody>
      </p:sp>
      <p:pic>
        <p:nvPicPr>
          <p:cNvPr id="8" name="图片 7"/>
          <p:cNvPicPr>
            <a:picLocks noChangeAspect="1"/>
          </p:cNvPicPr>
          <p:nvPr/>
        </p:nvPicPr>
        <p:blipFill>
          <a:blip r:embed="rId4"/>
          <a:stretch>
            <a:fillRect/>
          </a:stretch>
        </p:blipFill>
        <p:spPr>
          <a:xfrm>
            <a:off x="2783840" y="4725035"/>
            <a:ext cx="5781675" cy="115252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en-US" altLang="zh-CN" sz="3200"/>
              <a:t>Linux</a:t>
            </a:r>
            <a:r>
              <a:rPr lang="zh-CN" altLang="en-US" sz="3200"/>
              <a:t>系统启动过程</a:t>
            </a:r>
          </a:p>
          <a:p>
            <a:pPr indent="457200"/>
            <a:endParaRPr lang="en-US" altLang="zh-CN" sz="2400"/>
          </a:p>
        </p:txBody>
      </p:sp>
      <p:sp>
        <p:nvSpPr>
          <p:cNvPr id="6" name="Title 1"/>
          <p:cNvSpPr txBox="1"/>
          <p:nvPr/>
        </p:nvSpPr>
        <p:spPr>
          <a:xfrm>
            <a:off x="1271270" y="1628775"/>
            <a:ext cx="941705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2000" dirty="0">
                <a:latin typeface="宋体" panose="02010600030101010101" pitchFamily="2" charset="-122"/>
                <a:ea typeface="宋体" panose="02010600030101010101" pitchFamily="2" charset="-122"/>
                <a:cs typeface="宋体" panose="02010600030101010101" pitchFamily="2" charset="-122"/>
              </a:rPr>
              <a:t>运行级别：许多程序需要开机启动。它们在</a:t>
            </a:r>
            <a:r>
              <a:rPr lang="en-US" altLang="zh-CN" sz="2000" dirty="0">
                <a:latin typeface="宋体" panose="02010600030101010101" pitchFamily="2" charset="-122"/>
                <a:ea typeface="宋体" panose="02010600030101010101" pitchFamily="2" charset="-122"/>
                <a:cs typeface="宋体" panose="02010600030101010101" pitchFamily="2" charset="-122"/>
              </a:rPr>
              <a:t>Windows</a:t>
            </a:r>
            <a:r>
              <a:rPr lang="zh-CN" altLang="en-US" sz="2000" dirty="0">
                <a:latin typeface="宋体" panose="02010600030101010101" pitchFamily="2" charset="-122"/>
                <a:ea typeface="宋体" panose="02010600030101010101" pitchFamily="2" charset="-122"/>
                <a:cs typeface="宋体" panose="02010600030101010101" pitchFamily="2" charset="-122"/>
              </a:rPr>
              <a:t>叫做</a:t>
            </a:r>
            <a:r>
              <a:rPr lang="en-US" altLang="zh-CN" sz="2000" dirty="0">
                <a:latin typeface="宋体" panose="02010600030101010101" pitchFamily="2" charset="-122"/>
                <a:ea typeface="宋体" panose="02010600030101010101" pitchFamily="2" charset="-122"/>
                <a:cs typeface="宋体" panose="02010600030101010101" pitchFamily="2" charset="-122"/>
              </a:rPr>
              <a:t>"</a:t>
            </a:r>
            <a:r>
              <a:rPr lang="zh-CN" altLang="en-US" sz="2000" dirty="0">
                <a:latin typeface="宋体" panose="02010600030101010101" pitchFamily="2" charset="-122"/>
                <a:ea typeface="宋体" panose="02010600030101010101" pitchFamily="2" charset="-122"/>
                <a:cs typeface="宋体" panose="02010600030101010101" pitchFamily="2" charset="-122"/>
              </a:rPr>
              <a:t>服务</a:t>
            </a:r>
            <a:r>
              <a:rPr lang="en-US" altLang="zh-CN" sz="2000" dirty="0">
                <a:latin typeface="宋体" panose="02010600030101010101" pitchFamily="2" charset="-122"/>
                <a:ea typeface="宋体" panose="02010600030101010101" pitchFamily="2" charset="-122"/>
                <a:cs typeface="宋体" panose="02010600030101010101" pitchFamily="2" charset="-122"/>
              </a:rPr>
              <a:t>"</a:t>
            </a: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a:latin typeface="宋体" panose="02010600030101010101" pitchFamily="2" charset="-122"/>
                <a:ea typeface="宋体" panose="02010600030101010101" pitchFamily="2" charset="-122"/>
                <a:cs typeface="宋体" panose="02010600030101010101" pitchFamily="2" charset="-122"/>
              </a:rPr>
              <a:t>service</a:t>
            </a:r>
            <a:r>
              <a:rPr lang="zh-CN" altLang="en-US" sz="2000" dirty="0">
                <a:latin typeface="宋体" panose="02010600030101010101" pitchFamily="2" charset="-122"/>
                <a:ea typeface="宋体" panose="02010600030101010101" pitchFamily="2" charset="-122"/>
                <a:cs typeface="宋体" panose="02010600030101010101" pitchFamily="2" charset="-122"/>
              </a:rPr>
              <a:t>），在</a:t>
            </a:r>
            <a:r>
              <a:rPr lang="en-US" altLang="zh-CN" sz="2000" dirty="0">
                <a:latin typeface="宋体" panose="02010600030101010101" pitchFamily="2" charset="-122"/>
                <a:ea typeface="宋体" panose="02010600030101010101" pitchFamily="2" charset="-122"/>
                <a:cs typeface="宋体" panose="02010600030101010101" pitchFamily="2" charset="-122"/>
              </a:rPr>
              <a:t>Linux</a:t>
            </a:r>
            <a:r>
              <a:rPr lang="zh-CN" altLang="en-US" sz="2000" dirty="0">
                <a:latin typeface="宋体" panose="02010600030101010101" pitchFamily="2" charset="-122"/>
                <a:ea typeface="宋体" panose="02010600030101010101" pitchFamily="2" charset="-122"/>
                <a:cs typeface="宋体" panose="02010600030101010101" pitchFamily="2" charset="-122"/>
              </a:rPr>
              <a:t>就叫做</a:t>
            </a:r>
            <a:r>
              <a:rPr lang="en-US" altLang="zh-CN"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守护进程</a:t>
            </a:r>
            <a:r>
              <a:rPr lang="en-US" altLang="zh-CN"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a:t>
            </a:r>
            <a:r>
              <a:rPr lang="en-US" altLang="zh-CN"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daemon</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a:t>
            </a: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a:latin typeface="宋体" panose="02010600030101010101" pitchFamily="2" charset="-122"/>
                <a:ea typeface="宋体" panose="02010600030101010101" pitchFamily="2" charset="-122"/>
                <a:cs typeface="宋体" panose="02010600030101010101" pitchFamily="2" charset="-122"/>
              </a:rPr>
              <a:t>Linux</a:t>
            </a:r>
            <a:r>
              <a:rPr lang="zh-CN" altLang="en-US" sz="2000" dirty="0">
                <a:latin typeface="宋体" panose="02010600030101010101" pitchFamily="2" charset="-122"/>
                <a:ea typeface="宋体" panose="02010600030101010101" pitchFamily="2" charset="-122"/>
                <a:cs typeface="宋体" panose="02010600030101010101" pitchFamily="2" charset="-122"/>
              </a:rPr>
              <a:t>允许为不同的场合，分配不同的开机启动程序，这就叫做</a:t>
            </a:r>
            <a:r>
              <a:rPr lang="en-US" altLang="zh-CN"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运行级别</a:t>
            </a:r>
            <a:r>
              <a:rPr lang="en-US" altLang="zh-CN"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a:t>
            </a:r>
            <a:r>
              <a:rPr lang="en-US" altLang="zh-CN"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runlevel</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a:t>
            </a:r>
            <a:r>
              <a:rPr lang="zh-CN" altLang="en-US" sz="2000" dirty="0">
                <a:latin typeface="宋体" panose="02010600030101010101" pitchFamily="2" charset="-122"/>
                <a:ea typeface="宋体" panose="02010600030101010101" pitchFamily="2" charset="-122"/>
                <a:cs typeface="宋体" panose="02010600030101010101" pitchFamily="2" charset="-122"/>
              </a:rPr>
              <a:t>。也就是说，启动时根据</a:t>
            </a:r>
            <a:r>
              <a:rPr lang="en-US" altLang="zh-CN" sz="2000" dirty="0">
                <a:latin typeface="宋体" panose="02010600030101010101" pitchFamily="2" charset="-122"/>
                <a:ea typeface="宋体" panose="02010600030101010101" pitchFamily="2" charset="-122"/>
                <a:cs typeface="宋体" panose="02010600030101010101" pitchFamily="2" charset="-122"/>
              </a:rPr>
              <a:t>"</a:t>
            </a:r>
            <a:r>
              <a:rPr lang="zh-CN" altLang="en-US" sz="2000" dirty="0">
                <a:latin typeface="宋体" panose="02010600030101010101" pitchFamily="2" charset="-122"/>
                <a:ea typeface="宋体" panose="02010600030101010101" pitchFamily="2" charset="-122"/>
                <a:cs typeface="宋体" panose="02010600030101010101" pitchFamily="2" charset="-122"/>
              </a:rPr>
              <a:t>运行级别</a:t>
            </a:r>
            <a:r>
              <a:rPr lang="en-US" altLang="zh-CN" sz="2000" dirty="0">
                <a:latin typeface="宋体" panose="02010600030101010101" pitchFamily="2" charset="-122"/>
                <a:ea typeface="宋体" panose="02010600030101010101" pitchFamily="2" charset="-122"/>
                <a:cs typeface="宋体" panose="02010600030101010101" pitchFamily="2" charset="-122"/>
              </a:rPr>
              <a:t>"</a:t>
            </a:r>
            <a:r>
              <a:rPr lang="zh-CN" altLang="en-US" sz="2000" dirty="0">
                <a:latin typeface="宋体" panose="02010600030101010101" pitchFamily="2" charset="-122"/>
                <a:ea typeface="宋体" panose="02010600030101010101" pitchFamily="2" charset="-122"/>
                <a:cs typeface="宋体" panose="02010600030101010101" pitchFamily="2" charset="-122"/>
              </a:rPr>
              <a:t>，确定要运行哪些程序。</a:t>
            </a:r>
          </a:p>
          <a:p>
            <a:pPr indent="457200" fontAlgn="auto">
              <a:spcAft>
                <a:spcPts val="0"/>
              </a:spcAft>
            </a:pPr>
            <a:endParaRPr lang="en-US" altLang="zh-CN" sz="2000" dirty="0">
              <a:latin typeface="宋体" panose="02010600030101010101" pitchFamily="2" charset="-122"/>
              <a:ea typeface="宋体" panose="02010600030101010101" pitchFamily="2" charset="-122"/>
              <a:cs typeface="宋体" panose="02010600030101010101" pitchFamily="2" charset="-122"/>
            </a:endParaRPr>
          </a:p>
          <a:p>
            <a:pPr indent="457200" fontAlgn="auto">
              <a:spcAft>
                <a:spcPts val="0"/>
              </a:spcAft>
            </a:pPr>
            <a:endParaRPr lang="zh-CN" altLang="en-US" sz="2000" dirty="0">
              <a:latin typeface="宋体" panose="02010600030101010101" pitchFamily="2" charset="-122"/>
              <a:ea typeface="宋体" panose="02010600030101010101" pitchFamily="2" charset="-122"/>
              <a:cs typeface="宋体" panose="02010600030101010101" pitchFamily="2" charset="-122"/>
            </a:endParaRPr>
          </a:p>
        </p:txBody>
      </p:sp>
      <p:pic>
        <p:nvPicPr>
          <p:cNvPr id="10" name="图片 9"/>
          <p:cNvPicPr>
            <a:picLocks noChangeAspect="1"/>
          </p:cNvPicPr>
          <p:nvPr/>
        </p:nvPicPr>
        <p:blipFill>
          <a:blip r:embed="rId3"/>
          <a:stretch>
            <a:fillRect/>
          </a:stretch>
        </p:blipFill>
        <p:spPr>
          <a:xfrm>
            <a:off x="2207895" y="3573145"/>
            <a:ext cx="5867400" cy="117221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en-US" altLang="zh-CN" sz="3200"/>
              <a:t>Linux</a:t>
            </a:r>
            <a:r>
              <a:rPr lang="zh-CN" altLang="en-US" sz="3200"/>
              <a:t>系统启动过程</a:t>
            </a:r>
          </a:p>
          <a:p>
            <a:pPr indent="457200"/>
            <a:endParaRPr lang="en-US" altLang="zh-CN" sz="2400"/>
          </a:p>
        </p:txBody>
      </p:sp>
      <p:sp>
        <p:nvSpPr>
          <p:cNvPr id="6" name="Title 1"/>
          <p:cNvSpPr txBox="1"/>
          <p:nvPr/>
        </p:nvSpPr>
        <p:spPr>
          <a:xfrm>
            <a:off x="1271270" y="1628775"/>
            <a:ext cx="941705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zh-CN" altLang="en-US" sz="2000" dirty="0">
                <a:latin typeface="宋体" panose="02010600030101010101" pitchFamily="2" charset="-122"/>
                <a:ea typeface="宋体" panose="02010600030101010101" pitchFamily="2" charset="-122"/>
                <a:cs typeface="宋体" panose="02010600030101010101" pitchFamily="2" charset="-122"/>
              </a:rPr>
              <a:t>运行级别：</a:t>
            </a:r>
            <a:r>
              <a:rPr lang="en-US" altLang="zh-CN" sz="2000" dirty="0">
                <a:latin typeface="宋体" panose="02010600030101010101" pitchFamily="2" charset="-122"/>
                <a:ea typeface="宋体" panose="02010600030101010101" pitchFamily="2" charset="-122"/>
                <a:cs typeface="宋体" panose="02010600030101010101" pitchFamily="2" charset="-122"/>
              </a:rPr>
              <a:t>Linux</a:t>
            </a:r>
            <a:r>
              <a:rPr lang="zh-CN" altLang="en-US" sz="2000" dirty="0">
                <a:latin typeface="宋体" panose="02010600030101010101" pitchFamily="2" charset="-122"/>
                <a:ea typeface="宋体" panose="02010600030101010101" pitchFamily="2" charset="-122"/>
                <a:cs typeface="宋体" panose="02010600030101010101" pitchFamily="2" charset="-122"/>
              </a:rPr>
              <a:t>系统有</a:t>
            </a:r>
            <a:r>
              <a:rPr lang="en-US" altLang="zh-CN" sz="2000" dirty="0">
                <a:latin typeface="宋体" panose="02010600030101010101" pitchFamily="2" charset="-122"/>
                <a:ea typeface="宋体" panose="02010600030101010101" pitchFamily="2" charset="-122"/>
                <a:cs typeface="宋体" panose="02010600030101010101" pitchFamily="2" charset="-122"/>
              </a:rPr>
              <a:t>7</a:t>
            </a:r>
            <a:r>
              <a:rPr lang="zh-CN" altLang="en-US" sz="2000" dirty="0">
                <a:latin typeface="宋体" panose="02010600030101010101" pitchFamily="2" charset="-122"/>
                <a:ea typeface="宋体" panose="02010600030101010101" pitchFamily="2" charset="-122"/>
                <a:cs typeface="宋体" panose="02010600030101010101" pitchFamily="2" charset="-122"/>
              </a:rPr>
              <a:t>个运行级别</a:t>
            </a:r>
            <a:r>
              <a:rPr lang="en-US" altLang="zh-CN" sz="2000" dirty="0">
                <a:latin typeface="宋体" panose="02010600030101010101" pitchFamily="2" charset="-122"/>
                <a:ea typeface="宋体" panose="02010600030101010101" pitchFamily="2" charset="-122"/>
                <a:cs typeface="宋体" panose="02010600030101010101" pitchFamily="2" charset="-122"/>
              </a:rPr>
              <a:t>(runlevel)</a:t>
            </a:r>
          </a:p>
          <a:p>
            <a:pPr indent="457200" fontAlgn="auto">
              <a:spcAft>
                <a:spcPts val="0"/>
              </a:spcAft>
            </a:pPr>
            <a:endParaRPr lang="en-US" altLang="zh-CN" sz="2000" dirty="0">
              <a:latin typeface="宋体" panose="02010600030101010101" pitchFamily="2" charset="-122"/>
              <a:ea typeface="宋体" panose="02010600030101010101" pitchFamily="2" charset="-122"/>
              <a:cs typeface="宋体" panose="02010600030101010101" pitchFamily="2" charset="-122"/>
            </a:endParaRPr>
          </a:p>
          <a:p>
            <a:pPr indent="457200" fontAlgn="auto">
              <a:spcAft>
                <a:spcPts val="0"/>
              </a:spcAft>
            </a:pPr>
            <a:endParaRPr lang="zh-CN" altLang="en-US" sz="2000" dirty="0">
              <a:latin typeface="宋体" panose="02010600030101010101" pitchFamily="2" charset="-122"/>
              <a:ea typeface="宋体" panose="02010600030101010101" pitchFamily="2" charset="-122"/>
              <a:cs typeface="宋体" panose="02010600030101010101" pitchFamily="2" charset="-122"/>
            </a:endParaRPr>
          </a:p>
        </p:txBody>
      </p:sp>
      <p:sp>
        <p:nvSpPr>
          <p:cNvPr id="7" name="文本框 6"/>
          <p:cNvSpPr txBox="1"/>
          <p:nvPr/>
        </p:nvSpPr>
        <p:spPr>
          <a:xfrm>
            <a:off x="2063750" y="2132965"/>
            <a:ext cx="8848090" cy="3692525"/>
          </a:xfrm>
          <a:prstGeom prst="rect">
            <a:avLst/>
          </a:prstGeom>
          <a:noFill/>
        </p:spPr>
        <p:txBody>
          <a:bodyPr wrap="square" rtlCol="0">
            <a:spAutoFit/>
          </a:bodyPr>
          <a:lstStyle/>
          <a:p>
            <a:r>
              <a:rPr lang="en-US" altLang="zh-CN">
                <a:sym typeface="+mn-ea"/>
              </a:rPr>
              <a:t>•</a:t>
            </a:r>
            <a:r>
              <a:rPr lang="zh-CN" altLang="en-US"/>
              <a:t>运行级别</a:t>
            </a:r>
            <a:r>
              <a:rPr lang="en-US" altLang="zh-CN"/>
              <a:t>0</a:t>
            </a:r>
            <a:r>
              <a:rPr lang="zh-CN" altLang="en-US"/>
              <a:t>：系统停机状态，系统默认运行级别不能设为</a:t>
            </a:r>
            <a:r>
              <a:rPr lang="en-US" altLang="zh-CN"/>
              <a:t>0</a:t>
            </a:r>
            <a:r>
              <a:rPr lang="zh-CN" altLang="en-US"/>
              <a:t>，否则不能正常启动</a:t>
            </a:r>
          </a:p>
          <a:p>
            <a:endParaRPr lang="zh-CN" altLang="en-US"/>
          </a:p>
          <a:p>
            <a:r>
              <a:rPr lang="en-US" altLang="zh-CN">
                <a:sym typeface="+mn-ea"/>
              </a:rPr>
              <a:t>•</a:t>
            </a:r>
            <a:r>
              <a:rPr lang="zh-CN" altLang="en-US"/>
              <a:t>运行级别</a:t>
            </a:r>
            <a:r>
              <a:rPr lang="en-US" altLang="zh-CN"/>
              <a:t>1</a:t>
            </a:r>
            <a:r>
              <a:rPr lang="zh-CN" altLang="en-US"/>
              <a:t>：单用户工作状态，</a:t>
            </a:r>
            <a:r>
              <a:rPr lang="en-US" altLang="zh-CN"/>
              <a:t>root</a:t>
            </a:r>
            <a:r>
              <a:rPr lang="zh-CN" altLang="en-US"/>
              <a:t>权限，用于系统维护，禁止远程登录</a:t>
            </a:r>
          </a:p>
          <a:p>
            <a:endParaRPr lang="zh-CN" altLang="en-US"/>
          </a:p>
          <a:p>
            <a:r>
              <a:rPr lang="en-US" altLang="zh-CN">
                <a:sym typeface="+mn-ea"/>
              </a:rPr>
              <a:t>•</a:t>
            </a:r>
            <a:r>
              <a:rPr lang="zh-CN" altLang="en-US"/>
              <a:t>运行级别</a:t>
            </a:r>
            <a:r>
              <a:rPr lang="en-US" altLang="zh-CN"/>
              <a:t>2</a:t>
            </a:r>
            <a:r>
              <a:rPr lang="zh-CN" altLang="en-US"/>
              <a:t>：多用户状态</a:t>
            </a:r>
            <a:r>
              <a:rPr lang="en-US" altLang="zh-CN"/>
              <a:t>(</a:t>
            </a:r>
            <a:r>
              <a:rPr lang="zh-CN" altLang="en-US"/>
              <a:t>没有</a:t>
            </a:r>
            <a:r>
              <a:rPr lang="en-US" altLang="zh-CN"/>
              <a:t>NFS)</a:t>
            </a:r>
          </a:p>
          <a:p>
            <a:endParaRPr lang="en-US" altLang="zh-CN"/>
          </a:p>
          <a:p>
            <a:r>
              <a:rPr lang="en-US" altLang="zh-CN">
                <a:sym typeface="+mn-ea"/>
              </a:rPr>
              <a:t>•</a:t>
            </a:r>
            <a:r>
              <a:rPr lang="zh-CN" altLang="en-US"/>
              <a:t>运行级别</a:t>
            </a:r>
            <a:r>
              <a:rPr lang="en-US" altLang="zh-CN"/>
              <a:t>3</a:t>
            </a:r>
            <a:r>
              <a:rPr lang="zh-CN" altLang="en-US"/>
              <a:t>：完全的多用户状态</a:t>
            </a:r>
            <a:r>
              <a:rPr lang="en-US" altLang="zh-CN"/>
              <a:t>(</a:t>
            </a:r>
            <a:r>
              <a:rPr lang="zh-CN" altLang="en-US"/>
              <a:t>有</a:t>
            </a:r>
            <a:r>
              <a:rPr lang="en-US" altLang="zh-CN"/>
              <a:t>NFS)</a:t>
            </a:r>
            <a:r>
              <a:rPr lang="zh-CN" altLang="en-US"/>
              <a:t>，登录后进入控制台命令行模式</a:t>
            </a:r>
          </a:p>
          <a:p>
            <a:endParaRPr lang="zh-CN" altLang="en-US"/>
          </a:p>
          <a:p>
            <a:r>
              <a:rPr lang="en-US" altLang="zh-CN">
                <a:sym typeface="+mn-ea"/>
              </a:rPr>
              <a:t>•</a:t>
            </a:r>
            <a:r>
              <a:rPr lang="zh-CN" altLang="en-US"/>
              <a:t>运行级别</a:t>
            </a:r>
            <a:r>
              <a:rPr lang="en-US" altLang="zh-CN"/>
              <a:t>4</a:t>
            </a:r>
            <a:r>
              <a:rPr lang="zh-CN" altLang="en-US"/>
              <a:t>：系统未使用，保留</a:t>
            </a:r>
          </a:p>
          <a:p>
            <a:endParaRPr lang="zh-CN" altLang="en-US"/>
          </a:p>
          <a:p>
            <a:r>
              <a:rPr lang="en-US" altLang="zh-CN">
                <a:sym typeface="+mn-ea"/>
              </a:rPr>
              <a:t>•</a:t>
            </a:r>
            <a:r>
              <a:rPr lang="zh-CN" altLang="en-US"/>
              <a:t>运行级别</a:t>
            </a:r>
            <a:r>
              <a:rPr lang="en-US" altLang="zh-CN"/>
              <a:t>5</a:t>
            </a:r>
            <a:r>
              <a:rPr lang="zh-CN" altLang="en-US"/>
              <a:t>：</a:t>
            </a:r>
            <a:r>
              <a:rPr lang="en-US" altLang="zh-CN"/>
              <a:t>X11</a:t>
            </a:r>
            <a:r>
              <a:rPr lang="zh-CN" altLang="en-US"/>
              <a:t>控制台，登录后进入图形</a:t>
            </a:r>
            <a:r>
              <a:rPr lang="en-US" altLang="zh-CN"/>
              <a:t>GUI</a:t>
            </a:r>
            <a:r>
              <a:rPr lang="zh-CN" altLang="en-US"/>
              <a:t>模式</a:t>
            </a:r>
          </a:p>
          <a:p>
            <a:endParaRPr lang="zh-CN" altLang="en-US"/>
          </a:p>
          <a:p>
            <a:r>
              <a:rPr lang="en-US" altLang="zh-CN">
                <a:sym typeface="+mn-ea"/>
              </a:rPr>
              <a:t>•</a:t>
            </a:r>
            <a:r>
              <a:rPr lang="zh-CN" altLang="en-US"/>
              <a:t>运行级别</a:t>
            </a:r>
            <a:r>
              <a:rPr lang="en-US" altLang="zh-CN"/>
              <a:t>6</a:t>
            </a:r>
            <a:r>
              <a:rPr lang="zh-CN" altLang="en-US"/>
              <a:t>：系统正常关闭并重启，默认运行级别不能设为</a:t>
            </a:r>
            <a:r>
              <a:rPr lang="en-US" altLang="zh-CN"/>
              <a:t>6</a:t>
            </a:r>
            <a:r>
              <a:rPr lang="zh-CN" altLang="en-US"/>
              <a:t>，否则不能正常启动</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en-US" altLang="zh-CN" sz="3200"/>
              <a:t>Linux</a:t>
            </a:r>
            <a:r>
              <a:rPr lang="zh-CN" altLang="en-US" sz="3200"/>
              <a:t>系统启动过程</a:t>
            </a:r>
          </a:p>
          <a:p>
            <a:pPr indent="457200"/>
            <a:endParaRPr lang="en-US" altLang="zh-CN" sz="2400"/>
          </a:p>
        </p:txBody>
      </p:sp>
      <p:sp>
        <p:nvSpPr>
          <p:cNvPr id="6" name="Title 1"/>
          <p:cNvSpPr txBox="1"/>
          <p:nvPr/>
        </p:nvSpPr>
        <p:spPr>
          <a:xfrm>
            <a:off x="1271270" y="1628775"/>
            <a:ext cx="941705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a:sym typeface="+mn-ea"/>
              </a:rPr>
              <a:t>•</a:t>
            </a:r>
            <a:r>
              <a:rPr lang="zh-CN" altLang="en-US" sz="2000" dirty="0">
                <a:latin typeface="宋体" panose="02010600030101010101" pitchFamily="2" charset="-122"/>
                <a:ea typeface="宋体" panose="02010600030101010101" pitchFamily="2" charset="-122"/>
                <a:cs typeface="宋体" panose="02010600030101010101" pitchFamily="2" charset="-122"/>
              </a:rPr>
              <a:t>系统初始化：主要需要完成的工作有：激活交换分区，检查磁盘，加载硬件模块以及其它一些需要优先执行任务。</a:t>
            </a:r>
          </a:p>
        </p:txBody>
      </p:sp>
      <p:sp>
        <p:nvSpPr>
          <p:cNvPr id="7" name="文本框 6"/>
          <p:cNvSpPr txBox="1"/>
          <p:nvPr/>
        </p:nvSpPr>
        <p:spPr>
          <a:xfrm>
            <a:off x="1775460" y="3896360"/>
            <a:ext cx="9273540" cy="1014730"/>
          </a:xfrm>
          <a:prstGeom prst="rect">
            <a:avLst/>
          </a:prstGeom>
          <a:noFill/>
        </p:spPr>
        <p:txBody>
          <a:bodyPr wrap="square" rtlCol="0">
            <a:spAutoFit/>
          </a:bodyPr>
          <a:lstStyle/>
          <a:p>
            <a:endParaRPr lang="en-US" altLang="zh-CN" sz="2000">
              <a:sym typeface="+mn-ea"/>
            </a:endParaRPr>
          </a:p>
          <a:p>
            <a:r>
              <a:rPr lang="en-US" altLang="zh-CN" sz="2000">
                <a:sym typeface="+mn-ea"/>
              </a:rPr>
              <a:t>•</a:t>
            </a:r>
            <a:r>
              <a:rPr lang="zh-CN" altLang="en-US" sz="2000" dirty="0">
                <a:latin typeface="宋体" panose="02010600030101010101" pitchFamily="2" charset="-122"/>
                <a:cs typeface="宋体" panose="02010600030101010101" pitchFamily="2" charset="-122"/>
                <a:sym typeface="+mn-ea"/>
              </a:rPr>
              <a:t>建立终端：这时基本系统环境已经设置好，各种守护进程也已经启动，</a:t>
            </a:r>
            <a:r>
              <a:rPr lang="en-US" altLang="zh-CN" sz="2000" dirty="0">
                <a:latin typeface="宋体" panose="02010600030101010101" pitchFamily="2" charset="-122"/>
                <a:cs typeface="宋体" panose="02010600030101010101" pitchFamily="2" charset="-122"/>
                <a:sym typeface="+mn-ea"/>
              </a:rPr>
              <a:t>init</a:t>
            </a:r>
            <a:r>
              <a:rPr lang="zh-CN" altLang="en-US" sz="2000" dirty="0">
                <a:latin typeface="宋体" panose="02010600030101010101" pitchFamily="2" charset="-122"/>
                <a:cs typeface="宋体" panose="02010600030101010101" pitchFamily="2" charset="-122"/>
                <a:sym typeface="+mn-ea"/>
              </a:rPr>
              <a:t>接下来会打开</a:t>
            </a:r>
            <a:r>
              <a:rPr lang="en-US" altLang="zh-CN" sz="2000" dirty="0">
                <a:latin typeface="宋体" panose="02010600030101010101" pitchFamily="2" charset="-122"/>
                <a:cs typeface="宋体" panose="02010600030101010101" pitchFamily="2" charset="-122"/>
                <a:sym typeface="+mn-ea"/>
              </a:rPr>
              <a:t>6</a:t>
            </a:r>
            <a:r>
              <a:rPr lang="zh-CN" altLang="en-US" sz="2000" dirty="0">
                <a:latin typeface="宋体" panose="02010600030101010101" pitchFamily="2" charset="-122"/>
                <a:cs typeface="宋体" panose="02010600030101010101" pitchFamily="2" charset="-122"/>
                <a:sym typeface="+mn-ea"/>
              </a:rPr>
              <a:t>个终端，以便用户登录系统。</a:t>
            </a:r>
            <a:endParaRPr lang="zh-CN" altLang="en-US" sz="2000"/>
          </a:p>
        </p:txBody>
      </p:sp>
      <p:pic>
        <p:nvPicPr>
          <p:cNvPr id="10" name="图片 9"/>
          <p:cNvPicPr>
            <a:picLocks noChangeAspect="1"/>
          </p:cNvPicPr>
          <p:nvPr/>
        </p:nvPicPr>
        <p:blipFill>
          <a:blip r:embed="rId3"/>
          <a:stretch>
            <a:fillRect/>
          </a:stretch>
        </p:blipFill>
        <p:spPr>
          <a:xfrm>
            <a:off x="2423795" y="2364740"/>
            <a:ext cx="6953250" cy="142875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en-US" altLang="zh-CN" sz="3200"/>
              <a:t>Linux</a:t>
            </a:r>
            <a:r>
              <a:rPr lang="zh-CN" altLang="en-US" sz="3200"/>
              <a:t>系统启动过程</a:t>
            </a:r>
          </a:p>
          <a:p>
            <a:pPr indent="457200"/>
            <a:endParaRPr lang="en-US" altLang="zh-CN" sz="2400"/>
          </a:p>
        </p:txBody>
      </p:sp>
      <p:sp>
        <p:nvSpPr>
          <p:cNvPr id="6" name="Title 1"/>
          <p:cNvSpPr txBox="1"/>
          <p:nvPr/>
        </p:nvSpPr>
        <p:spPr>
          <a:xfrm>
            <a:off x="1271270" y="1628775"/>
            <a:ext cx="941705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r>
              <a:rPr lang="en-US" altLang="zh-CN" sz="2000">
                <a:sym typeface="+mn-ea"/>
              </a:rPr>
              <a:t>•</a:t>
            </a:r>
            <a:r>
              <a:rPr lang="zh-CN" altLang="en-US" sz="2000" dirty="0">
                <a:latin typeface="宋体" panose="02010600030101010101" pitchFamily="2" charset="-122"/>
                <a:ea typeface="宋体" panose="02010600030101010101" pitchFamily="2" charset="-122"/>
                <a:cs typeface="宋体" panose="02010600030101010101" pitchFamily="2" charset="-122"/>
              </a:rPr>
              <a:t>用户登录系统：一般来说，用户的登录方式有三种。</a:t>
            </a:r>
          </a:p>
          <a:p>
            <a:pPr marL="457200" lvl="1" indent="457200" fontAlgn="auto">
              <a:spcAft>
                <a:spcPts val="0"/>
              </a:spcAft>
            </a:pPr>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marL="457200" lvl="1" indent="457200" fontAlgn="auto">
              <a:spcAft>
                <a:spcPts val="0"/>
              </a:spcAft>
            </a:pP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a:latin typeface="宋体" panose="02010600030101010101" pitchFamily="2" charset="-122"/>
                <a:ea typeface="宋体" panose="02010600030101010101" pitchFamily="2" charset="-122"/>
                <a:cs typeface="宋体" panose="02010600030101010101" pitchFamily="2" charset="-122"/>
              </a:rPr>
              <a:t>1</a:t>
            </a:r>
            <a:r>
              <a:rPr lang="zh-CN" altLang="en-US" sz="2000" dirty="0">
                <a:latin typeface="宋体" panose="02010600030101010101" pitchFamily="2" charset="-122"/>
                <a:ea typeface="宋体" panose="02010600030101010101" pitchFamily="2" charset="-122"/>
                <a:cs typeface="宋体" panose="02010600030101010101" pitchFamily="2" charset="-122"/>
              </a:rPr>
              <a:t>）命令行登录</a:t>
            </a:r>
          </a:p>
          <a:p>
            <a:pPr marL="457200" lvl="1" indent="457200" fontAlgn="auto">
              <a:spcAft>
                <a:spcPts val="0"/>
              </a:spcAft>
            </a:pP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a:latin typeface="宋体" panose="02010600030101010101" pitchFamily="2" charset="-122"/>
                <a:ea typeface="宋体" panose="02010600030101010101" pitchFamily="2" charset="-122"/>
                <a:cs typeface="宋体" panose="02010600030101010101" pitchFamily="2" charset="-122"/>
              </a:rPr>
              <a:t>2</a:t>
            </a: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a:latin typeface="宋体" panose="02010600030101010101" pitchFamily="2" charset="-122"/>
                <a:ea typeface="宋体" panose="02010600030101010101" pitchFamily="2" charset="-122"/>
                <a:cs typeface="宋体" panose="02010600030101010101" pitchFamily="2" charset="-122"/>
              </a:rPr>
              <a:t>ssh</a:t>
            </a:r>
            <a:r>
              <a:rPr lang="zh-CN" altLang="en-US" sz="2000" dirty="0">
                <a:latin typeface="宋体" panose="02010600030101010101" pitchFamily="2" charset="-122"/>
                <a:ea typeface="宋体" panose="02010600030101010101" pitchFamily="2" charset="-122"/>
                <a:cs typeface="宋体" panose="02010600030101010101" pitchFamily="2" charset="-122"/>
              </a:rPr>
              <a:t>登录</a:t>
            </a:r>
          </a:p>
          <a:p>
            <a:pPr marL="457200" lvl="1" indent="457200" fontAlgn="auto">
              <a:spcAft>
                <a:spcPts val="0"/>
              </a:spcAft>
            </a:pP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a:latin typeface="宋体" panose="02010600030101010101" pitchFamily="2" charset="-122"/>
                <a:ea typeface="宋体" panose="02010600030101010101" pitchFamily="2" charset="-122"/>
                <a:cs typeface="宋体" panose="02010600030101010101" pitchFamily="2" charset="-122"/>
              </a:rPr>
              <a:t>3</a:t>
            </a:r>
            <a:r>
              <a:rPr lang="zh-CN" altLang="en-US" sz="2000" dirty="0">
                <a:latin typeface="宋体" panose="02010600030101010101" pitchFamily="2" charset="-122"/>
                <a:ea typeface="宋体" panose="02010600030101010101" pitchFamily="2" charset="-122"/>
                <a:cs typeface="宋体" panose="02010600030101010101" pitchFamily="2" charset="-122"/>
              </a:rPr>
              <a:t>）图形界面登录</a:t>
            </a:r>
          </a:p>
        </p:txBody>
      </p:sp>
      <p:sp>
        <p:nvSpPr>
          <p:cNvPr id="7" name="文本框 6"/>
          <p:cNvSpPr txBox="1"/>
          <p:nvPr/>
        </p:nvSpPr>
        <p:spPr>
          <a:xfrm>
            <a:off x="1775460" y="3896360"/>
            <a:ext cx="9273540" cy="706755"/>
          </a:xfrm>
          <a:prstGeom prst="rect">
            <a:avLst/>
          </a:prstGeom>
          <a:noFill/>
        </p:spPr>
        <p:txBody>
          <a:bodyPr wrap="square" rtlCol="0">
            <a:spAutoFit/>
          </a:bodyPr>
          <a:lstStyle/>
          <a:p>
            <a:endParaRPr lang="en-US" altLang="zh-CN" sz="2000">
              <a:sym typeface="+mn-ea"/>
            </a:endParaRPr>
          </a:p>
          <a:p>
            <a:endParaRPr lang="zh-CN" altLang="en-US" sz="2000"/>
          </a:p>
        </p:txBody>
      </p:sp>
      <p:pic>
        <p:nvPicPr>
          <p:cNvPr id="8" name="图片 7"/>
          <p:cNvPicPr>
            <a:picLocks noChangeAspect="1"/>
          </p:cNvPicPr>
          <p:nvPr/>
        </p:nvPicPr>
        <p:blipFill>
          <a:blip r:embed="rId3"/>
          <a:stretch>
            <a:fillRect/>
          </a:stretch>
        </p:blipFill>
        <p:spPr>
          <a:xfrm>
            <a:off x="2266950" y="3357245"/>
            <a:ext cx="6410325" cy="18288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en-US" altLang="zh-CN" sz="3200"/>
              <a:t>Linux</a:t>
            </a:r>
            <a:r>
              <a:rPr lang="zh-CN" altLang="en-US" sz="3200"/>
              <a:t>目录结构</a:t>
            </a:r>
          </a:p>
          <a:p>
            <a:pPr indent="457200"/>
            <a:endParaRPr lang="en-US" altLang="zh-CN" sz="2400"/>
          </a:p>
        </p:txBody>
      </p:sp>
      <p:sp>
        <p:nvSpPr>
          <p:cNvPr id="6" name="Title 1"/>
          <p:cNvSpPr txBox="1"/>
          <p:nvPr/>
        </p:nvSpPr>
        <p:spPr>
          <a:xfrm>
            <a:off x="623570" y="1484630"/>
            <a:ext cx="941705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marL="457200" lvl="1" indent="457200" fontAlgn="auto">
              <a:spcAft>
                <a:spcPts val="0"/>
              </a:spcAft>
            </a:pPr>
            <a:r>
              <a:rPr lang="en-US" altLang="zh-CN" sz="2000" dirty="0">
                <a:latin typeface="宋体" panose="02010600030101010101" pitchFamily="2" charset="-122"/>
                <a:ea typeface="宋体" panose="02010600030101010101" pitchFamily="2" charset="-122"/>
                <a:cs typeface="宋体" panose="02010600030101010101" pitchFamily="2" charset="-122"/>
              </a:rPr>
              <a:t>Linux</a:t>
            </a:r>
            <a:r>
              <a:rPr lang="zh-CN" altLang="en-US" sz="2000" dirty="0">
                <a:latin typeface="宋体" panose="02010600030101010101" pitchFamily="2" charset="-122"/>
                <a:ea typeface="宋体" panose="02010600030101010101" pitchFamily="2" charset="-122"/>
                <a:cs typeface="宋体" panose="02010600030101010101" pitchFamily="2" charset="-122"/>
              </a:rPr>
              <a:t>系统目录结构是一种层次化的文件系统结构，它定义了</a:t>
            </a:r>
            <a:r>
              <a:rPr lang="en-US" altLang="zh-CN" sz="2000" dirty="0">
                <a:latin typeface="宋体" panose="02010600030101010101" pitchFamily="2" charset="-122"/>
                <a:ea typeface="宋体" panose="02010600030101010101" pitchFamily="2" charset="-122"/>
                <a:cs typeface="宋体" panose="02010600030101010101" pitchFamily="2" charset="-122"/>
              </a:rPr>
              <a:t>Linux</a:t>
            </a:r>
            <a:r>
              <a:rPr lang="zh-CN" altLang="en-US" sz="2000" dirty="0">
                <a:latin typeface="宋体" panose="02010600030101010101" pitchFamily="2" charset="-122"/>
                <a:ea typeface="宋体" panose="02010600030101010101" pitchFamily="2" charset="-122"/>
                <a:cs typeface="宋体" panose="02010600030101010101" pitchFamily="2" charset="-122"/>
              </a:rPr>
              <a:t>操作系统中各个目录的作用和存放内容的规范。下面是</a:t>
            </a:r>
            <a:r>
              <a:rPr lang="en-US" altLang="zh-CN" sz="2000" dirty="0">
                <a:latin typeface="宋体" panose="02010600030101010101" pitchFamily="2" charset="-122"/>
                <a:ea typeface="宋体" panose="02010600030101010101" pitchFamily="2" charset="-122"/>
                <a:cs typeface="宋体" panose="02010600030101010101" pitchFamily="2" charset="-122"/>
              </a:rPr>
              <a:t>Linux</a:t>
            </a:r>
            <a:r>
              <a:rPr lang="zh-CN" altLang="en-US" sz="2000" dirty="0">
                <a:latin typeface="宋体" panose="02010600030101010101" pitchFamily="2" charset="-122"/>
                <a:ea typeface="宋体" panose="02010600030101010101" pitchFamily="2" charset="-122"/>
                <a:cs typeface="宋体" panose="02010600030101010101" pitchFamily="2" charset="-122"/>
              </a:rPr>
              <a:t>系统目录结构的主要部分：</a:t>
            </a:r>
          </a:p>
        </p:txBody>
      </p:sp>
      <p:sp>
        <p:nvSpPr>
          <p:cNvPr id="7" name="文本框 6"/>
          <p:cNvSpPr txBox="1"/>
          <p:nvPr/>
        </p:nvSpPr>
        <p:spPr>
          <a:xfrm>
            <a:off x="1775460" y="3896360"/>
            <a:ext cx="9273540" cy="706755"/>
          </a:xfrm>
          <a:prstGeom prst="rect">
            <a:avLst/>
          </a:prstGeom>
          <a:noFill/>
        </p:spPr>
        <p:txBody>
          <a:bodyPr wrap="square" rtlCol="0">
            <a:spAutoFit/>
          </a:bodyPr>
          <a:lstStyle/>
          <a:p>
            <a:endParaRPr lang="en-US" altLang="zh-CN" sz="2000">
              <a:sym typeface="+mn-ea"/>
            </a:endParaRPr>
          </a:p>
          <a:p>
            <a:endParaRPr lang="zh-CN" altLang="en-US" sz="2000"/>
          </a:p>
        </p:txBody>
      </p:sp>
      <p:pic>
        <p:nvPicPr>
          <p:cNvPr id="5" name="图片 4"/>
          <p:cNvPicPr>
            <a:picLocks noChangeAspect="1"/>
          </p:cNvPicPr>
          <p:nvPr/>
        </p:nvPicPr>
        <p:blipFill>
          <a:blip r:embed="rId3"/>
          <a:stretch>
            <a:fillRect/>
          </a:stretch>
        </p:blipFill>
        <p:spPr>
          <a:xfrm>
            <a:off x="1487805" y="2708910"/>
            <a:ext cx="8884920" cy="370713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en-US" altLang="zh-CN" sz="3200"/>
              <a:t>Linux</a:t>
            </a:r>
            <a:r>
              <a:rPr lang="zh-CN" altLang="en-US" sz="3200"/>
              <a:t>目录结构</a:t>
            </a:r>
          </a:p>
          <a:p>
            <a:pPr indent="457200"/>
            <a:endParaRPr lang="en-US" altLang="zh-CN" sz="2400"/>
          </a:p>
        </p:txBody>
      </p:sp>
      <p:sp>
        <p:nvSpPr>
          <p:cNvPr id="6" name="Title 1"/>
          <p:cNvSpPr txBox="1"/>
          <p:nvPr/>
        </p:nvSpPr>
        <p:spPr>
          <a:xfrm>
            <a:off x="695325" y="1628775"/>
            <a:ext cx="941705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lvl="1" indent="457200" fontAlgn="auto">
              <a:spcAft>
                <a:spcPts val="0"/>
              </a:spcAft>
            </a:pPr>
            <a:r>
              <a:rPr lang="en-US" altLang="zh-CN" sz="2000">
                <a:sym typeface="+mn-ea"/>
              </a:rPr>
              <a:t>•</a:t>
            </a:r>
            <a:r>
              <a:rPr lang="zh-CN" altLang="en-US" sz="2000" dirty="0">
                <a:latin typeface="宋体" panose="02010600030101010101" pitchFamily="2" charset="-122"/>
                <a:ea typeface="宋体" panose="02010600030101010101" pitchFamily="2" charset="-122"/>
                <a:cs typeface="宋体" panose="02010600030101010101" pitchFamily="2" charset="-122"/>
              </a:rPr>
              <a:t>根目录（</a:t>
            </a:r>
            <a:r>
              <a:rPr lang="en-US" altLang="zh-CN" sz="2000" dirty="0">
                <a:latin typeface="宋体" panose="02010600030101010101" pitchFamily="2" charset="-122"/>
                <a:ea typeface="宋体" panose="02010600030101010101" pitchFamily="2" charset="-122"/>
                <a:cs typeface="宋体" panose="02010600030101010101" pitchFamily="2" charset="-122"/>
              </a:rPr>
              <a:t>/</a:t>
            </a:r>
            <a:r>
              <a:rPr lang="zh-CN" altLang="en-US" sz="2000" dirty="0">
                <a:latin typeface="宋体" panose="02010600030101010101" pitchFamily="2" charset="-122"/>
                <a:ea typeface="宋体" panose="02010600030101010101" pitchFamily="2" charset="-122"/>
                <a:cs typeface="宋体" panose="02010600030101010101" pitchFamily="2" charset="-122"/>
              </a:rPr>
              <a:t>）：整个文件系统的起始点，所有其他目录和文件都是从根目录开始的。根目录包含了系统中的所有文件和目录。</a:t>
            </a:r>
          </a:p>
          <a:p>
            <a:pPr marL="457200" lvl="1" indent="457200" fontAlgn="auto">
              <a:spcAft>
                <a:spcPts val="0"/>
              </a:spcAft>
            </a:pPr>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marL="457200" lvl="1" indent="457200" fontAlgn="auto">
              <a:spcAft>
                <a:spcPts val="0"/>
              </a:spcAft>
            </a:pPr>
            <a:r>
              <a:rPr lang="en-US" altLang="zh-CN" sz="2000">
                <a:sym typeface="+mn-ea"/>
              </a:rPr>
              <a:t>•</a:t>
            </a:r>
            <a:r>
              <a:rPr lang="en-US" altLang="zh-CN" sz="2000" dirty="0">
                <a:latin typeface="宋体" panose="02010600030101010101" pitchFamily="2" charset="-122"/>
                <a:ea typeface="宋体" panose="02010600030101010101" pitchFamily="2" charset="-122"/>
                <a:cs typeface="宋体" panose="02010600030101010101" pitchFamily="2" charset="-122"/>
              </a:rPr>
              <a:t>/bin</a:t>
            </a:r>
            <a:r>
              <a:rPr lang="zh-CN" altLang="en-US" sz="2000" dirty="0">
                <a:latin typeface="宋体" panose="02010600030101010101" pitchFamily="2" charset="-122"/>
                <a:ea typeface="宋体" panose="02010600030101010101" pitchFamily="2" charset="-122"/>
                <a:cs typeface="宋体" panose="02010600030101010101" pitchFamily="2" charset="-122"/>
              </a:rPr>
              <a:t>：存放着系统的基本命令和可执行文件，是系统用户可以直接执行的命令的存放位置，常见的</a:t>
            </a:r>
            <a:r>
              <a:rPr lang="en-US" altLang="zh-CN" sz="2000" dirty="0">
                <a:latin typeface="宋体" panose="02010600030101010101" pitchFamily="2" charset="-122"/>
                <a:ea typeface="宋体" panose="02010600030101010101" pitchFamily="2" charset="-122"/>
                <a:cs typeface="宋体" panose="02010600030101010101" pitchFamily="2" charset="-122"/>
              </a:rPr>
              <a:t>/bin</a:t>
            </a:r>
            <a:r>
              <a:rPr lang="zh-CN" altLang="en-US" sz="2000" dirty="0">
                <a:latin typeface="宋体" panose="02010600030101010101" pitchFamily="2" charset="-122"/>
                <a:ea typeface="宋体" panose="02010600030101010101" pitchFamily="2" charset="-122"/>
                <a:cs typeface="宋体" panose="02010600030101010101" pitchFamily="2" charset="-122"/>
              </a:rPr>
              <a:t>目录下的命令如下：</a:t>
            </a:r>
          </a:p>
        </p:txBody>
      </p:sp>
      <p:sp>
        <p:nvSpPr>
          <p:cNvPr id="7" name="文本框 6"/>
          <p:cNvSpPr txBox="1"/>
          <p:nvPr/>
        </p:nvSpPr>
        <p:spPr>
          <a:xfrm>
            <a:off x="1775460" y="3896360"/>
            <a:ext cx="9273540" cy="706755"/>
          </a:xfrm>
          <a:prstGeom prst="rect">
            <a:avLst/>
          </a:prstGeom>
          <a:noFill/>
        </p:spPr>
        <p:txBody>
          <a:bodyPr wrap="square" rtlCol="0">
            <a:spAutoFit/>
          </a:bodyPr>
          <a:lstStyle/>
          <a:p>
            <a:endParaRPr lang="en-US" altLang="zh-CN" sz="2000">
              <a:sym typeface="+mn-ea"/>
            </a:endParaRPr>
          </a:p>
          <a:p>
            <a:endParaRPr lang="zh-CN" altLang="en-US" sz="2000"/>
          </a:p>
        </p:txBody>
      </p:sp>
      <p:pic>
        <p:nvPicPr>
          <p:cNvPr id="8" name="图片 7"/>
          <p:cNvPicPr>
            <a:picLocks noChangeAspect="1"/>
          </p:cNvPicPr>
          <p:nvPr/>
        </p:nvPicPr>
        <p:blipFill>
          <a:blip r:embed="rId3"/>
          <a:stretch>
            <a:fillRect/>
          </a:stretch>
        </p:blipFill>
        <p:spPr>
          <a:xfrm>
            <a:off x="983615" y="3357245"/>
            <a:ext cx="9741535" cy="307467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en-US" altLang="zh-CN" sz="3200"/>
              <a:t>Linux</a:t>
            </a:r>
            <a:r>
              <a:rPr lang="zh-CN" altLang="en-US" sz="3200"/>
              <a:t>目录结构</a:t>
            </a:r>
          </a:p>
          <a:p>
            <a:pPr indent="457200"/>
            <a:endParaRPr lang="en-US" altLang="zh-CN" sz="2400"/>
          </a:p>
        </p:txBody>
      </p:sp>
      <p:sp>
        <p:nvSpPr>
          <p:cNvPr id="6" name="Title 1"/>
          <p:cNvSpPr txBox="1"/>
          <p:nvPr/>
        </p:nvSpPr>
        <p:spPr>
          <a:xfrm>
            <a:off x="695325" y="1628775"/>
            <a:ext cx="941705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lvl="1" indent="457200" fontAlgn="auto">
              <a:spcAft>
                <a:spcPts val="0"/>
              </a:spcAft>
            </a:pPr>
            <a:r>
              <a:rPr lang="en-US" altLang="zh-CN" sz="2000">
                <a:sym typeface="+mn-ea"/>
              </a:rPr>
              <a:t>•</a:t>
            </a:r>
            <a:r>
              <a:rPr lang="en-US" altLang="zh-CN" sz="2000" dirty="0">
                <a:latin typeface="宋体" panose="02010600030101010101" pitchFamily="2" charset="-122"/>
                <a:ea typeface="宋体" panose="02010600030101010101" pitchFamily="2" charset="-122"/>
                <a:cs typeface="宋体" panose="02010600030101010101" pitchFamily="2" charset="-122"/>
              </a:rPr>
              <a:t>/boot</a:t>
            </a:r>
            <a:r>
              <a:rPr lang="zh-CN" altLang="en-US" sz="2000" dirty="0">
                <a:latin typeface="宋体" panose="02010600030101010101" pitchFamily="2" charset="-122"/>
                <a:ea typeface="宋体" panose="02010600030101010101" pitchFamily="2" charset="-122"/>
                <a:cs typeface="宋体" panose="02010600030101010101" pitchFamily="2" charset="-122"/>
              </a:rPr>
              <a:t>：存放引导相关文件的目录。在该目录中，通常会包含以下文件：</a:t>
            </a:r>
          </a:p>
          <a:p>
            <a:pPr marL="457200" lvl="1" indent="457200" fontAlgn="auto">
              <a:spcAft>
                <a:spcPts val="0"/>
              </a:spcAft>
            </a:pPr>
            <a:endParaRPr lang="zh-CN" altLang="en-US" sz="2000" dirty="0">
              <a:latin typeface="宋体" panose="02010600030101010101" pitchFamily="2" charset="-122"/>
              <a:ea typeface="宋体" panose="02010600030101010101" pitchFamily="2" charset="-122"/>
              <a:cs typeface="宋体" panose="02010600030101010101" pitchFamily="2" charset="-122"/>
            </a:endParaRPr>
          </a:p>
        </p:txBody>
      </p:sp>
      <p:sp>
        <p:nvSpPr>
          <p:cNvPr id="7" name="文本框 6"/>
          <p:cNvSpPr txBox="1"/>
          <p:nvPr/>
        </p:nvSpPr>
        <p:spPr>
          <a:xfrm>
            <a:off x="1775460" y="3896360"/>
            <a:ext cx="9273540" cy="706755"/>
          </a:xfrm>
          <a:prstGeom prst="rect">
            <a:avLst/>
          </a:prstGeom>
          <a:noFill/>
        </p:spPr>
        <p:txBody>
          <a:bodyPr wrap="square" rtlCol="0">
            <a:spAutoFit/>
          </a:bodyPr>
          <a:lstStyle/>
          <a:p>
            <a:endParaRPr lang="en-US" altLang="zh-CN" sz="2000">
              <a:sym typeface="+mn-ea"/>
            </a:endParaRPr>
          </a:p>
          <a:p>
            <a:endParaRPr lang="zh-CN" altLang="en-US" sz="2000"/>
          </a:p>
        </p:txBody>
      </p:sp>
      <p:pic>
        <p:nvPicPr>
          <p:cNvPr id="5" name="图片 4"/>
          <p:cNvPicPr>
            <a:picLocks noChangeAspect="1"/>
          </p:cNvPicPr>
          <p:nvPr/>
        </p:nvPicPr>
        <p:blipFill>
          <a:blip r:embed="rId3"/>
          <a:stretch>
            <a:fillRect/>
          </a:stretch>
        </p:blipFill>
        <p:spPr>
          <a:xfrm>
            <a:off x="911225" y="2277110"/>
            <a:ext cx="10287000" cy="287655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en-US" altLang="zh-CN" sz="3200"/>
              <a:t>Linux</a:t>
            </a:r>
            <a:r>
              <a:rPr lang="zh-CN" altLang="en-US" sz="3200"/>
              <a:t>目录结构</a:t>
            </a:r>
          </a:p>
          <a:p>
            <a:pPr indent="457200"/>
            <a:endParaRPr lang="en-US" altLang="zh-CN" sz="2400"/>
          </a:p>
        </p:txBody>
      </p:sp>
      <p:sp>
        <p:nvSpPr>
          <p:cNvPr id="6" name="Title 1"/>
          <p:cNvSpPr txBox="1"/>
          <p:nvPr/>
        </p:nvSpPr>
        <p:spPr>
          <a:xfrm>
            <a:off x="695325" y="1628775"/>
            <a:ext cx="941705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lvl="1" indent="457200" fontAlgn="auto">
              <a:spcAft>
                <a:spcPts val="0"/>
              </a:spcAft>
            </a:pPr>
            <a:r>
              <a:rPr lang="en-US" altLang="zh-CN" sz="2000">
                <a:sym typeface="+mn-ea"/>
              </a:rPr>
              <a:t>•</a:t>
            </a:r>
            <a:r>
              <a:rPr lang="en-US" altLang="zh-CN" sz="2000" dirty="0">
                <a:latin typeface="宋体" panose="02010600030101010101" pitchFamily="2" charset="-122"/>
                <a:ea typeface="宋体" panose="02010600030101010101" pitchFamily="2" charset="-122"/>
                <a:cs typeface="宋体" panose="02010600030101010101" pitchFamily="2" charset="-122"/>
              </a:rPr>
              <a:t>/dev</a:t>
            </a:r>
            <a:r>
              <a:rPr lang="zh-CN" altLang="en-US" sz="2000" dirty="0">
                <a:latin typeface="宋体" panose="02010600030101010101" pitchFamily="2" charset="-122"/>
                <a:ea typeface="宋体" panose="02010600030101010101" pitchFamily="2" charset="-122"/>
                <a:cs typeface="宋体" panose="02010600030101010101" pitchFamily="2" charset="-122"/>
              </a:rPr>
              <a:t>：设备文件目录，存放了系统中所有的设备文件。在</a:t>
            </a:r>
            <a:r>
              <a:rPr lang="en-US" altLang="zh-CN" sz="2000" dirty="0">
                <a:latin typeface="宋体" panose="02010600030101010101" pitchFamily="2" charset="-122"/>
                <a:ea typeface="宋体" panose="02010600030101010101" pitchFamily="2" charset="-122"/>
                <a:cs typeface="宋体" panose="02010600030101010101" pitchFamily="2" charset="-122"/>
              </a:rPr>
              <a:t>Linux</a:t>
            </a:r>
            <a:r>
              <a:rPr lang="zh-CN" altLang="en-US" sz="2000" dirty="0">
                <a:latin typeface="宋体" panose="02010600030101010101" pitchFamily="2" charset="-122"/>
                <a:ea typeface="宋体" panose="02010600030101010101" pitchFamily="2" charset="-122"/>
                <a:cs typeface="宋体" panose="02010600030101010101" pitchFamily="2" charset="-122"/>
              </a:rPr>
              <a:t>中，一切设备都被视为文件，而这些设备文件就存放在</a:t>
            </a:r>
            <a:r>
              <a:rPr lang="en-US" altLang="zh-CN" sz="2000" dirty="0">
                <a:latin typeface="宋体" panose="02010600030101010101" pitchFamily="2" charset="-122"/>
                <a:ea typeface="宋体" panose="02010600030101010101" pitchFamily="2" charset="-122"/>
                <a:cs typeface="宋体" panose="02010600030101010101" pitchFamily="2" charset="-122"/>
              </a:rPr>
              <a:t>/dev</a:t>
            </a:r>
            <a:r>
              <a:rPr lang="zh-CN" altLang="en-US" sz="2000" dirty="0">
                <a:latin typeface="宋体" panose="02010600030101010101" pitchFamily="2" charset="-122"/>
                <a:ea typeface="宋体" panose="02010600030101010101" pitchFamily="2" charset="-122"/>
                <a:cs typeface="宋体" panose="02010600030101010101" pitchFamily="2" charset="-122"/>
              </a:rPr>
              <a:t>目录下。</a:t>
            </a:r>
          </a:p>
          <a:p>
            <a:pPr marL="457200" lvl="1" indent="457200" fontAlgn="auto">
              <a:spcAft>
                <a:spcPts val="0"/>
              </a:spcAft>
            </a:pP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a:latin typeface="宋体" panose="02010600030101010101" pitchFamily="2" charset="-122"/>
                <a:ea typeface="宋体" panose="02010600030101010101" pitchFamily="2" charset="-122"/>
                <a:cs typeface="宋体" panose="02010600030101010101" pitchFamily="2" charset="-122"/>
              </a:rPr>
              <a:t>1</a:t>
            </a:r>
            <a:r>
              <a:rPr lang="zh-CN" altLang="en-US" sz="2000" dirty="0">
                <a:latin typeface="宋体" panose="02010600030101010101" pitchFamily="2" charset="-122"/>
                <a:ea typeface="宋体" panose="02010600030101010101" pitchFamily="2" charset="-122"/>
                <a:cs typeface="宋体" panose="02010600030101010101" pitchFamily="2" charset="-122"/>
              </a:rPr>
              <a:t>）设备文件类型</a:t>
            </a:r>
          </a:p>
          <a:p>
            <a:pPr marL="457200" lvl="1" indent="457200" fontAlgn="auto">
              <a:spcAft>
                <a:spcPts val="0"/>
              </a:spcAft>
            </a:pPr>
            <a:endParaRPr lang="zh-CN" altLang="en-US" sz="2000" dirty="0">
              <a:latin typeface="宋体" panose="02010600030101010101" pitchFamily="2" charset="-122"/>
              <a:ea typeface="宋体" panose="02010600030101010101" pitchFamily="2" charset="-122"/>
              <a:cs typeface="宋体" panose="02010600030101010101" pitchFamily="2" charset="-122"/>
            </a:endParaRPr>
          </a:p>
        </p:txBody>
      </p:sp>
      <p:sp>
        <p:nvSpPr>
          <p:cNvPr id="7" name="文本框 6"/>
          <p:cNvSpPr txBox="1"/>
          <p:nvPr/>
        </p:nvSpPr>
        <p:spPr>
          <a:xfrm>
            <a:off x="1775460" y="3896360"/>
            <a:ext cx="9273540" cy="706755"/>
          </a:xfrm>
          <a:prstGeom prst="rect">
            <a:avLst/>
          </a:prstGeom>
          <a:noFill/>
        </p:spPr>
        <p:txBody>
          <a:bodyPr wrap="square" rtlCol="0">
            <a:spAutoFit/>
          </a:bodyPr>
          <a:lstStyle/>
          <a:p>
            <a:endParaRPr lang="en-US" altLang="zh-CN" sz="2000">
              <a:sym typeface="+mn-ea"/>
            </a:endParaRPr>
          </a:p>
          <a:p>
            <a:endParaRPr lang="zh-CN" altLang="en-US" sz="2000"/>
          </a:p>
        </p:txBody>
      </p:sp>
      <p:pic>
        <p:nvPicPr>
          <p:cNvPr id="8" name="图片 7"/>
          <p:cNvPicPr>
            <a:picLocks noChangeAspect="1"/>
          </p:cNvPicPr>
          <p:nvPr/>
        </p:nvPicPr>
        <p:blipFill>
          <a:blip r:embed="rId3"/>
          <a:stretch>
            <a:fillRect/>
          </a:stretch>
        </p:blipFill>
        <p:spPr>
          <a:xfrm>
            <a:off x="1787525" y="2637155"/>
            <a:ext cx="7981315" cy="1884045"/>
          </a:xfrm>
          <a:prstGeom prst="rect">
            <a:avLst/>
          </a:prstGeom>
        </p:spPr>
      </p:pic>
      <p:sp>
        <p:nvSpPr>
          <p:cNvPr id="10" name="文本框 9"/>
          <p:cNvSpPr txBox="1"/>
          <p:nvPr/>
        </p:nvSpPr>
        <p:spPr>
          <a:xfrm>
            <a:off x="1703705" y="4653280"/>
            <a:ext cx="4064000" cy="645160"/>
          </a:xfrm>
          <a:prstGeom prst="rect">
            <a:avLst/>
          </a:prstGeom>
          <a:noFill/>
        </p:spPr>
        <p:txBody>
          <a:bodyPr wrap="square" rtlCol="0">
            <a:spAutoFit/>
          </a:bodyPr>
          <a:lstStyle/>
          <a:p>
            <a:pPr marL="0" lvl="1"/>
            <a:r>
              <a:rPr lang="zh-CN" altLang="en-US" dirty="0">
                <a:latin typeface="宋体" panose="02010600030101010101" pitchFamily="2" charset="-122"/>
                <a:cs typeface="宋体" panose="02010600030101010101" pitchFamily="2" charset="-122"/>
                <a:sym typeface="+mn-ea"/>
              </a:rPr>
              <a:t>（</a:t>
            </a:r>
            <a:r>
              <a:rPr lang="en-US" altLang="zh-CN" dirty="0">
                <a:latin typeface="宋体" panose="02010600030101010101" pitchFamily="2" charset="-122"/>
                <a:cs typeface="宋体" panose="02010600030101010101" pitchFamily="2" charset="-122"/>
                <a:sym typeface="+mn-ea"/>
              </a:rPr>
              <a:t>2</a:t>
            </a:r>
            <a:r>
              <a:rPr lang="zh-CN" altLang="en-US" dirty="0">
                <a:latin typeface="宋体" panose="02010600030101010101" pitchFamily="2" charset="-122"/>
                <a:cs typeface="宋体" panose="02010600030101010101" pitchFamily="2" charset="-122"/>
                <a:sym typeface="+mn-ea"/>
              </a:rPr>
              <a:t>）</a:t>
            </a:r>
            <a:r>
              <a:rPr lang="zh-CN" altLang="en-US" dirty="0">
                <a:latin typeface="宋体" panose="02010600030101010101" pitchFamily="2" charset="-122"/>
                <a:ea typeface="宋体" panose="02010600030101010101" pitchFamily="2" charset="-122"/>
                <a:cs typeface="宋体" panose="02010600030101010101" pitchFamily="2" charset="-122"/>
              </a:rPr>
              <a:t>常见设备文件</a:t>
            </a:r>
          </a:p>
          <a:p>
            <a:endParaRPr lang="zh-CN" altLang="en-US"/>
          </a:p>
        </p:txBody>
      </p:sp>
      <p:pic>
        <p:nvPicPr>
          <p:cNvPr id="11" name="图片 10"/>
          <p:cNvPicPr>
            <a:picLocks noChangeAspect="1"/>
          </p:cNvPicPr>
          <p:nvPr/>
        </p:nvPicPr>
        <p:blipFill>
          <a:blip r:embed="rId4"/>
          <a:stretch>
            <a:fillRect/>
          </a:stretch>
        </p:blipFill>
        <p:spPr>
          <a:xfrm>
            <a:off x="1787525" y="5081905"/>
            <a:ext cx="7980680" cy="153543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en-US" altLang="zh-CN" sz="3200"/>
              <a:t>Linux</a:t>
            </a:r>
            <a:r>
              <a:rPr lang="zh-CN" altLang="en-US" sz="3200"/>
              <a:t>目录结构</a:t>
            </a:r>
          </a:p>
          <a:p>
            <a:pPr indent="457200"/>
            <a:endParaRPr lang="en-US" altLang="zh-CN" sz="2400"/>
          </a:p>
        </p:txBody>
      </p:sp>
      <p:sp>
        <p:nvSpPr>
          <p:cNvPr id="6" name="Title 1"/>
          <p:cNvSpPr txBox="1"/>
          <p:nvPr/>
        </p:nvSpPr>
        <p:spPr>
          <a:xfrm>
            <a:off x="695325" y="1628775"/>
            <a:ext cx="941705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lvl="1" indent="457200" fontAlgn="auto">
              <a:spcAft>
                <a:spcPts val="0"/>
              </a:spcAft>
            </a:pPr>
            <a:r>
              <a:rPr lang="en-US" altLang="zh-CN" sz="2000">
                <a:sym typeface="+mn-ea"/>
              </a:rPr>
              <a:t>•</a:t>
            </a:r>
            <a:r>
              <a:rPr lang="en-US" altLang="zh-CN" sz="2000" dirty="0">
                <a:latin typeface="宋体" panose="02010600030101010101" pitchFamily="2" charset="-122"/>
                <a:ea typeface="宋体" panose="02010600030101010101" pitchFamily="2" charset="-122"/>
                <a:cs typeface="宋体" panose="02010600030101010101" pitchFamily="2" charset="-122"/>
              </a:rPr>
              <a:t>/etc</a:t>
            </a:r>
            <a:r>
              <a:rPr lang="zh-CN" altLang="en-US" sz="2000" dirty="0">
                <a:latin typeface="宋体" panose="02010600030101010101" pitchFamily="2" charset="-122"/>
                <a:ea typeface="宋体" panose="02010600030101010101" pitchFamily="2" charset="-122"/>
                <a:cs typeface="宋体" panose="02010600030101010101" pitchFamily="2" charset="-122"/>
              </a:rPr>
              <a:t>：存放系统配置文件的目录。它包含了许多重要的配置文件，用于设置系统的各种参数和选项。</a:t>
            </a:r>
          </a:p>
          <a:p>
            <a:pPr marL="457200" lvl="1" indent="457200" fontAlgn="auto">
              <a:spcAft>
                <a:spcPts val="0"/>
              </a:spcAft>
            </a:pPr>
            <a:endParaRPr lang="zh-CN" altLang="en-US" sz="2000" dirty="0">
              <a:latin typeface="宋体" panose="02010600030101010101" pitchFamily="2" charset="-122"/>
              <a:ea typeface="宋体" panose="02010600030101010101" pitchFamily="2" charset="-122"/>
              <a:cs typeface="宋体" panose="02010600030101010101" pitchFamily="2" charset="-122"/>
            </a:endParaRPr>
          </a:p>
        </p:txBody>
      </p:sp>
      <p:sp>
        <p:nvSpPr>
          <p:cNvPr id="7" name="文本框 6"/>
          <p:cNvSpPr txBox="1"/>
          <p:nvPr/>
        </p:nvSpPr>
        <p:spPr>
          <a:xfrm>
            <a:off x="1775460" y="3896360"/>
            <a:ext cx="9273540" cy="706755"/>
          </a:xfrm>
          <a:prstGeom prst="rect">
            <a:avLst/>
          </a:prstGeom>
          <a:noFill/>
        </p:spPr>
        <p:txBody>
          <a:bodyPr wrap="square" rtlCol="0">
            <a:spAutoFit/>
          </a:bodyPr>
          <a:lstStyle/>
          <a:p>
            <a:endParaRPr lang="en-US" altLang="zh-CN" sz="2000">
              <a:sym typeface="+mn-ea"/>
            </a:endParaRPr>
          </a:p>
          <a:p>
            <a:endParaRPr lang="zh-CN" altLang="en-US" sz="2000"/>
          </a:p>
        </p:txBody>
      </p:sp>
      <p:pic>
        <p:nvPicPr>
          <p:cNvPr id="5" name="图片 4"/>
          <p:cNvPicPr>
            <a:picLocks noChangeAspect="1"/>
          </p:cNvPicPr>
          <p:nvPr/>
        </p:nvPicPr>
        <p:blipFill>
          <a:blip r:embed="rId3"/>
          <a:stretch>
            <a:fillRect/>
          </a:stretch>
        </p:blipFill>
        <p:spPr>
          <a:xfrm>
            <a:off x="1139825" y="2486025"/>
            <a:ext cx="9831705" cy="412369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en-US" altLang="zh-CN" sz="3200"/>
              <a:t>Linux</a:t>
            </a:r>
            <a:r>
              <a:rPr lang="zh-CN" altLang="en-US" sz="3200"/>
              <a:t>目录结构</a:t>
            </a:r>
          </a:p>
          <a:p>
            <a:pPr indent="457200"/>
            <a:endParaRPr lang="en-US" altLang="zh-CN" sz="2400"/>
          </a:p>
        </p:txBody>
      </p:sp>
      <p:sp>
        <p:nvSpPr>
          <p:cNvPr id="6" name="Title 1"/>
          <p:cNvSpPr txBox="1"/>
          <p:nvPr/>
        </p:nvSpPr>
        <p:spPr>
          <a:xfrm>
            <a:off x="695325" y="1628775"/>
            <a:ext cx="1007491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lvl="1" indent="457200" fontAlgn="auto">
              <a:spcAft>
                <a:spcPts val="0"/>
              </a:spcAft>
            </a:pPr>
            <a:r>
              <a:rPr lang="en-US" altLang="zh-CN" sz="2000">
                <a:sym typeface="+mn-ea"/>
              </a:rPr>
              <a:t>•</a:t>
            </a:r>
            <a:r>
              <a:rPr lang="en-US" altLang="zh-CN" sz="2000" dirty="0">
                <a:latin typeface="宋体" panose="02010600030101010101" pitchFamily="2" charset="-122"/>
                <a:ea typeface="宋体" panose="02010600030101010101" pitchFamily="2" charset="-122"/>
                <a:cs typeface="宋体" panose="02010600030101010101" pitchFamily="2" charset="-122"/>
              </a:rPr>
              <a:t>/home</a:t>
            </a: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a:latin typeface="宋体" panose="02010600030101010101" pitchFamily="2" charset="-122"/>
                <a:ea typeface="宋体" panose="02010600030101010101" pitchFamily="2" charset="-122"/>
                <a:cs typeface="宋体" panose="02010600030101010101" pitchFamily="2" charset="-122"/>
              </a:rPr>
              <a:t>/home</a:t>
            </a:r>
            <a:r>
              <a:rPr lang="zh-CN" altLang="en-US" sz="2000" dirty="0">
                <a:latin typeface="宋体" panose="02010600030101010101" pitchFamily="2" charset="-122"/>
                <a:ea typeface="宋体" panose="02010600030101010101" pitchFamily="2" charset="-122"/>
                <a:cs typeface="宋体" panose="02010600030101010101" pitchFamily="2" charset="-122"/>
              </a:rPr>
              <a:t>目录是用于存放用户个人文件和配置的目录。每个用户在系统中都会有一个独立的子目录，以其用户名命名，位于</a:t>
            </a:r>
            <a:r>
              <a:rPr lang="en-US" altLang="zh-CN" sz="2000" dirty="0">
                <a:latin typeface="宋体" panose="02010600030101010101" pitchFamily="2" charset="-122"/>
                <a:ea typeface="宋体" panose="02010600030101010101" pitchFamily="2" charset="-122"/>
                <a:cs typeface="宋体" panose="02010600030101010101" pitchFamily="2" charset="-122"/>
              </a:rPr>
              <a:t>/home</a:t>
            </a:r>
            <a:r>
              <a:rPr lang="zh-CN" altLang="en-US" sz="2000" dirty="0">
                <a:latin typeface="宋体" panose="02010600030101010101" pitchFamily="2" charset="-122"/>
                <a:ea typeface="宋体" panose="02010600030101010101" pitchFamily="2" charset="-122"/>
                <a:cs typeface="宋体" panose="02010600030101010101" pitchFamily="2" charset="-122"/>
              </a:rPr>
              <a:t>目录下。</a:t>
            </a:r>
          </a:p>
          <a:p>
            <a:pPr marL="457200" lvl="1" indent="457200" fontAlgn="auto">
              <a:spcAft>
                <a:spcPts val="0"/>
              </a:spcAft>
            </a:pPr>
            <a:endParaRPr lang="zh-CN" altLang="en-US" sz="2000" dirty="0">
              <a:latin typeface="宋体" panose="02010600030101010101" pitchFamily="2" charset="-122"/>
              <a:ea typeface="宋体" panose="02010600030101010101" pitchFamily="2" charset="-122"/>
              <a:cs typeface="宋体" panose="02010600030101010101" pitchFamily="2" charset="-122"/>
            </a:endParaRPr>
          </a:p>
        </p:txBody>
      </p:sp>
      <p:sp>
        <p:nvSpPr>
          <p:cNvPr id="7" name="文本框 6"/>
          <p:cNvSpPr txBox="1"/>
          <p:nvPr/>
        </p:nvSpPr>
        <p:spPr>
          <a:xfrm>
            <a:off x="1775460" y="3896360"/>
            <a:ext cx="9273540" cy="706755"/>
          </a:xfrm>
          <a:prstGeom prst="rect">
            <a:avLst/>
          </a:prstGeom>
          <a:noFill/>
        </p:spPr>
        <p:txBody>
          <a:bodyPr wrap="square" rtlCol="0">
            <a:spAutoFit/>
          </a:bodyPr>
          <a:lstStyle/>
          <a:p>
            <a:endParaRPr lang="en-US" altLang="zh-CN" sz="2000">
              <a:sym typeface="+mn-ea"/>
            </a:endParaRPr>
          </a:p>
          <a:p>
            <a:endParaRPr lang="zh-CN" altLang="en-US" sz="2000"/>
          </a:p>
        </p:txBody>
      </p:sp>
      <p:pic>
        <p:nvPicPr>
          <p:cNvPr id="8" name="图片 7"/>
          <p:cNvPicPr>
            <a:picLocks noChangeAspect="1"/>
          </p:cNvPicPr>
          <p:nvPr/>
        </p:nvPicPr>
        <p:blipFill>
          <a:blip r:embed="rId3"/>
          <a:stretch>
            <a:fillRect/>
          </a:stretch>
        </p:blipFill>
        <p:spPr>
          <a:xfrm>
            <a:off x="1931035" y="2277110"/>
            <a:ext cx="7463155" cy="1800860"/>
          </a:xfrm>
          <a:prstGeom prst="rect">
            <a:avLst/>
          </a:prstGeom>
        </p:spPr>
      </p:pic>
      <p:sp>
        <p:nvSpPr>
          <p:cNvPr id="11" name="文本框 10"/>
          <p:cNvSpPr txBox="1"/>
          <p:nvPr/>
        </p:nvSpPr>
        <p:spPr>
          <a:xfrm>
            <a:off x="1489075" y="4077970"/>
            <a:ext cx="9441180" cy="706755"/>
          </a:xfrm>
          <a:prstGeom prst="rect">
            <a:avLst/>
          </a:prstGeom>
          <a:noFill/>
        </p:spPr>
        <p:txBody>
          <a:bodyPr wrap="square" rtlCol="0" anchor="t">
            <a:spAutoFit/>
          </a:bodyPr>
          <a:lstStyle/>
          <a:p>
            <a:r>
              <a:rPr lang="en-US" altLang="zh-CN" sz="2000">
                <a:sym typeface="+mn-ea"/>
              </a:rPr>
              <a:t>•</a:t>
            </a:r>
            <a:r>
              <a:rPr lang="en-US" altLang="zh-CN" sz="2000" dirty="0">
                <a:latin typeface="宋体" panose="02010600030101010101" pitchFamily="2" charset="-122"/>
                <a:cs typeface="宋体" panose="02010600030101010101" pitchFamily="2" charset="-122"/>
                <a:sym typeface="+mn-ea"/>
              </a:rPr>
              <a:t>/root:/root</a:t>
            </a:r>
            <a:r>
              <a:rPr lang="zh-CN" altLang="en-US" sz="2000" dirty="0">
                <a:latin typeface="宋体" panose="02010600030101010101" pitchFamily="2" charset="-122"/>
                <a:cs typeface="宋体" panose="02010600030101010101" pitchFamily="2" charset="-122"/>
                <a:sym typeface="+mn-ea"/>
              </a:rPr>
              <a:t>目录是系统管理员（</a:t>
            </a:r>
            <a:r>
              <a:rPr lang="en-US" altLang="zh-CN" sz="2000" dirty="0">
                <a:latin typeface="宋体" panose="02010600030101010101" pitchFamily="2" charset="-122"/>
                <a:cs typeface="宋体" panose="02010600030101010101" pitchFamily="2" charset="-122"/>
                <a:sym typeface="+mn-ea"/>
              </a:rPr>
              <a:t>root</a:t>
            </a:r>
            <a:r>
              <a:rPr lang="zh-CN" altLang="en-US" sz="2000" dirty="0">
                <a:latin typeface="宋体" panose="02010600030101010101" pitchFamily="2" charset="-122"/>
                <a:cs typeface="宋体" panose="02010600030101010101" pitchFamily="2" charset="-122"/>
                <a:sym typeface="+mn-ea"/>
              </a:rPr>
              <a:t>用户）的个人主目录。它是</a:t>
            </a:r>
            <a:r>
              <a:rPr lang="en-US" altLang="zh-CN" sz="2000" dirty="0">
                <a:latin typeface="宋体" panose="02010600030101010101" pitchFamily="2" charset="-122"/>
                <a:cs typeface="宋体" panose="02010600030101010101" pitchFamily="2" charset="-122"/>
                <a:sym typeface="+mn-ea"/>
              </a:rPr>
              <a:t>Linux</a:t>
            </a:r>
            <a:r>
              <a:rPr lang="zh-CN" altLang="en-US" sz="2000" dirty="0">
                <a:latin typeface="宋体" panose="02010600030101010101" pitchFamily="2" charset="-122"/>
                <a:cs typeface="宋体" panose="02010600030101010101" pitchFamily="2" charset="-122"/>
                <a:sym typeface="+mn-ea"/>
              </a:rPr>
              <a:t>系统中的超级用户（</a:t>
            </a:r>
            <a:r>
              <a:rPr lang="en-US" altLang="zh-CN" sz="2000" dirty="0">
                <a:latin typeface="宋体" panose="02010600030101010101" pitchFamily="2" charset="-122"/>
                <a:cs typeface="宋体" panose="02010600030101010101" pitchFamily="2" charset="-122"/>
                <a:sym typeface="+mn-ea"/>
              </a:rPr>
              <a:t>root</a:t>
            </a:r>
            <a:r>
              <a:rPr lang="zh-CN" altLang="en-US" sz="2000" dirty="0">
                <a:latin typeface="宋体" panose="02010600030101010101" pitchFamily="2" charset="-122"/>
                <a:cs typeface="宋体" panose="02010600030101010101" pitchFamily="2" charset="-122"/>
                <a:sym typeface="+mn-ea"/>
              </a:rPr>
              <a:t>）的默认主目录，类似于普通用户的</a:t>
            </a:r>
            <a:r>
              <a:rPr lang="en-US" altLang="zh-CN" sz="2000" dirty="0">
                <a:latin typeface="宋体" panose="02010600030101010101" pitchFamily="2" charset="-122"/>
                <a:cs typeface="宋体" panose="02010600030101010101" pitchFamily="2" charset="-122"/>
                <a:sym typeface="+mn-ea"/>
              </a:rPr>
              <a:t>/home</a:t>
            </a:r>
            <a:r>
              <a:rPr lang="zh-CN" altLang="en-US" sz="2000" dirty="0">
                <a:latin typeface="宋体" panose="02010600030101010101" pitchFamily="2" charset="-122"/>
                <a:cs typeface="宋体" panose="02010600030101010101" pitchFamily="2" charset="-122"/>
                <a:sym typeface="+mn-ea"/>
              </a:rPr>
              <a:t>目录。</a:t>
            </a:r>
          </a:p>
        </p:txBody>
      </p:sp>
      <p:pic>
        <p:nvPicPr>
          <p:cNvPr id="12" name="图片 11"/>
          <p:cNvPicPr>
            <a:picLocks noChangeAspect="1"/>
          </p:cNvPicPr>
          <p:nvPr/>
        </p:nvPicPr>
        <p:blipFill>
          <a:blip r:embed="rId4"/>
          <a:stretch>
            <a:fillRect/>
          </a:stretch>
        </p:blipFill>
        <p:spPr>
          <a:xfrm>
            <a:off x="1847850" y="4869180"/>
            <a:ext cx="8225155" cy="171958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en-US" altLang="zh-CN" sz="3200"/>
              <a:t>Linux</a:t>
            </a:r>
            <a:r>
              <a:rPr lang="zh-CN" altLang="en-US" sz="3200"/>
              <a:t>目录结构</a:t>
            </a:r>
          </a:p>
          <a:p>
            <a:pPr indent="457200"/>
            <a:endParaRPr lang="en-US" altLang="zh-CN" sz="2400"/>
          </a:p>
        </p:txBody>
      </p:sp>
      <p:sp>
        <p:nvSpPr>
          <p:cNvPr id="6" name="Title 1"/>
          <p:cNvSpPr txBox="1"/>
          <p:nvPr/>
        </p:nvSpPr>
        <p:spPr>
          <a:xfrm>
            <a:off x="695325" y="1628775"/>
            <a:ext cx="1007491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lvl="1" indent="457200" fontAlgn="auto">
              <a:spcAft>
                <a:spcPts val="0"/>
              </a:spcAft>
            </a:pPr>
            <a:r>
              <a:rPr lang="en-US" altLang="zh-CN" sz="2000">
                <a:sym typeface="+mn-ea"/>
              </a:rPr>
              <a:t>•</a:t>
            </a:r>
            <a:r>
              <a:rPr lang="en-US" altLang="zh-CN" sz="2000" dirty="0">
                <a:latin typeface="宋体" panose="02010600030101010101" pitchFamily="2" charset="-122"/>
                <a:ea typeface="宋体" panose="02010600030101010101" pitchFamily="2" charset="-122"/>
                <a:cs typeface="宋体" panose="02010600030101010101" pitchFamily="2" charset="-122"/>
              </a:rPr>
              <a:t>/run</a:t>
            </a: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a:latin typeface="宋体" panose="02010600030101010101" pitchFamily="2" charset="-122"/>
                <a:ea typeface="宋体" panose="02010600030101010101" pitchFamily="2" charset="-122"/>
                <a:cs typeface="宋体" panose="02010600030101010101" pitchFamily="2" charset="-122"/>
              </a:rPr>
              <a:t>/run</a:t>
            </a:r>
            <a:r>
              <a:rPr lang="zh-CN" altLang="en-US" sz="2000" dirty="0">
                <a:latin typeface="宋体" panose="02010600030101010101" pitchFamily="2" charset="-122"/>
                <a:ea typeface="宋体" panose="02010600030101010101" pitchFamily="2" charset="-122"/>
                <a:cs typeface="宋体" panose="02010600030101010101" pitchFamily="2" charset="-122"/>
              </a:rPr>
              <a:t>目录是一个临时文件系统（</a:t>
            </a:r>
            <a:r>
              <a:rPr lang="en-US" altLang="zh-CN" sz="2000" dirty="0">
                <a:latin typeface="宋体" panose="02010600030101010101" pitchFamily="2" charset="-122"/>
                <a:ea typeface="宋体" panose="02010600030101010101" pitchFamily="2" charset="-122"/>
                <a:cs typeface="宋体" panose="02010600030101010101" pitchFamily="2" charset="-122"/>
              </a:rPr>
              <a:t>tmpfs</a:t>
            </a:r>
            <a:r>
              <a:rPr lang="zh-CN" altLang="en-US" sz="2000" dirty="0">
                <a:latin typeface="宋体" panose="02010600030101010101" pitchFamily="2" charset="-122"/>
                <a:ea typeface="宋体" panose="02010600030101010101" pitchFamily="2" charset="-122"/>
                <a:cs typeface="宋体" panose="02010600030101010101" pitchFamily="2" charset="-122"/>
              </a:rPr>
              <a:t>），用于存放运行时的临时文件、进程相关文件和运行时数据。它是在系统启动时由</a:t>
            </a:r>
            <a:r>
              <a:rPr lang="en-US" altLang="zh-CN" sz="2000" dirty="0">
                <a:latin typeface="宋体" panose="02010600030101010101" pitchFamily="2" charset="-122"/>
                <a:ea typeface="宋体" panose="02010600030101010101" pitchFamily="2" charset="-122"/>
                <a:cs typeface="宋体" panose="02010600030101010101" pitchFamily="2" charset="-122"/>
              </a:rPr>
              <a:t>initramfs</a:t>
            </a:r>
            <a:r>
              <a:rPr lang="zh-CN" altLang="en-US" sz="2000" dirty="0">
                <a:latin typeface="宋体" panose="02010600030101010101" pitchFamily="2" charset="-122"/>
                <a:ea typeface="宋体" panose="02010600030101010101" pitchFamily="2" charset="-122"/>
                <a:cs typeface="宋体" panose="02010600030101010101" pitchFamily="2" charset="-122"/>
              </a:rPr>
              <a:t>（初始</a:t>
            </a:r>
            <a:r>
              <a:rPr lang="en-US" altLang="zh-CN" sz="2000" dirty="0">
                <a:latin typeface="宋体" panose="02010600030101010101" pitchFamily="2" charset="-122"/>
                <a:ea typeface="宋体" panose="02010600030101010101" pitchFamily="2" charset="-122"/>
                <a:cs typeface="宋体" panose="02010600030101010101" pitchFamily="2" charset="-122"/>
              </a:rPr>
              <a:t>RAM</a:t>
            </a:r>
            <a:r>
              <a:rPr lang="zh-CN" altLang="en-US" sz="2000" dirty="0">
                <a:latin typeface="宋体" panose="02010600030101010101" pitchFamily="2" charset="-122"/>
                <a:ea typeface="宋体" panose="02010600030101010101" pitchFamily="2" charset="-122"/>
                <a:cs typeface="宋体" panose="02010600030101010101" pitchFamily="2" charset="-122"/>
              </a:rPr>
              <a:t>文件系统）挂载的。</a:t>
            </a:r>
          </a:p>
          <a:p>
            <a:pPr marL="457200" lvl="1" indent="457200" fontAlgn="auto">
              <a:spcAft>
                <a:spcPts val="0"/>
              </a:spcAft>
            </a:pPr>
            <a:endParaRPr lang="zh-CN" altLang="en-US" sz="2000" dirty="0">
              <a:latin typeface="宋体" panose="02010600030101010101" pitchFamily="2" charset="-122"/>
              <a:ea typeface="宋体" panose="02010600030101010101" pitchFamily="2" charset="-122"/>
              <a:cs typeface="宋体" panose="02010600030101010101" pitchFamily="2" charset="-122"/>
            </a:endParaRPr>
          </a:p>
        </p:txBody>
      </p:sp>
      <p:sp>
        <p:nvSpPr>
          <p:cNvPr id="7" name="文本框 6"/>
          <p:cNvSpPr txBox="1"/>
          <p:nvPr/>
        </p:nvSpPr>
        <p:spPr>
          <a:xfrm>
            <a:off x="1775460" y="3896360"/>
            <a:ext cx="9273540" cy="706755"/>
          </a:xfrm>
          <a:prstGeom prst="rect">
            <a:avLst/>
          </a:prstGeom>
          <a:noFill/>
        </p:spPr>
        <p:txBody>
          <a:bodyPr wrap="square" rtlCol="0">
            <a:spAutoFit/>
          </a:bodyPr>
          <a:lstStyle/>
          <a:p>
            <a:endParaRPr lang="en-US" altLang="zh-CN" sz="2000">
              <a:sym typeface="+mn-ea"/>
            </a:endParaRPr>
          </a:p>
          <a:p>
            <a:endParaRPr lang="zh-CN" altLang="en-US" sz="2000"/>
          </a:p>
        </p:txBody>
      </p:sp>
      <p:pic>
        <p:nvPicPr>
          <p:cNvPr id="5" name="图片 4"/>
          <p:cNvPicPr>
            <a:picLocks noChangeAspect="1"/>
          </p:cNvPicPr>
          <p:nvPr/>
        </p:nvPicPr>
        <p:blipFill>
          <a:blip r:embed="rId3"/>
          <a:stretch>
            <a:fillRect/>
          </a:stretch>
        </p:blipFill>
        <p:spPr>
          <a:xfrm>
            <a:off x="911225" y="3051175"/>
            <a:ext cx="10363200" cy="248983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en-US" altLang="zh-CN" sz="3200"/>
              <a:t>Linux</a:t>
            </a:r>
            <a:r>
              <a:rPr lang="zh-CN" altLang="en-US" sz="3200"/>
              <a:t>常见指令</a:t>
            </a:r>
          </a:p>
          <a:p>
            <a:pPr indent="457200"/>
            <a:endParaRPr lang="en-US" altLang="zh-CN" sz="2400"/>
          </a:p>
        </p:txBody>
      </p:sp>
      <p:sp>
        <p:nvSpPr>
          <p:cNvPr id="6" name="Title 1"/>
          <p:cNvSpPr txBox="1"/>
          <p:nvPr/>
        </p:nvSpPr>
        <p:spPr>
          <a:xfrm>
            <a:off x="695325" y="1628775"/>
            <a:ext cx="1007491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lvl="1" indent="457200" fontAlgn="auto">
              <a:spcAft>
                <a:spcPts val="0"/>
              </a:spcAft>
            </a:pPr>
            <a:r>
              <a:rPr lang="en-US" altLang="zh-CN" sz="2000">
                <a:sym typeface="+mn-ea"/>
              </a:rPr>
              <a:t>•</a:t>
            </a:r>
            <a:r>
              <a:rPr lang="en-US" altLang="zh-CN" sz="2000" dirty="0">
                <a:latin typeface="宋体" panose="02010600030101010101" pitchFamily="2" charset="-122"/>
                <a:ea typeface="宋体" panose="02010600030101010101" pitchFamily="2" charset="-122"/>
                <a:cs typeface="宋体" panose="02010600030101010101" pitchFamily="2" charset="-122"/>
              </a:rPr>
              <a:t>cd</a:t>
            </a: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a:latin typeface="宋体" panose="02010600030101010101" pitchFamily="2" charset="-122"/>
                <a:ea typeface="宋体" panose="02010600030101010101" pitchFamily="2" charset="-122"/>
                <a:cs typeface="宋体" panose="02010600030101010101" pitchFamily="2" charset="-122"/>
              </a:rPr>
              <a:t>cd</a:t>
            </a:r>
            <a:r>
              <a:rPr lang="zh-CN" altLang="en-US" sz="2000" dirty="0">
                <a:latin typeface="宋体" panose="02010600030101010101" pitchFamily="2" charset="-122"/>
                <a:ea typeface="宋体" panose="02010600030101010101" pitchFamily="2" charset="-122"/>
                <a:cs typeface="宋体" panose="02010600030101010101" pitchFamily="2" charset="-122"/>
              </a:rPr>
              <a:t>命令用来</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切换工作目录至</a:t>
            </a:r>
            <a:r>
              <a:rPr lang="en-US" altLang="zh-CN"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dirname</a:t>
            </a:r>
            <a:r>
              <a:rPr lang="zh-CN" altLang="en-US" sz="2000" dirty="0">
                <a:latin typeface="宋体" panose="02010600030101010101" pitchFamily="2" charset="-122"/>
                <a:ea typeface="宋体" panose="02010600030101010101" pitchFamily="2" charset="-122"/>
                <a:cs typeface="宋体" panose="02010600030101010101" pitchFamily="2" charset="-122"/>
              </a:rPr>
              <a:t>。其中</a:t>
            </a:r>
            <a:r>
              <a:rPr lang="en-US" altLang="zh-CN" sz="2000" dirty="0">
                <a:latin typeface="宋体" panose="02010600030101010101" pitchFamily="2" charset="-122"/>
                <a:ea typeface="宋体" panose="02010600030101010101" pitchFamily="2" charset="-122"/>
                <a:cs typeface="宋体" panose="02010600030101010101" pitchFamily="2" charset="-122"/>
              </a:rPr>
              <a:t>dirName</a:t>
            </a:r>
            <a:r>
              <a:rPr lang="zh-CN" altLang="en-US" sz="2000" dirty="0">
                <a:latin typeface="宋体" panose="02010600030101010101" pitchFamily="2" charset="-122"/>
                <a:ea typeface="宋体" panose="02010600030101010101" pitchFamily="2" charset="-122"/>
                <a:cs typeface="宋体" panose="02010600030101010101" pitchFamily="2" charset="-122"/>
              </a:rPr>
              <a:t>表示法可为绝对路径或相对路径。</a:t>
            </a:r>
            <a:r>
              <a:rPr lang="en-US" altLang="zh-CN" sz="2000" dirty="0">
                <a:latin typeface="宋体" panose="02010600030101010101" pitchFamily="2" charset="-122"/>
                <a:ea typeface="宋体" panose="02010600030101010101" pitchFamily="2" charset="-122"/>
                <a:cs typeface="宋体" panose="02010600030101010101" pitchFamily="2" charset="-122"/>
              </a:rPr>
              <a:t>(cd = Change Directory)</a:t>
            </a:r>
            <a:r>
              <a:rPr lang="zh-CN" altLang="en-US" sz="2000" dirty="0">
                <a:latin typeface="宋体" panose="02010600030101010101" pitchFamily="2" charset="-122"/>
                <a:ea typeface="宋体" panose="02010600030101010101" pitchFamily="2" charset="-122"/>
                <a:cs typeface="宋体" panose="02010600030101010101" pitchFamily="2" charset="-122"/>
              </a:rPr>
              <a:t>。</a:t>
            </a:r>
          </a:p>
          <a:p>
            <a:pPr marL="457200" lvl="1" indent="457200" fontAlgn="auto">
              <a:spcAft>
                <a:spcPts val="0"/>
              </a:spcAft>
            </a:pPr>
            <a:endParaRPr lang="zh-CN" altLang="en-US" sz="2000" dirty="0">
              <a:latin typeface="宋体" panose="02010600030101010101" pitchFamily="2" charset="-122"/>
              <a:ea typeface="宋体" panose="02010600030101010101" pitchFamily="2" charset="-122"/>
              <a:cs typeface="宋体" panose="02010600030101010101" pitchFamily="2" charset="-122"/>
            </a:endParaRPr>
          </a:p>
        </p:txBody>
      </p:sp>
      <p:sp>
        <p:nvSpPr>
          <p:cNvPr id="7" name="文本框 6"/>
          <p:cNvSpPr txBox="1"/>
          <p:nvPr/>
        </p:nvSpPr>
        <p:spPr>
          <a:xfrm>
            <a:off x="1775460" y="3896360"/>
            <a:ext cx="9273540" cy="706755"/>
          </a:xfrm>
          <a:prstGeom prst="rect">
            <a:avLst/>
          </a:prstGeom>
          <a:noFill/>
        </p:spPr>
        <p:txBody>
          <a:bodyPr wrap="square" rtlCol="0">
            <a:spAutoFit/>
          </a:bodyPr>
          <a:lstStyle/>
          <a:p>
            <a:endParaRPr lang="en-US" altLang="zh-CN" sz="2000">
              <a:sym typeface="+mn-ea"/>
            </a:endParaRPr>
          </a:p>
          <a:p>
            <a:endParaRPr lang="zh-CN" altLang="en-US" sz="2000"/>
          </a:p>
        </p:txBody>
      </p:sp>
      <p:pic>
        <p:nvPicPr>
          <p:cNvPr id="8" name="图片 7"/>
          <p:cNvPicPr>
            <a:picLocks noChangeAspect="1"/>
          </p:cNvPicPr>
          <p:nvPr/>
        </p:nvPicPr>
        <p:blipFill>
          <a:blip r:embed="rId3"/>
          <a:stretch>
            <a:fillRect/>
          </a:stretch>
        </p:blipFill>
        <p:spPr>
          <a:xfrm>
            <a:off x="1461770" y="2348865"/>
            <a:ext cx="8645525" cy="2089785"/>
          </a:xfrm>
          <a:prstGeom prst="rect">
            <a:avLst/>
          </a:prstGeom>
        </p:spPr>
      </p:pic>
      <p:sp>
        <p:nvSpPr>
          <p:cNvPr id="10" name="文本框 9"/>
          <p:cNvSpPr txBox="1"/>
          <p:nvPr/>
        </p:nvSpPr>
        <p:spPr>
          <a:xfrm>
            <a:off x="1703705" y="4509135"/>
            <a:ext cx="8995410" cy="706755"/>
          </a:xfrm>
          <a:prstGeom prst="rect">
            <a:avLst/>
          </a:prstGeom>
          <a:noFill/>
        </p:spPr>
        <p:txBody>
          <a:bodyPr wrap="square" rtlCol="0">
            <a:spAutoFit/>
          </a:bodyPr>
          <a:lstStyle/>
          <a:p>
            <a:r>
              <a:rPr lang="en-US" altLang="zh-CN" sz="2000">
                <a:sym typeface="+mn-ea"/>
              </a:rPr>
              <a:t>•pwd:pwd</a:t>
            </a:r>
            <a:r>
              <a:rPr lang="zh-CN" altLang="en-US" sz="2000">
                <a:sym typeface="+mn-ea"/>
              </a:rPr>
              <a:t>命令以</a:t>
            </a:r>
            <a:r>
              <a:rPr lang="zh-CN" altLang="en-US" sz="2000">
                <a:ln/>
                <a:solidFill>
                  <a:schemeClr val="accent1"/>
                </a:solidFill>
                <a:effectLst>
                  <a:outerShdw blurRad="38100" dist="25400" dir="5400000" algn="ctr" rotWithShape="0">
                    <a:srgbClr val="6E747A">
                      <a:alpha val="43000"/>
                    </a:srgbClr>
                  </a:outerShdw>
                </a:effectLst>
                <a:sym typeface="+mn-ea"/>
              </a:rPr>
              <a:t>绝对路径的方式</a:t>
            </a:r>
            <a:r>
              <a:rPr lang="zh-CN" altLang="en-US" sz="2000">
                <a:sym typeface="+mn-ea"/>
              </a:rPr>
              <a:t>显示用户当前工作目录。</a:t>
            </a:r>
            <a:r>
              <a:rPr lang="en-US" altLang="zh-CN" sz="2000">
                <a:sym typeface="+mn-ea"/>
              </a:rPr>
              <a:t>(pwd = print working Directory)</a:t>
            </a:r>
          </a:p>
        </p:txBody>
      </p:sp>
      <p:pic>
        <p:nvPicPr>
          <p:cNvPr id="11" name="图片 10"/>
          <p:cNvPicPr>
            <a:picLocks noChangeAspect="1"/>
          </p:cNvPicPr>
          <p:nvPr/>
        </p:nvPicPr>
        <p:blipFill>
          <a:blip r:embed="rId4"/>
          <a:stretch>
            <a:fillRect/>
          </a:stretch>
        </p:blipFill>
        <p:spPr>
          <a:xfrm>
            <a:off x="1559560" y="5445125"/>
            <a:ext cx="8715375" cy="9525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en-US" altLang="zh-CN" sz="3200"/>
              <a:t>Linux</a:t>
            </a:r>
            <a:r>
              <a:rPr lang="zh-CN" altLang="en-US" sz="3200"/>
              <a:t>常见指令</a:t>
            </a:r>
          </a:p>
          <a:p>
            <a:pPr indent="457200"/>
            <a:endParaRPr lang="en-US" altLang="zh-CN" sz="2400"/>
          </a:p>
        </p:txBody>
      </p:sp>
      <p:sp>
        <p:nvSpPr>
          <p:cNvPr id="6" name="Title 1"/>
          <p:cNvSpPr txBox="1"/>
          <p:nvPr/>
        </p:nvSpPr>
        <p:spPr>
          <a:xfrm>
            <a:off x="695325" y="1628775"/>
            <a:ext cx="1007491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lvl="1" indent="457200" fontAlgn="auto">
              <a:spcAft>
                <a:spcPts val="0"/>
              </a:spcAft>
            </a:pPr>
            <a:r>
              <a:rPr lang="en-US" altLang="zh-CN" sz="2000">
                <a:sym typeface="+mn-ea"/>
              </a:rPr>
              <a:t>•</a:t>
            </a:r>
            <a:r>
              <a:rPr lang="en-US" altLang="zh-CN" sz="2000" dirty="0">
                <a:latin typeface="宋体" panose="02010600030101010101" pitchFamily="2" charset="-122"/>
                <a:ea typeface="宋体" panose="02010600030101010101" pitchFamily="2" charset="-122"/>
                <a:cs typeface="宋体" panose="02010600030101010101" pitchFamily="2" charset="-122"/>
              </a:rPr>
              <a:t>mkdir</a:t>
            </a: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a:latin typeface="宋体" panose="02010600030101010101" pitchFamily="2" charset="-122"/>
                <a:ea typeface="宋体" panose="02010600030101010101" pitchFamily="2" charset="-122"/>
                <a:cs typeface="宋体" panose="02010600030101010101" pitchFamily="2" charset="-122"/>
              </a:rPr>
              <a:t>mkdir</a:t>
            </a:r>
            <a:r>
              <a:rPr lang="zh-CN" altLang="en-US" sz="2000" dirty="0">
                <a:latin typeface="宋体" panose="02010600030101010101" pitchFamily="2" charset="-122"/>
                <a:ea typeface="宋体" panose="02010600030101010101" pitchFamily="2" charset="-122"/>
                <a:cs typeface="宋体" panose="02010600030101010101" pitchFamily="2" charset="-122"/>
              </a:rPr>
              <a:t>命令用来创建目录</a:t>
            </a:r>
            <a:r>
              <a:rPr lang="en-US" altLang="zh-CN" sz="2000" dirty="0">
                <a:latin typeface="宋体" panose="02010600030101010101" pitchFamily="2" charset="-122"/>
                <a:ea typeface="宋体" panose="02010600030101010101" pitchFamily="2" charset="-122"/>
                <a:cs typeface="宋体" panose="02010600030101010101" pitchFamily="2" charset="-122"/>
              </a:rPr>
              <a:t>,</a:t>
            </a:r>
            <a:r>
              <a:rPr lang="zh-CN" altLang="en-US" sz="2000" dirty="0">
                <a:latin typeface="宋体" panose="02010600030101010101" pitchFamily="2" charset="-122"/>
                <a:ea typeface="宋体" panose="02010600030101010101" pitchFamily="2" charset="-122"/>
                <a:cs typeface="宋体" panose="02010600030101010101" pitchFamily="2" charset="-122"/>
              </a:rPr>
              <a:t>如果在目录名的前面</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没有加任何路径名</a:t>
            </a:r>
            <a:r>
              <a:rPr lang="zh-CN" altLang="en-US" sz="2000" dirty="0">
                <a:latin typeface="宋体" panose="02010600030101010101" pitchFamily="2" charset="-122"/>
                <a:ea typeface="宋体" panose="02010600030101010101" pitchFamily="2" charset="-122"/>
                <a:cs typeface="宋体" panose="02010600030101010101" pitchFamily="2" charset="-122"/>
              </a:rPr>
              <a:t>，则在当前目录下创建由</a:t>
            </a:r>
            <a:r>
              <a:rPr lang="en-US" altLang="zh-CN" sz="2000" dirty="0">
                <a:latin typeface="宋体" panose="02010600030101010101" pitchFamily="2" charset="-122"/>
                <a:ea typeface="宋体" panose="02010600030101010101" pitchFamily="2" charset="-122"/>
                <a:cs typeface="宋体" panose="02010600030101010101" pitchFamily="2" charset="-122"/>
              </a:rPr>
              <a:t>dirname</a:t>
            </a:r>
            <a:r>
              <a:rPr lang="zh-CN" altLang="en-US" sz="2000" dirty="0">
                <a:latin typeface="宋体" panose="02010600030101010101" pitchFamily="2" charset="-122"/>
                <a:ea typeface="宋体" panose="02010600030101010101" pitchFamily="2" charset="-122"/>
                <a:cs typeface="宋体" panose="02010600030101010101" pitchFamily="2" charset="-122"/>
              </a:rPr>
              <a:t>指定的目录；如果给出了一个</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已经存在的路径</a:t>
            </a:r>
            <a:r>
              <a:rPr lang="zh-CN" altLang="en-US" sz="2000" dirty="0">
                <a:latin typeface="宋体" panose="02010600030101010101" pitchFamily="2" charset="-122"/>
                <a:ea typeface="宋体" panose="02010600030101010101" pitchFamily="2" charset="-122"/>
                <a:cs typeface="宋体" panose="02010600030101010101" pitchFamily="2" charset="-122"/>
              </a:rPr>
              <a:t>，将会在该目录下创建一个指定的目录。</a:t>
            </a:r>
            <a:r>
              <a:rPr lang="en-US" altLang="zh-CN" sz="2000" dirty="0">
                <a:latin typeface="宋体" panose="02010600030101010101" pitchFamily="2" charset="-122"/>
                <a:ea typeface="宋体" panose="02010600030101010101" pitchFamily="2" charset="-122"/>
                <a:cs typeface="宋体" panose="02010600030101010101" pitchFamily="2" charset="-122"/>
              </a:rPr>
              <a:t>(mkdir = make directory)</a:t>
            </a:r>
          </a:p>
          <a:p>
            <a:pPr marL="457200" lvl="1" indent="457200" fontAlgn="auto">
              <a:spcAft>
                <a:spcPts val="0"/>
              </a:spcAft>
            </a:pPr>
            <a:endParaRPr lang="zh-CN" altLang="en-US" sz="2000" dirty="0">
              <a:latin typeface="宋体" panose="02010600030101010101" pitchFamily="2" charset="-122"/>
              <a:ea typeface="宋体" panose="02010600030101010101" pitchFamily="2" charset="-122"/>
              <a:cs typeface="宋体" panose="02010600030101010101" pitchFamily="2" charset="-122"/>
            </a:endParaRPr>
          </a:p>
        </p:txBody>
      </p:sp>
      <p:sp>
        <p:nvSpPr>
          <p:cNvPr id="7" name="文本框 6"/>
          <p:cNvSpPr txBox="1"/>
          <p:nvPr/>
        </p:nvSpPr>
        <p:spPr>
          <a:xfrm>
            <a:off x="1775460" y="3896360"/>
            <a:ext cx="9273540" cy="706755"/>
          </a:xfrm>
          <a:prstGeom prst="rect">
            <a:avLst/>
          </a:prstGeom>
          <a:noFill/>
        </p:spPr>
        <p:txBody>
          <a:bodyPr wrap="square" rtlCol="0">
            <a:spAutoFit/>
          </a:bodyPr>
          <a:lstStyle/>
          <a:p>
            <a:endParaRPr lang="en-US" altLang="zh-CN" sz="2000">
              <a:sym typeface="+mn-ea"/>
            </a:endParaRPr>
          </a:p>
          <a:p>
            <a:endParaRPr lang="zh-CN" altLang="en-US" sz="2000"/>
          </a:p>
        </p:txBody>
      </p:sp>
      <p:sp>
        <p:nvSpPr>
          <p:cNvPr id="10" name="文本框 9"/>
          <p:cNvSpPr txBox="1"/>
          <p:nvPr/>
        </p:nvSpPr>
        <p:spPr>
          <a:xfrm>
            <a:off x="1703705" y="4509135"/>
            <a:ext cx="8995410" cy="706755"/>
          </a:xfrm>
          <a:prstGeom prst="rect">
            <a:avLst/>
          </a:prstGeom>
          <a:noFill/>
        </p:spPr>
        <p:txBody>
          <a:bodyPr wrap="square" rtlCol="0">
            <a:spAutoFit/>
          </a:bodyPr>
          <a:lstStyle/>
          <a:p>
            <a:r>
              <a:rPr lang="en-US" altLang="zh-CN" sz="2000">
                <a:sym typeface="+mn-ea"/>
              </a:rPr>
              <a:t>•mv:mv</a:t>
            </a:r>
            <a:r>
              <a:rPr lang="zh-CN" altLang="en-US" sz="2000">
                <a:sym typeface="+mn-ea"/>
              </a:rPr>
              <a:t>命令用来对文件或目录重新命名，或者将文件从一个目录移到另一个目录中</a:t>
            </a:r>
            <a:r>
              <a:rPr lang="en-US" altLang="zh-CN" sz="2000">
                <a:sym typeface="+mn-ea"/>
              </a:rPr>
              <a:t>,</a:t>
            </a:r>
            <a:r>
              <a:rPr lang="zh-CN" altLang="en-US" sz="2000">
                <a:sym typeface="+mn-ea"/>
              </a:rPr>
              <a:t>将一组文件移至一个目标目录中。</a:t>
            </a:r>
          </a:p>
        </p:txBody>
      </p:sp>
      <p:pic>
        <p:nvPicPr>
          <p:cNvPr id="5" name="图片 4"/>
          <p:cNvPicPr>
            <a:picLocks noChangeAspect="1"/>
          </p:cNvPicPr>
          <p:nvPr/>
        </p:nvPicPr>
        <p:blipFill>
          <a:blip r:embed="rId3"/>
          <a:stretch>
            <a:fillRect/>
          </a:stretch>
        </p:blipFill>
        <p:spPr>
          <a:xfrm>
            <a:off x="1310005" y="2637155"/>
            <a:ext cx="9620250" cy="1663700"/>
          </a:xfrm>
          <a:prstGeom prst="rect">
            <a:avLst/>
          </a:prstGeom>
        </p:spPr>
      </p:pic>
      <p:pic>
        <p:nvPicPr>
          <p:cNvPr id="12" name="图片 11"/>
          <p:cNvPicPr>
            <a:picLocks noChangeAspect="1"/>
          </p:cNvPicPr>
          <p:nvPr/>
        </p:nvPicPr>
        <p:blipFill>
          <a:blip r:embed="rId4"/>
          <a:stretch>
            <a:fillRect/>
          </a:stretch>
        </p:blipFill>
        <p:spPr>
          <a:xfrm>
            <a:off x="1271270" y="5300980"/>
            <a:ext cx="9277350" cy="125349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en-US" altLang="zh-CN" sz="3200"/>
              <a:t>Linux</a:t>
            </a:r>
            <a:r>
              <a:rPr lang="zh-CN" altLang="en-US" sz="3200"/>
              <a:t>常见指令</a:t>
            </a:r>
          </a:p>
          <a:p>
            <a:pPr indent="457200"/>
            <a:endParaRPr lang="en-US" altLang="zh-CN" sz="2400"/>
          </a:p>
        </p:txBody>
      </p:sp>
      <p:sp>
        <p:nvSpPr>
          <p:cNvPr id="6" name="Title 1"/>
          <p:cNvSpPr txBox="1"/>
          <p:nvPr/>
        </p:nvSpPr>
        <p:spPr>
          <a:xfrm>
            <a:off x="695325" y="1628775"/>
            <a:ext cx="1007491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lvl="1" indent="457200" fontAlgn="auto">
              <a:spcAft>
                <a:spcPts val="0"/>
              </a:spcAft>
            </a:pPr>
            <a:r>
              <a:rPr lang="en-US" altLang="zh-CN" sz="2000">
                <a:sym typeface="+mn-ea"/>
              </a:rPr>
              <a:t>•cp</a:t>
            </a: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a:latin typeface="宋体" panose="02010600030101010101" pitchFamily="2" charset="-122"/>
                <a:ea typeface="宋体" panose="02010600030101010101" pitchFamily="2" charset="-122"/>
                <a:cs typeface="宋体" panose="02010600030101010101" pitchFamily="2" charset="-122"/>
              </a:rPr>
              <a:t>cp</a:t>
            </a:r>
            <a:r>
              <a:rPr lang="zh-CN" altLang="en-US" sz="2000" dirty="0">
                <a:latin typeface="宋体" panose="02010600030101010101" pitchFamily="2" charset="-122"/>
                <a:ea typeface="宋体" panose="02010600030101010101" pitchFamily="2" charset="-122"/>
                <a:cs typeface="宋体" panose="02010600030101010101" pitchFamily="2" charset="-122"/>
              </a:rPr>
              <a:t>命令用来将一个或多个源文件或者目录复制到指定的目的文件或目录。所有目标文件指定的目录必须是己经存在的，</a:t>
            </a:r>
            <a:r>
              <a:rPr lang="en-US" altLang="zh-CN" sz="2000" dirty="0">
                <a:latin typeface="宋体" panose="02010600030101010101" pitchFamily="2" charset="-122"/>
                <a:ea typeface="宋体" panose="02010600030101010101" pitchFamily="2" charset="-122"/>
                <a:cs typeface="宋体" panose="02010600030101010101" pitchFamily="2" charset="-122"/>
              </a:rPr>
              <a:t>cp</a:t>
            </a:r>
            <a:r>
              <a:rPr lang="zh-CN" altLang="en-US" sz="2000" dirty="0">
                <a:latin typeface="宋体" panose="02010600030101010101" pitchFamily="2" charset="-122"/>
                <a:ea typeface="宋体" panose="02010600030101010101" pitchFamily="2" charset="-122"/>
                <a:cs typeface="宋体" panose="02010600030101010101" pitchFamily="2" charset="-122"/>
              </a:rPr>
              <a:t>命令</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不能创建目录</a:t>
            </a:r>
            <a:r>
              <a:rPr lang="zh-CN" altLang="en-US" sz="2000" dirty="0">
                <a:latin typeface="宋体" panose="02010600030101010101" pitchFamily="2" charset="-122"/>
                <a:ea typeface="宋体" panose="02010600030101010101" pitchFamily="2" charset="-122"/>
                <a:cs typeface="宋体" panose="02010600030101010101" pitchFamily="2" charset="-122"/>
              </a:rPr>
              <a:t>。如果没有文件复制的权限，则系统会显示出错信息。</a:t>
            </a:r>
            <a:endParaRPr lang="en-US" altLang="zh-CN" sz="2000" dirty="0">
              <a:latin typeface="宋体" panose="02010600030101010101" pitchFamily="2" charset="-122"/>
              <a:ea typeface="宋体" panose="02010600030101010101" pitchFamily="2" charset="-122"/>
              <a:cs typeface="宋体" panose="02010600030101010101" pitchFamily="2" charset="-122"/>
            </a:endParaRPr>
          </a:p>
          <a:p>
            <a:pPr marL="457200" lvl="1" indent="457200" fontAlgn="auto">
              <a:spcAft>
                <a:spcPts val="0"/>
              </a:spcAft>
            </a:pPr>
            <a:endParaRPr lang="zh-CN" altLang="en-US" sz="2000" dirty="0">
              <a:latin typeface="宋体" panose="02010600030101010101" pitchFamily="2" charset="-122"/>
              <a:ea typeface="宋体" panose="02010600030101010101" pitchFamily="2" charset="-122"/>
              <a:cs typeface="宋体" panose="02010600030101010101" pitchFamily="2" charset="-122"/>
            </a:endParaRPr>
          </a:p>
        </p:txBody>
      </p:sp>
      <p:sp>
        <p:nvSpPr>
          <p:cNvPr id="7" name="文本框 6"/>
          <p:cNvSpPr txBox="1"/>
          <p:nvPr/>
        </p:nvSpPr>
        <p:spPr>
          <a:xfrm>
            <a:off x="1775460" y="3896360"/>
            <a:ext cx="9273540" cy="706755"/>
          </a:xfrm>
          <a:prstGeom prst="rect">
            <a:avLst/>
          </a:prstGeom>
          <a:noFill/>
        </p:spPr>
        <p:txBody>
          <a:bodyPr wrap="square" rtlCol="0">
            <a:spAutoFit/>
          </a:bodyPr>
          <a:lstStyle/>
          <a:p>
            <a:endParaRPr lang="en-US" altLang="zh-CN" sz="2000">
              <a:sym typeface="+mn-ea"/>
            </a:endParaRPr>
          </a:p>
          <a:p>
            <a:endParaRPr lang="zh-CN" altLang="en-US" sz="2000"/>
          </a:p>
        </p:txBody>
      </p:sp>
      <p:sp>
        <p:nvSpPr>
          <p:cNvPr id="10" name="文本框 9"/>
          <p:cNvSpPr txBox="1"/>
          <p:nvPr/>
        </p:nvSpPr>
        <p:spPr>
          <a:xfrm>
            <a:off x="1703705" y="4509135"/>
            <a:ext cx="8995410" cy="706755"/>
          </a:xfrm>
          <a:prstGeom prst="rect">
            <a:avLst/>
          </a:prstGeom>
          <a:noFill/>
        </p:spPr>
        <p:txBody>
          <a:bodyPr wrap="square" rtlCol="0">
            <a:spAutoFit/>
          </a:bodyPr>
          <a:lstStyle/>
          <a:p>
            <a:r>
              <a:rPr lang="en-US" altLang="zh-CN" sz="2000">
                <a:sym typeface="+mn-ea"/>
              </a:rPr>
              <a:t>• touch</a:t>
            </a:r>
            <a:r>
              <a:rPr lang="zh-CN" altLang="en-US" sz="2000">
                <a:sym typeface="+mn-ea"/>
              </a:rPr>
              <a:t>：一是用于把已存在文件的时间标签更新为系统当前的时间（默认方式），它们的数据将原封不动地保留下来；二是用来创建新的空文件。</a:t>
            </a:r>
          </a:p>
        </p:txBody>
      </p:sp>
      <p:pic>
        <p:nvPicPr>
          <p:cNvPr id="8" name="图片 7"/>
          <p:cNvPicPr>
            <a:picLocks noChangeAspect="1"/>
          </p:cNvPicPr>
          <p:nvPr/>
        </p:nvPicPr>
        <p:blipFill>
          <a:blip r:embed="rId3"/>
          <a:stretch>
            <a:fillRect/>
          </a:stretch>
        </p:blipFill>
        <p:spPr>
          <a:xfrm>
            <a:off x="1238250" y="2708910"/>
            <a:ext cx="9715500" cy="1552575"/>
          </a:xfrm>
          <a:prstGeom prst="rect">
            <a:avLst/>
          </a:prstGeom>
        </p:spPr>
      </p:pic>
      <p:pic>
        <p:nvPicPr>
          <p:cNvPr id="11" name="图片 10"/>
          <p:cNvPicPr>
            <a:picLocks noChangeAspect="1"/>
          </p:cNvPicPr>
          <p:nvPr/>
        </p:nvPicPr>
        <p:blipFill>
          <a:blip r:embed="rId4"/>
          <a:stretch>
            <a:fillRect/>
          </a:stretch>
        </p:blipFill>
        <p:spPr>
          <a:xfrm>
            <a:off x="1369060" y="5373370"/>
            <a:ext cx="9972675" cy="119062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en-US" altLang="zh-CN" sz="3200"/>
              <a:t>Linux</a:t>
            </a:r>
            <a:r>
              <a:rPr lang="zh-CN" altLang="en-US" sz="3200"/>
              <a:t>常见指令</a:t>
            </a:r>
          </a:p>
          <a:p>
            <a:pPr indent="457200"/>
            <a:endParaRPr lang="en-US" altLang="zh-CN" sz="2400"/>
          </a:p>
        </p:txBody>
      </p:sp>
      <p:sp>
        <p:nvSpPr>
          <p:cNvPr id="6" name="Title 1"/>
          <p:cNvSpPr txBox="1"/>
          <p:nvPr/>
        </p:nvSpPr>
        <p:spPr>
          <a:xfrm>
            <a:off x="695325" y="1628775"/>
            <a:ext cx="1007491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lvl="1" indent="457200" fontAlgn="auto">
              <a:spcAft>
                <a:spcPts val="0"/>
              </a:spcAft>
            </a:pPr>
            <a:r>
              <a:rPr lang="en-US" altLang="zh-CN" sz="2000">
                <a:sym typeface="+mn-ea"/>
              </a:rPr>
              <a:t>•</a:t>
            </a:r>
            <a:r>
              <a:rPr lang="en-US" altLang="zh-CN" sz="2000" dirty="0">
                <a:latin typeface="宋体" panose="02010600030101010101" pitchFamily="2" charset="-122"/>
                <a:ea typeface="宋体" panose="02010600030101010101" pitchFamily="2" charset="-122"/>
                <a:cs typeface="宋体" panose="02010600030101010101" pitchFamily="2" charset="-122"/>
              </a:rPr>
              <a:t> rm</a:t>
            </a: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a:latin typeface="宋体" panose="02010600030101010101" pitchFamily="2" charset="-122"/>
                <a:ea typeface="宋体" panose="02010600030101010101" pitchFamily="2" charset="-122"/>
                <a:cs typeface="宋体" panose="02010600030101010101" pitchFamily="2" charset="-122"/>
              </a:rPr>
              <a:t>rm</a:t>
            </a:r>
            <a:r>
              <a:rPr lang="zh-CN" altLang="en-US" sz="2000" dirty="0">
                <a:latin typeface="宋体" panose="02010600030101010101" pitchFamily="2" charset="-122"/>
                <a:ea typeface="宋体" panose="02010600030101010101" pitchFamily="2" charset="-122"/>
                <a:cs typeface="宋体" panose="02010600030101010101" pitchFamily="2" charset="-122"/>
              </a:rPr>
              <a:t>命令可以删除一个目录中的一个或多个文件或目录，也可以将某个目录及其下属的所有文件及其子目录均删除掉。对于链接文件，只是删除整个链接文件，而原有文件保持不变，使用</a:t>
            </a:r>
            <a:r>
              <a:rPr lang="en-US" altLang="zh-CN" sz="2000" dirty="0">
                <a:latin typeface="宋体" panose="02010600030101010101" pitchFamily="2" charset="-122"/>
                <a:ea typeface="宋体" panose="02010600030101010101" pitchFamily="2" charset="-122"/>
                <a:cs typeface="宋体" panose="02010600030101010101" pitchFamily="2" charset="-122"/>
              </a:rPr>
              <a:t>rm</a:t>
            </a:r>
            <a:r>
              <a:rPr lang="zh-CN" altLang="en-US" sz="2000" dirty="0">
                <a:latin typeface="宋体" panose="02010600030101010101" pitchFamily="2" charset="-122"/>
                <a:ea typeface="宋体" panose="02010600030101010101" pitchFamily="2" charset="-122"/>
                <a:cs typeface="宋体" panose="02010600030101010101" pitchFamily="2" charset="-122"/>
              </a:rPr>
              <a:t>命令要格外小心。因为一旦删除了一个文件，就</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无法再恢复它</a:t>
            </a:r>
            <a:r>
              <a:rPr lang="zh-CN" altLang="en-US" sz="2000" dirty="0">
                <a:latin typeface="宋体" panose="02010600030101010101" pitchFamily="2" charset="-122"/>
                <a:ea typeface="宋体" panose="02010600030101010101" pitchFamily="2" charset="-122"/>
                <a:cs typeface="宋体" panose="02010600030101010101" pitchFamily="2" charset="-122"/>
              </a:rPr>
              <a:t>。</a:t>
            </a:r>
            <a:endParaRPr lang="en-US" altLang="zh-CN" sz="2000" dirty="0">
              <a:latin typeface="宋体" panose="02010600030101010101" pitchFamily="2" charset="-122"/>
              <a:ea typeface="宋体" panose="02010600030101010101" pitchFamily="2" charset="-122"/>
              <a:cs typeface="宋体" panose="02010600030101010101" pitchFamily="2" charset="-122"/>
            </a:endParaRPr>
          </a:p>
          <a:p>
            <a:pPr marL="457200" lvl="1" indent="457200" fontAlgn="auto">
              <a:spcAft>
                <a:spcPts val="0"/>
              </a:spcAft>
            </a:pPr>
            <a:endParaRPr lang="zh-CN" altLang="en-US" sz="2000" dirty="0">
              <a:latin typeface="宋体" panose="02010600030101010101" pitchFamily="2" charset="-122"/>
              <a:ea typeface="宋体" panose="02010600030101010101" pitchFamily="2" charset="-122"/>
              <a:cs typeface="宋体" panose="02010600030101010101" pitchFamily="2" charset="-122"/>
            </a:endParaRPr>
          </a:p>
        </p:txBody>
      </p:sp>
      <p:sp>
        <p:nvSpPr>
          <p:cNvPr id="7" name="文本框 6"/>
          <p:cNvSpPr txBox="1"/>
          <p:nvPr/>
        </p:nvSpPr>
        <p:spPr>
          <a:xfrm>
            <a:off x="1775460" y="3896360"/>
            <a:ext cx="9273540" cy="706755"/>
          </a:xfrm>
          <a:prstGeom prst="rect">
            <a:avLst/>
          </a:prstGeom>
          <a:noFill/>
        </p:spPr>
        <p:txBody>
          <a:bodyPr wrap="square" rtlCol="0">
            <a:spAutoFit/>
          </a:bodyPr>
          <a:lstStyle/>
          <a:p>
            <a:endParaRPr lang="en-US" altLang="zh-CN" sz="2000">
              <a:sym typeface="+mn-ea"/>
            </a:endParaRPr>
          </a:p>
          <a:p>
            <a:endParaRPr lang="zh-CN" altLang="en-US" sz="2000"/>
          </a:p>
        </p:txBody>
      </p:sp>
      <p:sp>
        <p:nvSpPr>
          <p:cNvPr id="10" name="文本框 9"/>
          <p:cNvSpPr txBox="1"/>
          <p:nvPr/>
        </p:nvSpPr>
        <p:spPr>
          <a:xfrm>
            <a:off x="1703705" y="4509135"/>
            <a:ext cx="8995410" cy="706755"/>
          </a:xfrm>
          <a:prstGeom prst="rect">
            <a:avLst/>
          </a:prstGeom>
          <a:noFill/>
        </p:spPr>
        <p:txBody>
          <a:bodyPr wrap="square" rtlCol="0">
            <a:spAutoFit/>
          </a:bodyPr>
          <a:lstStyle/>
          <a:p>
            <a:r>
              <a:rPr lang="en-US" altLang="zh-CN" sz="2000">
                <a:sym typeface="+mn-ea"/>
              </a:rPr>
              <a:t>• ls</a:t>
            </a:r>
            <a:r>
              <a:rPr lang="zh-CN" altLang="en-US" sz="2000">
                <a:sym typeface="+mn-ea"/>
              </a:rPr>
              <a:t>：</a:t>
            </a:r>
            <a:r>
              <a:rPr lang="en-US" altLang="zh-CN" sz="2000">
                <a:sym typeface="+mn-ea"/>
              </a:rPr>
              <a:t>ls</a:t>
            </a:r>
            <a:r>
              <a:rPr lang="zh-CN" altLang="en-US" sz="2000">
                <a:sym typeface="+mn-ea"/>
              </a:rPr>
              <a:t>命令用来显示目标列表，在</a:t>
            </a:r>
            <a:r>
              <a:rPr lang="en-US" altLang="zh-CN" sz="2000">
                <a:sym typeface="+mn-ea"/>
              </a:rPr>
              <a:t>Linux</a:t>
            </a:r>
            <a:r>
              <a:rPr lang="zh-CN" altLang="en-US" sz="2000">
                <a:sym typeface="+mn-ea"/>
              </a:rPr>
              <a:t>中是使用率较高的命令。</a:t>
            </a:r>
            <a:r>
              <a:rPr lang="en-US" altLang="zh-CN" sz="2000">
                <a:sym typeface="+mn-ea"/>
              </a:rPr>
              <a:t>ls</a:t>
            </a:r>
            <a:r>
              <a:rPr lang="zh-CN" altLang="en-US" sz="2000">
                <a:sym typeface="+mn-ea"/>
              </a:rPr>
              <a:t>命令的输出信息可以进行</a:t>
            </a:r>
            <a:r>
              <a:rPr lang="zh-CN" altLang="en-US" sz="2000">
                <a:ln/>
                <a:solidFill>
                  <a:schemeClr val="accent1"/>
                </a:solidFill>
                <a:effectLst>
                  <a:outerShdw blurRad="38100" dist="25400" dir="5400000" algn="ctr" rotWithShape="0">
                    <a:srgbClr val="6E747A">
                      <a:alpha val="43000"/>
                    </a:srgbClr>
                  </a:outerShdw>
                </a:effectLst>
                <a:sym typeface="+mn-ea"/>
              </a:rPr>
              <a:t>彩色加亮</a:t>
            </a:r>
            <a:r>
              <a:rPr lang="zh-CN" altLang="en-US" sz="2000">
                <a:sym typeface="+mn-ea"/>
              </a:rPr>
              <a:t>显示，以分区不同类型的文件。</a:t>
            </a:r>
          </a:p>
        </p:txBody>
      </p:sp>
      <p:pic>
        <p:nvPicPr>
          <p:cNvPr id="5" name="图片 4"/>
          <p:cNvPicPr>
            <a:picLocks noChangeAspect="1"/>
          </p:cNvPicPr>
          <p:nvPr/>
        </p:nvPicPr>
        <p:blipFill>
          <a:blip r:embed="rId3"/>
          <a:stretch>
            <a:fillRect/>
          </a:stretch>
        </p:blipFill>
        <p:spPr>
          <a:xfrm>
            <a:off x="983615" y="2954655"/>
            <a:ext cx="10334625" cy="1583055"/>
          </a:xfrm>
          <a:prstGeom prst="rect">
            <a:avLst/>
          </a:prstGeom>
        </p:spPr>
      </p:pic>
      <p:pic>
        <p:nvPicPr>
          <p:cNvPr id="12" name="图片 11"/>
          <p:cNvPicPr>
            <a:picLocks noChangeAspect="1"/>
          </p:cNvPicPr>
          <p:nvPr/>
        </p:nvPicPr>
        <p:blipFill>
          <a:blip r:embed="rId4"/>
          <a:stretch>
            <a:fillRect/>
          </a:stretch>
        </p:blipFill>
        <p:spPr>
          <a:xfrm>
            <a:off x="983615" y="5300980"/>
            <a:ext cx="9467850" cy="132397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en-US" altLang="zh-CN" sz="3200"/>
              <a:t>Linux</a:t>
            </a:r>
            <a:r>
              <a:rPr lang="zh-CN" altLang="en-US" sz="3200"/>
              <a:t>常见指令</a:t>
            </a:r>
          </a:p>
          <a:p>
            <a:pPr indent="457200"/>
            <a:endParaRPr lang="en-US" altLang="zh-CN" sz="2400"/>
          </a:p>
        </p:txBody>
      </p:sp>
      <p:sp>
        <p:nvSpPr>
          <p:cNvPr id="6" name="Title 1"/>
          <p:cNvSpPr txBox="1"/>
          <p:nvPr/>
        </p:nvSpPr>
        <p:spPr>
          <a:xfrm>
            <a:off x="695325" y="1628775"/>
            <a:ext cx="1007491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lvl="1" indent="457200" fontAlgn="auto">
              <a:spcAft>
                <a:spcPts val="0"/>
              </a:spcAft>
            </a:pPr>
            <a:r>
              <a:rPr lang="en-US" altLang="zh-CN" sz="2000">
                <a:sym typeface="+mn-ea"/>
              </a:rPr>
              <a:t>•</a:t>
            </a:r>
            <a:r>
              <a:rPr lang="en-US" altLang="zh-CN" sz="2000" dirty="0">
                <a:latin typeface="宋体" panose="02010600030101010101" pitchFamily="2" charset="-122"/>
                <a:ea typeface="宋体" panose="02010600030101010101" pitchFamily="2" charset="-122"/>
                <a:cs typeface="宋体" panose="02010600030101010101" pitchFamily="2" charset="-122"/>
              </a:rPr>
              <a:t> wget</a:t>
            </a: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a:latin typeface="宋体" panose="02010600030101010101" pitchFamily="2" charset="-122"/>
                <a:ea typeface="宋体" panose="02010600030101010101" pitchFamily="2" charset="-122"/>
                <a:cs typeface="宋体" panose="02010600030101010101" pitchFamily="2" charset="-122"/>
              </a:rPr>
              <a:t>wget</a:t>
            </a:r>
            <a:r>
              <a:rPr lang="zh-CN" altLang="en-US" sz="2000" dirty="0">
                <a:latin typeface="宋体" panose="02010600030101010101" pitchFamily="2" charset="-122"/>
                <a:ea typeface="宋体" panose="02010600030101010101" pitchFamily="2" charset="-122"/>
                <a:cs typeface="宋体" panose="02010600030101010101" pitchFamily="2" charset="-122"/>
              </a:rPr>
              <a:t>命令用来从指定的</a:t>
            </a:r>
            <a:r>
              <a:rPr lang="en-US" altLang="zh-CN"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URL</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下载文件</a:t>
            </a: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a:latin typeface="宋体" panose="02010600030101010101" pitchFamily="2" charset="-122"/>
                <a:ea typeface="宋体" panose="02010600030101010101" pitchFamily="2" charset="-122"/>
                <a:cs typeface="宋体" panose="02010600030101010101" pitchFamily="2" charset="-122"/>
              </a:rPr>
              <a:t>wget</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非常稳定</a:t>
            </a:r>
            <a:r>
              <a:rPr lang="zh-CN" altLang="en-US" sz="2000" dirty="0">
                <a:latin typeface="宋体" panose="02010600030101010101" pitchFamily="2" charset="-122"/>
                <a:ea typeface="宋体" panose="02010600030101010101" pitchFamily="2" charset="-122"/>
                <a:cs typeface="宋体" panose="02010600030101010101" pitchFamily="2" charset="-122"/>
              </a:rPr>
              <a:t>，它在带宽很窄的情况下和不稳定网络中有很强的适应性，如果是由于网络的原因下载失败，</a:t>
            </a:r>
            <a:r>
              <a:rPr lang="en-US" altLang="zh-CN" sz="2000" dirty="0">
                <a:latin typeface="宋体" panose="02010600030101010101" pitchFamily="2" charset="-122"/>
                <a:ea typeface="宋体" panose="02010600030101010101" pitchFamily="2" charset="-122"/>
                <a:cs typeface="宋体" panose="02010600030101010101" pitchFamily="2" charset="-122"/>
              </a:rPr>
              <a:t>wget</a:t>
            </a:r>
            <a:r>
              <a:rPr lang="zh-CN" altLang="en-US" sz="2000" dirty="0">
                <a:latin typeface="宋体" panose="02010600030101010101" pitchFamily="2" charset="-122"/>
                <a:ea typeface="宋体" panose="02010600030101010101" pitchFamily="2" charset="-122"/>
                <a:cs typeface="宋体" panose="02010600030101010101" pitchFamily="2" charset="-122"/>
              </a:rPr>
              <a:t>会不断的尝试，直到整个文件下载完毕。如果是服务器打断下载过程，它会再次联到服务器上从</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停止的地方</a:t>
            </a:r>
            <a:r>
              <a:rPr lang="zh-CN" altLang="en-US" sz="2000" dirty="0">
                <a:latin typeface="宋体" panose="02010600030101010101" pitchFamily="2" charset="-122"/>
                <a:ea typeface="宋体" panose="02010600030101010101" pitchFamily="2" charset="-122"/>
                <a:cs typeface="宋体" panose="02010600030101010101" pitchFamily="2" charset="-122"/>
              </a:rPr>
              <a:t>继续下载。</a:t>
            </a:r>
            <a:endParaRPr lang="en-US" altLang="zh-CN" sz="2000" dirty="0">
              <a:latin typeface="宋体" panose="02010600030101010101" pitchFamily="2" charset="-122"/>
              <a:ea typeface="宋体" panose="02010600030101010101" pitchFamily="2" charset="-122"/>
              <a:cs typeface="宋体" panose="02010600030101010101" pitchFamily="2" charset="-122"/>
            </a:endParaRPr>
          </a:p>
          <a:p>
            <a:pPr marL="457200" lvl="1" indent="457200" fontAlgn="auto">
              <a:spcAft>
                <a:spcPts val="0"/>
              </a:spcAft>
            </a:pPr>
            <a:endParaRPr lang="zh-CN" altLang="en-US" sz="2000" dirty="0">
              <a:latin typeface="宋体" panose="02010600030101010101" pitchFamily="2" charset="-122"/>
              <a:ea typeface="宋体" panose="02010600030101010101" pitchFamily="2" charset="-122"/>
              <a:cs typeface="宋体" panose="02010600030101010101" pitchFamily="2" charset="-122"/>
            </a:endParaRPr>
          </a:p>
        </p:txBody>
      </p:sp>
      <p:sp>
        <p:nvSpPr>
          <p:cNvPr id="7" name="文本框 6"/>
          <p:cNvSpPr txBox="1"/>
          <p:nvPr/>
        </p:nvSpPr>
        <p:spPr>
          <a:xfrm>
            <a:off x="1775460" y="3896360"/>
            <a:ext cx="9273540" cy="706755"/>
          </a:xfrm>
          <a:prstGeom prst="rect">
            <a:avLst/>
          </a:prstGeom>
          <a:noFill/>
        </p:spPr>
        <p:txBody>
          <a:bodyPr wrap="square" rtlCol="0">
            <a:spAutoFit/>
          </a:bodyPr>
          <a:lstStyle/>
          <a:p>
            <a:endParaRPr lang="en-US" altLang="zh-CN" sz="2000">
              <a:sym typeface="+mn-ea"/>
            </a:endParaRPr>
          </a:p>
          <a:p>
            <a:endParaRPr lang="zh-CN" altLang="en-US" sz="2000"/>
          </a:p>
        </p:txBody>
      </p:sp>
      <p:pic>
        <p:nvPicPr>
          <p:cNvPr id="8" name="图片 7"/>
          <p:cNvPicPr>
            <a:picLocks noChangeAspect="1"/>
          </p:cNvPicPr>
          <p:nvPr/>
        </p:nvPicPr>
        <p:blipFill>
          <a:blip r:embed="rId3"/>
          <a:stretch>
            <a:fillRect/>
          </a:stretch>
        </p:blipFill>
        <p:spPr>
          <a:xfrm>
            <a:off x="983615" y="2954655"/>
            <a:ext cx="9953625" cy="341947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en-US" altLang="zh-CN" sz="3200"/>
              <a:t>Linux</a:t>
            </a:r>
            <a:r>
              <a:rPr lang="zh-CN" altLang="en-US" sz="3200"/>
              <a:t>常见指令</a:t>
            </a:r>
          </a:p>
          <a:p>
            <a:pPr indent="457200"/>
            <a:endParaRPr lang="en-US" altLang="zh-CN" sz="2400"/>
          </a:p>
        </p:txBody>
      </p:sp>
      <p:sp>
        <p:nvSpPr>
          <p:cNvPr id="6" name="Title 1"/>
          <p:cNvSpPr txBox="1"/>
          <p:nvPr/>
        </p:nvSpPr>
        <p:spPr>
          <a:xfrm>
            <a:off x="695325" y="1628775"/>
            <a:ext cx="1007491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lvl="1" indent="457200" fontAlgn="auto">
              <a:spcAft>
                <a:spcPts val="0"/>
              </a:spcAft>
            </a:pPr>
            <a:r>
              <a:rPr lang="en-US" altLang="zh-CN" sz="2000">
                <a:sym typeface="+mn-ea"/>
              </a:rPr>
              <a:t>•</a:t>
            </a:r>
            <a:r>
              <a:rPr lang="en-US" altLang="zh-CN" sz="2000" dirty="0">
                <a:latin typeface="宋体" panose="02010600030101010101" pitchFamily="2" charset="-122"/>
                <a:ea typeface="宋体" panose="02010600030101010101" pitchFamily="2" charset="-122"/>
                <a:cs typeface="宋体" panose="02010600030101010101" pitchFamily="2" charset="-122"/>
              </a:rPr>
              <a:t>sudo</a:t>
            </a: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a:latin typeface="宋体" panose="02010600030101010101" pitchFamily="2" charset="-122"/>
                <a:ea typeface="宋体" panose="02010600030101010101" pitchFamily="2" charset="-122"/>
                <a:cs typeface="宋体" panose="02010600030101010101" pitchFamily="2" charset="-122"/>
              </a:rPr>
              <a:t>sudo</a:t>
            </a:r>
            <a:r>
              <a:rPr lang="zh-CN" altLang="en-US" sz="2000" dirty="0">
                <a:latin typeface="宋体" panose="02010600030101010101" pitchFamily="2" charset="-122"/>
                <a:ea typeface="宋体" panose="02010600030101010101" pitchFamily="2" charset="-122"/>
                <a:cs typeface="宋体" panose="02010600030101010101" pitchFamily="2" charset="-122"/>
              </a:rPr>
              <a:t>命令用来以其他身份来执行命令，预设的身份为</a:t>
            </a:r>
            <a:r>
              <a:rPr lang="en-US" altLang="zh-CN" sz="2000" dirty="0">
                <a:latin typeface="宋体" panose="02010600030101010101" pitchFamily="2" charset="-122"/>
                <a:ea typeface="宋体" panose="02010600030101010101" pitchFamily="2" charset="-122"/>
                <a:cs typeface="宋体" panose="02010600030101010101" pitchFamily="2" charset="-122"/>
              </a:rPr>
              <a:t>root</a:t>
            </a:r>
            <a:r>
              <a:rPr lang="zh-CN" altLang="en-US" sz="2000" dirty="0">
                <a:latin typeface="宋体" panose="02010600030101010101" pitchFamily="2" charset="-122"/>
                <a:ea typeface="宋体" panose="02010600030101010101" pitchFamily="2" charset="-122"/>
                <a:cs typeface="宋体" panose="02010600030101010101" pitchFamily="2" charset="-122"/>
              </a:rPr>
              <a:t>。在</a:t>
            </a:r>
            <a:r>
              <a:rPr lang="en-US" altLang="zh-CN" sz="2000" dirty="0">
                <a:latin typeface="宋体" panose="02010600030101010101" pitchFamily="2" charset="-122"/>
                <a:ea typeface="宋体" panose="02010600030101010101" pitchFamily="2" charset="-122"/>
                <a:cs typeface="宋体" panose="02010600030101010101" pitchFamily="2" charset="-122"/>
              </a:rPr>
              <a:t>/etc/sudoers</a:t>
            </a:r>
            <a:r>
              <a:rPr lang="zh-CN" altLang="en-US" sz="2000" dirty="0">
                <a:latin typeface="宋体" panose="02010600030101010101" pitchFamily="2" charset="-122"/>
                <a:ea typeface="宋体" panose="02010600030101010101" pitchFamily="2" charset="-122"/>
                <a:cs typeface="宋体" panose="02010600030101010101" pitchFamily="2" charset="-122"/>
              </a:rPr>
              <a:t>中设置了</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可执行</a:t>
            </a:r>
            <a:r>
              <a:rPr lang="en-US" altLang="zh-CN"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sudo</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指令的用户</a:t>
            </a:r>
            <a:r>
              <a:rPr lang="zh-CN" altLang="en-US" sz="2000" dirty="0">
                <a:latin typeface="宋体" panose="02010600030101010101" pitchFamily="2" charset="-122"/>
                <a:ea typeface="宋体" panose="02010600030101010101" pitchFamily="2" charset="-122"/>
                <a:cs typeface="宋体" panose="02010600030101010101" pitchFamily="2" charset="-122"/>
              </a:rPr>
              <a:t>。若其</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未经授权</a:t>
            </a:r>
            <a:r>
              <a:rPr lang="zh-CN" altLang="en-US" sz="2000" dirty="0">
                <a:latin typeface="宋体" panose="02010600030101010101" pitchFamily="2" charset="-122"/>
                <a:ea typeface="宋体" panose="02010600030101010101" pitchFamily="2" charset="-122"/>
                <a:cs typeface="宋体" panose="02010600030101010101" pitchFamily="2" charset="-122"/>
              </a:rPr>
              <a:t>的用户企图使用</a:t>
            </a:r>
            <a:r>
              <a:rPr lang="en-US" altLang="zh-CN" sz="2000" dirty="0">
                <a:latin typeface="宋体" panose="02010600030101010101" pitchFamily="2" charset="-122"/>
                <a:ea typeface="宋体" panose="02010600030101010101" pitchFamily="2" charset="-122"/>
                <a:cs typeface="宋体" panose="02010600030101010101" pitchFamily="2" charset="-122"/>
              </a:rPr>
              <a:t>sudo</a:t>
            </a:r>
            <a:r>
              <a:rPr lang="zh-CN" altLang="en-US" sz="2000" dirty="0">
                <a:latin typeface="宋体" panose="02010600030101010101" pitchFamily="2" charset="-122"/>
                <a:ea typeface="宋体" panose="02010600030101010101" pitchFamily="2" charset="-122"/>
                <a:cs typeface="宋体" panose="02010600030101010101" pitchFamily="2" charset="-122"/>
              </a:rPr>
              <a:t>，则会发出警告的邮件给管理员。用户使用</a:t>
            </a:r>
            <a:r>
              <a:rPr lang="en-US" altLang="zh-CN" sz="2000" dirty="0">
                <a:latin typeface="宋体" panose="02010600030101010101" pitchFamily="2" charset="-122"/>
                <a:ea typeface="宋体" panose="02010600030101010101" pitchFamily="2" charset="-122"/>
                <a:cs typeface="宋体" panose="02010600030101010101" pitchFamily="2" charset="-122"/>
              </a:rPr>
              <a:t>sudo</a:t>
            </a:r>
            <a:r>
              <a:rPr lang="zh-CN" altLang="en-US" sz="2000" dirty="0">
                <a:latin typeface="宋体" panose="02010600030101010101" pitchFamily="2" charset="-122"/>
                <a:ea typeface="宋体" panose="02010600030101010101" pitchFamily="2" charset="-122"/>
                <a:cs typeface="宋体" panose="02010600030101010101" pitchFamily="2" charset="-122"/>
              </a:rPr>
              <a:t>时，必须先</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输入密码</a:t>
            </a:r>
            <a:r>
              <a:rPr lang="zh-CN" altLang="en-US" sz="2000" dirty="0">
                <a:latin typeface="宋体" panose="02010600030101010101" pitchFamily="2" charset="-122"/>
                <a:ea typeface="宋体" panose="02010600030101010101" pitchFamily="2" charset="-122"/>
                <a:cs typeface="宋体" panose="02010600030101010101" pitchFamily="2" charset="-122"/>
              </a:rPr>
              <a:t>，之后有</a:t>
            </a:r>
            <a:r>
              <a:rPr lang="en-US" altLang="zh-CN" sz="2000" dirty="0">
                <a:latin typeface="宋体" panose="02010600030101010101" pitchFamily="2" charset="-122"/>
                <a:ea typeface="宋体" panose="02010600030101010101" pitchFamily="2" charset="-122"/>
                <a:cs typeface="宋体" panose="02010600030101010101" pitchFamily="2" charset="-122"/>
              </a:rPr>
              <a:t>5</a:t>
            </a:r>
            <a:r>
              <a:rPr lang="zh-CN" altLang="en-US" sz="2000" dirty="0">
                <a:latin typeface="宋体" panose="02010600030101010101" pitchFamily="2" charset="-122"/>
                <a:ea typeface="宋体" panose="02010600030101010101" pitchFamily="2" charset="-122"/>
                <a:cs typeface="宋体" panose="02010600030101010101" pitchFamily="2" charset="-122"/>
              </a:rPr>
              <a:t>分钟的有效期限，超过期限则必须重新输入密码。</a:t>
            </a:r>
          </a:p>
          <a:p>
            <a:pPr marL="457200" lvl="1" indent="457200" fontAlgn="auto">
              <a:spcAft>
                <a:spcPts val="0"/>
              </a:spcAft>
            </a:pPr>
            <a:endParaRPr lang="en-US" altLang="zh-CN" sz="2000">
              <a:sym typeface="+mn-ea"/>
            </a:endParaRPr>
          </a:p>
          <a:p>
            <a:pPr marL="457200" lvl="1" indent="457200" fontAlgn="auto">
              <a:spcAft>
                <a:spcPts val="0"/>
              </a:spcAft>
            </a:pPr>
            <a:endParaRPr lang="en-US" altLang="zh-CN" sz="2000">
              <a:sym typeface="+mn-ea"/>
            </a:endParaRPr>
          </a:p>
          <a:p>
            <a:pPr marL="457200" lvl="1" indent="457200" fontAlgn="auto">
              <a:spcAft>
                <a:spcPts val="0"/>
              </a:spcAft>
            </a:pPr>
            <a:r>
              <a:rPr lang="en-US" altLang="zh-CN" sz="2000">
                <a:sym typeface="+mn-ea"/>
              </a:rPr>
              <a:t>•</a:t>
            </a:r>
            <a:r>
              <a:rPr lang="en-US" altLang="zh-CN" sz="2000" dirty="0">
                <a:latin typeface="宋体" panose="02010600030101010101" pitchFamily="2" charset="-122"/>
                <a:ea typeface="宋体" panose="02010600030101010101" pitchFamily="2" charset="-122"/>
                <a:cs typeface="宋体" panose="02010600030101010101" pitchFamily="2" charset="-122"/>
              </a:rPr>
              <a:t>ping , telnet , nc/netcat:</a:t>
            </a:r>
            <a:r>
              <a:rPr lang="zh-CN" altLang="en-US" sz="2000" dirty="0">
                <a:latin typeface="宋体" panose="02010600030101010101" pitchFamily="2" charset="-122"/>
                <a:ea typeface="宋体" panose="02010600030101010101" pitchFamily="2" charset="-122"/>
                <a:cs typeface="宋体" panose="02010600030101010101" pitchFamily="2" charset="-122"/>
              </a:rPr>
              <a:t>这一组的命令主要用于</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测试网络连接</a:t>
            </a:r>
            <a:r>
              <a:rPr lang="zh-CN" altLang="en-US" sz="2000" dirty="0">
                <a:latin typeface="宋体" panose="02010600030101010101" pitchFamily="2" charset="-122"/>
                <a:ea typeface="宋体" panose="02010600030101010101" pitchFamily="2" charset="-122"/>
                <a:cs typeface="宋体" panose="02010600030101010101" pitchFamily="2" charset="-122"/>
              </a:rPr>
              <a:t>状态，在很多配置的过程中有很重要的用途。</a:t>
            </a:r>
          </a:p>
          <a:p>
            <a:pPr marL="457200" lvl="1" indent="457200" fontAlgn="auto">
              <a:spcAft>
                <a:spcPts val="0"/>
              </a:spcAft>
            </a:pPr>
            <a:endParaRPr lang="zh-CN" altLang="en-US" sz="2000" dirty="0">
              <a:latin typeface="宋体" panose="02010600030101010101" pitchFamily="2" charset="-122"/>
              <a:ea typeface="宋体" panose="02010600030101010101" pitchFamily="2" charset="-122"/>
              <a:cs typeface="宋体" panose="02010600030101010101" pitchFamily="2" charset="-122"/>
            </a:endParaRPr>
          </a:p>
        </p:txBody>
      </p:sp>
      <p:sp>
        <p:nvSpPr>
          <p:cNvPr id="7" name="文本框 6"/>
          <p:cNvSpPr txBox="1"/>
          <p:nvPr/>
        </p:nvSpPr>
        <p:spPr>
          <a:xfrm>
            <a:off x="1775460" y="3896360"/>
            <a:ext cx="9273540" cy="706755"/>
          </a:xfrm>
          <a:prstGeom prst="rect">
            <a:avLst/>
          </a:prstGeom>
          <a:noFill/>
        </p:spPr>
        <p:txBody>
          <a:bodyPr wrap="square" rtlCol="0">
            <a:spAutoFit/>
          </a:bodyPr>
          <a:lstStyle/>
          <a:p>
            <a:endParaRPr lang="en-US" altLang="zh-CN" sz="2000">
              <a:sym typeface="+mn-ea"/>
            </a:endParaRPr>
          </a:p>
          <a:p>
            <a:endParaRPr lang="zh-CN" altLang="en-US" sz="2000"/>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zh-CN" altLang="en-US" sz="3200"/>
              <a:t>分布式学习</a:t>
            </a:r>
          </a:p>
          <a:p>
            <a:pPr indent="457200"/>
            <a:endParaRPr lang="en-US" altLang="zh-CN" sz="2400"/>
          </a:p>
        </p:txBody>
      </p:sp>
      <p:sp>
        <p:nvSpPr>
          <p:cNvPr id="6" name="Title 1"/>
          <p:cNvSpPr txBox="1"/>
          <p:nvPr/>
        </p:nvSpPr>
        <p:spPr>
          <a:xfrm>
            <a:off x="695325" y="1557020"/>
            <a:ext cx="1007491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lvl="1" indent="457200" fontAlgn="auto">
              <a:spcAft>
                <a:spcPts val="0"/>
              </a:spcAft>
            </a:pPr>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marL="457200" lvl="1" indent="457200" fontAlgn="auto">
              <a:spcAft>
                <a:spcPts val="0"/>
              </a:spcAft>
            </a:pPr>
            <a:r>
              <a:rPr lang="zh-CN" altLang="en-US" sz="2000" dirty="0">
                <a:latin typeface="宋体" panose="02010600030101010101" pitchFamily="2" charset="-122"/>
                <a:ea typeface="宋体" panose="02010600030101010101" pitchFamily="2" charset="-122"/>
                <a:cs typeface="宋体" panose="02010600030101010101" pitchFamily="2" charset="-122"/>
              </a:rPr>
              <a:t>分布式训练（</a:t>
            </a:r>
            <a:r>
              <a:rPr lang="en-US" altLang="zh-CN" sz="2000" dirty="0">
                <a:latin typeface="宋体" panose="02010600030101010101" pitchFamily="2" charset="-122"/>
                <a:ea typeface="宋体" panose="02010600030101010101" pitchFamily="2" charset="-122"/>
                <a:cs typeface="宋体" panose="02010600030101010101" pitchFamily="2" charset="-122"/>
              </a:rPr>
              <a:t>Distributed Training</a:t>
            </a:r>
            <a:r>
              <a:rPr lang="zh-CN" altLang="en-US" sz="2000" dirty="0">
                <a:latin typeface="宋体" panose="02010600030101010101" pitchFamily="2" charset="-122"/>
                <a:ea typeface="宋体" panose="02010600030101010101" pitchFamily="2" charset="-122"/>
                <a:cs typeface="宋体" panose="02010600030101010101" pitchFamily="2" charset="-122"/>
              </a:rPr>
              <a:t>）是指将机器学习或深度学习模型训练任务</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分解成多个子任务</a:t>
            </a:r>
            <a:r>
              <a:rPr lang="zh-CN" altLang="en-US" sz="2000" dirty="0">
                <a:latin typeface="宋体" panose="02010600030101010101" pitchFamily="2" charset="-122"/>
                <a:ea typeface="宋体" panose="02010600030101010101" pitchFamily="2" charset="-122"/>
                <a:cs typeface="宋体" panose="02010600030101010101" pitchFamily="2" charset="-122"/>
              </a:rPr>
              <a:t>，并在多个计算设备上</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并行地进行训练</a:t>
            </a:r>
            <a:r>
              <a:rPr lang="zh-CN" altLang="en-US" sz="2000" dirty="0">
                <a:latin typeface="宋体" panose="02010600030101010101" pitchFamily="2" charset="-122"/>
                <a:ea typeface="宋体" panose="02010600030101010101" pitchFamily="2" charset="-122"/>
                <a:cs typeface="宋体" panose="02010600030101010101" pitchFamily="2" charset="-122"/>
              </a:rPr>
              <a:t>。下图给出了单个计算设备和多个计算设备的示例，这里计算设备可以是中央处理器（</a:t>
            </a:r>
            <a:r>
              <a:rPr lang="en-US" altLang="zh-CN" sz="2000" dirty="0">
                <a:latin typeface="宋体" panose="02010600030101010101" pitchFamily="2" charset="-122"/>
                <a:ea typeface="宋体" panose="02010600030101010101" pitchFamily="2" charset="-122"/>
                <a:cs typeface="宋体" panose="02010600030101010101" pitchFamily="2" charset="-122"/>
              </a:rPr>
              <a:t>Central Processing Unit</a:t>
            </a: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a:latin typeface="宋体" panose="02010600030101010101" pitchFamily="2" charset="-122"/>
                <a:ea typeface="宋体" panose="02010600030101010101" pitchFamily="2" charset="-122"/>
                <a:cs typeface="宋体" panose="02010600030101010101" pitchFamily="2" charset="-122"/>
              </a:rPr>
              <a:t>CPU</a:t>
            </a:r>
            <a:r>
              <a:rPr lang="zh-CN" altLang="en-US" sz="2000" dirty="0">
                <a:latin typeface="宋体" panose="02010600030101010101" pitchFamily="2" charset="-122"/>
                <a:ea typeface="宋体" panose="02010600030101010101" pitchFamily="2" charset="-122"/>
                <a:cs typeface="宋体" panose="02010600030101010101" pitchFamily="2" charset="-122"/>
              </a:rPr>
              <a:t>）、图形处理器（</a:t>
            </a:r>
            <a:r>
              <a:rPr lang="en-US" altLang="zh-CN" sz="2000" dirty="0">
                <a:latin typeface="宋体" panose="02010600030101010101" pitchFamily="2" charset="-122"/>
                <a:ea typeface="宋体" panose="02010600030101010101" pitchFamily="2" charset="-122"/>
                <a:cs typeface="宋体" panose="02010600030101010101" pitchFamily="2" charset="-122"/>
              </a:rPr>
              <a:t>Graphics Processing Unit</a:t>
            </a: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a:latin typeface="宋体" panose="02010600030101010101" pitchFamily="2" charset="-122"/>
                <a:ea typeface="宋体" panose="02010600030101010101" pitchFamily="2" charset="-122"/>
                <a:cs typeface="宋体" panose="02010600030101010101" pitchFamily="2" charset="-122"/>
              </a:rPr>
              <a:t>GPU</a:t>
            </a:r>
            <a:r>
              <a:rPr lang="zh-CN" altLang="en-US" sz="2000" dirty="0">
                <a:latin typeface="宋体" panose="02010600030101010101" pitchFamily="2" charset="-122"/>
                <a:ea typeface="宋体" panose="02010600030101010101" pitchFamily="2" charset="-122"/>
                <a:cs typeface="宋体" panose="02010600030101010101" pitchFamily="2" charset="-122"/>
              </a:rPr>
              <a:t>）、张量处理器（</a:t>
            </a:r>
            <a:r>
              <a:rPr lang="en-US" altLang="zh-CN" sz="2000" dirty="0">
                <a:latin typeface="宋体" panose="02010600030101010101" pitchFamily="2" charset="-122"/>
                <a:ea typeface="宋体" panose="02010600030101010101" pitchFamily="2" charset="-122"/>
                <a:cs typeface="宋体" panose="02010600030101010101" pitchFamily="2" charset="-122"/>
              </a:rPr>
              <a:t>Tensor Processing Unit</a:t>
            </a: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a:latin typeface="宋体" panose="02010600030101010101" pitchFamily="2" charset="-122"/>
                <a:ea typeface="宋体" panose="02010600030101010101" pitchFamily="2" charset="-122"/>
                <a:cs typeface="宋体" panose="02010600030101010101" pitchFamily="2" charset="-122"/>
              </a:rPr>
              <a:t>TPU</a:t>
            </a:r>
            <a:r>
              <a:rPr lang="zh-CN" altLang="en-US" sz="2000" dirty="0">
                <a:latin typeface="宋体" panose="02010600030101010101" pitchFamily="2" charset="-122"/>
                <a:ea typeface="宋体" panose="02010600030101010101" pitchFamily="2" charset="-122"/>
                <a:cs typeface="宋体" panose="02010600030101010101" pitchFamily="2" charset="-122"/>
              </a:rPr>
              <a:t>）也可以是神经网络处理器（</a:t>
            </a:r>
            <a:r>
              <a:rPr lang="en-US" altLang="zh-CN" sz="2000" dirty="0">
                <a:latin typeface="宋体" panose="02010600030101010101" pitchFamily="2" charset="-122"/>
                <a:ea typeface="宋体" panose="02010600030101010101" pitchFamily="2" charset="-122"/>
                <a:cs typeface="宋体" panose="02010600030101010101" pitchFamily="2" charset="-122"/>
              </a:rPr>
              <a:t>Neural network Processing Unit</a:t>
            </a: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a:latin typeface="宋体" panose="02010600030101010101" pitchFamily="2" charset="-122"/>
                <a:ea typeface="宋体" panose="02010600030101010101" pitchFamily="2" charset="-122"/>
                <a:cs typeface="宋体" panose="02010600030101010101" pitchFamily="2" charset="-122"/>
              </a:rPr>
              <a:t>NPU</a:t>
            </a:r>
            <a:r>
              <a:rPr lang="zh-CN" altLang="en-US" sz="2000" dirty="0">
                <a:latin typeface="宋体" panose="02010600030101010101" pitchFamily="2" charset="-122"/>
                <a:ea typeface="宋体" panose="02010600030101010101" pitchFamily="2" charset="-122"/>
                <a:cs typeface="宋体" panose="02010600030101010101" pitchFamily="2" charset="-122"/>
              </a:rPr>
              <a:t>）。</a:t>
            </a:r>
          </a:p>
        </p:txBody>
      </p:sp>
      <p:pic>
        <p:nvPicPr>
          <p:cNvPr id="5" name="图片 4"/>
          <p:cNvPicPr>
            <a:picLocks noChangeAspect="1"/>
          </p:cNvPicPr>
          <p:nvPr/>
        </p:nvPicPr>
        <p:blipFill>
          <a:blip r:embed="rId3"/>
          <a:stretch>
            <a:fillRect/>
          </a:stretch>
        </p:blipFill>
        <p:spPr>
          <a:xfrm>
            <a:off x="2567305" y="3873500"/>
            <a:ext cx="6276340" cy="266954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zh-CN" altLang="en-US" sz="3200"/>
              <a:t>分布式学习</a:t>
            </a:r>
          </a:p>
          <a:p>
            <a:pPr indent="457200"/>
            <a:endParaRPr lang="en-US" altLang="zh-CN" sz="2400"/>
          </a:p>
        </p:txBody>
      </p:sp>
      <p:sp>
        <p:nvSpPr>
          <p:cNvPr id="6" name="Title 1"/>
          <p:cNvSpPr txBox="1"/>
          <p:nvPr/>
        </p:nvSpPr>
        <p:spPr>
          <a:xfrm>
            <a:off x="695325" y="1557020"/>
            <a:ext cx="1007491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lvl="1" indent="457200" fontAlgn="auto">
              <a:spcAft>
                <a:spcPts val="0"/>
              </a:spcAft>
            </a:pPr>
            <a:r>
              <a:rPr lang="en-US" altLang="zh-CN" sz="2000">
                <a:sym typeface="+mn-ea"/>
              </a:rPr>
              <a:t>•</a:t>
            </a:r>
            <a:r>
              <a:rPr lang="zh-CN" altLang="en-US" sz="2000" dirty="0">
                <a:latin typeface="宋体" panose="02010600030101010101" pitchFamily="2" charset="-122"/>
                <a:ea typeface="宋体" panose="02010600030101010101" pitchFamily="2" charset="-122"/>
                <a:cs typeface="宋体" panose="02010600030101010101" pitchFamily="2" charset="-122"/>
              </a:rPr>
              <a:t>数据并行：在数据并行系统中，每个计算设备都有</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整个神经网络模型</a:t>
            </a:r>
            <a:r>
              <a:rPr lang="zh-CN" altLang="en-US" sz="2000" dirty="0">
                <a:latin typeface="宋体" panose="02010600030101010101" pitchFamily="2" charset="-122"/>
                <a:ea typeface="宋体" panose="02010600030101010101" pitchFamily="2" charset="-122"/>
                <a:cs typeface="宋体" panose="02010600030101010101" pitchFamily="2" charset="-122"/>
              </a:rPr>
              <a:t>的完整副本，进行迭代时，每个计算设备只分配了一个批次数据样本的子集，并根据该批次样本子集的数据进行网络模型的前向计算，数据并行训练系统可以通过增加计算设备，有效提升整体</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训练吞吐量</a:t>
            </a:r>
            <a:r>
              <a:rPr lang="zh-CN" altLang="en-US" sz="2000" dirty="0">
                <a:latin typeface="宋体" panose="02010600030101010101" pitchFamily="2" charset="-122"/>
                <a:ea typeface="宋体" panose="02010600030101010101" pitchFamily="2" charset="-122"/>
                <a:cs typeface="宋体" panose="02010600030101010101" pitchFamily="2" charset="-122"/>
              </a:rPr>
              <a:t>。</a:t>
            </a:r>
          </a:p>
        </p:txBody>
      </p:sp>
      <p:pic>
        <p:nvPicPr>
          <p:cNvPr id="7" name="图片 6"/>
          <p:cNvPicPr>
            <a:picLocks noChangeAspect="1"/>
          </p:cNvPicPr>
          <p:nvPr/>
        </p:nvPicPr>
        <p:blipFill>
          <a:blip r:embed="rId3"/>
          <a:stretch>
            <a:fillRect/>
          </a:stretch>
        </p:blipFill>
        <p:spPr>
          <a:xfrm>
            <a:off x="1919605" y="2924810"/>
            <a:ext cx="7077075" cy="364553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zh-CN" altLang="en-US" sz="3200"/>
              <a:t>分布式学习</a:t>
            </a:r>
          </a:p>
          <a:p>
            <a:pPr indent="457200"/>
            <a:endParaRPr lang="en-US" altLang="zh-CN" sz="2400"/>
          </a:p>
        </p:txBody>
      </p:sp>
      <p:sp>
        <p:nvSpPr>
          <p:cNvPr id="6" name="Title 1"/>
          <p:cNvSpPr txBox="1"/>
          <p:nvPr/>
        </p:nvSpPr>
        <p:spPr>
          <a:xfrm>
            <a:off x="695325" y="1557020"/>
            <a:ext cx="1007491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lvl="1" indent="457200" fontAlgn="auto">
              <a:spcAft>
                <a:spcPts val="0"/>
              </a:spcAft>
            </a:pPr>
            <a:r>
              <a:rPr lang="en-US" altLang="zh-CN" sz="2000">
                <a:sym typeface="+mn-ea"/>
              </a:rPr>
              <a:t>•</a:t>
            </a:r>
            <a:r>
              <a:rPr lang="zh-CN" altLang="en-US" sz="2000">
                <a:sym typeface="+mn-ea"/>
              </a:rPr>
              <a:t>模型</a:t>
            </a:r>
            <a:r>
              <a:rPr lang="zh-CN" altLang="en-US" sz="2000" dirty="0">
                <a:latin typeface="宋体" panose="02010600030101010101" pitchFamily="2" charset="-122"/>
                <a:ea typeface="宋体" panose="02010600030101010101" pitchFamily="2" charset="-122"/>
                <a:cs typeface="宋体" panose="02010600030101010101" pitchFamily="2" charset="-122"/>
              </a:rPr>
              <a:t>并行：模型并行（</a:t>
            </a:r>
            <a:r>
              <a:rPr lang="en-US" altLang="zh-CN" sz="2000" dirty="0">
                <a:latin typeface="宋体" panose="02010600030101010101" pitchFamily="2" charset="-122"/>
                <a:ea typeface="宋体" panose="02010600030101010101" pitchFamily="2" charset="-122"/>
                <a:cs typeface="宋体" panose="02010600030101010101" pitchFamily="2" charset="-122"/>
              </a:rPr>
              <a:t>Model Parallelism</a:t>
            </a:r>
            <a:r>
              <a:rPr lang="zh-CN" altLang="en-US" sz="2000" dirty="0">
                <a:latin typeface="宋体" panose="02010600030101010101" pitchFamily="2" charset="-122"/>
                <a:ea typeface="宋体" panose="02010600030101010101" pitchFamily="2" charset="-122"/>
                <a:cs typeface="宋体" panose="02010600030101010101" pitchFamily="2" charset="-122"/>
              </a:rPr>
              <a:t>）往往用于解决</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单节点内存不足</a:t>
            </a:r>
            <a:r>
              <a:rPr lang="zh-CN" altLang="en-US" sz="2000" dirty="0">
                <a:latin typeface="宋体" panose="02010600030101010101" pitchFamily="2" charset="-122"/>
                <a:ea typeface="宋体" panose="02010600030101010101" pitchFamily="2" charset="-122"/>
                <a:cs typeface="宋体" panose="02010600030101010101" pitchFamily="2" charset="-122"/>
              </a:rPr>
              <a:t>的问题，下图中左边为</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流水线并行</a:t>
            </a:r>
            <a:r>
              <a:rPr lang="zh-CN" altLang="en-US" sz="2000" dirty="0">
                <a:latin typeface="宋体" panose="02010600030101010101" pitchFamily="2" charset="-122"/>
                <a:ea typeface="宋体" panose="02010600030101010101" pitchFamily="2" charset="-122"/>
                <a:cs typeface="宋体" panose="02010600030101010101" pitchFamily="2" charset="-122"/>
              </a:rPr>
              <a:t>，模型的不同层被切分到不同的设备中；右边为</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张量并行</a:t>
            </a:r>
            <a:r>
              <a:rPr lang="zh-CN" altLang="en-US" sz="2000" dirty="0">
                <a:latin typeface="宋体" panose="02010600030101010101" pitchFamily="2" charset="-122"/>
                <a:ea typeface="宋体" panose="02010600030101010101" pitchFamily="2" charset="-122"/>
                <a:cs typeface="宋体" panose="02010600030101010101" pitchFamily="2" charset="-122"/>
              </a:rPr>
              <a:t>，同一个层中的不同的参数被切分到不同的设备中进行计算。</a:t>
            </a:r>
          </a:p>
        </p:txBody>
      </p:sp>
      <p:pic>
        <p:nvPicPr>
          <p:cNvPr id="5" name="图片 4"/>
          <p:cNvPicPr>
            <a:picLocks noChangeAspect="1"/>
          </p:cNvPicPr>
          <p:nvPr/>
        </p:nvPicPr>
        <p:blipFill>
          <a:blip r:embed="rId3"/>
          <a:stretch>
            <a:fillRect/>
          </a:stretch>
        </p:blipFill>
        <p:spPr>
          <a:xfrm>
            <a:off x="2135505" y="3063875"/>
            <a:ext cx="6898005" cy="230060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zh-CN" altLang="en-US" sz="3200"/>
              <a:t>分布式学习环境搭建</a:t>
            </a:r>
          </a:p>
          <a:p>
            <a:pPr indent="457200"/>
            <a:endParaRPr lang="en-US" altLang="zh-CN" sz="2400"/>
          </a:p>
        </p:txBody>
      </p:sp>
      <p:sp>
        <p:nvSpPr>
          <p:cNvPr id="6" name="Title 1"/>
          <p:cNvSpPr txBox="1"/>
          <p:nvPr/>
        </p:nvSpPr>
        <p:spPr>
          <a:xfrm>
            <a:off x="695325" y="1557020"/>
            <a:ext cx="1007491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lvl="1" indent="457200" fontAlgn="auto">
              <a:spcAft>
                <a:spcPts val="0"/>
              </a:spcAft>
            </a:pPr>
            <a:r>
              <a:rPr lang="en-US" altLang="zh-CN" sz="2000" dirty="0">
                <a:latin typeface="宋体" panose="02010600030101010101" pitchFamily="2" charset="-122"/>
                <a:ea typeface="宋体" panose="02010600030101010101" pitchFamily="2" charset="-122"/>
                <a:cs typeface="宋体" panose="02010600030101010101" pitchFamily="2" charset="-122"/>
              </a:rPr>
              <a:t>Docker</a:t>
            </a: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a:latin typeface="宋体" panose="02010600030101010101" pitchFamily="2" charset="-122"/>
                <a:ea typeface="宋体" panose="02010600030101010101" pitchFamily="2" charset="-122"/>
                <a:cs typeface="宋体" panose="02010600030101010101" pitchFamily="2" charset="-122"/>
              </a:rPr>
              <a:t>Docker </a:t>
            </a:r>
            <a:r>
              <a:rPr lang="zh-CN" altLang="en-US" sz="2000" dirty="0">
                <a:latin typeface="宋体" panose="02010600030101010101" pitchFamily="2" charset="-122"/>
                <a:ea typeface="宋体" panose="02010600030101010101" pitchFamily="2" charset="-122"/>
                <a:cs typeface="宋体" panose="02010600030101010101" pitchFamily="2" charset="-122"/>
              </a:rPr>
              <a:t>架构是基于</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客户端</a:t>
            </a:r>
            <a:r>
              <a:rPr lang="en-US" altLang="zh-CN"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服务器</a:t>
            </a:r>
            <a:r>
              <a:rPr lang="zh-CN" altLang="en-US" sz="2000" dirty="0">
                <a:latin typeface="宋体" panose="02010600030101010101" pitchFamily="2" charset="-122"/>
                <a:ea typeface="宋体" panose="02010600030101010101" pitchFamily="2" charset="-122"/>
                <a:cs typeface="宋体" panose="02010600030101010101" pitchFamily="2" charset="-122"/>
              </a:rPr>
              <a:t>模式的，其中包括多个关键组件，确保容器化应用的高效构建、管理和运行。</a:t>
            </a:r>
            <a:r>
              <a:rPr lang="en-US" altLang="zh-CN" sz="2000" dirty="0">
                <a:latin typeface="宋体" panose="02010600030101010101" pitchFamily="2" charset="-122"/>
                <a:ea typeface="宋体" panose="02010600030101010101" pitchFamily="2" charset="-122"/>
                <a:cs typeface="宋体" panose="02010600030101010101" pitchFamily="2" charset="-122"/>
              </a:rPr>
              <a:t>Docker </a:t>
            </a:r>
            <a:r>
              <a:rPr lang="zh-CN" altLang="en-US" sz="2000" dirty="0">
                <a:latin typeface="宋体" panose="02010600030101010101" pitchFamily="2" charset="-122"/>
                <a:ea typeface="宋体" panose="02010600030101010101" pitchFamily="2" charset="-122"/>
                <a:cs typeface="宋体" panose="02010600030101010101" pitchFamily="2" charset="-122"/>
              </a:rPr>
              <a:t>的架构设计使得开发者能够轻松地将应用程序与其所有依赖封装在一个可移植的容器中，并在不同的环境中一致地运行。</a:t>
            </a:r>
            <a:r>
              <a:rPr lang="en-US" altLang="zh-CN" sz="2000" dirty="0">
                <a:latin typeface="宋体" panose="02010600030101010101" pitchFamily="2" charset="-122"/>
                <a:ea typeface="宋体" panose="02010600030101010101" pitchFamily="2" charset="-122"/>
                <a:cs typeface="宋体" panose="02010600030101010101" pitchFamily="2" charset="-122"/>
              </a:rPr>
              <a:t>Docker </a:t>
            </a:r>
            <a:r>
              <a:rPr lang="zh-CN" altLang="en-US" sz="2000" dirty="0">
                <a:latin typeface="宋体" panose="02010600030101010101" pitchFamily="2" charset="-122"/>
                <a:ea typeface="宋体" panose="02010600030101010101" pitchFamily="2" charset="-122"/>
                <a:cs typeface="宋体" panose="02010600030101010101" pitchFamily="2" charset="-122"/>
              </a:rPr>
              <a:t>容器通过</a:t>
            </a:r>
            <a:r>
              <a:rPr lang="en-US" altLang="zh-CN"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 Docker </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镜像</a:t>
            </a:r>
            <a:r>
              <a:rPr lang="zh-CN" altLang="en-US" sz="2000" dirty="0">
                <a:latin typeface="宋体" panose="02010600030101010101" pitchFamily="2" charset="-122"/>
                <a:ea typeface="宋体" panose="02010600030101010101" pitchFamily="2" charset="-122"/>
                <a:cs typeface="宋体" panose="02010600030101010101" pitchFamily="2" charset="-122"/>
              </a:rPr>
              <a:t>来创建，容器与镜像的关系类似于面向对象编程中的对象与类。</a:t>
            </a:r>
          </a:p>
        </p:txBody>
      </p:sp>
      <p:pic>
        <p:nvPicPr>
          <p:cNvPr id="7" name="图片 6"/>
          <p:cNvPicPr>
            <a:picLocks noChangeAspect="1"/>
          </p:cNvPicPr>
          <p:nvPr/>
        </p:nvPicPr>
        <p:blipFill>
          <a:blip r:embed="rId3"/>
          <a:stretch>
            <a:fillRect/>
          </a:stretch>
        </p:blipFill>
        <p:spPr>
          <a:xfrm>
            <a:off x="1713230" y="3551555"/>
            <a:ext cx="8039100" cy="154876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zh-CN" altLang="en-US" sz="3200"/>
              <a:t>分布式学习环境搭建</a:t>
            </a:r>
          </a:p>
          <a:p>
            <a:pPr indent="457200"/>
            <a:endParaRPr lang="en-US" altLang="zh-CN" sz="2400"/>
          </a:p>
        </p:txBody>
      </p:sp>
      <p:sp>
        <p:nvSpPr>
          <p:cNvPr id="6" name="Title 1"/>
          <p:cNvSpPr txBox="1"/>
          <p:nvPr/>
        </p:nvSpPr>
        <p:spPr>
          <a:xfrm>
            <a:off x="695325" y="1557020"/>
            <a:ext cx="1007491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lvl="1" indent="457200" fontAlgn="auto">
              <a:spcAft>
                <a:spcPts val="0"/>
              </a:spcAft>
            </a:pPr>
            <a:r>
              <a:rPr lang="en-US" altLang="zh-CN" sz="2000" dirty="0">
                <a:latin typeface="宋体" panose="02010600030101010101" pitchFamily="2" charset="-122"/>
                <a:ea typeface="宋体" panose="02010600030101010101" pitchFamily="2" charset="-122"/>
                <a:cs typeface="宋体" panose="02010600030101010101" pitchFamily="2" charset="-122"/>
              </a:rPr>
              <a:t>Docker</a:t>
            </a:r>
            <a:r>
              <a:rPr lang="zh-CN" altLang="en-US" sz="2000" dirty="0">
                <a:latin typeface="宋体" panose="02010600030101010101" pitchFamily="2" charset="-122"/>
                <a:ea typeface="宋体" panose="02010600030101010101" pitchFamily="2" charset="-122"/>
                <a:cs typeface="宋体" panose="02010600030101010101" pitchFamily="2" charset="-122"/>
              </a:rPr>
              <a:t>架构的工作流程：</a:t>
            </a:r>
          </a:p>
          <a:p>
            <a:pPr marL="457200" lvl="1" indent="457200" fontAlgn="auto">
              <a:spcAft>
                <a:spcPts val="0"/>
              </a:spcAft>
            </a:pPr>
            <a:r>
              <a:rPr lang="en-US" altLang="zh-CN" sz="2000">
                <a:sym typeface="+mn-ea"/>
              </a:rPr>
              <a:t>•</a:t>
            </a:r>
            <a:r>
              <a:rPr lang="zh-CN" altLang="en-US" sz="2000" dirty="0">
                <a:latin typeface="宋体" panose="02010600030101010101" pitchFamily="2" charset="-122"/>
                <a:ea typeface="宋体" panose="02010600030101010101" pitchFamily="2" charset="-122"/>
                <a:cs typeface="宋体" panose="02010600030101010101" pitchFamily="2" charset="-122"/>
              </a:rPr>
              <a:t>构建镜像：使用</a:t>
            </a:r>
            <a:r>
              <a:rPr lang="en-US" altLang="zh-CN" sz="2000" dirty="0">
                <a:latin typeface="宋体" panose="02010600030101010101" pitchFamily="2" charset="-122"/>
                <a:ea typeface="宋体" panose="02010600030101010101" pitchFamily="2" charset="-122"/>
                <a:cs typeface="宋体" panose="02010600030101010101" pitchFamily="2" charset="-122"/>
              </a:rPr>
              <a:t> Dockerfile </a:t>
            </a:r>
            <a:r>
              <a:rPr lang="zh-CN" altLang="en-US" sz="2000" dirty="0">
                <a:latin typeface="宋体" panose="02010600030101010101" pitchFamily="2" charset="-122"/>
                <a:ea typeface="宋体" panose="02010600030101010101" pitchFamily="2" charset="-122"/>
                <a:cs typeface="宋体" panose="02010600030101010101" pitchFamily="2" charset="-122"/>
              </a:rPr>
              <a:t>创建镜像。</a:t>
            </a:r>
          </a:p>
          <a:p>
            <a:pPr marL="457200" lvl="1" indent="457200" fontAlgn="auto">
              <a:spcAft>
                <a:spcPts val="0"/>
              </a:spcAft>
            </a:pPr>
            <a:endParaRPr lang="en-US" altLang="zh-CN" sz="2000">
              <a:sym typeface="+mn-ea"/>
            </a:endParaRPr>
          </a:p>
          <a:p>
            <a:pPr marL="457200" lvl="1" indent="457200" fontAlgn="auto">
              <a:spcAft>
                <a:spcPts val="0"/>
              </a:spcAft>
            </a:pPr>
            <a:r>
              <a:rPr lang="en-US" altLang="zh-CN" sz="2000">
                <a:sym typeface="+mn-ea"/>
              </a:rPr>
              <a:t>•</a:t>
            </a:r>
            <a:r>
              <a:rPr lang="zh-CN" altLang="en-US" sz="2000" dirty="0">
                <a:latin typeface="宋体" panose="02010600030101010101" pitchFamily="2" charset="-122"/>
                <a:ea typeface="宋体" panose="02010600030101010101" pitchFamily="2" charset="-122"/>
                <a:cs typeface="宋体" panose="02010600030101010101" pitchFamily="2" charset="-122"/>
              </a:rPr>
              <a:t>推送镜像到注册表：将镜像上传到</a:t>
            </a:r>
            <a:r>
              <a:rPr lang="en-US" altLang="zh-CN" sz="2000" dirty="0">
                <a:latin typeface="宋体" panose="02010600030101010101" pitchFamily="2" charset="-122"/>
                <a:ea typeface="宋体" panose="02010600030101010101" pitchFamily="2" charset="-122"/>
                <a:cs typeface="宋体" panose="02010600030101010101" pitchFamily="2" charset="-122"/>
              </a:rPr>
              <a:t> Docker Hub </a:t>
            </a:r>
            <a:r>
              <a:rPr lang="zh-CN" altLang="en-US" sz="2000" dirty="0">
                <a:latin typeface="宋体" panose="02010600030101010101" pitchFamily="2" charset="-122"/>
                <a:ea typeface="宋体" panose="02010600030101010101" pitchFamily="2" charset="-122"/>
                <a:cs typeface="宋体" panose="02010600030101010101" pitchFamily="2" charset="-122"/>
              </a:rPr>
              <a:t>或私有注册表中。</a:t>
            </a:r>
          </a:p>
          <a:p>
            <a:pPr marL="457200" lvl="1" indent="457200" fontAlgn="auto">
              <a:spcAft>
                <a:spcPts val="0"/>
              </a:spcAft>
            </a:pPr>
            <a:endParaRPr lang="en-US" altLang="zh-CN" sz="2000">
              <a:sym typeface="+mn-ea"/>
            </a:endParaRPr>
          </a:p>
          <a:p>
            <a:pPr marL="457200" lvl="1" indent="457200" fontAlgn="auto">
              <a:spcAft>
                <a:spcPts val="0"/>
              </a:spcAft>
            </a:pPr>
            <a:r>
              <a:rPr lang="en-US" altLang="zh-CN" sz="2000">
                <a:sym typeface="+mn-ea"/>
              </a:rPr>
              <a:t>•</a:t>
            </a:r>
            <a:r>
              <a:rPr lang="zh-CN" altLang="en-US" sz="2000" dirty="0">
                <a:latin typeface="宋体" panose="02010600030101010101" pitchFamily="2" charset="-122"/>
                <a:ea typeface="宋体" panose="02010600030101010101" pitchFamily="2" charset="-122"/>
                <a:cs typeface="宋体" panose="02010600030101010101" pitchFamily="2" charset="-122"/>
              </a:rPr>
              <a:t>拉取镜像：通过</a:t>
            </a:r>
            <a:r>
              <a:rPr lang="en-US" altLang="zh-CN" sz="2000" dirty="0">
                <a:latin typeface="宋体" panose="02010600030101010101" pitchFamily="2" charset="-122"/>
                <a:ea typeface="宋体" panose="02010600030101010101" pitchFamily="2" charset="-122"/>
                <a:cs typeface="宋体" panose="02010600030101010101" pitchFamily="2" charset="-122"/>
              </a:rPr>
              <a:t> docker pull </a:t>
            </a:r>
            <a:r>
              <a:rPr lang="zh-CN" altLang="en-US" sz="2000" dirty="0">
                <a:latin typeface="宋体" panose="02010600030101010101" pitchFamily="2" charset="-122"/>
                <a:ea typeface="宋体" panose="02010600030101010101" pitchFamily="2" charset="-122"/>
                <a:cs typeface="宋体" panose="02010600030101010101" pitchFamily="2" charset="-122"/>
              </a:rPr>
              <a:t>从注册表中拉取镜像。</a:t>
            </a:r>
          </a:p>
          <a:p>
            <a:pPr marL="457200" lvl="1" indent="457200" fontAlgn="auto">
              <a:spcAft>
                <a:spcPts val="0"/>
              </a:spcAft>
            </a:pPr>
            <a:endParaRPr lang="en-US" altLang="zh-CN" sz="2000">
              <a:sym typeface="+mn-ea"/>
            </a:endParaRPr>
          </a:p>
          <a:p>
            <a:pPr marL="457200" lvl="1" indent="457200" fontAlgn="auto">
              <a:spcAft>
                <a:spcPts val="0"/>
              </a:spcAft>
            </a:pPr>
            <a:r>
              <a:rPr lang="en-US" altLang="zh-CN" sz="2000">
                <a:sym typeface="+mn-ea"/>
              </a:rPr>
              <a:t>•</a:t>
            </a:r>
            <a:r>
              <a:rPr lang="zh-CN" altLang="en-US" sz="2000" dirty="0">
                <a:latin typeface="宋体" panose="02010600030101010101" pitchFamily="2" charset="-122"/>
                <a:ea typeface="宋体" panose="02010600030101010101" pitchFamily="2" charset="-122"/>
                <a:cs typeface="宋体" panose="02010600030101010101" pitchFamily="2" charset="-122"/>
              </a:rPr>
              <a:t>运行容器：使用镜像创建并启动容器。</a:t>
            </a:r>
          </a:p>
          <a:p>
            <a:pPr marL="457200" lvl="1" indent="457200" fontAlgn="auto">
              <a:spcAft>
                <a:spcPts val="0"/>
              </a:spcAft>
            </a:pPr>
            <a:endParaRPr lang="en-US" altLang="zh-CN" sz="2000">
              <a:sym typeface="+mn-ea"/>
            </a:endParaRPr>
          </a:p>
          <a:p>
            <a:pPr marL="457200" lvl="1" indent="457200" fontAlgn="auto">
              <a:spcAft>
                <a:spcPts val="0"/>
              </a:spcAft>
            </a:pPr>
            <a:r>
              <a:rPr lang="en-US" altLang="zh-CN" sz="2000">
                <a:sym typeface="+mn-ea"/>
              </a:rPr>
              <a:t>•</a:t>
            </a:r>
            <a:r>
              <a:rPr lang="zh-CN" altLang="en-US" sz="2000" dirty="0">
                <a:latin typeface="宋体" panose="02010600030101010101" pitchFamily="2" charset="-122"/>
                <a:ea typeface="宋体" panose="02010600030101010101" pitchFamily="2" charset="-122"/>
                <a:cs typeface="宋体" panose="02010600030101010101" pitchFamily="2" charset="-122"/>
              </a:rPr>
              <a:t>管理容器：使用</a:t>
            </a:r>
            <a:r>
              <a:rPr lang="en-US" altLang="zh-CN" sz="2000" dirty="0">
                <a:latin typeface="宋体" panose="02010600030101010101" pitchFamily="2" charset="-122"/>
                <a:ea typeface="宋体" panose="02010600030101010101" pitchFamily="2" charset="-122"/>
                <a:cs typeface="宋体" panose="02010600030101010101" pitchFamily="2" charset="-122"/>
              </a:rPr>
              <a:t> Docker </a:t>
            </a:r>
            <a:r>
              <a:rPr lang="zh-CN" altLang="en-US" sz="2000" dirty="0">
                <a:latin typeface="宋体" panose="02010600030101010101" pitchFamily="2" charset="-122"/>
                <a:ea typeface="宋体" panose="02010600030101010101" pitchFamily="2" charset="-122"/>
                <a:cs typeface="宋体" panose="02010600030101010101" pitchFamily="2" charset="-122"/>
              </a:rPr>
              <a:t>客户端命令管理正在运行的容器（例如查看日志、停止容器、查看资源使用情况等）。</a:t>
            </a:r>
          </a:p>
          <a:p>
            <a:pPr marL="457200" lvl="1" indent="457200" fontAlgn="auto">
              <a:spcAft>
                <a:spcPts val="0"/>
              </a:spcAft>
            </a:pPr>
            <a:endParaRPr lang="en-US" altLang="zh-CN" sz="2000">
              <a:sym typeface="+mn-ea"/>
            </a:endParaRPr>
          </a:p>
          <a:p>
            <a:pPr marL="457200" lvl="1" indent="457200" fontAlgn="auto">
              <a:spcAft>
                <a:spcPts val="0"/>
              </a:spcAft>
            </a:pPr>
            <a:r>
              <a:rPr lang="en-US" altLang="zh-CN" sz="2000">
                <a:sym typeface="+mn-ea"/>
              </a:rPr>
              <a:t>•</a:t>
            </a:r>
            <a:r>
              <a:rPr lang="zh-CN" altLang="en-US" sz="2000" dirty="0">
                <a:latin typeface="宋体" panose="02010600030101010101" pitchFamily="2" charset="-122"/>
                <a:ea typeface="宋体" panose="02010600030101010101" pitchFamily="2" charset="-122"/>
                <a:cs typeface="宋体" panose="02010600030101010101" pitchFamily="2" charset="-122"/>
              </a:rPr>
              <a:t>网络与存储：容器之间通过</a:t>
            </a:r>
            <a:r>
              <a:rPr lang="en-US" altLang="zh-CN" sz="2000" dirty="0">
                <a:latin typeface="宋体" panose="02010600030101010101" pitchFamily="2" charset="-122"/>
                <a:ea typeface="宋体" panose="02010600030101010101" pitchFamily="2" charset="-122"/>
                <a:cs typeface="宋体" panose="02010600030101010101" pitchFamily="2" charset="-122"/>
              </a:rPr>
              <a:t> Docker </a:t>
            </a:r>
            <a:r>
              <a:rPr lang="zh-CN" altLang="en-US" sz="2000" dirty="0">
                <a:latin typeface="宋体" panose="02010600030101010101" pitchFamily="2" charset="-122"/>
                <a:ea typeface="宋体" panose="02010600030101010101" pitchFamily="2" charset="-122"/>
                <a:cs typeface="宋体" panose="02010600030101010101" pitchFamily="2" charset="-122"/>
              </a:rPr>
              <a:t>网络连接，数据通过</a:t>
            </a:r>
            <a:r>
              <a:rPr lang="en-US" altLang="zh-CN" sz="2000" dirty="0">
                <a:latin typeface="宋体" panose="02010600030101010101" pitchFamily="2" charset="-122"/>
                <a:ea typeface="宋体" panose="02010600030101010101" pitchFamily="2" charset="-122"/>
                <a:cs typeface="宋体" panose="02010600030101010101" pitchFamily="2" charset="-122"/>
              </a:rPr>
              <a:t> Docker </a:t>
            </a:r>
            <a:r>
              <a:rPr lang="zh-CN" altLang="en-US" sz="2000" dirty="0">
                <a:latin typeface="宋体" panose="02010600030101010101" pitchFamily="2" charset="-122"/>
                <a:ea typeface="宋体" panose="02010600030101010101" pitchFamily="2" charset="-122"/>
                <a:cs typeface="宋体" panose="02010600030101010101" pitchFamily="2" charset="-122"/>
              </a:rPr>
              <a:t>卷或绑定挂载进行持久化。</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zh-CN" altLang="en-US" sz="3200"/>
              <a:t>分布式学习环境搭建</a:t>
            </a:r>
          </a:p>
          <a:p>
            <a:pPr indent="457200"/>
            <a:endParaRPr lang="en-US" altLang="zh-CN" sz="2400"/>
          </a:p>
        </p:txBody>
      </p:sp>
      <p:sp>
        <p:nvSpPr>
          <p:cNvPr id="6" name="Title 1"/>
          <p:cNvSpPr txBox="1"/>
          <p:nvPr/>
        </p:nvSpPr>
        <p:spPr>
          <a:xfrm>
            <a:off x="695325" y="1557020"/>
            <a:ext cx="1007491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lvl="1" indent="457200" fontAlgn="auto">
              <a:spcAft>
                <a:spcPts val="0"/>
              </a:spcAft>
            </a:pPr>
            <a:r>
              <a:rPr lang="en-US" altLang="zh-CN" sz="2000" dirty="0">
                <a:latin typeface="宋体" panose="02010600030101010101" pitchFamily="2" charset="-122"/>
                <a:ea typeface="宋体" panose="02010600030101010101" pitchFamily="2" charset="-122"/>
                <a:cs typeface="宋体" panose="02010600030101010101" pitchFamily="2" charset="-122"/>
              </a:rPr>
              <a:t>HDFS:HDFS</a:t>
            </a:r>
            <a:r>
              <a:rPr lang="zh-CN" altLang="en-US" sz="2000" dirty="0">
                <a:latin typeface="宋体" panose="02010600030101010101" pitchFamily="2" charset="-122"/>
                <a:ea typeface="宋体" panose="02010600030101010101" pitchFamily="2" charset="-122"/>
                <a:cs typeface="宋体" panose="02010600030101010101" pitchFamily="2" charset="-122"/>
              </a:rPr>
              <a:t>全称是</a:t>
            </a:r>
            <a:r>
              <a:rPr lang="en-US" altLang="zh-CN" sz="2000" dirty="0">
                <a:latin typeface="宋体" panose="02010600030101010101" pitchFamily="2" charset="-122"/>
                <a:ea typeface="宋体" panose="02010600030101010101" pitchFamily="2" charset="-122"/>
                <a:cs typeface="宋体" panose="02010600030101010101" pitchFamily="2" charset="-122"/>
              </a:rPr>
              <a:t>Hadoop Distributed File System,</a:t>
            </a:r>
            <a:r>
              <a:rPr lang="zh-CN" altLang="en-US" sz="2000" dirty="0">
                <a:latin typeface="宋体" panose="02010600030101010101" pitchFamily="2" charset="-122"/>
                <a:ea typeface="宋体" panose="02010600030101010101" pitchFamily="2" charset="-122"/>
                <a:cs typeface="宋体" panose="02010600030101010101" pitchFamily="2" charset="-122"/>
              </a:rPr>
              <a:t>是一种分布式文件系统</a:t>
            </a:r>
            <a:r>
              <a:rPr lang="en-US" altLang="zh-CN" sz="2000" dirty="0">
                <a:latin typeface="宋体" panose="02010600030101010101" pitchFamily="2" charset="-122"/>
                <a:ea typeface="宋体" panose="02010600030101010101" pitchFamily="2" charset="-122"/>
                <a:cs typeface="宋体" panose="02010600030101010101" pitchFamily="2" charset="-122"/>
              </a:rPr>
              <a:t>(HDFS</a:t>
            </a:r>
            <a:r>
              <a:rPr lang="zh-CN" altLang="en-US" sz="2000" dirty="0">
                <a:latin typeface="宋体" panose="02010600030101010101" pitchFamily="2" charset="-122"/>
                <a:ea typeface="宋体" panose="02010600030101010101" pitchFamily="2" charset="-122"/>
                <a:cs typeface="宋体" panose="02010600030101010101" pitchFamily="2" charset="-122"/>
              </a:rPr>
              <a:t>使用多台计算机存储文件，对外提供统一操作文件的接口</a:t>
            </a:r>
            <a:r>
              <a:rPr lang="en-US" altLang="zh-CN" sz="2000" dirty="0">
                <a:latin typeface="宋体" panose="02010600030101010101" pitchFamily="2" charset="-122"/>
                <a:ea typeface="宋体" panose="02010600030101010101" pitchFamily="2" charset="-122"/>
                <a:cs typeface="宋体" panose="02010600030101010101" pitchFamily="2" charset="-122"/>
              </a:rPr>
              <a:t>),Hodoop</a:t>
            </a:r>
            <a:r>
              <a:rPr lang="zh-CN" altLang="en-US" sz="2000" dirty="0">
                <a:latin typeface="宋体" panose="02010600030101010101" pitchFamily="2" charset="-122"/>
                <a:ea typeface="宋体" panose="02010600030101010101" pitchFamily="2" charset="-122"/>
                <a:cs typeface="宋体" panose="02010600030101010101" pitchFamily="2" charset="-122"/>
              </a:rPr>
              <a:t>使用</a:t>
            </a:r>
            <a:r>
              <a:rPr lang="en-US" altLang="zh-CN" sz="2000" dirty="0">
                <a:latin typeface="宋体" panose="02010600030101010101" pitchFamily="2" charset="-122"/>
                <a:ea typeface="宋体" panose="02010600030101010101" pitchFamily="2" charset="-122"/>
                <a:cs typeface="宋体" panose="02010600030101010101" pitchFamily="2" charset="-122"/>
              </a:rPr>
              <a:t>HDFS</a:t>
            </a:r>
            <a:r>
              <a:rPr lang="zh-CN" altLang="en-US" sz="2000" dirty="0">
                <a:latin typeface="宋体" panose="02010600030101010101" pitchFamily="2" charset="-122"/>
                <a:ea typeface="宋体" panose="02010600030101010101" pitchFamily="2" charset="-122"/>
                <a:cs typeface="宋体" panose="02010600030101010101" pitchFamily="2" charset="-122"/>
              </a:rPr>
              <a:t>作为存储系统</a:t>
            </a:r>
            <a:r>
              <a:rPr lang="en-US" altLang="zh-CN" sz="2000" dirty="0">
                <a:latin typeface="宋体" panose="02010600030101010101" pitchFamily="2" charset="-122"/>
                <a:ea typeface="宋体" panose="02010600030101010101" pitchFamily="2" charset="-122"/>
                <a:cs typeface="宋体" panose="02010600030101010101" pitchFamily="2" charset="-122"/>
              </a:rPr>
              <a:t>,</a:t>
            </a:r>
            <a:r>
              <a:rPr lang="zh-CN" altLang="en-US" sz="2000" dirty="0">
                <a:latin typeface="宋体" panose="02010600030101010101" pitchFamily="2" charset="-122"/>
                <a:ea typeface="宋体" panose="02010600030101010101" pitchFamily="2" charset="-122"/>
                <a:cs typeface="宋体" panose="02010600030101010101" pitchFamily="2" charset="-122"/>
              </a:rPr>
              <a:t>主要用于大规模数据的</a:t>
            </a:r>
            <a:r>
              <a:rPr lang="zh-CN" altLang="en-US" sz="2000" dirty="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宋体" panose="02010600030101010101" pitchFamily="2" charset="-122"/>
              </a:rPr>
              <a:t>分布式读写</a:t>
            </a:r>
            <a:r>
              <a:rPr lang="zh-CN" altLang="en-US" sz="2000" dirty="0">
                <a:latin typeface="宋体" panose="02010600030101010101" pitchFamily="2" charset="-122"/>
                <a:ea typeface="宋体" panose="02010600030101010101" pitchFamily="2" charset="-122"/>
                <a:cs typeface="宋体" panose="02010600030101010101" pitchFamily="2" charset="-122"/>
              </a:rPr>
              <a:t>，特别是读多写少的场景。</a:t>
            </a:r>
          </a:p>
          <a:p>
            <a:pPr marL="457200" lvl="1" indent="457200" fontAlgn="auto">
              <a:spcAft>
                <a:spcPts val="0"/>
              </a:spcAft>
            </a:pPr>
            <a:endParaRPr lang="zh-CN" altLang="en-US" sz="2000" dirty="0">
              <a:latin typeface="宋体" panose="02010600030101010101" pitchFamily="2" charset="-122"/>
              <a:ea typeface="宋体" panose="02010600030101010101" pitchFamily="2" charset="-122"/>
              <a:cs typeface="宋体" panose="02010600030101010101" pitchFamily="2" charset="-122"/>
            </a:endParaRPr>
          </a:p>
        </p:txBody>
      </p:sp>
      <p:pic>
        <p:nvPicPr>
          <p:cNvPr id="7" name="图片 6"/>
          <p:cNvPicPr>
            <a:picLocks noChangeAspect="1"/>
          </p:cNvPicPr>
          <p:nvPr/>
        </p:nvPicPr>
        <p:blipFill>
          <a:blip r:embed="rId3"/>
          <a:stretch>
            <a:fillRect/>
          </a:stretch>
        </p:blipFill>
        <p:spPr>
          <a:xfrm>
            <a:off x="2092960" y="3077210"/>
            <a:ext cx="7588250" cy="334518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zh-CN" altLang="en-US" sz="3200"/>
              <a:t>分布式学习环境搭建</a:t>
            </a:r>
          </a:p>
          <a:p>
            <a:pPr indent="457200"/>
            <a:endParaRPr lang="en-US" altLang="zh-CN" sz="2400"/>
          </a:p>
        </p:txBody>
      </p:sp>
      <p:sp>
        <p:nvSpPr>
          <p:cNvPr id="6" name="Title 1"/>
          <p:cNvSpPr txBox="1"/>
          <p:nvPr/>
        </p:nvSpPr>
        <p:spPr>
          <a:xfrm>
            <a:off x="695325" y="1557020"/>
            <a:ext cx="1007491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lvl="1" indent="457200" fontAlgn="auto">
              <a:spcAft>
                <a:spcPts val="0"/>
              </a:spcAft>
            </a:pPr>
            <a:r>
              <a:rPr lang="en-US" altLang="zh-CN" sz="2000" dirty="0">
                <a:latin typeface="宋体" panose="02010600030101010101" pitchFamily="2" charset="-122"/>
                <a:ea typeface="宋体" panose="02010600030101010101" pitchFamily="2" charset="-122"/>
                <a:cs typeface="宋体" panose="02010600030101010101" pitchFamily="2" charset="-122"/>
              </a:rPr>
              <a:t>HDFS</a:t>
            </a:r>
            <a:r>
              <a:rPr lang="zh-CN" altLang="en-US" sz="2000" dirty="0">
                <a:latin typeface="宋体" panose="02010600030101010101" pitchFamily="2" charset="-122"/>
                <a:ea typeface="宋体" panose="02010600030101010101" pitchFamily="2" charset="-122"/>
                <a:cs typeface="宋体" panose="02010600030101010101" pitchFamily="2" charset="-122"/>
              </a:rPr>
              <a:t>其除具备其它分布式文件系统相同特性外，还有自己特有的特性：</a:t>
            </a:r>
          </a:p>
          <a:p>
            <a:pPr marL="457200" lvl="1" indent="457200" fontAlgn="auto">
              <a:spcAft>
                <a:spcPts val="0"/>
              </a:spcAft>
            </a:pPr>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marL="457200" lvl="1" indent="457200" fontAlgn="auto">
              <a:spcAft>
                <a:spcPts val="0"/>
              </a:spcAft>
            </a:pPr>
            <a:r>
              <a:rPr lang="en-US" altLang="zh-CN" sz="2000">
                <a:sym typeface="+mn-ea"/>
              </a:rPr>
              <a:t>•</a:t>
            </a:r>
            <a:r>
              <a:rPr lang="zh-CN" altLang="en-US" sz="2000" dirty="0">
                <a:latin typeface="宋体" panose="02010600030101010101" pitchFamily="2" charset="-122"/>
                <a:ea typeface="宋体" panose="02010600030101010101" pitchFamily="2" charset="-122"/>
                <a:cs typeface="宋体" panose="02010600030101010101" pitchFamily="2" charset="-122"/>
              </a:rPr>
              <a:t>高容错性：认为硬件总是不可靠的。</a:t>
            </a:r>
          </a:p>
          <a:p>
            <a:pPr marL="457200" lvl="1" indent="457200" fontAlgn="auto">
              <a:spcAft>
                <a:spcPts val="0"/>
              </a:spcAft>
            </a:pPr>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marL="457200" lvl="1" indent="457200" fontAlgn="auto">
              <a:spcAft>
                <a:spcPts val="0"/>
              </a:spcAft>
            </a:pPr>
            <a:r>
              <a:rPr lang="en-US" altLang="zh-CN" sz="2000">
                <a:sym typeface="+mn-ea"/>
              </a:rPr>
              <a:t>•</a:t>
            </a:r>
            <a:r>
              <a:rPr lang="zh-CN" altLang="en-US" sz="2000" dirty="0">
                <a:latin typeface="宋体" panose="02010600030101010101" pitchFamily="2" charset="-122"/>
                <a:ea typeface="宋体" panose="02010600030101010101" pitchFamily="2" charset="-122"/>
                <a:cs typeface="宋体" panose="02010600030101010101" pitchFamily="2" charset="-122"/>
              </a:rPr>
              <a:t>高吞吐量：为大量数据访问的应用提供高吞吐量支持。</a:t>
            </a:r>
          </a:p>
          <a:p>
            <a:pPr marL="457200" lvl="1" indent="457200" fontAlgn="auto">
              <a:spcAft>
                <a:spcPts val="0"/>
              </a:spcAft>
            </a:pPr>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marL="457200" lvl="1" indent="457200" fontAlgn="auto">
              <a:spcAft>
                <a:spcPts val="0"/>
              </a:spcAft>
            </a:pPr>
            <a:r>
              <a:rPr lang="en-US" altLang="zh-CN" sz="2000">
                <a:sym typeface="+mn-ea"/>
              </a:rPr>
              <a:t>•</a:t>
            </a:r>
            <a:r>
              <a:rPr lang="zh-CN" altLang="en-US" sz="2000" dirty="0">
                <a:latin typeface="宋体" panose="02010600030101010101" pitchFamily="2" charset="-122"/>
                <a:ea typeface="宋体" panose="02010600030101010101" pitchFamily="2" charset="-122"/>
                <a:cs typeface="宋体" panose="02010600030101010101" pitchFamily="2" charset="-122"/>
              </a:rPr>
              <a:t>大文件存储：支持存储</a:t>
            </a:r>
            <a:r>
              <a:rPr lang="en-US" altLang="zh-CN" sz="2000" dirty="0">
                <a:latin typeface="宋体" panose="02010600030101010101" pitchFamily="2" charset="-122"/>
                <a:ea typeface="宋体" panose="02010600030101010101" pitchFamily="2" charset="-122"/>
                <a:cs typeface="宋体" panose="02010600030101010101" pitchFamily="2" charset="-122"/>
              </a:rPr>
              <a:t>TB-PB</a:t>
            </a:r>
            <a:r>
              <a:rPr lang="zh-CN" altLang="en-US" sz="2000" dirty="0">
                <a:latin typeface="宋体" panose="02010600030101010101" pitchFamily="2" charset="-122"/>
                <a:ea typeface="宋体" panose="02010600030101010101" pitchFamily="2" charset="-122"/>
                <a:cs typeface="宋体" panose="02010600030101010101" pitchFamily="2" charset="-122"/>
              </a:rPr>
              <a:t>级别的数据。</a:t>
            </a:r>
          </a:p>
          <a:p>
            <a:pPr marL="457200" lvl="1" indent="457200" fontAlgn="auto">
              <a:spcAft>
                <a:spcPts val="0"/>
              </a:spcAft>
            </a:pPr>
            <a:endParaRPr lang="en-US" altLang="zh-CN" sz="2000" dirty="0">
              <a:latin typeface="宋体" panose="02010600030101010101" pitchFamily="2" charset="-122"/>
              <a:ea typeface="宋体" panose="02010600030101010101" pitchFamily="2" charset="-122"/>
              <a:cs typeface="宋体" panose="02010600030101010101" pitchFamily="2" charset="-122"/>
            </a:endParaRPr>
          </a:p>
          <a:p>
            <a:pPr marL="457200" lvl="1" indent="457200" fontAlgn="auto">
              <a:spcAft>
                <a:spcPts val="0"/>
              </a:spcAft>
            </a:pPr>
            <a:r>
              <a:rPr lang="en-US" altLang="zh-CN" sz="2000" dirty="0">
                <a:latin typeface="宋体" panose="02010600030101010101" pitchFamily="2" charset="-122"/>
                <a:ea typeface="宋体" panose="02010600030101010101" pitchFamily="2" charset="-122"/>
                <a:cs typeface="宋体" panose="02010600030101010101" pitchFamily="2" charset="-122"/>
              </a:rPr>
              <a:t>HDFS</a:t>
            </a:r>
            <a:r>
              <a:rPr lang="zh-CN" altLang="en-US" sz="2000" dirty="0">
                <a:latin typeface="宋体" panose="02010600030101010101" pitchFamily="2" charset="-122"/>
                <a:ea typeface="宋体" panose="02010600030101010101" pitchFamily="2" charset="-122"/>
                <a:cs typeface="宋体" panose="02010600030101010101" pitchFamily="2" charset="-122"/>
              </a:rPr>
              <a:t>同样有不适用场景：</a:t>
            </a:r>
          </a:p>
          <a:p>
            <a:pPr marL="457200" lvl="1" indent="457200" fontAlgn="auto">
              <a:spcAft>
                <a:spcPts val="0"/>
              </a:spcAft>
            </a:pPr>
            <a:r>
              <a:rPr lang="en-US" altLang="zh-CN" sz="2000">
                <a:sym typeface="+mn-ea"/>
              </a:rPr>
              <a:t>•</a:t>
            </a:r>
            <a:r>
              <a:rPr lang="zh-CN" altLang="en-US" sz="2000" dirty="0">
                <a:latin typeface="宋体" panose="02010600030101010101" pitchFamily="2" charset="-122"/>
                <a:ea typeface="宋体" panose="02010600030101010101" pitchFamily="2" charset="-122"/>
                <a:cs typeface="宋体" panose="02010600030101010101" pitchFamily="2" charset="-122"/>
              </a:rPr>
              <a:t>低时间延迟数据访问的应用，例如几十毫秒范围。</a:t>
            </a:r>
          </a:p>
          <a:p>
            <a:pPr marL="457200" lvl="1" indent="457200" fontAlgn="auto">
              <a:spcAft>
                <a:spcPts val="0"/>
              </a:spcAft>
            </a:pPr>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marL="457200" lvl="1" indent="457200" fontAlgn="auto">
              <a:spcAft>
                <a:spcPts val="0"/>
              </a:spcAft>
            </a:pPr>
            <a:r>
              <a:rPr lang="en-US" altLang="zh-CN" sz="2000">
                <a:sym typeface="+mn-ea"/>
              </a:rPr>
              <a:t>•</a:t>
            </a:r>
            <a:r>
              <a:rPr lang="zh-CN" altLang="en-US" sz="2000" dirty="0">
                <a:latin typeface="宋体" panose="02010600030101010101" pitchFamily="2" charset="-122"/>
                <a:ea typeface="宋体" panose="02010600030101010101" pitchFamily="2" charset="-122"/>
                <a:cs typeface="宋体" panose="02010600030101010101" pitchFamily="2" charset="-122"/>
              </a:rPr>
              <a:t>大量小文件</a:t>
            </a:r>
          </a:p>
          <a:p>
            <a:pPr marL="457200" lvl="1" indent="457200" fontAlgn="auto">
              <a:spcAft>
                <a:spcPts val="0"/>
              </a:spcAft>
            </a:pPr>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marL="457200" lvl="1" indent="457200" fontAlgn="auto">
              <a:spcAft>
                <a:spcPts val="0"/>
              </a:spcAft>
            </a:pPr>
            <a:r>
              <a:rPr lang="en-US" altLang="zh-CN" sz="2000">
                <a:sym typeface="+mn-ea"/>
              </a:rPr>
              <a:t>•</a:t>
            </a:r>
            <a:r>
              <a:rPr lang="zh-CN" altLang="en-US" sz="2000" dirty="0">
                <a:latin typeface="宋体" panose="02010600030101010101" pitchFamily="2" charset="-122"/>
                <a:ea typeface="宋体" panose="02010600030101010101" pitchFamily="2" charset="-122"/>
                <a:cs typeface="宋体" panose="02010600030101010101" pitchFamily="2" charset="-122"/>
              </a:rPr>
              <a:t>多用户写入，任意修改文件。</a:t>
            </a:r>
          </a:p>
          <a:p>
            <a:pPr marL="457200" lvl="1" indent="457200" fontAlgn="auto">
              <a:spcAft>
                <a:spcPts val="0"/>
              </a:spcAft>
            </a:pPr>
            <a:endParaRPr lang="zh-CN" altLang="en-US" sz="2000"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zh-CN" altLang="en-US" sz="3200"/>
              <a:t>分布式学习环境搭建</a:t>
            </a:r>
          </a:p>
          <a:p>
            <a:pPr indent="457200"/>
            <a:endParaRPr lang="en-US" altLang="zh-CN" sz="2400"/>
          </a:p>
        </p:txBody>
      </p:sp>
      <p:sp>
        <p:nvSpPr>
          <p:cNvPr id="6" name="Title 1"/>
          <p:cNvSpPr txBox="1"/>
          <p:nvPr/>
        </p:nvSpPr>
        <p:spPr>
          <a:xfrm>
            <a:off x="695325" y="1557020"/>
            <a:ext cx="1007491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lvl="1" indent="457200" fontAlgn="auto">
              <a:spcAft>
                <a:spcPts val="0"/>
              </a:spcAft>
            </a:pPr>
            <a:r>
              <a:rPr lang="en-US" altLang="zh-CN" sz="2000" dirty="0">
                <a:latin typeface="宋体" panose="02010600030101010101" pitchFamily="2" charset="-122"/>
                <a:ea typeface="宋体" panose="02010600030101010101" pitchFamily="2" charset="-122"/>
                <a:cs typeface="宋体" panose="02010600030101010101" pitchFamily="2" charset="-122"/>
              </a:rPr>
              <a:t>Kubernetes</a:t>
            </a:r>
            <a:r>
              <a:rPr lang="zh-CN" altLang="en-US" sz="2000" dirty="0">
                <a:latin typeface="宋体" panose="02010600030101010101" pitchFamily="2" charset="-122"/>
                <a:ea typeface="宋体" panose="02010600030101010101" pitchFamily="2" charset="-122"/>
                <a:cs typeface="宋体" panose="02010600030101010101" pitchFamily="2" charset="-122"/>
              </a:rPr>
              <a:t>：容器是打包和运行应用程序的好方式，</a:t>
            </a:r>
            <a:r>
              <a:rPr lang="en-US" altLang="zh-CN" sz="2000" dirty="0">
                <a:latin typeface="宋体" panose="02010600030101010101" pitchFamily="2" charset="-122"/>
                <a:ea typeface="宋体" panose="02010600030101010101" pitchFamily="2" charset="-122"/>
                <a:cs typeface="宋体" panose="02010600030101010101" pitchFamily="2" charset="-122"/>
              </a:rPr>
              <a:t>Kubernetes </a:t>
            </a:r>
            <a:r>
              <a:rPr lang="zh-CN" altLang="en-US" sz="2000" dirty="0">
                <a:latin typeface="宋体" panose="02010600030101010101" pitchFamily="2" charset="-122"/>
                <a:ea typeface="宋体" panose="02010600030101010101" pitchFamily="2" charset="-122"/>
                <a:cs typeface="宋体" panose="02010600030101010101" pitchFamily="2" charset="-122"/>
              </a:rPr>
              <a:t>为你提供了一个可弹性运行分布式系统的框架，并会满足你的扩展要求、故障转移你的应用、提供部署模式等。</a:t>
            </a:r>
          </a:p>
          <a:p>
            <a:pPr marL="457200" lvl="1" indent="457200" fontAlgn="auto">
              <a:spcAft>
                <a:spcPts val="0"/>
              </a:spcAft>
            </a:pPr>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marL="457200" lvl="1" indent="457200" fontAlgn="auto">
              <a:spcAft>
                <a:spcPts val="0"/>
              </a:spcAft>
            </a:pPr>
            <a:endParaRPr lang="zh-CN" altLang="en-US" sz="2000" dirty="0">
              <a:latin typeface="宋体" panose="02010600030101010101" pitchFamily="2" charset="-122"/>
              <a:ea typeface="宋体" panose="02010600030101010101" pitchFamily="2" charset="-122"/>
              <a:cs typeface="宋体" panose="02010600030101010101" pitchFamily="2" charset="-122"/>
            </a:endParaRPr>
          </a:p>
        </p:txBody>
      </p:sp>
      <p:pic>
        <p:nvPicPr>
          <p:cNvPr id="5" name="图片 4"/>
          <p:cNvPicPr>
            <a:picLocks noChangeAspect="1"/>
          </p:cNvPicPr>
          <p:nvPr/>
        </p:nvPicPr>
        <p:blipFill>
          <a:blip r:embed="rId3"/>
          <a:stretch>
            <a:fillRect/>
          </a:stretch>
        </p:blipFill>
        <p:spPr>
          <a:xfrm>
            <a:off x="1055370" y="2920365"/>
            <a:ext cx="9867900" cy="323215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zh-CN" altLang="en-US" sz="3200"/>
              <a:t>分布式学习环境搭建</a:t>
            </a:r>
          </a:p>
          <a:p>
            <a:pPr indent="457200"/>
            <a:endParaRPr lang="en-US" altLang="zh-CN" sz="2400"/>
          </a:p>
        </p:txBody>
      </p:sp>
      <p:sp>
        <p:nvSpPr>
          <p:cNvPr id="6" name="Title 1"/>
          <p:cNvSpPr txBox="1"/>
          <p:nvPr/>
        </p:nvSpPr>
        <p:spPr>
          <a:xfrm>
            <a:off x="695325" y="1557020"/>
            <a:ext cx="1007491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lvl="1" indent="457200" fontAlgn="auto">
              <a:spcAft>
                <a:spcPts val="0"/>
              </a:spcAft>
            </a:pPr>
            <a:r>
              <a:rPr lang="en-US" altLang="zh-CN" sz="2000" dirty="0">
                <a:latin typeface="宋体" panose="02010600030101010101" pitchFamily="2" charset="-122"/>
                <a:ea typeface="宋体" panose="02010600030101010101" pitchFamily="2" charset="-122"/>
                <a:cs typeface="宋体" panose="02010600030101010101" pitchFamily="2" charset="-122"/>
              </a:rPr>
              <a:t>Kubernetes</a:t>
            </a:r>
            <a:r>
              <a:rPr lang="zh-CN" altLang="en-US" sz="2000" dirty="0">
                <a:latin typeface="宋体" panose="02010600030101010101" pitchFamily="2" charset="-122"/>
                <a:ea typeface="宋体" panose="02010600030101010101" pitchFamily="2" charset="-122"/>
                <a:cs typeface="宋体" panose="02010600030101010101" pitchFamily="2" charset="-122"/>
              </a:rPr>
              <a:t>作为容器集群管理工具，具有以下特点：</a:t>
            </a:r>
          </a:p>
          <a:p>
            <a:pPr marL="457200" lvl="1" indent="457200" fontAlgn="auto">
              <a:spcAft>
                <a:spcPts val="0"/>
              </a:spcAft>
            </a:pPr>
            <a:endParaRPr lang="en-US" altLang="zh-CN" sz="2000">
              <a:sym typeface="+mn-ea"/>
            </a:endParaRPr>
          </a:p>
          <a:p>
            <a:pPr marL="457200" lvl="1" indent="457200" fontAlgn="auto">
              <a:spcAft>
                <a:spcPts val="0"/>
              </a:spcAft>
            </a:pPr>
            <a:r>
              <a:rPr lang="en-US" altLang="zh-CN" sz="2000">
                <a:sym typeface="+mn-ea"/>
              </a:rPr>
              <a:t>•</a:t>
            </a:r>
            <a:r>
              <a:rPr lang="zh-CN" altLang="en-US" sz="2000" dirty="0">
                <a:latin typeface="宋体" panose="02010600030101010101" pitchFamily="2" charset="-122"/>
                <a:ea typeface="宋体" panose="02010600030101010101" pitchFamily="2" charset="-122"/>
                <a:cs typeface="宋体" panose="02010600030101010101" pitchFamily="2" charset="-122"/>
              </a:rPr>
              <a:t>可移植</a:t>
            </a:r>
            <a:r>
              <a:rPr lang="en-US" altLang="zh-CN" sz="2000" dirty="0">
                <a:latin typeface="宋体" panose="02010600030101010101" pitchFamily="2" charset="-122"/>
                <a:ea typeface="宋体" panose="02010600030101010101" pitchFamily="2" charset="-122"/>
                <a:cs typeface="宋体" panose="02010600030101010101" pitchFamily="2" charset="-122"/>
              </a:rPr>
              <a:t>: </a:t>
            </a:r>
            <a:r>
              <a:rPr lang="zh-CN" altLang="en-US" sz="2000" dirty="0">
                <a:latin typeface="宋体" panose="02010600030101010101" pitchFamily="2" charset="-122"/>
                <a:ea typeface="宋体" panose="02010600030101010101" pitchFamily="2" charset="-122"/>
                <a:cs typeface="宋体" panose="02010600030101010101" pitchFamily="2" charset="-122"/>
              </a:rPr>
              <a:t>支持公有云，私有云，混合云，多重云（</a:t>
            </a:r>
            <a:r>
              <a:rPr lang="en-US" altLang="zh-CN" sz="2000" dirty="0">
                <a:latin typeface="宋体" panose="02010600030101010101" pitchFamily="2" charset="-122"/>
                <a:ea typeface="宋体" panose="02010600030101010101" pitchFamily="2" charset="-122"/>
                <a:cs typeface="宋体" panose="02010600030101010101" pitchFamily="2" charset="-122"/>
              </a:rPr>
              <a:t>multi-cloud</a:t>
            </a:r>
            <a:r>
              <a:rPr lang="zh-CN" altLang="en-US" sz="2000" dirty="0">
                <a:latin typeface="宋体" panose="02010600030101010101" pitchFamily="2" charset="-122"/>
                <a:ea typeface="宋体" panose="02010600030101010101" pitchFamily="2" charset="-122"/>
                <a:cs typeface="宋体" panose="02010600030101010101" pitchFamily="2" charset="-122"/>
              </a:rPr>
              <a:t>）</a:t>
            </a:r>
          </a:p>
          <a:p>
            <a:pPr marL="457200" lvl="1" indent="457200" fontAlgn="auto">
              <a:spcAft>
                <a:spcPts val="0"/>
              </a:spcAft>
            </a:pPr>
            <a:endParaRPr lang="en-US" altLang="zh-CN" sz="2000">
              <a:sym typeface="+mn-ea"/>
            </a:endParaRPr>
          </a:p>
          <a:p>
            <a:pPr marL="457200" lvl="1" indent="457200" fontAlgn="auto">
              <a:spcAft>
                <a:spcPts val="0"/>
              </a:spcAft>
            </a:pPr>
            <a:r>
              <a:rPr lang="en-US" altLang="zh-CN" sz="2000">
                <a:sym typeface="+mn-ea"/>
              </a:rPr>
              <a:t>•</a:t>
            </a:r>
            <a:r>
              <a:rPr lang="zh-CN" altLang="en-US" sz="2000" dirty="0">
                <a:latin typeface="宋体" panose="02010600030101010101" pitchFamily="2" charset="-122"/>
                <a:ea typeface="宋体" panose="02010600030101010101" pitchFamily="2" charset="-122"/>
                <a:cs typeface="宋体" panose="02010600030101010101" pitchFamily="2" charset="-122"/>
              </a:rPr>
              <a:t>可扩展</a:t>
            </a:r>
            <a:r>
              <a:rPr lang="en-US" altLang="zh-CN" sz="2000" dirty="0">
                <a:latin typeface="宋体" panose="02010600030101010101" pitchFamily="2" charset="-122"/>
                <a:ea typeface="宋体" panose="02010600030101010101" pitchFamily="2" charset="-122"/>
                <a:cs typeface="宋体" panose="02010600030101010101" pitchFamily="2" charset="-122"/>
              </a:rPr>
              <a:t>: </a:t>
            </a:r>
            <a:r>
              <a:rPr lang="zh-CN" altLang="en-US" sz="2000" dirty="0">
                <a:latin typeface="宋体" panose="02010600030101010101" pitchFamily="2" charset="-122"/>
                <a:ea typeface="宋体" panose="02010600030101010101" pitchFamily="2" charset="-122"/>
                <a:cs typeface="宋体" panose="02010600030101010101" pitchFamily="2" charset="-122"/>
              </a:rPr>
              <a:t>模块化</a:t>
            </a:r>
            <a:r>
              <a:rPr lang="en-US" altLang="zh-CN" sz="2000" dirty="0">
                <a:latin typeface="宋体" panose="02010600030101010101" pitchFamily="2" charset="-122"/>
                <a:ea typeface="宋体" panose="02010600030101010101" pitchFamily="2" charset="-122"/>
                <a:cs typeface="宋体" panose="02010600030101010101" pitchFamily="2" charset="-122"/>
              </a:rPr>
              <a:t>, </a:t>
            </a:r>
            <a:r>
              <a:rPr lang="zh-CN" altLang="en-US" sz="2000" dirty="0">
                <a:latin typeface="宋体" panose="02010600030101010101" pitchFamily="2" charset="-122"/>
                <a:ea typeface="宋体" panose="02010600030101010101" pitchFamily="2" charset="-122"/>
                <a:cs typeface="宋体" panose="02010600030101010101" pitchFamily="2" charset="-122"/>
              </a:rPr>
              <a:t>插件化</a:t>
            </a:r>
            <a:r>
              <a:rPr lang="en-US" altLang="zh-CN" sz="2000" dirty="0">
                <a:latin typeface="宋体" panose="02010600030101010101" pitchFamily="2" charset="-122"/>
                <a:ea typeface="宋体" panose="02010600030101010101" pitchFamily="2" charset="-122"/>
                <a:cs typeface="宋体" panose="02010600030101010101" pitchFamily="2" charset="-122"/>
              </a:rPr>
              <a:t>, </a:t>
            </a:r>
            <a:r>
              <a:rPr lang="zh-CN" altLang="en-US" sz="2000" dirty="0">
                <a:latin typeface="宋体" panose="02010600030101010101" pitchFamily="2" charset="-122"/>
                <a:ea typeface="宋体" panose="02010600030101010101" pitchFamily="2" charset="-122"/>
                <a:cs typeface="宋体" panose="02010600030101010101" pitchFamily="2" charset="-122"/>
              </a:rPr>
              <a:t>可挂载</a:t>
            </a:r>
            <a:r>
              <a:rPr lang="en-US" altLang="zh-CN" sz="2000" dirty="0">
                <a:latin typeface="宋体" panose="02010600030101010101" pitchFamily="2" charset="-122"/>
                <a:ea typeface="宋体" panose="02010600030101010101" pitchFamily="2" charset="-122"/>
                <a:cs typeface="宋体" panose="02010600030101010101" pitchFamily="2" charset="-122"/>
              </a:rPr>
              <a:t>, </a:t>
            </a:r>
            <a:r>
              <a:rPr lang="zh-CN" altLang="en-US" sz="2000" dirty="0">
                <a:latin typeface="宋体" panose="02010600030101010101" pitchFamily="2" charset="-122"/>
                <a:ea typeface="宋体" panose="02010600030101010101" pitchFamily="2" charset="-122"/>
                <a:cs typeface="宋体" panose="02010600030101010101" pitchFamily="2" charset="-122"/>
              </a:rPr>
              <a:t>可组合</a:t>
            </a:r>
          </a:p>
          <a:p>
            <a:pPr marL="457200" lvl="1" indent="457200" fontAlgn="auto">
              <a:spcAft>
                <a:spcPts val="0"/>
              </a:spcAft>
            </a:pPr>
            <a:endParaRPr lang="en-US" altLang="zh-CN" sz="2000">
              <a:sym typeface="+mn-ea"/>
            </a:endParaRPr>
          </a:p>
          <a:p>
            <a:pPr marL="457200" lvl="1" indent="457200" fontAlgn="auto">
              <a:spcAft>
                <a:spcPts val="0"/>
              </a:spcAft>
            </a:pPr>
            <a:r>
              <a:rPr lang="en-US" altLang="zh-CN" sz="2000">
                <a:sym typeface="+mn-ea"/>
              </a:rPr>
              <a:t>•</a:t>
            </a:r>
            <a:r>
              <a:rPr lang="zh-CN" altLang="en-US" sz="2000" dirty="0">
                <a:latin typeface="宋体" panose="02010600030101010101" pitchFamily="2" charset="-122"/>
                <a:ea typeface="宋体" panose="02010600030101010101" pitchFamily="2" charset="-122"/>
                <a:cs typeface="宋体" panose="02010600030101010101" pitchFamily="2" charset="-122"/>
              </a:rPr>
              <a:t>自动化</a:t>
            </a:r>
            <a:r>
              <a:rPr lang="en-US" altLang="zh-CN" sz="2000" dirty="0">
                <a:latin typeface="宋体" panose="02010600030101010101" pitchFamily="2" charset="-122"/>
                <a:ea typeface="宋体" panose="02010600030101010101" pitchFamily="2" charset="-122"/>
                <a:cs typeface="宋体" panose="02010600030101010101" pitchFamily="2" charset="-122"/>
              </a:rPr>
              <a:t>: </a:t>
            </a:r>
            <a:r>
              <a:rPr lang="zh-CN" altLang="en-US" sz="2000" dirty="0">
                <a:latin typeface="宋体" panose="02010600030101010101" pitchFamily="2" charset="-122"/>
                <a:ea typeface="宋体" panose="02010600030101010101" pitchFamily="2" charset="-122"/>
                <a:cs typeface="宋体" panose="02010600030101010101" pitchFamily="2" charset="-122"/>
              </a:rPr>
              <a:t>自动部署，自动重启，自动复制，自动伸缩</a:t>
            </a:r>
            <a:r>
              <a:rPr lang="en-US" altLang="zh-CN" sz="2000" dirty="0">
                <a:latin typeface="宋体" panose="02010600030101010101" pitchFamily="2" charset="-122"/>
                <a:ea typeface="宋体" panose="02010600030101010101" pitchFamily="2" charset="-122"/>
                <a:cs typeface="宋体" panose="02010600030101010101" pitchFamily="2" charset="-122"/>
              </a:rPr>
              <a:t>/</a:t>
            </a:r>
            <a:r>
              <a:rPr lang="zh-CN" altLang="en-US" sz="2000" dirty="0">
                <a:latin typeface="宋体" panose="02010600030101010101" pitchFamily="2" charset="-122"/>
                <a:ea typeface="宋体" panose="02010600030101010101" pitchFamily="2" charset="-122"/>
                <a:cs typeface="宋体" panose="02010600030101010101" pitchFamily="2" charset="-122"/>
              </a:rPr>
              <a:t>扩展</a:t>
            </a:r>
          </a:p>
          <a:p>
            <a:pPr marL="457200" lvl="1" indent="457200" fontAlgn="auto">
              <a:spcAft>
                <a:spcPts val="0"/>
              </a:spcAft>
            </a:pPr>
            <a:endParaRPr lang="zh-CN" altLang="en-US" sz="2000"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中国科学技术大学- 维基百科，自由的百科全书"/>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416" y="65082"/>
            <a:ext cx="622182" cy="622182"/>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606700" y="124146"/>
            <a:ext cx="5679321" cy="504055"/>
          </a:xfrm>
          <a:prstGeom prst="rect">
            <a:avLst/>
          </a:prstGeom>
        </p:spPr>
        <p:txBody>
          <a:bodyPr/>
          <a:lstStyle/>
          <a:p>
            <a:r>
              <a:rPr lang="zh-CN" altLang="en-US" sz="3200" b="1" dirty="0">
                <a:sym typeface="+mn-ea"/>
              </a:rPr>
              <a:t>深度学习框架</a:t>
            </a:r>
            <a:endParaRPr lang="en-US" sz="3200" b="1" dirty="0"/>
          </a:p>
        </p:txBody>
      </p:sp>
      <p:sp>
        <p:nvSpPr>
          <p:cNvPr id="4" name="Title 1"/>
          <p:cNvSpPr txBox="1"/>
          <p:nvPr/>
        </p:nvSpPr>
        <p:spPr>
          <a:xfrm>
            <a:off x="1271270" y="1628775"/>
            <a:ext cx="10168255"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457200" fontAlgn="auto">
              <a:spcAft>
                <a:spcPts val="0"/>
              </a:spcAft>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489075" y="1019810"/>
            <a:ext cx="9441180" cy="953135"/>
          </a:xfrm>
          <a:prstGeom prst="rect">
            <a:avLst/>
          </a:prstGeom>
          <a:noFill/>
        </p:spPr>
        <p:txBody>
          <a:bodyPr wrap="square" rtlCol="0">
            <a:spAutoFit/>
          </a:bodyPr>
          <a:lstStyle/>
          <a:p>
            <a:r>
              <a:rPr lang="zh-CN" altLang="en-US" sz="3200"/>
              <a:t>分布式学习环境搭建</a:t>
            </a:r>
          </a:p>
          <a:p>
            <a:pPr indent="457200"/>
            <a:endParaRPr lang="en-US" altLang="zh-CN" sz="2400"/>
          </a:p>
        </p:txBody>
      </p:sp>
      <p:sp>
        <p:nvSpPr>
          <p:cNvPr id="6" name="Title 1"/>
          <p:cNvSpPr txBox="1"/>
          <p:nvPr/>
        </p:nvSpPr>
        <p:spPr>
          <a:xfrm>
            <a:off x="695325" y="1557020"/>
            <a:ext cx="10074910" cy="1325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lvl="1" indent="457200" fontAlgn="auto">
              <a:spcAft>
                <a:spcPts val="0"/>
              </a:spcAft>
            </a:pPr>
            <a:r>
              <a:rPr lang="en-US" altLang="zh-CN" sz="2000" dirty="0">
                <a:latin typeface="宋体" panose="02010600030101010101" pitchFamily="2" charset="-122"/>
                <a:ea typeface="宋体" panose="02010600030101010101" pitchFamily="2" charset="-122"/>
                <a:cs typeface="宋体" panose="02010600030101010101" pitchFamily="2" charset="-122"/>
              </a:rPr>
              <a:t>Docker</a:t>
            </a:r>
            <a:r>
              <a:rPr lang="zh-CN" altLang="en-US" sz="2000" dirty="0">
                <a:latin typeface="宋体" panose="02010600030101010101" pitchFamily="2" charset="-122"/>
                <a:ea typeface="宋体" panose="02010600030101010101" pitchFamily="2" charset="-122"/>
                <a:cs typeface="宋体" panose="02010600030101010101" pitchFamily="2" charset="-122"/>
              </a:rPr>
              <a:t>、</a:t>
            </a:r>
            <a:r>
              <a:rPr lang="en-US" altLang="zh-CN" sz="2000" dirty="0">
                <a:latin typeface="宋体" panose="02010600030101010101" pitchFamily="2" charset="-122"/>
                <a:ea typeface="宋体" panose="02010600030101010101" pitchFamily="2" charset="-122"/>
                <a:cs typeface="宋体" panose="02010600030101010101" pitchFamily="2" charset="-122"/>
              </a:rPr>
              <a:t>HDFS </a:t>
            </a:r>
            <a:r>
              <a:rPr lang="zh-CN" altLang="en-US" sz="2000" dirty="0">
                <a:latin typeface="宋体" panose="02010600030101010101" pitchFamily="2" charset="-122"/>
                <a:ea typeface="宋体" panose="02010600030101010101" pitchFamily="2" charset="-122"/>
                <a:cs typeface="宋体" panose="02010600030101010101" pitchFamily="2" charset="-122"/>
              </a:rPr>
              <a:t>和</a:t>
            </a:r>
            <a:r>
              <a:rPr lang="en-US" altLang="zh-CN" sz="2000" dirty="0">
                <a:latin typeface="宋体" panose="02010600030101010101" pitchFamily="2" charset="-122"/>
                <a:ea typeface="宋体" panose="02010600030101010101" pitchFamily="2" charset="-122"/>
                <a:cs typeface="宋体" panose="02010600030101010101" pitchFamily="2" charset="-122"/>
              </a:rPr>
              <a:t> Kubernetes </a:t>
            </a:r>
            <a:r>
              <a:rPr lang="zh-CN" altLang="en-US" sz="2000" dirty="0">
                <a:latin typeface="宋体" panose="02010600030101010101" pitchFamily="2" charset="-122"/>
                <a:ea typeface="宋体" panose="02010600030101010101" pitchFamily="2" charset="-122"/>
                <a:cs typeface="宋体" panose="02010600030101010101" pitchFamily="2" charset="-122"/>
              </a:rPr>
              <a:t>是三种在分布式系统和云原生环境中密切相关的技术，它们分别解决了不同的问题，但可以协同工作以构建高效、可扩展的分布式计算和存储环境。</a:t>
            </a:r>
          </a:p>
          <a:p>
            <a:pPr marL="457200" lvl="1" indent="457200" fontAlgn="auto">
              <a:spcAft>
                <a:spcPts val="0"/>
              </a:spcAft>
            </a:pPr>
            <a:r>
              <a:rPr lang="en-US" altLang="zh-CN" sz="2000">
                <a:sym typeface="+mn-ea"/>
              </a:rPr>
              <a:t>•</a:t>
            </a:r>
            <a:r>
              <a:rPr lang="en-US" altLang="zh-CN" sz="2000" dirty="0">
                <a:latin typeface="宋体" panose="02010600030101010101" pitchFamily="2" charset="-122"/>
                <a:ea typeface="宋体" panose="02010600030101010101" pitchFamily="2" charset="-122"/>
                <a:cs typeface="宋体" panose="02010600030101010101" pitchFamily="2" charset="-122"/>
              </a:rPr>
              <a:t>Docker </a:t>
            </a:r>
            <a:r>
              <a:rPr lang="zh-CN" altLang="en-US" sz="2000" dirty="0">
                <a:latin typeface="宋体" panose="02010600030101010101" pitchFamily="2" charset="-122"/>
                <a:ea typeface="宋体" panose="02010600030101010101" pitchFamily="2" charset="-122"/>
                <a:cs typeface="宋体" panose="02010600030101010101" pitchFamily="2" charset="-122"/>
              </a:rPr>
              <a:t>是容器化基础，为</a:t>
            </a:r>
            <a:r>
              <a:rPr lang="en-US" altLang="zh-CN" sz="2000" dirty="0">
                <a:latin typeface="宋体" panose="02010600030101010101" pitchFamily="2" charset="-122"/>
                <a:ea typeface="宋体" panose="02010600030101010101" pitchFamily="2" charset="-122"/>
                <a:cs typeface="宋体" panose="02010600030101010101" pitchFamily="2" charset="-122"/>
              </a:rPr>
              <a:t> HDFS </a:t>
            </a:r>
            <a:r>
              <a:rPr lang="zh-CN" altLang="en-US" sz="2000" dirty="0">
                <a:latin typeface="宋体" panose="02010600030101010101" pitchFamily="2" charset="-122"/>
                <a:ea typeface="宋体" panose="02010600030101010101" pitchFamily="2" charset="-122"/>
                <a:cs typeface="宋体" panose="02010600030101010101" pitchFamily="2" charset="-122"/>
              </a:rPr>
              <a:t>和计算框架提供轻量级、可移植的运行环境。</a:t>
            </a:r>
          </a:p>
          <a:p>
            <a:pPr marL="457200" lvl="1" indent="457200" fontAlgn="auto">
              <a:spcAft>
                <a:spcPts val="0"/>
              </a:spcAft>
            </a:pPr>
            <a:endParaRPr lang="en-US" altLang="zh-CN" sz="2000">
              <a:sym typeface="+mn-ea"/>
            </a:endParaRPr>
          </a:p>
          <a:p>
            <a:pPr marL="457200" lvl="1" indent="457200" fontAlgn="auto">
              <a:spcAft>
                <a:spcPts val="0"/>
              </a:spcAft>
            </a:pPr>
            <a:r>
              <a:rPr lang="en-US" altLang="zh-CN" sz="2000">
                <a:sym typeface="+mn-ea"/>
              </a:rPr>
              <a:t>•</a:t>
            </a:r>
            <a:r>
              <a:rPr lang="en-US" altLang="zh-CN" sz="2000" dirty="0">
                <a:latin typeface="宋体" panose="02010600030101010101" pitchFamily="2" charset="-122"/>
                <a:ea typeface="宋体" panose="02010600030101010101" pitchFamily="2" charset="-122"/>
                <a:cs typeface="宋体" panose="02010600030101010101" pitchFamily="2" charset="-122"/>
              </a:rPr>
              <a:t>HDFS </a:t>
            </a:r>
            <a:r>
              <a:rPr lang="zh-CN" altLang="en-US" sz="2000" dirty="0">
                <a:latin typeface="宋体" panose="02010600030101010101" pitchFamily="2" charset="-122"/>
                <a:ea typeface="宋体" panose="02010600030101010101" pitchFamily="2" charset="-122"/>
                <a:cs typeface="宋体" panose="02010600030101010101" pitchFamily="2" charset="-122"/>
              </a:rPr>
              <a:t>是数据存储层，为分布式计算提供高吞吐、容错的存储支持。</a:t>
            </a:r>
          </a:p>
          <a:p>
            <a:pPr marL="457200" lvl="1" indent="457200" fontAlgn="auto">
              <a:spcAft>
                <a:spcPts val="0"/>
              </a:spcAft>
            </a:pPr>
            <a:endParaRPr lang="en-US" altLang="zh-CN" sz="2000">
              <a:sym typeface="+mn-ea"/>
            </a:endParaRPr>
          </a:p>
          <a:p>
            <a:pPr marL="457200" lvl="1" indent="457200" fontAlgn="auto">
              <a:spcAft>
                <a:spcPts val="0"/>
              </a:spcAft>
            </a:pPr>
            <a:r>
              <a:rPr lang="en-US" altLang="zh-CN" sz="2000">
                <a:sym typeface="+mn-ea"/>
              </a:rPr>
              <a:t>•</a:t>
            </a:r>
            <a:r>
              <a:rPr lang="en-US" altLang="zh-CN" sz="2000" dirty="0">
                <a:latin typeface="宋体" panose="02010600030101010101" pitchFamily="2" charset="-122"/>
                <a:ea typeface="宋体" panose="02010600030101010101" pitchFamily="2" charset="-122"/>
                <a:cs typeface="宋体" panose="02010600030101010101" pitchFamily="2" charset="-122"/>
              </a:rPr>
              <a:t>Kubernetes </a:t>
            </a:r>
            <a:r>
              <a:rPr lang="zh-CN" altLang="en-US" sz="2000" dirty="0">
                <a:latin typeface="宋体" panose="02010600030101010101" pitchFamily="2" charset="-122"/>
                <a:ea typeface="宋体" panose="02010600030101010101" pitchFamily="2" charset="-122"/>
                <a:cs typeface="宋体" panose="02010600030101010101" pitchFamily="2" charset="-122"/>
              </a:rPr>
              <a:t>是控制层，通过自动化编排实现集群的高效管理和弹性扩展。</a:t>
            </a:r>
          </a:p>
        </p:txBody>
      </p:sp>
      <p:pic>
        <p:nvPicPr>
          <p:cNvPr id="5" name="图片 4"/>
          <p:cNvPicPr>
            <a:picLocks noChangeAspect="1"/>
          </p:cNvPicPr>
          <p:nvPr/>
        </p:nvPicPr>
        <p:blipFill>
          <a:blip r:embed="rId3"/>
          <a:stretch>
            <a:fillRect/>
          </a:stretch>
        </p:blipFill>
        <p:spPr>
          <a:xfrm>
            <a:off x="1606550" y="4437380"/>
            <a:ext cx="7981950" cy="173355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RESOURCE_RECORD_KEY" val="{&quot;29&quot;:[50000076,50000077]}"/>
  <p:tag name="COMMONDATA" val="eyJoZGlkIjoiYWRhNmU4ZTM4OTM4Nzk2OGExZTZhNDQ2MGU2ZmQwOWUifQ=="/>
</p:tagLst>
</file>

<file path=ppt/theme/theme1.xml><?xml version="1.0" encoding="utf-8"?>
<a:theme xmlns:a="http://schemas.openxmlformats.org/drawingml/2006/main" name="Office Theme">
  <a:themeElements>
    <a:clrScheme name="红色">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自定义 1">
      <a:majorFont>
        <a:latin typeface="Arial Black"/>
        <a:ea typeface="微软雅黑"/>
        <a:cs typeface=""/>
      </a:majorFont>
      <a:minorFont>
        <a:latin typeface="Microsoft YaHei UI"/>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9324</Words>
  <Application>Microsoft Office PowerPoint</Application>
  <PresentationFormat>宽屏</PresentationFormat>
  <Paragraphs>726</Paragraphs>
  <Slides>119</Slides>
  <Notes>1</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119</vt:i4>
      </vt:variant>
    </vt:vector>
  </HeadingPairs>
  <TitlesOfParts>
    <vt:vector size="128" baseType="lpstr">
      <vt:lpstr>-apple-system</vt:lpstr>
      <vt:lpstr>Microsoft YaHei UI</vt:lpstr>
      <vt:lpstr>宋体</vt:lpstr>
      <vt:lpstr>微软雅黑</vt:lpstr>
      <vt:lpstr>Arial</vt:lpstr>
      <vt:lpstr>Arial Black</vt:lpstr>
      <vt:lpstr>Calibri</vt:lpstr>
      <vt:lpstr>Office Theme</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2017岗位竞聘报告PPT-01</dc:title>
  <dc:creator>kingpub</dc:creator>
  <cp:lastModifiedBy>世成 王</cp:lastModifiedBy>
  <cp:revision>1841</cp:revision>
  <dcterms:created xsi:type="dcterms:W3CDTF">2020-03-03T14:52:00Z</dcterms:created>
  <dcterms:modified xsi:type="dcterms:W3CDTF">2025-04-07T04:41:48Z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8878311A14C1431D939BC6C074D96048_13</vt:lpwstr>
  </property>
  <property fmtid="{D5CDD505-2E9C-101B-9397-08002B2CF9AE}" pid="4" name="MSIP_Label_51a6c3db-1667-4f49-995a-8b9973972958_Enabled">
    <vt:lpwstr>true</vt:lpwstr>
  </property>
  <property fmtid="{D5CDD505-2E9C-101B-9397-08002B2CF9AE}" pid="5" name="MSIP_Label_51a6c3db-1667-4f49-995a-8b9973972958_SetDate">
    <vt:lpwstr>2024-09-29T02:19:31Z</vt:lpwstr>
  </property>
  <property fmtid="{D5CDD505-2E9C-101B-9397-08002B2CF9AE}" pid="6" name="MSIP_Label_51a6c3db-1667-4f49-995a-8b9973972958_Method">
    <vt:lpwstr>Standard</vt:lpwstr>
  </property>
  <property fmtid="{D5CDD505-2E9C-101B-9397-08002B2CF9AE}" pid="7" name="MSIP_Label_51a6c3db-1667-4f49-995a-8b9973972958_Name">
    <vt:lpwstr>UTS-Internal</vt:lpwstr>
  </property>
  <property fmtid="{D5CDD505-2E9C-101B-9397-08002B2CF9AE}" pid="8" name="MSIP_Label_51a6c3db-1667-4f49-995a-8b9973972958_SiteId">
    <vt:lpwstr>e8911c26-cf9f-4a9c-878e-527807be8791</vt:lpwstr>
  </property>
  <property fmtid="{D5CDD505-2E9C-101B-9397-08002B2CF9AE}" pid="9" name="MSIP_Label_51a6c3db-1667-4f49-995a-8b9973972958_ActionId">
    <vt:lpwstr>c9311723-dda3-4b19-be18-3c92c94464d8</vt:lpwstr>
  </property>
  <property fmtid="{D5CDD505-2E9C-101B-9397-08002B2CF9AE}" pid="10" name="MSIP_Label_51a6c3db-1667-4f49-995a-8b9973972958_ContentBits">
    <vt:lpwstr>0</vt:lpwstr>
  </property>
</Properties>
</file>