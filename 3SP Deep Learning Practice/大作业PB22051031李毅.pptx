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2" r:id="rId4"/>
    <p:sldId id="287" r:id="rId5"/>
    <p:sldId id="290" r:id="rId6"/>
    <p:sldId id="289" r:id="rId7"/>
    <p:sldId id="288" r:id="rId8"/>
    <p:sldId id="291" r:id="rId9"/>
    <p:sldId id="283" r:id="rId10"/>
    <p:sldId id="295" r:id="rId11"/>
    <p:sldId id="293" r:id="rId12"/>
    <p:sldId id="294" r:id="rId13"/>
    <p:sldId id="284" r:id="rId14"/>
    <p:sldId id="296" r:id="rId15"/>
    <p:sldId id="297" r:id="rId16"/>
    <p:sldId id="298" r:id="rId17"/>
    <p:sldId id="309" r:id="rId18"/>
    <p:sldId id="285" r:id="rId19"/>
    <p:sldId id="300" r:id="rId20"/>
    <p:sldId id="301" r:id="rId21"/>
    <p:sldId id="299" r:id="rId22"/>
    <p:sldId id="304" r:id="rId23"/>
    <p:sldId id="303" r:id="rId24"/>
    <p:sldId id="302" r:id="rId25"/>
    <p:sldId id="305" r:id="rId26"/>
    <p:sldId id="307" r:id="rId27"/>
    <p:sldId id="306" r:id="rId28"/>
    <p:sldId id="308" r:id="rId29"/>
    <p:sldId id="281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53A3"/>
    <a:srgbClr val="ECECEC"/>
    <a:srgbClr val="FFFFFF"/>
    <a:srgbClr val="453D3A"/>
    <a:srgbClr val="1A9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32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4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751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58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94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560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652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130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8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974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4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05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193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98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983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300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3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463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354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11084978" y="659530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71325" y="387275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9325" y="135275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26675" y="6318000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50" y="6405438"/>
            <a:ext cx="1390650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874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6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C821-51AF-415E-BF5B-CDCDE3466362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06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link.zhihu.com/?target=https%3A//arxiv.org/abs/2308.1371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zhihu.com/?target=https%3A//github.com/nachifur/RDD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zhihu.com/?target=http%3A//mmlab.ie.cuhk.edu.hk/projects/CelebA.html" TargetMode="External"/><Relationship Id="rId5" Type="http://schemas.openxmlformats.org/officeDocument/2006/relationships/hyperlink" Target="https://zhida.zhihu.com/search?content_id=6580807&amp;content_type=Article&amp;match_order=1&amp;q=%E5%B1%9E%E6%80%A7%E6%A0%87%E8%AE%B0&amp;zhida_source=entity" TargetMode="Externa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sv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.sv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667636"/>
            <a:ext cx="12192000" cy="518886"/>
          </a:xfrm>
          <a:prstGeom prst="rect">
            <a:avLst/>
          </a:prstGeom>
          <a:solidFill>
            <a:srgbClr val="45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695179"/>
            <a:ext cx="12192000" cy="9724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76501" y="2805643"/>
            <a:ext cx="8280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</a:rPr>
              <a:t>《</a:t>
            </a:r>
            <a:r>
              <a:rPr lang="zh-CN" altLang="en-US" sz="4400" b="1" dirty="0">
                <a:solidFill>
                  <a:schemeClr val="bg1"/>
                </a:solidFill>
              </a:rPr>
              <a:t>深度学习实践</a:t>
            </a:r>
            <a:r>
              <a:rPr lang="en-US" altLang="zh-CN" sz="4400" b="1" dirty="0">
                <a:solidFill>
                  <a:schemeClr val="bg1"/>
                </a:solidFill>
              </a:rPr>
              <a:t>》</a:t>
            </a:r>
            <a:r>
              <a:rPr lang="zh-CN" altLang="en-US" sz="4400" b="1" dirty="0">
                <a:solidFill>
                  <a:schemeClr val="bg1"/>
                </a:solidFill>
              </a:rPr>
              <a:t>大作业汇报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804572" y="4455427"/>
            <a:ext cx="389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453D3A"/>
                </a:solidFill>
              </a:rPr>
              <a:t>中国科学技术大学 李毅</a:t>
            </a:r>
          </a:p>
        </p:txBody>
      </p:sp>
      <p:sp>
        <p:nvSpPr>
          <p:cNvPr id="15" name="矩形 14"/>
          <p:cNvSpPr/>
          <p:nvPr/>
        </p:nvSpPr>
        <p:spPr>
          <a:xfrm>
            <a:off x="11172674" y="2260140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920674" y="2008140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5"/>
          <p:cNvSpPr>
            <a:spLocks noEditPoints="1"/>
          </p:cNvSpPr>
          <p:nvPr/>
        </p:nvSpPr>
        <p:spPr bwMode="auto">
          <a:xfrm>
            <a:off x="10201276" y="2936668"/>
            <a:ext cx="555624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BBC35AD3-E94F-4EFA-B365-70782B8717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384173" y="2291536"/>
            <a:ext cx="2294399" cy="22692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A264812-27F0-3EC1-255B-52DA4BE0EB66}"/>
              </a:ext>
            </a:extLst>
          </p:cNvPr>
          <p:cNvSpPr txBox="1"/>
          <p:nvPr/>
        </p:nvSpPr>
        <p:spPr>
          <a:xfrm>
            <a:off x="2804571" y="3748113"/>
            <a:ext cx="6683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chemeClr val="bg1"/>
                </a:solidFill>
                <a:effectLst/>
                <a:latin typeface="+mn-ea"/>
              </a:rPr>
              <a:t>残差去噪扩散模型 </a:t>
            </a:r>
            <a:r>
              <a:rPr lang="en-US" altLang="zh-CN" sz="1800" b="0" i="0" dirty="0">
                <a:solidFill>
                  <a:schemeClr val="bg1"/>
                </a:solidFill>
                <a:effectLst/>
                <a:latin typeface="+mn-ea"/>
              </a:rPr>
              <a:t>Residual Denoising Diffusion Models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 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451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1" grpId="0"/>
      <p:bldP spid="12" grpId="0"/>
      <p:bldP spid="15" grpId="0" animBg="1"/>
      <p:bldP spid="16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96086" y="2593674"/>
            <a:ext cx="2320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-1" y="3556441"/>
            <a:ext cx="3225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4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933904" y="1307757"/>
            <a:ext cx="3785289" cy="828000"/>
            <a:chOff x="3909356" y="1685526"/>
            <a:chExt cx="3785289" cy="828000"/>
          </a:xfrm>
        </p:grpSpPr>
        <p:sp>
          <p:nvSpPr>
            <p:cNvPr id="19" name="文本框 18"/>
            <p:cNvSpPr txBox="1"/>
            <p:nvPr/>
          </p:nvSpPr>
          <p:spPr>
            <a:xfrm>
              <a:off x="4859367" y="1820822"/>
              <a:ext cx="28352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</a:rPr>
                <a:t>研究内容</a:t>
              </a: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3909356" y="1685526"/>
              <a:ext cx="828000" cy="828000"/>
              <a:chOff x="3909356" y="1685526"/>
              <a:chExt cx="828000" cy="828000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3909356" y="1745583"/>
                <a:ext cx="8280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909356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7903707" y="1304593"/>
            <a:ext cx="3416755" cy="828000"/>
            <a:chOff x="8098970" y="1685526"/>
            <a:chExt cx="3416755" cy="828000"/>
          </a:xfrm>
        </p:grpSpPr>
        <p:sp>
          <p:nvSpPr>
            <p:cNvPr id="13" name="文本框 12"/>
            <p:cNvSpPr txBox="1"/>
            <p:nvPr/>
          </p:nvSpPr>
          <p:spPr>
            <a:xfrm>
              <a:off x="9120867" y="1823986"/>
              <a:ext cx="23948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</a:rPr>
                <a:t>环境配置</a:t>
              </a: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8098970" y="1685526"/>
              <a:ext cx="899886" cy="828000"/>
              <a:chOff x="8098970" y="1685526"/>
              <a:chExt cx="899886" cy="82800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8098970" y="1714806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8134913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7" name="图形 46">
            <a:extLst>
              <a:ext uri="{FF2B5EF4-FFF2-40B4-BE49-F238E27FC236}">
                <a16:creationId xmlns:a16="http://schemas.microsoft.com/office/drawing/2014/main" id="{1B27F9FB-8AB7-4183-A400-069ABD0E78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216198" y="65530"/>
            <a:ext cx="1391938" cy="1376663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24D088DA-7E9D-44D4-A2CF-E26748097DE0}"/>
              </a:ext>
            </a:extLst>
          </p:cNvPr>
          <p:cNvGrpSpPr/>
          <p:nvPr/>
        </p:nvGrpSpPr>
        <p:grpSpPr>
          <a:xfrm>
            <a:off x="3933904" y="2904407"/>
            <a:ext cx="3785287" cy="828000"/>
            <a:chOff x="3909356" y="1685526"/>
            <a:chExt cx="3785287" cy="82800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A3A4C69-AEB9-4EDF-9351-59272354F54F}"/>
                </a:ext>
              </a:extLst>
            </p:cNvPr>
            <p:cNvSpPr txBox="1"/>
            <p:nvPr/>
          </p:nvSpPr>
          <p:spPr>
            <a:xfrm>
              <a:off x="4859366" y="1820822"/>
              <a:ext cx="28352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</a:rPr>
                <a:t>训练过程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390528E-D0DD-479E-9E18-3AB74E4203A8}"/>
                </a:ext>
              </a:extLst>
            </p:cNvPr>
            <p:cNvGrpSpPr/>
            <p:nvPr/>
          </p:nvGrpSpPr>
          <p:grpSpPr>
            <a:xfrm>
              <a:off x="3909356" y="1685526"/>
              <a:ext cx="828000" cy="828000"/>
              <a:chOff x="3909356" y="1685526"/>
              <a:chExt cx="828000" cy="828000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86A7F97-BD1E-4965-A5D1-3369B5BC167E}"/>
                  </a:ext>
                </a:extLst>
              </p:cNvPr>
              <p:cNvSpPr txBox="1"/>
              <p:nvPr/>
            </p:nvSpPr>
            <p:spPr>
              <a:xfrm>
                <a:off x="3909356" y="1745583"/>
                <a:ext cx="8280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B69C15C-FC39-4D76-8BD6-EC41B4C48F71}"/>
                  </a:ext>
                </a:extLst>
              </p:cNvPr>
              <p:cNvSpPr/>
              <p:nvPr/>
            </p:nvSpPr>
            <p:spPr>
              <a:xfrm>
                <a:off x="3909356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A3E0FCF-AE3D-4342-8371-9E1DDE42DCC9}"/>
              </a:ext>
            </a:extLst>
          </p:cNvPr>
          <p:cNvSpPr txBox="1"/>
          <p:nvPr/>
        </p:nvSpPr>
        <p:spPr>
          <a:xfrm>
            <a:off x="8925604" y="3013834"/>
            <a:ext cx="283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8E7D655-45BC-40FB-8375-86FDC184C61A}"/>
              </a:ext>
            </a:extLst>
          </p:cNvPr>
          <p:cNvSpPr txBox="1"/>
          <p:nvPr/>
        </p:nvSpPr>
        <p:spPr>
          <a:xfrm>
            <a:off x="7975593" y="2961507"/>
            <a:ext cx="828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056C05-3415-4FF3-8A26-CDEC2542885F}"/>
              </a:ext>
            </a:extLst>
          </p:cNvPr>
          <p:cNvSpPr/>
          <p:nvPr/>
        </p:nvSpPr>
        <p:spPr>
          <a:xfrm>
            <a:off x="7975593" y="2901450"/>
            <a:ext cx="828000" cy="828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EBE9CA-5BBA-8296-0913-25FF2342D087}"/>
              </a:ext>
            </a:extLst>
          </p:cNvPr>
          <p:cNvGrpSpPr/>
          <p:nvPr/>
        </p:nvGrpSpPr>
        <p:grpSpPr>
          <a:xfrm>
            <a:off x="3933904" y="4498100"/>
            <a:ext cx="3785287" cy="828000"/>
            <a:chOff x="3909356" y="1685526"/>
            <a:chExt cx="3785287" cy="8280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2724122-DD59-F941-462D-B1DE2D6BF9CA}"/>
                </a:ext>
              </a:extLst>
            </p:cNvPr>
            <p:cNvSpPr txBox="1"/>
            <p:nvPr/>
          </p:nvSpPr>
          <p:spPr>
            <a:xfrm>
              <a:off x="4859366" y="1820822"/>
              <a:ext cx="28352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</a:rPr>
                <a:t>改进点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2908B42-5437-950E-E9F5-18EBE4E4A4C8}"/>
                </a:ext>
              </a:extLst>
            </p:cNvPr>
            <p:cNvGrpSpPr/>
            <p:nvPr/>
          </p:nvGrpSpPr>
          <p:grpSpPr>
            <a:xfrm>
              <a:off x="3909356" y="1685526"/>
              <a:ext cx="828000" cy="828000"/>
              <a:chOff x="3909356" y="1685526"/>
              <a:chExt cx="828000" cy="82800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158A3FA-8E63-6B14-3AA7-82BB6A769206}"/>
                  </a:ext>
                </a:extLst>
              </p:cNvPr>
              <p:cNvSpPr txBox="1"/>
              <p:nvPr/>
            </p:nvSpPr>
            <p:spPr>
              <a:xfrm>
                <a:off x="3909356" y="1745583"/>
                <a:ext cx="8280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2EC742E-6DE4-A8A8-ACC0-75AAB1B0689F}"/>
                  </a:ext>
                </a:extLst>
              </p:cNvPr>
              <p:cNvSpPr/>
              <p:nvPr/>
            </p:nvSpPr>
            <p:spPr>
              <a:xfrm>
                <a:off x="3909356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42DFDC0A-FC8C-58BE-986A-D1EA5474EBDA}"/>
              </a:ext>
            </a:extLst>
          </p:cNvPr>
          <p:cNvSpPr txBox="1"/>
          <p:nvPr/>
        </p:nvSpPr>
        <p:spPr>
          <a:xfrm>
            <a:off x="7975593" y="4555200"/>
            <a:ext cx="828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EFF960-0F75-8E3C-41C1-0ED3D4BBC05E}"/>
              </a:ext>
            </a:extLst>
          </p:cNvPr>
          <p:cNvSpPr/>
          <p:nvPr/>
        </p:nvSpPr>
        <p:spPr>
          <a:xfrm>
            <a:off x="7975593" y="4495143"/>
            <a:ext cx="828000" cy="828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6EAFC5-4468-35BD-2B39-F1BEFD961E99}"/>
              </a:ext>
            </a:extLst>
          </p:cNvPr>
          <p:cNvSpPr txBox="1"/>
          <p:nvPr/>
        </p:nvSpPr>
        <p:spPr>
          <a:xfrm>
            <a:off x="8925604" y="4647533"/>
            <a:ext cx="283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370133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1	</a:t>
            </a:r>
            <a:r>
              <a:rPr lang="zh-CN" altLang="en-US" sz="6000" b="1" dirty="0">
                <a:solidFill>
                  <a:schemeClr val="bg1"/>
                </a:solidFill>
              </a:rPr>
              <a:t>研究内容</a:t>
            </a: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0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研究内容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F127B8-4896-14AA-CE59-D9249860DB16}"/>
              </a:ext>
            </a:extLst>
          </p:cNvPr>
          <p:cNvSpPr txBox="1"/>
          <p:nvPr/>
        </p:nvSpPr>
        <p:spPr>
          <a:xfrm>
            <a:off x="748705" y="1063554"/>
            <a:ext cx="858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该论文已经发表在</a:t>
            </a:r>
            <a:r>
              <a:rPr lang="en-US" altLang="zh-CN" dirty="0">
                <a:latin typeface="+mn-ea"/>
              </a:rPr>
              <a:t>CVPR2024</a:t>
            </a:r>
            <a:r>
              <a:rPr lang="zh-CN" altLang="en-US" dirty="0">
                <a:latin typeface="+mn-ea"/>
              </a:rPr>
              <a:t>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0621A3-6800-B270-A37F-DCEB585093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9" t="856" b="-1"/>
          <a:stretch/>
        </p:blipFill>
        <p:spPr>
          <a:xfrm>
            <a:off x="748705" y="1944883"/>
            <a:ext cx="7043776" cy="46254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33A35EB-1874-160E-A646-889E4B4235A2}"/>
              </a:ext>
            </a:extLst>
          </p:cNvPr>
          <p:cNvSpPr txBox="1"/>
          <p:nvPr/>
        </p:nvSpPr>
        <p:spPr>
          <a:xfrm>
            <a:off x="6095999" y="1591634"/>
            <a:ext cx="505681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单位：中科院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国科大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沈阳大学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华南理工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港大</a:t>
            </a: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代码：</a:t>
            </a:r>
            <a:r>
              <a:rPr lang="en-US" altLang="zh-CN" b="0" i="0" u="none" strike="noStrike" dirty="0">
                <a:solidFill>
                  <a:srgbClr val="191B1F"/>
                </a:solidFill>
                <a:effectLst/>
                <a:latin typeface="a"/>
                <a:hlinkClick r:id="rId6"/>
              </a:rPr>
              <a:t>https://</a:t>
            </a:r>
            <a:r>
              <a:rPr lang="en-US" altLang="zh-CN" b="0" i="0" u="none" strike="noStrike" dirty="0">
                <a:solidFill>
                  <a:srgbClr val="191B1F"/>
                </a:solidFill>
                <a:effectLst/>
                <a:latin typeface="-apple-system"/>
                <a:hlinkClick r:id="rId6"/>
              </a:rPr>
              <a:t>github.com/nachifur/RDD</a:t>
            </a:r>
            <a:r>
              <a:rPr lang="en-US" altLang="zh-CN" b="0" i="0" u="none" strike="noStrike" dirty="0">
                <a:solidFill>
                  <a:srgbClr val="191B1F"/>
                </a:solidFill>
                <a:effectLst/>
                <a:latin typeface="a"/>
                <a:hlinkClick r:id="rId6"/>
              </a:rPr>
              <a:t>M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论文：</a:t>
            </a:r>
            <a:r>
              <a:rPr lang="en-US" altLang="zh-CN" b="0" i="0" u="none" strike="noStrike" dirty="0">
                <a:solidFill>
                  <a:srgbClr val="191B1F"/>
                </a:solidFill>
                <a:effectLst/>
                <a:latin typeface="a"/>
                <a:hlinkClick r:id="rId7"/>
              </a:rPr>
              <a:t>https://</a:t>
            </a:r>
            <a:r>
              <a:rPr lang="en-US" altLang="zh-CN" b="0" i="0" u="none" strike="noStrike" dirty="0">
                <a:solidFill>
                  <a:srgbClr val="191B1F"/>
                </a:solidFill>
                <a:effectLst/>
                <a:latin typeface="-apple-system"/>
                <a:hlinkClick r:id="rId7"/>
              </a:rPr>
              <a:t>arxiv.org/abs/2308.1371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12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研究内容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D720701-522C-4998-1162-176913FD9C7D}"/>
              </a:ext>
            </a:extLst>
          </p:cNvPr>
          <p:cNvSpPr txBox="1"/>
          <p:nvPr/>
        </p:nvSpPr>
        <p:spPr>
          <a:xfrm>
            <a:off x="592280" y="963495"/>
            <a:ext cx="9898842" cy="4612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该文章提出了残差去噪扩散模型（</a:t>
            </a:r>
            <a:r>
              <a:rPr lang="en-US" altLang="zh-CN" dirty="0"/>
              <a:t>RDDM</a:t>
            </a:r>
            <a:r>
              <a:rPr lang="zh-CN" altLang="en-US" dirty="0"/>
              <a:t>），一种新颖的双重扩散过程，它将传统的单一去噪扩散过程解耦为残差扩散和噪声扩散。 这种双重扩散框架通过引入残差，将最初在图像修复中不可解释的基于去噪的扩散模型，扩展为适用于图像生成和修复的统一且可解释的模型。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具体而言，我们的残差扩散表示从目标图像到退化输入图像的定向扩散，并显式地指导用于图像修复的反向生成过程；而噪声扩散则代表了扩散过程中的随机扰动。残差优先考虑确定性，而噪声强调多样性，这使得 </a:t>
            </a:r>
            <a:r>
              <a:rPr lang="en-US" altLang="zh-CN" dirty="0"/>
              <a:t>RDDM </a:t>
            </a:r>
            <a:r>
              <a:rPr lang="zh-CN" altLang="en-US" dirty="0"/>
              <a:t>能够有效统一处理具有不同确定性或多样性需求的任务，例如图像生成和修复。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值得注意的是，我们的 </a:t>
            </a:r>
            <a:r>
              <a:rPr lang="en-US" altLang="zh-CN" dirty="0"/>
              <a:t>RDDM </a:t>
            </a:r>
            <a:r>
              <a:rPr lang="zh-CN" altLang="en-US" dirty="0"/>
              <a:t>使得仅用 </a:t>
            </a:r>
            <a:r>
              <a:rPr lang="en-US" altLang="zh-CN" dirty="0"/>
              <a:t>L1 </a:t>
            </a:r>
            <a:r>
              <a:rPr lang="zh-CN" altLang="en-US" dirty="0"/>
              <a:t>损失、批大小为 </a:t>
            </a:r>
            <a:r>
              <a:rPr lang="en-US" altLang="zh-CN" dirty="0"/>
              <a:t>1 </a:t>
            </a:r>
            <a:r>
              <a:rPr lang="zh-CN" altLang="en-US" dirty="0"/>
              <a:t>训练的通用 </a:t>
            </a:r>
            <a:r>
              <a:rPr lang="en-US" altLang="zh-CN" dirty="0" err="1"/>
              <a:t>UNet</a:t>
            </a:r>
            <a:r>
              <a:rPr lang="zh-CN" altLang="en-US" dirty="0"/>
              <a:t>，能够与最先进的图像修复方法相媲美。</a:t>
            </a:r>
          </a:p>
        </p:txBody>
      </p:sp>
    </p:spTree>
    <p:extLst>
      <p:ext uri="{BB962C8B-B14F-4D97-AF65-F5344CB8AC3E}">
        <p14:creationId xmlns:p14="http://schemas.microsoft.com/office/powerpoint/2010/main" val="228056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研究内容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67BF41F-BA81-FE8F-0ED4-0189508664A9}"/>
              </a:ext>
            </a:extLst>
          </p:cNvPr>
          <p:cNvSpPr txBox="1"/>
          <p:nvPr/>
        </p:nvSpPr>
        <p:spPr>
          <a:xfrm>
            <a:off x="744419" y="870997"/>
            <a:ext cx="8998248" cy="45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原作者在多个数据集上对残差去噪扩散模型（</a:t>
            </a:r>
            <a:r>
              <a:rPr lang="en-US" altLang="zh-CN" dirty="0"/>
              <a:t>RDDM</a:t>
            </a:r>
            <a:r>
              <a:rPr lang="zh-CN" altLang="en-US" dirty="0"/>
              <a:t>）的性能进行了评估，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C1B7A-98D2-C32D-1B9D-F32AF2B59914}"/>
              </a:ext>
            </a:extLst>
          </p:cNvPr>
          <p:cNvSpPr txBox="1"/>
          <p:nvPr/>
        </p:nvSpPr>
        <p:spPr>
          <a:xfrm>
            <a:off x="731644" y="3350559"/>
            <a:ext cx="10455447" cy="295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在图像恢复任务（包括阴影去除、低光照增强、图像去雨和图像去糊）在</a:t>
            </a:r>
            <a:r>
              <a:rPr lang="en-US" altLang="zh-CN" b="0" i="0" dirty="0">
                <a:effectLst/>
                <a:latin typeface="-apple-system"/>
              </a:rPr>
              <a:t>5</a:t>
            </a:r>
            <a:r>
              <a:rPr lang="zh-CN" altLang="en-US" b="0" i="0" dirty="0">
                <a:effectLst/>
                <a:latin typeface="-apple-system"/>
              </a:rPr>
              <a:t>个不同数据集上对本方法进行了系统评估。为确保公平对比，其他最先进</a:t>
            </a:r>
            <a:r>
              <a:rPr lang="en-US" altLang="zh-CN" b="0" i="0" dirty="0">
                <a:effectLst/>
                <a:latin typeface="-apple-system"/>
              </a:rPr>
              <a:t>(SOTA)</a:t>
            </a:r>
            <a:r>
              <a:rPr lang="zh-CN" altLang="en-US" b="0" i="0" dirty="0">
                <a:effectLst/>
                <a:latin typeface="-apple-system"/>
              </a:rPr>
              <a:t>方法的结果均直接引自原始文献。所有图像恢复任务中，输入图像统一缩放至</a:t>
            </a:r>
            <a:r>
              <a:rPr lang="en-US" altLang="zh-CN" b="0" i="0" dirty="0">
                <a:effectLst/>
                <a:latin typeface="-apple-system"/>
              </a:rPr>
              <a:t>256×256</a:t>
            </a:r>
            <a:r>
              <a:rPr lang="zh-CN" altLang="en-US" b="0" i="0" dirty="0">
                <a:effectLst/>
                <a:latin typeface="-apple-system"/>
              </a:rPr>
              <a:t>分辨率，网络训练批处理大小固定为</a:t>
            </a:r>
            <a:r>
              <a:rPr lang="en-US" altLang="zh-CN" b="0" i="0" dirty="0">
                <a:effectLst/>
                <a:latin typeface="-apple-system"/>
              </a:rPr>
              <a:t>1</a:t>
            </a:r>
            <a:r>
              <a:rPr lang="zh-CN" altLang="en-US" b="0" i="0" dirty="0">
                <a:effectLst/>
                <a:latin typeface="-apple-system"/>
              </a:rPr>
              <a:t>。阴影去除任务采用阴影掩膜和阴影图像作为条件输入，而其他恢复任务则直接使用退化图像作为条件输入。针对低光照增强任务，我们采用了直方图均衡化作为预处理手段。定量评估基于四项关键指标：平均绝对误差</a:t>
            </a:r>
            <a:r>
              <a:rPr lang="en-US" altLang="zh-CN" b="0" i="0" dirty="0">
                <a:effectLst/>
                <a:latin typeface="-apple-system"/>
              </a:rPr>
              <a:t>(MAE)</a:t>
            </a:r>
            <a:r>
              <a:rPr lang="zh-CN" altLang="en-US" b="0" i="0" dirty="0">
                <a:effectLst/>
                <a:latin typeface="-apple-system"/>
              </a:rPr>
              <a:t>、峰值信噪比</a:t>
            </a:r>
            <a:r>
              <a:rPr lang="en-US" altLang="zh-CN" b="0" i="0" dirty="0">
                <a:effectLst/>
                <a:latin typeface="-apple-system"/>
              </a:rPr>
              <a:t>(PSNR)</a:t>
            </a:r>
            <a:r>
              <a:rPr lang="zh-CN" altLang="en-US" b="0" i="0" dirty="0">
                <a:effectLst/>
                <a:latin typeface="-apple-system"/>
              </a:rPr>
              <a:t>、结构相似性指数</a:t>
            </a:r>
            <a:r>
              <a:rPr lang="en-US" altLang="zh-CN" b="0" i="0" dirty="0">
                <a:effectLst/>
                <a:latin typeface="-apple-system"/>
              </a:rPr>
              <a:t>(SSIM)</a:t>
            </a:r>
            <a:r>
              <a:rPr lang="zh-CN" altLang="en-US" b="0" i="0" dirty="0">
                <a:effectLst/>
                <a:latin typeface="-apple-system"/>
              </a:rPr>
              <a:t>以及学习感知图像块相似度，这些指标共同构成了对模型恢复效果的全面度量体系。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3DEB2E-FFF1-C6FB-F80F-A1F2D87EB0EC}"/>
              </a:ext>
            </a:extLst>
          </p:cNvPr>
          <p:cNvSpPr txBox="1"/>
          <p:nvPr/>
        </p:nvSpPr>
        <p:spPr>
          <a:xfrm>
            <a:off x="744419" y="1677577"/>
            <a:ext cx="10056931" cy="129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在图像生成任务中，</a:t>
            </a:r>
            <a:r>
              <a:rPr lang="en-US" altLang="zh-CN" b="0" i="0" dirty="0">
                <a:effectLst/>
                <a:latin typeface="-apple-system"/>
              </a:rPr>
              <a:t>RDDM</a:t>
            </a:r>
            <a:r>
              <a:rPr lang="zh-CN" altLang="en-US" b="0" i="0" dirty="0">
                <a:effectLst/>
                <a:latin typeface="-apple-system"/>
              </a:rPr>
              <a:t>可采用更优化的系数调度策略进行训练，采用线性递减的</a:t>
            </a:r>
            <a:r>
              <a:rPr lang="en-US" altLang="zh-CN" b="0" i="0" dirty="0">
                <a:effectLst/>
                <a:latin typeface="-apple-system"/>
              </a:rPr>
              <a:t>αₜ</a:t>
            </a:r>
            <a:r>
              <a:rPr lang="zh-CN" altLang="en-US" b="0" i="0" dirty="0">
                <a:effectLst/>
                <a:latin typeface="-apple-system"/>
              </a:rPr>
              <a:t>（噪声扩散系数）与线性递增的</a:t>
            </a:r>
            <a:r>
              <a:rPr lang="en-US" altLang="zh-CN" b="0" i="0" dirty="0">
                <a:effectLst/>
                <a:latin typeface="-apple-system"/>
              </a:rPr>
              <a:t>βₜ²</a:t>
            </a:r>
            <a:r>
              <a:rPr lang="zh-CN" altLang="en-US" b="0" i="0" dirty="0">
                <a:effectLst/>
                <a:latin typeface="-apple-system"/>
              </a:rPr>
              <a:t>（残差扩散系数）可取得更好效果。生成结果的定量评估通过弗雷歇初始距离（</a:t>
            </a:r>
            <a:r>
              <a:rPr lang="en-US" altLang="zh-CN" b="0" i="0" dirty="0" err="1">
                <a:effectLst/>
                <a:latin typeface="-apple-system"/>
              </a:rPr>
              <a:t>Fr´echet</a:t>
            </a:r>
            <a:r>
              <a:rPr lang="en-US" altLang="zh-CN" b="0" i="0" dirty="0">
                <a:effectLst/>
                <a:latin typeface="-apple-system"/>
              </a:rPr>
              <a:t> Inception Distance, FID</a:t>
            </a:r>
            <a:r>
              <a:rPr lang="zh-CN" altLang="en-US" b="0" i="0" dirty="0">
                <a:effectLst/>
                <a:latin typeface="-apple-system"/>
              </a:rPr>
              <a:t>）和初始得分（</a:t>
            </a:r>
            <a:r>
              <a:rPr lang="en-US" altLang="zh-CN" b="0" i="0" dirty="0">
                <a:effectLst/>
                <a:latin typeface="-apple-system"/>
              </a:rPr>
              <a:t>Inception Score, IS</a:t>
            </a:r>
            <a:r>
              <a:rPr lang="zh-CN" altLang="en-US" b="0" i="0" dirty="0">
                <a:effectLst/>
                <a:latin typeface="-apple-system"/>
              </a:rPr>
              <a:t>）两大指标完成。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19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研究内容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60175C9-6D6D-EFC2-508C-1A83C331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77" y="1007267"/>
            <a:ext cx="9186958" cy="41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F605FB-5473-3C30-6B69-87FDF9F01CBA}"/>
              </a:ext>
            </a:extLst>
          </p:cNvPr>
          <p:cNvSpPr txBox="1"/>
          <p:nvPr/>
        </p:nvSpPr>
        <p:spPr>
          <a:xfrm>
            <a:off x="787377" y="5400784"/>
            <a:ext cx="9186958" cy="87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受限于时间和算力限制，本复现报告仅对基于</a:t>
            </a:r>
            <a:r>
              <a:rPr lang="en-US" altLang="zh-CN" dirty="0"/>
              <a:t>ISTD</a:t>
            </a:r>
            <a:r>
              <a:rPr lang="zh-CN" altLang="en-US" dirty="0"/>
              <a:t>数据集的图像恢复和基于</a:t>
            </a:r>
            <a:r>
              <a:rPr lang="en-US" altLang="zh-CN" dirty="0"/>
              <a:t>CelebA</a:t>
            </a:r>
            <a:r>
              <a:rPr lang="zh-CN" altLang="en-US" dirty="0"/>
              <a:t>数据集的图像生成做了复现。</a:t>
            </a:r>
          </a:p>
        </p:txBody>
      </p:sp>
    </p:spTree>
    <p:extLst>
      <p:ext uri="{BB962C8B-B14F-4D97-AF65-F5344CB8AC3E}">
        <p14:creationId xmlns:p14="http://schemas.microsoft.com/office/powerpoint/2010/main" val="311133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数据集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64161FD-B52E-5C90-3D2C-A540969BC73C}"/>
              </a:ext>
            </a:extLst>
          </p:cNvPr>
          <p:cNvSpPr txBox="1"/>
          <p:nvPr/>
        </p:nvSpPr>
        <p:spPr>
          <a:xfrm>
            <a:off x="695324" y="937219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CelebA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A4936A-9154-37A7-28D5-4256D0E6CB18}"/>
              </a:ext>
            </a:extLst>
          </p:cNvPr>
          <p:cNvSpPr txBox="1"/>
          <p:nvPr/>
        </p:nvSpPr>
        <p:spPr>
          <a:xfrm>
            <a:off x="695324" y="1432886"/>
            <a:ext cx="9743565" cy="2124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CelebA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是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CelebFaces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 Attribute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的缩写，意即名人人脸属性数据集，其包含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10,177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个名人身份的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202,599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张人脸图片，每张图片都做好了特征标记，包含人脸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bbox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标注框、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5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个人脸特征点坐标以及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40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个</a:t>
            </a:r>
            <a:r>
              <a:rPr lang="zh-CN" altLang="en-US" b="0" i="0" u="none" strike="noStrike" dirty="0">
                <a:solidFill>
                  <a:srgbClr val="09408E"/>
                </a:solidFill>
                <a:effectLst/>
                <a:latin typeface="-apple-system"/>
                <a:hlinkClick r:id="rId5"/>
              </a:rPr>
              <a:t>属性标记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CelebA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由香港中文大学开放提供，广泛用于人脸相关的计算机视觉训练任务，可用于人脸属性标识训练、人脸检测训练以及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landmark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标记等，官方网址：</a:t>
            </a:r>
            <a:r>
              <a:rPr lang="en-US" altLang="zh-CN" b="0" i="0" u="none" strike="noStrike" dirty="0">
                <a:effectLst/>
                <a:latin typeface="-apple-system"/>
                <a:hlinkClick r:id="rId6"/>
              </a:rPr>
              <a:t>Large-scale </a:t>
            </a:r>
            <a:r>
              <a:rPr lang="en-US" altLang="zh-CN" b="0" i="0" u="none" strike="noStrike" dirty="0" err="1">
                <a:effectLst/>
                <a:latin typeface="-apple-system"/>
                <a:hlinkClick r:id="rId6"/>
              </a:rPr>
              <a:t>CelebFaces</a:t>
            </a:r>
            <a:r>
              <a:rPr lang="en-US" altLang="zh-CN" b="0" i="0" u="none" strike="noStrike" dirty="0">
                <a:effectLst/>
                <a:latin typeface="-apple-system"/>
                <a:hlinkClick r:id="rId6"/>
              </a:rPr>
              <a:t> Attributes (CelebA) Dataset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CB156D-7CC3-BF3E-3206-32FDC77AD8AA}"/>
              </a:ext>
            </a:extLst>
          </p:cNvPr>
          <p:cNvSpPr txBox="1"/>
          <p:nvPr/>
        </p:nvSpPr>
        <p:spPr>
          <a:xfrm>
            <a:off x="695323" y="3744770"/>
            <a:ext cx="9676059" cy="128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i="0" dirty="0">
                <a:effectLst/>
                <a:latin typeface="ui-sans-serif"/>
              </a:rPr>
              <a:t>ISTD </a:t>
            </a:r>
            <a:r>
              <a:rPr lang="zh-CN" altLang="en-US" b="0" i="0" dirty="0">
                <a:effectLst/>
                <a:latin typeface="ui-sans-serif"/>
              </a:rPr>
              <a:t>全称 </a:t>
            </a:r>
            <a:r>
              <a:rPr lang="en-US" altLang="zh-CN" b="0" i="0" dirty="0">
                <a:effectLst/>
                <a:latin typeface="ui-sans-serif"/>
              </a:rPr>
              <a:t>Image Shadow Triplets dataset</a:t>
            </a:r>
            <a:r>
              <a:rPr lang="zh-CN" altLang="en-US" b="0" i="0" dirty="0">
                <a:effectLst/>
                <a:latin typeface="ui-sans-serif"/>
              </a:rPr>
              <a:t>，是一个关于图像阴影理解的数据集，包含 </a:t>
            </a:r>
            <a:r>
              <a:rPr lang="en-US" altLang="zh-CN" b="0" i="0" dirty="0">
                <a:effectLst/>
                <a:latin typeface="ui-sans-serif"/>
              </a:rPr>
              <a:t>135 </a:t>
            </a:r>
            <a:r>
              <a:rPr lang="zh-CN" altLang="en-US" b="0" i="0" dirty="0">
                <a:effectLst/>
                <a:latin typeface="ui-sans-serif"/>
              </a:rPr>
              <a:t>个场景中的 </a:t>
            </a:r>
            <a:r>
              <a:rPr lang="en-US" altLang="zh-CN" b="0" i="0" dirty="0">
                <a:effectLst/>
                <a:latin typeface="ui-sans-serif"/>
              </a:rPr>
              <a:t>1,870 </a:t>
            </a:r>
            <a:r>
              <a:rPr lang="zh-CN" altLang="en-US" b="0" i="0" dirty="0">
                <a:effectLst/>
                <a:latin typeface="ui-sans-serif"/>
              </a:rPr>
              <a:t>个图像三元组（阴影图像、阴影蒙版图像、无阴影图像）。该数据集可用于研究阴影检测和阴影去除多任务学习。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19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2	</a:t>
            </a:r>
            <a:r>
              <a:rPr lang="zh-CN" altLang="en-US" sz="6000" b="1" dirty="0">
                <a:solidFill>
                  <a:schemeClr val="bg1"/>
                </a:solidFill>
              </a:rPr>
              <a:t>环境配置</a:t>
            </a:r>
          </a:p>
          <a:p>
            <a:pPr algn="ctr"/>
            <a:endParaRPr lang="zh-CN" altLang="en-US" sz="6000" b="1" dirty="0">
              <a:solidFill>
                <a:schemeClr val="bg1"/>
              </a:solidFill>
            </a:endParaRP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环境配置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2C3798B-8F30-3D1F-ED13-34DDDC1FC80C}"/>
              </a:ext>
            </a:extLst>
          </p:cNvPr>
          <p:cNvSpPr txBox="1"/>
          <p:nvPr/>
        </p:nvSpPr>
        <p:spPr>
          <a:xfrm>
            <a:off x="695324" y="1147603"/>
            <a:ext cx="8597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开始使用自己电脑跑，发现速度过慢，且显存容量不够。遂转借服务器进行实验</a:t>
            </a:r>
          </a:p>
          <a:p>
            <a:endParaRPr lang="en-US" altLang="zh-CN" dirty="0"/>
          </a:p>
          <a:p>
            <a:r>
              <a:rPr lang="zh-CN" altLang="en-US" dirty="0"/>
              <a:t>服务器配置：</a:t>
            </a:r>
            <a:r>
              <a:rPr lang="pt-BR" altLang="zh-CN" dirty="0"/>
              <a:t>Intel(R) Core(TM) i9-10900K CPU @ 3.70GHz</a:t>
            </a:r>
          </a:p>
          <a:p>
            <a:r>
              <a:rPr lang="en-US" altLang="zh-CN" dirty="0"/>
              <a:t>	      NVIDIA GeForce RTX 3090 *2</a:t>
            </a:r>
          </a:p>
          <a:p>
            <a:endParaRPr lang="en-US" altLang="zh-CN" dirty="0"/>
          </a:p>
          <a:p>
            <a:r>
              <a:rPr lang="zh-CN" altLang="en-US" dirty="0"/>
              <a:t>实际训练为单卡单任务训练。会有其他人同步使用，无法获得全天候使用时间</a:t>
            </a:r>
            <a:endParaRPr lang="pt-BR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33C3A8-4502-BD2C-DBCC-4BE9C80A6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59" y="4852460"/>
            <a:ext cx="7107323" cy="15529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025DF5-59D2-03F5-0375-CCFD6A57F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53" y="3543619"/>
            <a:ext cx="7020029" cy="10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环境配置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04E7F70-0C0E-0BC3-6B16-5D3239DE6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72" y="1144959"/>
            <a:ext cx="7425664" cy="14113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6156E08-B480-B77A-733C-0468CCCC20C2}"/>
              </a:ext>
            </a:extLst>
          </p:cNvPr>
          <p:cNvSpPr txBox="1"/>
          <p:nvPr/>
        </p:nvSpPr>
        <p:spPr>
          <a:xfrm>
            <a:off x="810072" y="2665154"/>
            <a:ext cx="9272876" cy="1288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提供了</a:t>
            </a:r>
            <a:r>
              <a:rPr lang="en-US" altLang="zh-CN" dirty="0" err="1"/>
              <a:t>install.yaml</a:t>
            </a:r>
            <a:r>
              <a:rPr lang="zh-CN" altLang="en-US" dirty="0"/>
              <a:t>列出代码运行需要的库和版本信息等。但是安装时候总是会出现大量的依赖问题导致报错。无法继续安装。手动安装过于麻烦，于是编写了脚本跳过安装失败的库，手动解决依赖的问题。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75152F2-F486-0A85-B5CA-FF8829B1F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72" y="4223531"/>
            <a:ext cx="4207527" cy="20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环境配置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数据集下载：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C8CDC3-8810-C745-F722-186AC9E1457C}"/>
              </a:ext>
            </a:extLst>
          </p:cNvPr>
          <p:cNvSpPr txBox="1"/>
          <p:nvPr/>
        </p:nvSpPr>
        <p:spPr>
          <a:xfrm>
            <a:off x="695324" y="1685555"/>
            <a:ext cx="8792343" cy="1288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最初尝试直接在服务器上下载数据集，但因网络限制（无法访问</a:t>
            </a:r>
            <a:r>
              <a:rPr lang="en-US" altLang="zh-CN" dirty="0"/>
              <a:t>GitHub</a:t>
            </a:r>
            <a:r>
              <a:rPr lang="zh-CN" altLang="en-US" dirty="0"/>
              <a:t>）未能成功。国内可用资源多为非直链下载，且需复杂认证流程，在服务器端操作极为不便。因此改为本地下载后上传至服务器的方案，此过程耗时较多。</a:t>
            </a:r>
          </a:p>
        </p:txBody>
      </p:sp>
    </p:spTree>
    <p:extLst>
      <p:ext uri="{BB962C8B-B14F-4D97-AF65-F5344CB8AC3E}">
        <p14:creationId xmlns:p14="http://schemas.microsoft.com/office/powerpoint/2010/main" val="2433589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3	</a:t>
            </a:r>
            <a:r>
              <a:rPr lang="zh-CN" altLang="en-US" sz="6000" b="1" dirty="0">
                <a:solidFill>
                  <a:schemeClr val="bg1"/>
                </a:solidFill>
              </a:rPr>
              <a:t>训练过程</a:t>
            </a:r>
          </a:p>
          <a:p>
            <a:pPr algn="ctr"/>
            <a:endParaRPr lang="zh-CN" altLang="en-US" sz="6000" b="1" dirty="0">
              <a:solidFill>
                <a:schemeClr val="bg1"/>
              </a:solidFill>
            </a:endParaRP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3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训练过程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图像生成：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C8CDC3-8810-C745-F722-186AC9E1457C}"/>
              </a:ext>
            </a:extLst>
          </p:cNvPr>
          <p:cNvSpPr txBox="1"/>
          <p:nvPr/>
        </p:nvSpPr>
        <p:spPr>
          <a:xfrm>
            <a:off x="695324" y="1820567"/>
            <a:ext cx="8792343" cy="460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为了节省时间和算力，对于原来的参数做了以下调整：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	train_num_steps </a:t>
            </a:r>
            <a:r>
              <a:rPr lang="en-US" altLang="zh-CN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100000 -&gt; 10000	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</a:rPr>
              <a:t>减少训练轮次</a:t>
            </a:r>
            <a:endParaRPr lang="en-US" altLang="zh-CN" dirty="0">
              <a:solidFill>
                <a:srgbClr val="6A737D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	train_batch_size </a:t>
            </a:r>
            <a:r>
              <a:rPr lang="en-US" altLang="zh-CN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128 -&gt; 16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dirty="0">
                <a:solidFill>
                  <a:srgbClr val="6A737D"/>
                </a:solidFill>
                <a:effectLst/>
                <a:latin typeface="Consolas" panose="020B0609020204030204" pitchFamily="49" charset="0"/>
              </a:rPr>
              <a:t>减少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</a:rPr>
              <a:t>batch size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	num_samples </a:t>
            </a:r>
            <a:r>
              <a:rPr lang="en-US" altLang="zh-CN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64 -&gt; 16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		</a:t>
            </a:r>
            <a:r>
              <a:rPr lang="en-US" altLang="zh-CN" b="0" dirty="0">
                <a:solidFill>
                  <a:srgbClr val="6A737D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 dirty="0">
                <a:solidFill>
                  <a:srgbClr val="6A737D"/>
                </a:solidFill>
                <a:effectLst/>
                <a:latin typeface="Consolas" panose="020B0609020204030204" pitchFamily="49" charset="0"/>
              </a:rPr>
              <a:t>减少样本数</a:t>
            </a:r>
            <a:endParaRPr lang="en-US" altLang="zh-CN" b="0" dirty="0">
              <a:solidFill>
                <a:srgbClr val="6A737D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6A737D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网络参数、采样方式（</a:t>
            </a:r>
            <a:r>
              <a:rPr lang="en-US" altLang="zh-CN" dirty="0"/>
              <a:t>sampling method</a:t>
            </a:r>
            <a:r>
              <a:rPr lang="zh-CN" altLang="en-US" dirty="0"/>
              <a:t>）、优化器（</a:t>
            </a:r>
            <a:r>
              <a:rPr lang="en-US" altLang="zh-CN" dirty="0"/>
              <a:t>optimizer</a:t>
            </a:r>
            <a:r>
              <a:rPr lang="zh-CN" altLang="en-US" dirty="0"/>
              <a:t>）、学习率（</a:t>
            </a:r>
            <a:r>
              <a:rPr lang="en-US" altLang="zh-CN" dirty="0"/>
              <a:t>Learning rate</a:t>
            </a:r>
            <a:r>
              <a:rPr lang="zh-CN" altLang="en-US" dirty="0"/>
              <a:t>）等参数保持不变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设置每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</a:rPr>
              <a:t>100</a:t>
            </a: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轮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</a:rPr>
              <a:t>save_and_sample</a:t>
            </a: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一次，对比训练生成图像的变化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11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训练过程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图像生成：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C8CDC3-8810-C745-F722-186AC9E1457C}"/>
              </a:ext>
            </a:extLst>
          </p:cNvPr>
          <p:cNvSpPr txBox="1"/>
          <p:nvPr/>
        </p:nvSpPr>
        <p:spPr>
          <a:xfrm>
            <a:off x="695325" y="1685556"/>
            <a:ext cx="2379268" cy="295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编写代码，使得可以输出</a:t>
            </a:r>
            <a:r>
              <a:rPr lang="en-US" altLang="zh-CN" dirty="0"/>
              <a:t>loss</a:t>
            </a:r>
            <a:r>
              <a:rPr lang="zh-CN" altLang="en-US" dirty="0"/>
              <a:t>，并使用</a:t>
            </a:r>
            <a:r>
              <a:rPr lang="en-US" altLang="zh-CN" dirty="0"/>
              <a:t>matplotlib</a:t>
            </a:r>
            <a:r>
              <a:rPr lang="zh-CN" altLang="en-US" dirty="0"/>
              <a:t>绘制</a:t>
            </a:r>
            <a:r>
              <a:rPr lang="en-US" altLang="zh-CN" dirty="0"/>
              <a:t>loss</a:t>
            </a:r>
            <a:r>
              <a:rPr lang="zh-CN" altLang="en-US" dirty="0"/>
              <a:t>的变化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模型有两层</a:t>
            </a:r>
            <a:r>
              <a:rPr lang="en-US" altLang="zh-CN" b="0" i="0" dirty="0" err="1">
                <a:effectLst/>
                <a:latin typeface="-apple-system"/>
              </a:rPr>
              <a:t>UNet</a:t>
            </a:r>
            <a:r>
              <a:rPr lang="zh-CN" altLang="en-US" b="0" i="0" dirty="0">
                <a:effectLst/>
                <a:latin typeface="-apple-system"/>
              </a:rPr>
              <a:t>，需要分别记录它们的</a:t>
            </a:r>
            <a:r>
              <a:rPr lang="en-US" altLang="zh-CN" b="0" i="0" dirty="0">
                <a:effectLst/>
                <a:latin typeface="-apple-system"/>
              </a:rPr>
              <a:t>loss</a:t>
            </a:r>
            <a:endParaRPr lang="zh-CN" altLang="en-US" dirty="0"/>
          </a:p>
        </p:txBody>
      </p:sp>
      <p:pic>
        <p:nvPicPr>
          <p:cNvPr id="8" name="图片 7" descr="图形用户界面&#10;&#10;描述已自动生成">
            <a:extLst>
              <a:ext uri="{FF2B5EF4-FFF2-40B4-BE49-F238E27FC236}">
                <a16:creationId xmlns:a16="http://schemas.microsoft.com/office/drawing/2014/main" id="{ADD2F508-6544-55E6-532E-93DFCFC42B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468" y="1126040"/>
            <a:ext cx="8051225" cy="53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17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训练过程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A6734D-1E36-8DD9-21DF-64F4C32AA0BC}"/>
              </a:ext>
            </a:extLst>
          </p:cNvPr>
          <p:cNvSpPr txBox="1"/>
          <p:nvPr/>
        </p:nvSpPr>
        <p:spPr>
          <a:xfrm>
            <a:off x="791661" y="1736745"/>
            <a:ext cx="6413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为了节省时间和算力，对于原来的参数做了以下调整：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27E2D2-9968-D3FD-7E94-75C18D886913}"/>
              </a:ext>
            </a:extLst>
          </p:cNvPr>
          <p:cNvSpPr txBox="1"/>
          <p:nvPr/>
        </p:nvSpPr>
        <p:spPr>
          <a:xfrm>
            <a:off x="791661" y="242603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train_num_steps </a:t>
            </a:r>
            <a:r>
              <a:rPr lang="en-US" altLang="zh-CN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120000 -&gt; 12000</a:t>
            </a:r>
            <a:endParaRPr lang="en-US" altLang="zh-CN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18983D-2E09-FE3E-873D-B477397D651E}"/>
              </a:ext>
            </a:extLst>
          </p:cNvPr>
          <p:cNvSpPr txBox="1"/>
          <p:nvPr/>
        </p:nvSpPr>
        <p:spPr>
          <a:xfrm>
            <a:off x="791661" y="3120367"/>
            <a:ext cx="8450530" cy="253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batch_size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，不需要调整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网络参数、采样方式（</a:t>
            </a:r>
            <a:r>
              <a:rPr lang="en-US" altLang="zh-CN" dirty="0"/>
              <a:t>sampling method</a:t>
            </a:r>
            <a:r>
              <a:rPr lang="zh-CN" altLang="en-US" dirty="0"/>
              <a:t>）、优化器（</a:t>
            </a:r>
            <a:r>
              <a:rPr lang="en-US" altLang="zh-CN" dirty="0"/>
              <a:t>optimizer</a:t>
            </a:r>
            <a:r>
              <a:rPr lang="zh-CN" altLang="en-US" dirty="0"/>
              <a:t>）、学习率（</a:t>
            </a:r>
            <a:r>
              <a:rPr lang="en-US" altLang="zh-CN" dirty="0"/>
              <a:t>Learning rate</a:t>
            </a:r>
            <a:r>
              <a:rPr lang="zh-CN" altLang="en-US" dirty="0"/>
              <a:t>）等参数保持不变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设置每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</a:rPr>
              <a:t>100</a:t>
            </a: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轮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</a:rPr>
              <a:t>save_and_sample</a:t>
            </a:r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</a:rPr>
              <a:t>一次，对比恢复图像的变化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7693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训练过程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11906A-724F-F425-64ED-B0242A134656}"/>
              </a:ext>
            </a:extLst>
          </p:cNvPr>
          <p:cNvSpPr txBox="1"/>
          <p:nvPr/>
        </p:nvSpPr>
        <p:spPr>
          <a:xfrm>
            <a:off x="695324" y="1803443"/>
            <a:ext cx="2720186" cy="128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编写代码，使得可以输出</a:t>
            </a:r>
            <a:r>
              <a:rPr lang="en-US" altLang="zh-CN" dirty="0"/>
              <a:t>loss</a:t>
            </a:r>
            <a:r>
              <a:rPr lang="zh-CN" altLang="en-US" dirty="0"/>
              <a:t>，并使用</a:t>
            </a:r>
            <a:r>
              <a:rPr lang="en-US" altLang="zh-CN" dirty="0"/>
              <a:t>matplotlib</a:t>
            </a:r>
            <a:r>
              <a:rPr lang="zh-CN" altLang="en-US" dirty="0"/>
              <a:t>绘制</a:t>
            </a:r>
            <a:r>
              <a:rPr lang="en-US" altLang="zh-CN" dirty="0"/>
              <a:t>loss</a:t>
            </a:r>
            <a:r>
              <a:rPr lang="zh-CN" altLang="en-US" dirty="0"/>
              <a:t>的变化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B2B839-2BB2-31CE-9B86-D0716C15D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390" y="1181401"/>
            <a:ext cx="6814308" cy="496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8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4	</a:t>
            </a:r>
            <a:r>
              <a:rPr lang="zh-CN" altLang="en-US" sz="6000" b="1" dirty="0">
                <a:solidFill>
                  <a:schemeClr val="bg1"/>
                </a:solidFill>
              </a:rPr>
              <a:t>结果对比</a:t>
            </a:r>
          </a:p>
          <a:p>
            <a:pPr algn="ctr"/>
            <a:endParaRPr lang="zh-CN" altLang="en-US" sz="6000" b="1" dirty="0">
              <a:solidFill>
                <a:schemeClr val="bg1"/>
              </a:solidFill>
            </a:endParaRP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0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图像生成：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914770-08FF-A7B7-5119-87DB2F927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96" y="1814493"/>
            <a:ext cx="1821705" cy="18217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0533E4E-BDF0-33AA-EE9B-E6B159B76050}"/>
              </a:ext>
            </a:extLst>
          </p:cNvPr>
          <p:cNvSpPr txBox="1"/>
          <p:nvPr/>
        </p:nvSpPr>
        <p:spPr>
          <a:xfrm>
            <a:off x="816369" y="1442469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sample_10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6FD6095-16EA-9053-51D0-B71668436B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1879" y="1814492"/>
            <a:ext cx="1821706" cy="18217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D942C7E-CF82-4B76-C875-148532BFA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6355" y="1814492"/>
            <a:ext cx="1821706" cy="182170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060357B-1C19-8C72-553A-E43E94D7A8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0831" y="1814492"/>
            <a:ext cx="1821706" cy="182170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7206E38-A72A-F7E0-8581-D2ED454A4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4968" y="1814491"/>
            <a:ext cx="1821707" cy="182170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F6BE667-BB90-4993-2561-7FDAA01109CD}"/>
              </a:ext>
            </a:extLst>
          </p:cNvPr>
          <p:cNvSpPr txBox="1"/>
          <p:nvPr/>
        </p:nvSpPr>
        <p:spPr>
          <a:xfrm>
            <a:off x="2990939" y="1442566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sample_20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6AA15F-32D0-6DF3-5CC4-7D7EBC4B7B43}"/>
              </a:ext>
            </a:extLst>
          </p:cNvPr>
          <p:cNvSpPr txBox="1"/>
          <p:nvPr/>
        </p:nvSpPr>
        <p:spPr>
          <a:xfrm>
            <a:off x="5307231" y="1445551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sample_30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B56D37F-008C-507A-2DD0-2B35F03B8434}"/>
              </a:ext>
            </a:extLst>
          </p:cNvPr>
          <p:cNvSpPr txBox="1"/>
          <p:nvPr/>
        </p:nvSpPr>
        <p:spPr>
          <a:xfrm>
            <a:off x="7581707" y="1432886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sample_40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CA0770-49FD-3D95-1492-F215744FA22D}"/>
              </a:ext>
            </a:extLst>
          </p:cNvPr>
          <p:cNvSpPr txBox="1"/>
          <p:nvPr/>
        </p:nvSpPr>
        <p:spPr>
          <a:xfrm>
            <a:off x="9876424" y="1432886"/>
            <a:ext cx="1721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sample_50</a:t>
            </a:r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A5C77B7-35FD-D3C5-5A12-C541DE9E3A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195" y="4394028"/>
            <a:ext cx="1821706" cy="182170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A88741E-9CDB-525E-2B25-D758807961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1879" y="4394028"/>
            <a:ext cx="1821706" cy="182170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3C7EAA9-9C50-3748-94FE-37651428E6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6134" y="4394028"/>
            <a:ext cx="1821706" cy="182170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CCB6AFB-4F1F-93B5-B0D0-354D236CE7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0389" y="4394028"/>
            <a:ext cx="1821706" cy="1821706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BDC68A0-487A-1A4E-CEBC-DA104C98D8D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84644" y="4394028"/>
            <a:ext cx="1821706" cy="182170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3DED572-EB67-54C9-2B7B-AC0CEBC2D4ED}"/>
              </a:ext>
            </a:extLst>
          </p:cNvPr>
          <p:cNvSpPr txBox="1"/>
          <p:nvPr/>
        </p:nvSpPr>
        <p:spPr>
          <a:xfrm>
            <a:off x="804558" y="3978888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sample_60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5C51A3-97D3-365A-BD1F-6AA4EA98316E}"/>
              </a:ext>
            </a:extLst>
          </p:cNvPr>
          <p:cNvSpPr txBox="1"/>
          <p:nvPr/>
        </p:nvSpPr>
        <p:spPr>
          <a:xfrm>
            <a:off x="2990939" y="3978888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sample_70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F97F393-A33B-F308-6CA2-2CC0F445E516}"/>
              </a:ext>
            </a:extLst>
          </p:cNvPr>
          <p:cNvSpPr txBox="1"/>
          <p:nvPr/>
        </p:nvSpPr>
        <p:spPr>
          <a:xfrm>
            <a:off x="5270584" y="3978888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sample_80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32E4D02-EE94-9A42-9466-5B50FDD8BE02}"/>
              </a:ext>
            </a:extLst>
          </p:cNvPr>
          <p:cNvSpPr txBox="1"/>
          <p:nvPr/>
        </p:nvSpPr>
        <p:spPr>
          <a:xfrm>
            <a:off x="7581707" y="3978888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sample_90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015F4F9-ECCC-12A7-04A7-CA24DE35EA51}"/>
              </a:ext>
            </a:extLst>
          </p:cNvPr>
          <p:cNvSpPr txBox="1"/>
          <p:nvPr/>
        </p:nvSpPr>
        <p:spPr>
          <a:xfrm>
            <a:off x="9845845" y="3978888"/>
            <a:ext cx="165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sample_100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1717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图像生成：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95C584-ADD9-2750-CBD4-D0DB6D893358}"/>
              </a:ext>
            </a:extLst>
          </p:cNvPr>
          <p:cNvSpPr txBox="1"/>
          <p:nvPr/>
        </p:nvSpPr>
        <p:spPr>
          <a:xfrm>
            <a:off x="695324" y="5387671"/>
            <a:ext cx="504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最后测试得到的</a:t>
            </a:r>
            <a:endParaRPr lang="en-US" altLang="zh-CN" dirty="0"/>
          </a:p>
          <a:p>
            <a:r>
              <a:rPr lang="en-US" altLang="zh-CN" dirty="0"/>
              <a:t>FID Score: 98.1657</a:t>
            </a:r>
          </a:p>
          <a:p>
            <a:r>
              <a:rPr lang="en-US" altLang="zh-CN" dirty="0"/>
              <a:t>Inception Score: 1.5295 ± 0.1044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480E51-222E-E170-D3F2-35221CAA3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946" y="976945"/>
            <a:ext cx="7266105" cy="17064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0E04E6-C4EC-82B0-B962-05D03818F1B4}"/>
              </a:ext>
            </a:extLst>
          </p:cNvPr>
          <p:cNvSpPr txBox="1"/>
          <p:nvPr/>
        </p:nvSpPr>
        <p:spPr>
          <a:xfrm>
            <a:off x="695324" y="2697294"/>
            <a:ext cx="10234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-apple-system"/>
              </a:rPr>
              <a:t>FID</a:t>
            </a:r>
            <a:r>
              <a:rPr lang="zh-CN" altLang="en-US" dirty="0">
                <a:latin typeface="-apple-system"/>
              </a:rPr>
              <a:t>通过预训练的</a:t>
            </a:r>
            <a:r>
              <a:rPr lang="en-US" altLang="zh-CN" dirty="0">
                <a:latin typeface="-apple-system"/>
              </a:rPr>
              <a:t>Inception-v3</a:t>
            </a:r>
            <a:r>
              <a:rPr lang="zh-CN" altLang="en-US" dirty="0">
                <a:latin typeface="-apple-system"/>
              </a:rPr>
              <a:t>网络提取特征，​计算生成图像与真实图像分布间的</a:t>
            </a:r>
            <a:r>
              <a:rPr lang="en-US" altLang="zh-CN" dirty="0">
                <a:latin typeface="-apple-system"/>
              </a:rPr>
              <a:t>Wasserstein-2</a:t>
            </a:r>
            <a:r>
              <a:rPr lang="zh-CN" altLang="en-US" dirty="0">
                <a:latin typeface="-apple-system"/>
              </a:rPr>
              <a:t>距离，</a:t>
            </a:r>
            <a:r>
              <a:rPr lang="zh-CN" altLang="en-US" b="1" dirty="0">
                <a:latin typeface="-apple-system"/>
              </a:rPr>
              <a:t>越低越好</a:t>
            </a:r>
            <a:endParaRPr lang="en-US" altLang="zh-CN" b="1" dirty="0">
              <a:latin typeface="-apple-system"/>
            </a:endParaRPr>
          </a:p>
          <a:p>
            <a:endParaRPr lang="en-US" altLang="zh-CN" b="1" dirty="0"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592E5A-2EE3-0FC7-1D9F-021B3265C06C}"/>
              </a:ext>
            </a:extLst>
          </p:cNvPr>
          <p:cNvSpPr txBox="1"/>
          <p:nvPr/>
        </p:nvSpPr>
        <p:spPr>
          <a:xfrm>
            <a:off x="695324" y="3574457"/>
            <a:ext cx="8516182" cy="171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lang="en-US" altLang="zh-CN" dirty="0">
                <a:latin typeface="-apple-system"/>
              </a:rPr>
              <a:t>IS</a:t>
            </a:r>
            <a:r>
              <a:rPr lang="zh-CN" altLang="en-US" dirty="0">
                <a:latin typeface="-apple-system"/>
              </a:rPr>
              <a:t>衡量两个关键属性：</a:t>
            </a:r>
          </a:p>
          <a:p>
            <a:pPr algn="l" fontAlgn="base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-apple-system"/>
              </a:rPr>
              <a:t>​质量​：图像在</a:t>
            </a:r>
            <a:r>
              <a:rPr lang="en-US" altLang="zh-CN" dirty="0">
                <a:latin typeface="-apple-system"/>
              </a:rPr>
              <a:t>Inception-v3</a:t>
            </a:r>
            <a:r>
              <a:rPr lang="zh-CN" altLang="en-US" dirty="0">
                <a:latin typeface="-apple-system"/>
              </a:rPr>
              <a:t>中预测类别的置信度​（得分越高图像越清晰）</a:t>
            </a:r>
          </a:p>
          <a:p>
            <a:pPr algn="l" fontAlgn="base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-apple-system"/>
              </a:rPr>
              <a:t>​多样性​：所有生成图像的预测类别分布熵​（熵越高多样性越好）</a:t>
            </a:r>
            <a:endParaRPr lang="en-US" altLang="zh-CN" dirty="0">
              <a:latin typeface="-apple-system"/>
            </a:endParaRPr>
          </a:p>
          <a:p>
            <a:pPr algn="l" fontAlgn="base">
              <a:lnSpc>
                <a:spcPct val="150000"/>
              </a:lnSpc>
            </a:pPr>
            <a:r>
              <a:rPr lang="zh-CN" altLang="en-US" b="1" dirty="0">
                <a:latin typeface="-apple-system"/>
              </a:rPr>
              <a:t>越高越好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195BA2-75D0-3BE1-39FC-AF7260E92497}"/>
              </a:ext>
            </a:extLst>
          </p:cNvPr>
          <p:cNvSpPr txBox="1"/>
          <p:nvPr/>
        </p:nvSpPr>
        <p:spPr>
          <a:xfrm>
            <a:off x="5572317" y="5314571"/>
            <a:ext cx="3933762" cy="959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由于减少了</a:t>
            </a:r>
            <a:r>
              <a:rPr lang="en-US" altLang="zh-CN" sz="2000" dirty="0"/>
              <a:t>batchsize</a:t>
            </a:r>
            <a:r>
              <a:rPr lang="zh-CN" altLang="en-US" sz="2000" dirty="0"/>
              <a:t>和训练轮数，和论文结果有较大差异</a:t>
            </a:r>
          </a:p>
        </p:txBody>
      </p:sp>
    </p:spTree>
    <p:extLst>
      <p:ext uri="{BB962C8B-B14F-4D97-AF65-F5344CB8AC3E}">
        <p14:creationId xmlns:p14="http://schemas.microsoft.com/office/powerpoint/2010/main" val="2573324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7709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19A46C-0FC7-DE6D-89F1-EBFDDD7AB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58" y="1685555"/>
            <a:ext cx="939613" cy="466915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EBCF049-1DDC-B3E7-A02A-C31325830F66}"/>
              </a:ext>
            </a:extLst>
          </p:cNvPr>
          <p:cNvSpPr txBox="1"/>
          <p:nvPr/>
        </p:nvSpPr>
        <p:spPr>
          <a:xfrm>
            <a:off x="593747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sample_10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CD3F150-2C81-B199-36CB-23E3EC71B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5242" y="1685553"/>
            <a:ext cx="939613" cy="466915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7F81322-D52C-9B80-DA72-9D2D87466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231" y="1685553"/>
            <a:ext cx="939613" cy="466915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78B8C38-9559-B3AF-CB45-692E86D4A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351" y="1685551"/>
            <a:ext cx="939613" cy="466915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DD77F8B-328A-3647-56D4-9F138D6293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7340" y="1685551"/>
            <a:ext cx="939613" cy="466915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9A982BD-20C0-B944-5412-2DD5B6706F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2225" y="1687061"/>
            <a:ext cx="939614" cy="466915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5626226-6DEB-879F-3837-CEBF2B680D63}"/>
              </a:ext>
            </a:extLst>
          </p:cNvPr>
          <p:cNvSpPr txBox="1"/>
          <p:nvPr/>
        </p:nvSpPr>
        <p:spPr>
          <a:xfrm>
            <a:off x="2349116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sample_20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C1E4BB-6D03-3F09-60A8-1339DF42CBB9}"/>
              </a:ext>
            </a:extLst>
          </p:cNvPr>
          <p:cNvSpPr txBox="1"/>
          <p:nvPr/>
        </p:nvSpPr>
        <p:spPr>
          <a:xfrm>
            <a:off x="4188324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sample_30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4A7F48-EF69-87F0-8F16-77CF673FBB0C}"/>
              </a:ext>
            </a:extLst>
          </p:cNvPr>
          <p:cNvSpPr txBox="1"/>
          <p:nvPr/>
        </p:nvSpPr>
        <p:spPr>
          <a:xfrm>
            <a:off x="6027533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sample_40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15202B-A24D-9677-35AC-372CB5206926}"/>
              </a:ext>
            </a:extLst>
          </p:cNvPr>
          <p:cNvSpPr txBox="1"/>
          <p:nvPr/>
        </p:nvSpPr>
        <p:spPr>
          <a:xfrm>
            <a:off x="7828350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sample_50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EAF8C21-B863-265A-4AC7-21A93EBACEE1}"/>
              </a:ext>
            </a:extLst>
          </p:cNvPr>
          <p:cNvSpPr txBox="1"/>
          <p:nvPr/>
        </p:nvSpPr>
        <p:spPr>
          <a:xfrm>
            <a:off x="9647219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9877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7709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BCF049-1DDC-B3E7-A02A-C31325830F66}"/>
              </a:ext>
            </a:extLst>
          </p:cNvPr>
          <p:cNvSpPr txBox="1"/>
          <p:nvPr/>
        </p:nvSpPr>
        <p:spPr>
          <a:xfrm>
            <a:off x="593747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sample_70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626226-6DEB-879F-3837-CEBF2B680D63}"/>
              </a:ext>
            </a:extLst>
          </p:cNvPr>
          <p:cNvSpPr txBox="1"/>
          <p:nvPr/>
        </p:nvSpPr>
        <p:spPr>
          <a:xfrm>
            <a:off x="2349116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sample_80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C1E4BB-6D03-3F09-60A8-1339DF42CBB9}"/>
              </a:ext>
            </a:extLst>
          </p:cNvPr>
          <p:cNvSpPr txBox="1"/>
          <p:nvPr/>
        </p:nvSpPr>
        <p:spPr>
          <a:xfrm>
            <a:off x="4188324" y="1248220"/>
            <a:ext cx="152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sample_90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4A7F48-EF69-87F0-8F16-77CF673FBB0C}"/>
              </a:ext>
            </a:extLst>
          </p:cNvPr>
          <p:cNvSpPr txBox="1"/>
          <p:nvPr/>
        </p:nvSpPr>
        <p:spPr>
          <a:xfrm>
            <a:off x="6027533" y="1248220"/>
            <a:ext cx="1655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sample_100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15202B-A24D-9677-35AC-372CB5206926}"/>
              </a:ext>
            </a:extLst>
          </p:cNvPr>
          <p:cNvSpPr txBox="1"/>
          <p:nvPr/>
        </p:nvSpPr>
        <p:spPr>
          <a:xfrm>
            <a:off x="7828350" y="1248220"/>
            <a:ext cx="1588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sample_110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EAF8C21-B863-265A-4AC7-21A93EBACEE1}"/>
              </a:ext>
            </a:extLst>
          </p:cNvPr>
          <p:cNvSpPr txBox="1"/>
          <p:nvPr/>
        </p:nvSpPr>
        <p:spPr>
          <a:xfrm>
            <a:off x="9647219" y="1248220"/>
            <a:ext cx="1655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sample_120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85AD9B-DCFB-7843-2820-13BC1C6AF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35" y="1705549"/>
            <a:ext cx="939613" cy="4669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3008CE-81CC-7784-686D-851C6AEFD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3658" y="1705546"/>
            <a:ext cx="939613" cy="46691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BAD2561-60D1-830E-25FF-BFDA4C183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491" y="1725470"/>
            <a:ext cx="935604" cy="46492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9B2B36-1EE6-1B54-5ADB-5A9E5AEE44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803" y="1725470"/>
            <a:ext cx="935604" cy="464923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5A33654-64BB-36EB-B569-FE5B77E6F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4735" y="1725470"/>
            <a:ext cx="935604" cy="464923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AE8E5FE-32CA-6097-9A28-55B0C820C8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5635" y="1748483"/>
            <a:ext cx="930973" cy="462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42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图像恢复：量化指标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B49552-BC5F-B109-FCE6-3EA76D65F0D4}"/>
              </a:ext>
            </a:extLst>
          </p:cNvPr>
          <p:cNvSpPr txBox="1"/>
          <p:nvPr/>
        </p:nvSpPr>
        <p:spPr>
          <a:xfrm>
            <a:off x="695323" y="1773010"/>
            <a:ext cx="9706744" cy="337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effectLst/>
                <a:latin typeface="-apple-system"/>
              </a:rPr>
              <a:t>MAE</a:t>
            </a:r>
            <a:r>
              <a:rPr lang="zh-CN" altLang="en-US" b="1" dirty="0">
                <a:effectLst/>
                <a:latin typeface="-apple-system"/>
              </a:rPr>
              <a:t>（平均绝对误差）​：</a:t>
            </a:r>
            <a:r>
              <a:rPr lang="zh-CN" altLang="en-US" b="0" i="0" dirty="0">
                <a:effectLst/>
                <a:latin typeface="-apple-system"/>
              </a:rPr>
              <a:t>计算预测图像与目标图像像素级误差的绝对平均值</a:t>
            </a:r>
            <a:r>
              <a:rPr lang="zh-CN" altLang="en-US" dirty="0">
                <a:latin typeface="-apple-system"/>
              </a:rPr>
              <a:t>。</a:t>
            </a:r>
            <a:r>
              <a:rPr lang="zh-CN" altLang="en-US" b="1" i="0" dirty="0">
                <a:effectLst/>
                <a:latin typeface="-apple-system"/>
              </a:rPr>
              <a:t>越低越好</a:t>
            </a:r>
            <a:r>
              <a:rPr lang="zh-CN" altLang="en-US" b="0" i="0" dirty="0">
                <a:effectLst/>
                <a:latin typeface="-apple-system"/>
              </a:rPr>
              <a:t>​</a:t>
            </a:r>
            <a:endParaRPr lang="en-US" altLang="zh-CN" b="1" dirty="0">
              <a:effectLst/>
              <a:latin typeface="-apple-system"/>
            </a:endParaRPr>
          </a:p>
          <a:p>
            <a:pPr algn="l" fontAlgn="base">
              <a:lnSpc>
                <a:spcPct val="150000"/>
              </a:lnSpc>
            </a:pPr>
            <a:endParaRPr lang="en-US" altLang="zh-CN" b="1" dirty="0">
              <a:latin typeface="-apple-system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b="1" dirty="0">
                <a:effectLst/>
                <a:latin typeface="-apple-system"/>
              </a:rPr>
              <a:t>PSNR</a:t>
            </a:r>
            <a:r>
              <a:rPr lang="zh-CN" altLang="en-US" b="1" dirty="0">
                <a:effectLst/>
                <a:latin typeface="-apple-system"/>
              </a:rPr>
              <a:t>（峰值信噪比）：</a:t>
            </a:r>
            <a:r>
              <a:rPr lang="zh-CN" altLang="en-US" dirty="0">
                <a:latin typeface="-apple-system"/>
              </a:rPr>
              <a:t>通过均方误差计算信噪比。</a:t>
            </a:r>
            <a:r>
              <a:rPr lang="zh-CN" altLang="en-US" b="1" i="0" dirty="0">
                <a:effectLst/>
                <a:latin typeface="-apple-system"/>
              </a:rPr>
              <a:t>越高越好</a:t>
            </a:r>
            <a:r>
              <a:rPr lang="zh-CN" altLang="en-US" b="0" i="0" dirty="0">
                <a:effectLst/>
                <a:latin typeface="-apple-system"/>
              </a:rPr>
              <a:t>​</a:t>
            </a:r>
            <a:endParaRPr lang="zh-CN" altLang="en-US" dirty="0">
              <a:latin typeface="-apple-system"/>
            </a:endParaRPr>
          </a:p>
          <a:p>
            <a:pPr algn="l" fontAlgn="base">
              <a:lnSpc>
                <a:spcPct val="150000"/>
              </a:lnSpc>
            </a:pPr>
            <a:endParaRPr lang="en-US" altLang="zh-CN" dirty="0">
              <a:latin typeface="-apple-system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b="1" dirty="0">
                <a:effectLst/>
                <a:latin typeface="-apple-system"/>
              </a:rPr>
              <a:t>SSIM</a:t>
            </a:r>
            <a:r>
              <a:rPr lang="zh-CN" altLang="en-US" b="1" dirty="0">
                <a:effectLst/>
                <a:latin typeface="-apple-system"/>
              </a:rPr>
              <a:t>（结构相似性指数）：</a:t>
            </a:r>
            <a:r>
              <a:rPr lang="zh-CN" altLang="en-US" b="0" i="0" dirty="0">
                <a:effectLst/>
                <a:latin typeface="-apple-system"/>
              </a:rPr>
              <a:t>通过亮度、对比度、结构三个分量评估图像相似性。</a:t>
            </a:r>
            <a:r>
              <a:rPr lang="zh-CN" altLang="en-US" b="1" i="0" dirty="0">
                <a:effectLst/>
                <a:latin typeface="-apple-system"/>
              </a:rPr>
              <a:t>越高越好</a:t>
            </a:r>
            <a:r>
              <a:rPr lang="zh-CN" altLang="en-US" b="0" i="0" dirty="0">
                <a:effectLst/>
                <a:latin typeface="-apple-system"/>
              </a:rPr>
              <a:t>​</a:t>
            </a:r>
            <a:endParaRPr lang="zh-CN" altLang="en-US" b="1" dirty="0">
              <a:effectLst/>
            </a:endParaRPr>
          </a:p>
          <a:p>
            <a:pPr algn="l" fontAlgn="base">
              <a:lnSpc>
                <a:spcPct val="150000"/>
              </a:lnSpc>
            </a:pPr>
            <a:endParaRPr lang="en-US" altLang="zh-CN" b="1" dirty="0">
              <a:latin typeface="-apple-system"/>
            </a:endParaRPr>
          </a:p>
          <a:p>
            <a:pPr fontAlgn="base">
              <a:lnSpc>
                <a:spcPct val="150000"/>
              </a:lnSpc>
            </a:pPr>
            <a:r>
              <a:rPr lang="zh-CN" altLang="en-US" b="1" dirty="0">
                <a:effectLst/>
                <a:latin typeface="-apple-system"/>
              </a:rPr>
              <a:t> </a:t>
            </a:r>
            <a:r>
              <a:rPr lang="en-US" altLang="zh-CN" b="1" dirty="0">
                <a:effectLst/>
                <a:latin typeface="-apple-system"/>
              </a:rPr>
              <a:t>LPIPS</a:t>
            </a:r>
            <a:r>
              <a:rPr lang="zh-CN" altLang="en-US" b="1" dirty="0">
                <a:effectLst/>
                <a:latin typeface="-apple-system"/>
              </a:rPr>
              <a:t>（学习感知相似度）​：</a:t>
            </a:r>
            <a:r>
              <a:rPr lang="zh-CN" altLang="en-US" b="0" i="0" dirty="0">
                <a:effectLst/>
                <a:latin typeface="-apple-system"/>
              </a:rPr>
              <a:t>基于深度特征的感知相似度度量，使用预训练</a:t>
            </a:r>
            <a:r>
              <a:rPr lang="en-US" altLang="zh-CN" b="0" i="0" dirty="0">
                <a:effectLst/>
                <a:latin typeface="-apple-system"/>
              </a:rPr>
              <a:t>CNN</a:t>
            </a:r>
            <a:r>
              <a:rPr lang="zh-CN" altLang="en-US" b="0" i="0" dirty="0">
                <a:effectLst/>
                <a:latin typeface="-apple-system"/>
              </a:rPr>
              <a:t>（如</a:t>
            </a:r>
            <a:r>
              <a:rPr lang="en-US" altLang="zh-CN" b="0" i="0" dirty="0" err="1">
                <a:effectLst/>
                <a:latin typeface="-apple-system"/>
              </a:rPr>
              <a:t>AlexNet</a:t>
            </a:r>
            <a:r>
              <a:rPr lang="en-US" altLang="zh-CN" b="0" i="0" dirty="0">
                <a:effectLst/>
                <a:latin typeface="-apple-system"/>
              </a:rPr>
              <a:t>/VGG</a:t>
            </a:r>
            <a:r>
              <a:rPr lang="zh-CN" altLang="en-US" b="0" i="0" dirty="0">
                <a:effectLst/>
                <a:latin typeface="-apple-system"/>
              </a:rPr>
              <a:t>）提取多层级特征，量化人眼对</a:t>
            </a:r>
            <a:r>
              <a:rPr lang="en-US" altLang="zh-CN" b="0" i="0" dirty="0">
                <a:effectLst/>
                <a:latin typeface="-apple-system"/>
              </a:rPr>
              <a:t>“</a:t>
            </a:r>
            <a:r>
              <a:rPr lang="zh-CN" altLang="en-US" b="0" i="0" dirty="0">
                <a:effectLst/>
                <a:latin typeface="-apple-system"/>
              </a:rPr>
              <a:t>内容一致性</a:t>
            </a:r>
            <a:r>
              <a:rPr lang="en-US" altLang="zh-CN" b="0" i="0" dirty="0">
                <a:effectLst/>
                <a:latin typeface="-apple-system"/>
              </a:rPr>
              <a:t>”</a:t>
            </a:r>
            <a:r>
              <a:rPr lang="zh-CN" altLang="en-US" b="0" i="0" dirty="0">
                <a:effectLst/>
                <a:latin typeface="-apple-system"/>
              </a:rPr>
              <a:t>的感知</a:t>
            </a:r>
            <a:r>
              <a:rPr lang="zh-CN" altLang="en-US" dirty="0">
                <a:latin typeface="-apple-system"/>
              </a:rPr>
              <a:t>。</a:t>
            </a:r>
            <a:r>
              <a:rPr lang="zh-CN" altLang="en-US" b="1" i="0" dirty="0">
                <a:effectLst/>
                <a:latin typeface="-apple-system"/>
              </a:rPr>
              <a:t>越低越好</a:t>
            </a:r>
            <a:r>
              <a:rPr lang="zh-CN" altLang="en-US" b="0" i="0" dirty="0">
                <a:effectLst/>
                <a:latin typeface="-apple-system"/>
              </a:rPr>
              <a:t>​</a:t>
            </a:r>
            <a:endParaRPr lang="zh-CN" alt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3127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结果对比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4" y="10635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图像恢复：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3B3F3A-DDAD-38C8-6CFA-D5F53A9D0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081" y="945897"/>
            <a:ext cx="8282793" cy="27054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84E5C7-E839-1D2E-3F5B-BE43D373AC46}"/>
              </a:ext>
            </a:extLst>
          </p:cNvPr>
          <p:cNvSpPr txBox="1"/>
          <p:nvPr/>
        </p:nvSpPr>
        <p:spPr>
          <a:xfrm>
            <a:off x="695324" y="4073537"/>
            <a:ext cx="708628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24292E"/>
                </a:solidFill>
                <a:effectLst/>
                <a:latin typeface="+mn-ea"/>
              </a:rPr>
              <a:t>在</a:t>
            </a:r>
            <a:r>
              <a:rPr lang="en-US" altLang="zh-CN" b="0" dirty="0">
                <a:solidFill>
                  <a:srgbClr val="24292E"/>
                </a:solidFill>
                <a:effectLst/>
                <a:latin typeface="+mn-ea"/>
              </a:rPr>
              <a:t>100</a:t>
            </a:r>
            <a:r>
              <a:rPr lang="zh-CN" altLang="en-US" b="0" dirty="0">
                <a:solidFill>
                  <a:srgbClr val="24292E"/>
                </a:solidFill>
                <a:effectLst/>
                <a:latin typeface="+mn-ea"/>
              </a:rPr>
              <a:t>张图片组成的测试集上进行测试</a:t>
            </a:r>
            <a:endParaRPr lang="en-US" altLang="zh-CN" b="0" dirty="0">
              <a:solidFill>
                <a:srgbClr val="24292E"/>
              </a:solidFill>
              <a:effectLst/>
              <a:latin typeface="+mn-ea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==================================================</a:t>
            </a:r>
          </a:p>
          <a:p>
            <a:r>
              <a:rPr lang="zh-CN" alt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量化评估结果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==================================================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MAE (Mean Absolute </a:t>
            </a:r>
            <a:r>
              <a:rPr lang="en-US" altLang="zh-CN" sz="16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021880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PSNR (Peak Signal to Noise Ratio): 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4816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dB</a:t>
            </a: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SSIM (Structural Similarity Index): 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964223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LPIPS (Learned Perceptual Image Patch Similarity): 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041843</a:t>
            </a:r>
            <a:endParaRPr lang="en-US" altLang="zh-CN" sz="16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233766-8E93-9D78-D315-25EABC959AF6}"/>
              </a:ext>
            </a:extLst>
          </p:cNvPr>
          <p:cNvSpPr txBox="1"/>
          <p:nvPr/>
        </p:nvSpPr>
        <p:spPr>
          <a:xfrm>
            <a:off x="7517717" y="4285380"/>
            <a:ext cx="3669373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由于</a:t>
            </a:r>
            <a:r>
              <a:rPr lang="en-US" altLang="zh-CN" sz="1800" dirty="0"/>
              <a:t>batchsize</a:t>
            </a:r>
            <a:r>
              <a:rPr lang="zh-CN" altLang="en-US" sz="1800" dirty="0"/>
              <a:t>保持了不变，</a:t>
            </a:r>
            <a:r>
              <a:rPr lang="zh-CN" altLang="en-US" dirty="0"/>
              <a:t>只减少了</a:t>
            </a:r>
            <a:r>
              <a:rPr lang="zh-CN" altLang="en-US" sz="1800" dirty="0"/>
              <a:t>训练轮数，除了</a:t>
            </a:r>
            <a:r>
              <a:rPr lang="en-US" altLang="zh-CN" sz="1800" dirty="0"/>
              <a:t>MAE</a:t>
            </a:r>
            <a:r>
              <a:rPr lang="zh-CN" altLang="en-US" sz="1800" dirty="0"/>
              <a:t>项以外，和论文结果有差异较小。效果较好</a:t>
            </a:r>
          </a:p>
        </p:txBody>
      </p:sp>
    </p:spTree>
    <p:extLst>
      <p:ext uri="{BB962C8B-B14F-4D97-AF65-F5344CB8AC3E}">
        <p14:creationId xmlns:p14="http://schemas.microsoft.com/office/powerpoint/2010/main" val="2149719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5	</a:t>
            </a:r>
            <a:r>
              <a:rPr lang="zh-CN" altLang="en-US" sz="6000" b="1" dirty="0">
                <a:solidFill>
                  <a:schemeClr val="bg1"/>
                </a:solidFill>
              </a:rPr>
              <a:t>改进点</a:t>
            </a:r>
          </a:p>
          <a:p>
            <a:pPr algn="ctr"/>
            <a:endParaRPr lang="zh-CN" altLang="en-US" sz="6000" b="1" dirty="0">
              <a:solidFill>
                <a:schemeClr val="bg1"/>
              </a:solidFill>
            </a:endParaRP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2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改进点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485CC3-B25D-C2E2-EDA5-7C59DBB71CC4}"/>
              </a:ext>
            </a:extLst>
          </p:cNvPr>
          <p:cNvSpPr txBox="1"/>
          <p:nvPr/>
        </p:nvSpPr>
        <p:spPr>
          <a:xfrm>
            <a:off x="695323" y="1063554"/>
            <a:ext cx="9749703" cy="4308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编写脚本 </a:t>
            </a:r>
            <a:r>
              <a:rPr lang="en-US" altLang="zh-CN" sz="2000" dirty="0">
                <a:latin typeface="+mn-ea"/>
              </a:rPr>
              <a:t>install_all_packages.sh</a:t>
            </a:r>
            <a:r>
              <a:rPr lang="zh-CN" altLang="en-US" sz="2000" dirty="0">
                <a:latin typeface="+mn-ea"/>
              </a:rPr>
              <a:t>，便于安装环境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编写脚本 </a:t>
            </a:r>
            <a:r>
              <a:rPr lang="en-US" altLang="zh-CN" sz="2000" dirty="0">
                <a:latin typeface="+mn-ea"/>
              </a:rPr>
              <a:t>run_test.sh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stop_test.sh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monitor_test.sh</a:t>
            </a:r>
            <a:r>
              <a:rPr lang="zh-CN" altLang="en-US" sz="2000" dirty="0">
                <a:latin typeface="+mn-ea"/>
              </a:rPr>
              <a:t>等脚本，便于在后台训练，核心是使用</a:t>
            </a:r>
            <a:r>
              <a:rPr lang="en-US" altLang="zh-CN" sz="2000" dirty="0" err="1">
                <a:latin typeface="+mn-ea"/>
              </a:rPr>
              <a:t>nohup</a:t>
            </a:r>
            <a:r>
              <a:rPr lang="zh-CN" altLang="en-US" sz="2000" dirty="0">
                <a:latin typeface="+mn-ea"/>
              </a:rPr>
              <a:t>命令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修改训练函数使其可以输出</a:t>
            </a:r>
            <a:r>
              <a:rPr lang="en-US" altLang="zh-CN" sz="2000" dirty="0">
                <a:latin typeface="+mn-ea"/>
              </a:rPr>
              <a:t>loss</a:t>
            </a:r>
            <a:r>
              <a:rPr lang="zh-CN" altLang="en-US" sz="2000" dirty="0">
                <a:latin typeface="+mn-ea"/>
              </a:rPr>
              <a:t>，使得可以输出</a:t>
            </a:r>
            <a:r>
              <a:rPr lang="en-US" altLang="zh-CN" sz="2000" dirty="0">
                <a:latin typeface="+mn-ea"/>
              </a:rPr>
              <a:t>loss</a:t>
            </a:r>
            <a:r>
              <a:rPr lang="zh-CN" altLang="en-US" sz="2000" dirty="0">
                <a:latin typeface="+mn-ea"/>
              </a:rPr>
              <a:t>，并使用</a:t>
            </a:r>
            <a:r>
              <a:rPr lang="en-US" altLang="zh-CN" sz="2000" dirty="0">
                <a:latin typeface="+mn-ea"/>
              </a:rPr>
              <a:t>matplotlib</a:t>
            </a:r>
            <a:r>
              <a:rPr lang="zh-CN" altLang="en-US" sz="2000" dirty="0">
                <a:latin typeface="+mn-ea"/>
              </a:rPr>
              <a:t>绘制</a:t>
            </a:r>
            <a:r>
              <a:rPr lang="en-US" altLang="zh-CN" sz="2000" dirty="0">
                <a:latin typeface="+mn-ea"/>
              </a:rPr>
              <a:t>loss</a:t>
            </a:r>
            <a:r>
              <a:rPr lang="zh-CN" altLang="en-US" sz="2000" dirty="0">
                <a:latin typeface="+mn-ea"/>
              </a:rPr>
              <a:t>的变化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</a:rPr>
              <a:t>原来的评估指标计算使用</a:t>
            </a:r>
            <a:r>
              <a:rPr lang="en-US" altLang="zh-CN" sz="2000" dirty="0" err="1">
                <a:latin typeface="+mn-ea"/>
              </a:rPr>
              <a:t>matlab</a:t>
            </a:r>
            <a:r>
              <a:rPr lang="zh-CN" altLang="en-US" sz="2000" dirty="0">
                <a:latin typeface="+mn-ea"/>
              </a:rPr>
              <a:t>编写，将其用</a:t>
            </a:r>
            <a:r>
              <a:rPr lang="en-US" altLang="zh-CN" sz="2000" dirty="0">
                <a:latin typeface="+mn-ea"/>
              </a:rPr>
              <a:t>python</a:t>
            </a:r>
            <a:r>
              <a:rPr lang="zh-CN" altLang="en-US" sz="2000" dirty="0">
                <a:latin typeface="+mn-ea"/>
              </a:rPr>
              <a:t>转写便于在服务器上进行计算。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3741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5987" y="2828463"/>
            <a:ext cx="10801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PART 6	</a:t>
            </a:r>
            <a:r>
              <a:rPr lang="zh-CN" altLang="en-US" sz="6000" b="1" dirty="0">
                <a:solidFill>
                  <a:schemeClr val="bg1"/>
                </a:solidFill>
              </a:rPr>
              <a:t>总结与展望</a:t>
            </a:r>
          </a:p>
          <a:p>
            <a:pPr algn="ctr"/>
            <a:endParaRPr lang="zh-CN" altLang="en-US" sz="6000" b="1" dirty="0">
              <a:solidFill>
                <a:schemeClr val="bg1"/>
              </a:solidFill>
            </a:endParaRPr>
          </a:p>
          <a:p>
            <a:pPr algn="ctr"/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总结与展望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76612C5F-4760-4C59-A3A0-71E30C72EF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0561" b="-400"/>
          <a:stretch/>
        </p:blipFill>
        <p:spPr>
          <a:xfrm>
            <a:off x="10491122" y="56223"/>
            <a:ext cx="1391938" cy="13766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ADB45C-583F-1B8C-9DE2-8209AD13D170}"/>
              </a:ext>
            </a:extLst>
          </p:cNvPr>
          <p:cNvSpPr txBox="1"/>
          <p:nvPr/>
        </p:nvSpPr>
        <p:spPr>
          <a:xfrm>
            <a:off x="1000316" y="1153740"/>
            <a:ext cx="82111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总结：</a:t>
            </a:r>
            <a:endParaRPr lang="en-US" altLang="zh-CN" sz="2400" b="1" dirty="0"/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本复现研究成功实现了残差去噪扩散模型（</a:t>
            </a:r>
            <a:r>
              <a:rPr lang="en-US" altLang="zh-CN" sz="2000" dirty="0"/>
              <a:t>RDDM</a:t>
            </a:r>
            <a:r>
              <a:rPr lang="zh-CN" altLang="en-US" sz="2000" dirty="0"/>
              <a:t>）在图像生成与恢复任务上的训练与测试全流程。</a:t>
            </a:r>
            <a:r>
              <a:rPr lang="en-US" altLang="zh-CN" sz="2000" dirty="0"/>
              <a:t> diffusion model </a:t>
            </a:r>
            <a:r>
              <a:rPr lang="zh-CN" altLang="en-US" sz="2000" dirty="0"/>
              <a:t>需要比较多资源。在受限资源条件下，模型仍能保持基础生成能力。说明了</a:t>
            </a:r>
            <a:r>
              <a:rPr lang="en-US" altLang="zh-CN" sz="2000" dirty="0"/>
              <a:t>RDDM</a:t>
            </a:r>
            <a:r>
              <a:rPr lang="zh-CN" altLang="en-US" sz="2000" dirty="0"/>
              <a:t>的能力。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400" b="1" dirty="0"/>
              <a:t>展望：</a:t>
            </a:r>
            <a:endParaRPr lang="en-US" altLang="zh-CN" sz="2400" b="1" dirty="0"/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作者称该模型在不同任务不同数据集上的泛化能力都较强，可以更多的测试这一说法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由于算力限制减少了训练轮数和</a:t>
            </a:r>
            <a:r>
              <a:rPr lang="en-US" altLang="zh-CN" sz="2000" dirty="0"/>
              <a:t>batchsize</a:t>
            </a:r>
            <a:r>
              <a:rPr lang="zh-CN" altLang="en-US" sz="2000" dirty="0"/>
              <a:t>，如果算力充足可以进行进一步测试</a:t>
            </a:r>
          </a:p>
        </p:txBody>
      </p:sp>
    </p:spTree>
    <p:extLst>
      <p:ext uri="{BB962C8B-B14F-4D97-AF65-F5344CB8AC3E}">
        <p14:creationId xmlns:p14="http://schemas.microsoft.com/office/powerpoint/2010/main" val="139006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4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5326" y="2705725"/>
            <a:ext cx="108013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</a:rPr>
              <a:t>THANKS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2035DB8B-A189-402E-B7E8-4FA6186A5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561" b="-400"/>
          <a:stretch/>
        </p:blipFill>
        <p:spPr>
          <a:xfrm>
            <a:off x="10491122" y="122553"/>
            <a:ext cx="1391938" cy="13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2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theme/theme1.xml><?xml version="1.0" encoding="utf-8"?>
<a:theme xmlns:a="http://schemas.openxmlformats.org/drawingml/2006/main" name="第一PPT，www.1ppt.com">
  <a:themeElements>
    <a:clrScheme name="工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A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1820</Words>
  <Application>Microsoft Office PowerPoint</Application>
  <PresentationFormat>宽屏</PresentationFormat>
  <Paragraphs>199</Paragraphs>
  <Slides>29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</vt:lpstr>
      <vt:lpstr>-apple-system</vt:lpstr>
      <vt:lpstr>ui-sans-serif</vt:lpstr>
      <vt:lpstr>微软雅黑</vt:lpstr>
      <vt:lpstr>Arial</vt:lpstr>
      <vt:lpstr>Calibri</vt:lpstr>
      <vt:lpstr>Consolas</vt:lpstr>
      <vt:lpstr>Times New Roman</vt:lpstr>
      <vt:lpstr>Verdana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蓝色开题报告</dc:title>
  <dc:creator>第一PPT</dc:creator>
  <cp:keywords>www.1ppt.com</cp:keywords>
  <cp:lastModifiedBy>毅 李</cp:lastModifiedBy>
  <cp:revision>422</cp:revision>
  <dcterms:created xsi:type="dcterms:W3CDTF">2015-10-24T01:57:14Z</dcterms:created>
  <dcterms:modified xsi:type="dcterms:W3CDTF">2025-06-25T05:44:24Z</dcterms:modified>
</cp:coreProperties>
</file>