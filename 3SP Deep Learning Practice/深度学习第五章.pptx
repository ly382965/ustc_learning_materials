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handoutMasterIdLst>
    <p:handoutMasterId r:id="rId94"/>
  </p:handoutMasterIdLst>
  <p:sldIdLst>
    <p:sldId id="1315" r:id="rId2"/>
    <p:sldId id="1351" r:id="rId3"/>
    <p:sldId id="1464" r:id="rId4"/>
    <p:sldId id="1466" r:id="rId5"/>
    <p:sldId id="1465" r:id="rId6"/>
    <p:sldId id="1448" r:id="rId7"/>
    <p:sldId id="1449" r:id="rId8"/>
    <p:sldId id="1450" r:id="rId9"/>
    <p:sldId id="1451" r:id="rId10"/>
    <p:sldId id="1452" r:id="rId11"/>
    <p:sldId id="1453" r:id="rId12"/>
    <p:sldId id="1454" r:id="rId13"/>
    <p:sldId id="1455" r:id="rId14"/>
    <p:sldId id="1456" r:id="rId15"/>
    <p:sldId id="1482" r:id="rId16"/>
    <p:sldId id="1484" r:id="rId17"/>
    <p:sldId id="1485" r:id="rId18"/>
    <p:sldId id="1486" r:id="rId19"/>
    <p:sldId id="1487" r:id="rId20"/>
    <p:sldId id="1489" r:id="rId21"/>
    <p:sldId id="1491" r:id="rId22"/>
    <p:sldId id="1490" r:id="rId23"/>
    <p:sldId id="1492" r:id="rId24"/>
    <p:sldId id="1494" r:id="rId25"/>
    <p:sldId id="1495" r:id="rId26"/>
    <p:sldId id="1459" r:id="rId27"/>
    <p:sldId id="1458" r:id="rId28"/>
    <p:sldId id="1460" r:id="rId29"/>
    <p:sldId id="1461" r:id="rId30"/>
    <p:sldId id="1462" r:id="rId31"/>
    <p:sldId id="1496" r:id="rId32"/>
    <p:sldId id="1463" r:id="rId33"/>
    <p:sldId id="1476" r:id="rId34"/>
    <p:sldId id="1477" r:id="rId35"/>
    <p:sldId id="1478" r:id="rId36"/>
    <p:sldId id="1479" r:id="rId37"/>
    <p:sldId id="1481" r:id="rId38"/>
    <p:sldId id="1499" r:id="rId39"/>
    <p:sldId id="1500" r:id="rId40"/>
    <p:sldId id="1497" r:id="rId41"/>
    <p:sldId id="1501" r:id="rId42"/>
    <p:sldId id="1498" r:id="rId43"/>
    <p:sldId id="1502" r:id="rId44"/>
    <p:sldId id="1503" r:id="rId45"/>
    <p:sldId id="1504" r:id="rId46"/>
    <p:sldId id="1505" r:id="rId47"/>
    <p:sldId id="1507" r:id="rId48"/>
    <p:sldId id="1508" r:id="rId49"/>
    <p:sldId id="1509" r:id="rId50"/>
    <p:sldId id="1511" r:id="rId51"/>
    <p:sldId id="1510" r:id="rId52"/>
    <p:sldId id="1512" r:id="rId53"/>
    <p:sldId id="1513" r:id="rId54"/>
    <p:sldId id="1514" r:id="rId55"/>
    <p:sldId id="1515" r:id="rId56"/>
    <p:sldId id="1516" r:id="rId57"/>
    <p:sldId id="1518" r:id="rId58"/>
    <p:sldId id="1521" r:id="rId59"/>
    <p:sldId id="1519" r:id="rId60"/>
    <p:sldId id="1520" r:id="rId61"/>
    <p:sldId id="1522" r:id="rId62"/>
    <p:sldId id="1523" r:id="rId63"/>
    <p:sldId id="1524" r:id="rId64"/>
    <p:sldId id="1525" r:id="rId65"/>
    <p:sldId id="1526" r:id="rId66"/>
    <p:sldId id="1527" r:id="rId67"/>
    <p:sldId id="1528" r:id="rId68"/>
    <p:sldId id="1529" r:id="rId69"/>
    <p:sldId id="1530" r:id="rId70"/>
    <p:sldId id="1531" r:id="rId71"/>
    <p:sldId id="1532" r:id="rId72"/>
    <p:sldId id="1533" r:id="rId73"/>
    <p:sldId id="1534" r:id="rId74"/>
    <p:sldId id="1535" r:id="rId75"/>
    <p:sldId id="1536" r:id="rId76"/>
    <p:sldId id="1537" r:id="rId77"/>
    <p:sldId id="1538" r:id="rId78"/>
    <p:sldId id="1541" r:id="rId79"/>
    <p:sldId id="1539" r:id="rId80"/>
    <p:sldId id="1542" r:id="rId81"/>
    <p:sldId id="1540" r:id="rId82"/>
    <p:sldId id="1543" r:id="rId83"/>
    <p:sldId id="1544" r:id="rId84"/>
    <p:sldId id="1545" r:id="rId85"/>
    <p:sldId id="1546" r:id="rId86"/>
    <p:sldId id="1547" r:id="rId87"/>
    <p:sldId id="1548" r:id="rId88"/>
    <p:sldId id="1549" r:id="rId89"/>
    <p:sldId id="1550" r:id="rId90"/>
    <p:sldId id="1551" r:id="rId91"/>
    <p:sldId id="1552" r:id="rId92"/>
  </p:sldIdLst>
  <p:sldSz cx="12192000" cy="6858000"/>
  <p:notesSz cx="6858000" cy="9144000"/>
  <p:custDataLst>
    <p:tags r:id="rId95"/>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09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19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438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30480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36576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42672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48768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1" userDrawn="1">
          <p15:clr>
            <a:srgbClr val="A4A3A4"/>
          </p15:clr>
        </p15:guide>
        <p15:guide id="2" pos="120" userDrawn="1">
          <p15:clr>
            <a:srgbClr val="A4A3A4"/>
          </p15:clr>
        </p15:guide>
        <p15:guide id="3" pos="529" userDrawn="1">
          <p15:clr>
            <a:srgbClr val="A4A3A4"/>
          </p15:clr>
        </p15:guide>
        <p15:guide id="4"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ECD"/>
    <a:srgbClr val="5285A8"/>
    <a:srgbClr val="BADCEE"/>
    <a:srgbClr val="E4EFDB"/>
    <a:srgbClr val="61B66D"/>
    <a:srgbClr val="F7E6D7"/>
    <a:srgbClr val="E3935C"/>
    <a:srgbClr val="9276A4"/>
    <a:srgbClr val="99AFD2"/>
    <a:srgbClr val="DDE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61" autoAdjust="0"/>
    <p:restoredTop sz="85838" autoAdjust="0"/>
  </p:normalViewPr>
  <p:slideViewPr>
    <p:cSldViewPr showGuides="1">
      <p:cViewPr varScale="1">
        <p:scale>
          <a:sx n="132" d="100"/>
          <a:sy n="132" d="100"/>
        </p:scale>
        <p:origin x="1290" y="120"/>
      </p:cViewPr>
      <p:guideLst>
        <p:guide orient="horz" pos="2151"/>
        <p:guide pos="120"/>
        <p:guide pos="529"/>
        <p:guide pos="3834"/>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gs" Target="tags/tag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2025/4/22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3B58EF-4ABD-40F4-ACA4-FE81D742E6DD}" type="datetimeFigureOut">
              <a:rPr lang="zh-CN" altLang="en-US" smtClean="0"/>
              <a:t>2025/4/22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1FC198-2D83-4DFC-8CDD-7D23AF44D41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b="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7F7507C5-9851-4EF6-82C9-5647805156C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D2CC5073-A55C-4F3C-8D7B-130473455D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节标题">
    <p:spTree>
      <p:nvGrpSpPr>
        <p:cNvPr id="1" name=""/>
        <p:cNvGrpSpPr/>
        <p:nvPr/>
      </p:nvGrpSpPr>
      <p:grpSpPr>
        <a:xfrm>
          <a:off x="0" y="0"/>
          <a:ext cx="0" cy="0"/>
          <a:chOff x="0" y="0"/>
          <a:chExt cx="0" cy="0"/>
        </a:xfrm>
      </p:grpSpPr>
      <p:sp>
        <p:nvSpPr>
          <p:cNvPr id="14" name="Freeform 6"/>
          <p:cNvSpPr/>
          <p:nvPr userDrawn="1"/>
        </p:nvSpPr>
        <p:spPr bwMode="auto">
          <a:xfrm>
            <a:off x="279400" y="266568"/>
            <a:ext cx="11899901" cy="474133"/>
          </a:xfrm>
          <a:custGeom>
            <a:avLst/>
            <a:gdLst>
              <a:gd name="T0" fmla="*/ 1060 w 24841"/>
              <a:gd name="T1" fmla="*/ 988 h 988"/>
              <a:gd name="T2" fmla="*/ 732 w 24841"/>
              <a:gd name="T3" fmla="*/ 988 h 988"/>
              <a:gd name="T4" fmla="*/ 0 w 24841"/>
              <a:gd name="T5" fmla="*/ 0 h 988"/>
              <a:gd name="T6" fmla="*/ 323 w 24841"/>
              <a:gd name="T7" fmla="*/ 0 h 988"/>
              <a:gd name="T8" fmla="*/ 998 w 24841"/>
              <a:gd name="T9" fmla="*/ 922 h 988"/>
              <a:gd name="T10" fmla="*/ 24841 w 24841"/>
              <a:gd name="T11" fmla="*/ 922 h 988"/>
              <a:gd name="T12" fmla="*/ 24841 w 24841"/>
              <a:gd name="T13" fmla="*/ 988 h 988"/>
              <a:gd name="T14" fmla="*/ 1060 w 24841"/>
              <a:gd name="T15" fmla="*/ 988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41" h="988">
                <a:moveTo>
                  <a:pt x="1060" y="988"/>
                </a:moveTo>
                <a:lnTo>
                  <a:pt x="732" y="988"/>
                </a:lnTo>
                <a:lnTo>
                  <a:pt x="0" y="0"/>
                </a:lnTo>
                <a:lnTo>
                  <a:pt x="323" y="0"/>
                </a:lnTo>
                <a:lnTo>
                  <a:pt x="998" y="922"/>
                </a:lnTo>
                <a:lnTo>
                  <a:pt x="24841" y="922"/>
                </a:lnTo>
                <a:lnTo>
                  <a:pt x="24841" y="988"/>
                </a:lnTo>
                <a:lnTo>
                  <a:pt x="1060" y="988"/>
                </a:lnTo>
                <a:close/>
              </a:path>
            </a:pathLst>
          </a:custGeom>
          <a:solidFill>
            <a:srgbClr val="BC2431"/>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dirty="0"/>
          </a:p>
        </p:txBody>
      </p:sp>
      <p:sp>
        <p:nvSpPr>
          <p:cNvPr id="15" name="Freeform 7"/>
          <p:cNvSpPr/>
          <p:nvPr userDrawn="1"/>
        </p:nvSpPr>
        <p:spPr bwMode="auto">
          <a:xfrm>
            <a:off x="4" y="266568"/>
            <a:ext cx="573617" cy="474133"/>
          </a:xfrm>
          <a:custGeom>
            <a:avLst/>
            <a:gdLst>
              <a:gd name="T0" fmla="*/ 0 w 1197"/>
              <a:gd name="T1" fmla="*/ 0 h 988"/>
              <a:gd name="T2" fmla="*/ 469 w 1197"/>
              <a:gd name="T3" fmla="*/ 0 h 988"/>
              <a:gd name="T4" fmla="*/ 1197 w 1197"/>
              <a:gd name="T5" fmla="*/ 988 h 988"/>
              <a:gd name="T6" fmla="*/ 0 w 1197"/>
              <a:gd name="T7" fmla="*/ 988 h 988"/>
              <a:gd name="T8" fmla="*/ 0 w 1197"/>
              <a:gd name="T9" fmla="*/ 0 h 988"/>
            </a:gdLst>
            <a:ahLst/>
            <a:cxnLst>
              <a:cxn ang="0">
                <a:pos x="T0" y="T1"/>
              </a:cxn>
              <a:cxn ang="0">
                <a:pos x="T2" y="T3"/>
              </a:cxn>
              <a:cxn ang="0">
                <a:pos x="T4" y="T5"/>
              </a:cxn>
              <a:cxn ang="0">
                <a:pos x="T6" y="T7"/>
              </a:cxn>
              <a:cxn ang="0">
                <a:pos x="T8" y="T9"/>
              </a:cxn>
            </a:cxnLst>
            <a:rect l="0" t="0" r="r" b="b"/>
            <a:pathLst>
              <a:path w="1197" h="988">
                <a:moveTo>
                  <a:pt x="0" y="0"/>
                </a:moveTo>
                <a:lnTo>
                  <a:pt x="469" y="0"/>
                </a:lnTo>
                <a:lnTo>
                  <a:pt x="1197" y="988"/>
                </a:lnTo>
                <a:lnTo>
                  <a:pt x="0" y="988"/>
                </a:lnTo>
                <a:lnTo>
                  <a:pt x="0" y="0"/>
                </a:lnTo>
                <a:close/>
              </a:path>
            </a:pathLst>
          </a:custGeom>
          <a:solidFill>
            <a:srgbClr val="504F4E"/>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a:p>
        </p:txBody>
      </p:sp>
      <p:sp>
        <p:nvSpPr>
          <p:cNvPr id="19" name="TextBox 18"/>
          <p:cNvSpPr txBox="1"/>
          <p:nvPr userDrawn="1"/>
        </p:nvSpPr>
        <p:spPr>
          <a:xfrm>
            <a:off x="11280576" y="6381328"/>
            <a:ext cx="647328" cy="276999"/>
          </a:xfrm>
          <a:prstGeom prst="rect">
            <a:avLst/>
          </a:prstGeom>
          <a:noFill/>
        </p:spPr>
        <p:txBody>
          <a:bodyPr wrap="square" rtlCol="0">
            <a:spAutoFit/>
          </a:bodyPr>
          <a:lstStyle/>
          <a:p>
            <a:pPr algn="ctr"/>
            <a:fld id="{E33E7C02-82D1-42DA-AA8B-2AEC9E450366}" type="slidenum">
              <a:rPr lang="zh-CN" altLang="en-US" sz="1200" b="1" smtClean="0">
                <a:solidFill>
                  <a:schemeClr val="tx1"/>
                </a:solidFill>
                <a:latin typeface="微软雅黑" panose="020B0503020204020204" pitchFamily="34" charset="-122"/>
                <a:ea typeface="微软雅黑" panose="020B0503020204020204" pitchFamily="34" charset="-122"/>
              </a:rPr>
              <a:t>‹#›</a:t>
            </a:fld>
            <a:endParaRPr lang="zh-CN" altLang="en-US" sz="12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5" name="标题 1"/>
          <p:cNvSpPr>
            <a:spLocks noGrp="1"/>
          </p:cNvSpPr>
          <p:nvPr>
            <p:ph type="title"/>
          </p:nvPr>
        </p:nvSpPr>
        <p:spPr>
          <a:xfrm>
            <a:off x="0" y="46844"/>
            <a:ext cx="12192000" cy="663575"/>
          </a:xfrm>
        </p:spPr>
        <p:txBody>
          <a:bodyPr>
            <a:normAutofit/>
          </a:bodyPr>
          <a:lstStyle>
            <a:lvl1pPr algn="ctr">
              <a:defRPr sz="2800" b="1">
                <a:solidFill>
                  <a:schemeClr val="tx1"/>
                </a:solidFill>
                <a:latin typeface="+mn-ea"/>
                <a:ea typeface="+mn-ea"/>
              </a:defRPr>
            </a:lvl1pPr>
          </a:lstStyle>
          <a:p>
            <a:r>
              <a:rPr lang="zh-CN" altLang="en-US" dirty="0"/>
              <a:t>单击此处编辑母版标题样式</a:t>
            </a:r>
          </a:p>
        </p:txBody>
      </p:sp>
      <p:sp>
        <p:nvSpPr>
          <p:cNvPr id="2" name="日期占位符 1"/>
          <p:cNvSpPr>
            <a:spLocks noGrp="1"/>
          </p:cNvSpPr>
          <p:nvPr>
            <p:ph type="dt" sz="half" idx="10"/>
          </p:nvPr>
        </p:nvSpPr>
        <p:spPr/>
        <p:txBody>
          <a:bodyPr/>
          <a:lstStyle/>
          <a:p>
            <a:pPr>
              <a:defRPr/>
            </a:pPr>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AC6EAE7-8652-497A-B0B9-2516C5BD65FF}" type="slidenum">
              <a:rPr lang="zh-CN" altLang="en-US" smtClean="0"/>
              <a:t>‹#›</a:t>
            </a:fld>
            <a:endParaRPr lang="zh-CN" altLang="en-US"/>
          </a:p>
        </p:txBody>
      </p:sp>
      <p:pic>
        <p:nvPicPr>
          <p:cNvPr id="7" name="图片 6"/>
          <p:cNvPicPr>
            <a:picLocks noChangeAspect="1"/>
          </p:cNvPicPr>
          <p:nvPr userDrawn="1"/>
        </p:nvPicPr>
        <p:blipFill>
          <a:blip r:embed="rId6" cstate="print">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0"/>
            <a:ext cx="12192000" cy="6858000"/>
          </a:xfrm>
          <a:prstGeom prst="rect">
            <a:avLst/>
          </a:prstGeom>
          <a:gradFill flip="none" rotWithShape="1">
            <a:gsLst>
              <a:gs pos="0">
                <a:schemeClr val="bg1">
                  <a:alpha val="55000"/>
                </a:schemeClr>
              </a:gs>
              <a:gs pos="71000">
                <a:schemeClr val="bg1">
                  <a:lumMod val="9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pic>
        <p:nvPicPr>
          <p:cNvPr id="9" name="Picture 7"/>
          <p:cNvPicPr>
            <a:picLocks noChangeAspect="1"/>
          </p:cNvPicPr>
          <p:nvPr userDrawn="1"/>
        </p:nvPicPr>
        <p:blipFill rotWithShape="1">
          <a:blip r:embed="rId8" cstate="print">
            <a:duotone>
              <a:schemeClr val="accent5">
                <a:shade val="45000"/>
                <a:satMod val="135000"/>
              </a:schemeClr>
              <a:prstClr val="white"/>
            </a:duotone>
            <a:extLst>
              <a:ext uri="{28A0092B-C50C-407E-A947-70E740481C1C}">
                <a14:useLocalDpi xmlns:a14="http://schemas.microsoft.com/office/drawing/2010/main" val="0"/>
              </a:ext>
            </a:extLst>
          </a:blip>
          <a:srcRect t="7310" b="7647"/>
          <a:stretch>
            <a:fillRect/>
          </a:stretch>
        </p:blipFill>
        <p:spPr>
          <a:xfrm>
            <a:off x="3" y="0"/>
            <a:ext cx="12191999" cy="6858000"/>
          </a:xfrm>
          <a:prstGeom prst="rect">
            <a:avLst/>
          </a:prstGeom>
        </p:spPr>
      </p:pic>
      <p:pic>
        <p:nvPicPr>
          <p:cNvPr id="10" name="图片 9"/>
          <p:cNvPicPr>
            <a:picLocks noChangeAspect="1"/>
          </p:cNvPicPr>
          <p:nvPr userDrawn="1"/>
        </p:nvPicPr>
        <p:blipFill>
          <a:blip r:embed="rId9" cstate="print"/>
          <a:stretch>
            <a:fillRect/>
          </a:stretch>
        </p:blipFill>
        <p:spPr>
          <a:xfrm>
            <a:off x="1524" y="0"/>
            <a:ext cx="12188952"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24.GIF"/></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4.webp"/><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74.wmf"/><Relationship Id="rId4" Type="http://schemas.openxmlformats.org/officeDocument/2006/relationships/oleObject" Target="../embeddings/oleObject1.bin"/></Relationships>
</file>

<file path=ppt/slides/_rels/slide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2.png"/></Relationships>
</file>

<file path=ppt/slides/_rels/slide8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4.png"/><Relationship Id="rId4" Type="http://schemas.openxmlformats.org/officeDocument/2006/relationships/image" Target="../media/image83.pn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5.jpeg"/></Relationships>
</file>

<file path=ppt/slides/_rels/slide8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6.png"/></Relationships>
</file>

<file path=ppt/slides/_rels/slide8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7.png"/></Relationships>
</file>

<file path=ppt/slides/_rels/slide8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9.png"/><Relationship Id="rId4" Type="http://schemas.openxmlformats.org/officeDocument/2006/relationships/image" Target="../media/image88.png"/></Relationships>
</file>

<file path=ppt/slides/_rels/slide9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1591945"/>
            <a:ext cx="12192000" cy="2197735"/>
          </a:xfrm>
          <a:prstGeom prst="rect">
            <a:avLst/>
          </a:prstGeom>
          <a:solidFill>
            <a:srgbClr val="083481"/>
          </a:solidFill>
          <a:ln>
            <a:noFill/>
          </a:ln>
          <a:scene3d>
            <a:camera prst="obliqueTopRight"/>
            <a:lightRig rig="threePt" dir="t"/>
          </a:scene3d>
          <a:sp3d prstMaterial="matte">
            <a:bevelB w="0" h="0"/>
          </a:sp3d>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4" name="文本框 53"/>
          <p:cNvSpPr txBox="1">
            <a:spLocks noChangeArrowheads="1"/>
          </p:cNvSpPr>
          <p:nvPr/>
        </p:nvSpPr>
        <p:spPr bwMode="auto">
          <a:xfrm>
            <a:off x="2022062" y="1717667"/>
            <a:ext cx="8157882" cy="1077481"/>
          </a:xfrm>
          <a:prstGeom prst="rect">
            <a:avLst/>
          </a:prstGeom>
          <a:noFill/>
          <a:ln w="9525">
            <a:noFill/>
            <a:miter lim="800000"/>
          </a:ln>
        </p:spPr>
        <p:txBody>
          <a:bodyPr wrap="square" lIns="61221" tIns="30610" rIns="61221" bIns="30610" anchor="ctr" anchorCtr="0">
            <a:spAutoFit/>
          </a:bodyPr>
          <a:lstStyle/>
          <a:p>
            <a:pPr marL="0" marR="0" lvl="0" indent="0" algn="ctr" defTabSz="815975" rtl="0" eaLnBrk="1" fontAlgn="auto" latinLnBrk="0" hangingPunct="1">
              <a:lnSpc>
                <a:spcPct val="100000"/>
              </a:lnSpc>
              <a:spcBef>
                <a:spcPts val="0"/>
              </a:spcBef>
              <a:spcAft>
                <a:spcPts val="600"/>
              </a:spcAft>
              <a:buClr>
                <a:srgbClr val="C00000"/>
              </a:buClr>
              <a:buSzPct val="80000"/>
              <a:buFontTx/>
              <a:buNone/>
              <a:defRPr/>
            </a:pPr>
            <a:r>
              <a:rPr kumimoji="0" lang="zh-CN" altLang="en-AU"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深度</a:t>
            </a:r>
            <a:r>
              <a:rPr kumimoji="0" lang="zh-CN" altLang="en-US"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学习实践</a:t>
            </a:r>
          </a:p>
        </p:txBody>
      </p:sp>
      <p:sp>
        <p:nvSpPr>
          <p:cNvPr id="41" name="文本框 40"/>
          <p:cNvSpPr txBox="1"/>
          <p:nvPr/>
        </p:nvSpPr>
        <p:spPr>
          <a:xfrm>
            <a:off x="3330442" y="4149080"/>
            <a:ext cx="5531115" cy="4603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600"/>
              </a:spcAft>
              <a:buClrTx/>
              <a:buSzTx/>
              <a:buFontTx/>
              <a:buNone/>
              <a:defRPr/>
            </a:pPr>
            <a:r>
              <a:rPr kumimoji="0" lang="zh-CN" altLang="en-AU"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常</a:t>
            </a:r>
            <a:r>
              <a:rPr kumimoji="0" lang="zh-CN" altLang="en-US"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晓军 教授</a:t>
            </a:r>
          </a:p>
        </p:txBody>
      </p:sp>
      <p:sp>
        <p:nvSpPr>
          <p:cNvPr id="42" name="矩形 41"/>
          <p:cNvSpPr/>
          <p:nvPr/>
        </p:nvSpPr>
        <p:spPr>
          <a:xfrm>
            <a:off x="2596196" y="4941168"/>
            <a:ext cx="6999605" cy="1289905"/>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中国科学技术大学信息科学技术学院</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b="1" dirty="0">
                <a:solidFill>
                  <a:srgbClr val="000000"/>
                </a:solidFill>
                <a:latin typeface="微软雅黑" panose="020B0503020204020204" pitchFamily="34" charset="-122"/>
                <a:ea typeface="微软雅黑" panose="020B0503020204020204" pitchFamily="34" charset="-122"/>
                <a:cs typeface="黑体" panose="02010609060101010101" charset="-122"/>
              </a:rPr>
              <a:t>未来媒体计算实验室</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2025</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年</a:t>
            </a:r>
            <a:r>
              <a:rPr kumimoji="1" lang="en-US" altLang="zh-CN" b="1" dirty="0">
                <a:solidFill>
                  <a:srgbClr val="000000"/>
                </a:solidFill>
                <a:latin typeface="微软雅黑" panose="020B0503020204020204" pitchFamily="34" charset="-122"/>
                <a:ea typeface="微软雅黑" panose="020B0503020204020204" pitchFamily="34" charset="-122"/>
                <a:cs typeface="黑体" panose="02010609060101010101" charset="-122"/>
              </a:rPr>
              <a:t>3</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月</a:t>
            </a:r>
          </a:p>
        </p:txBody>
      </p:sp>
      <p:pic>
        <p:nvPicPr>
          <p:cNvPr id="1026" name="Picture 2" descr="中国科学技术大学- 维基百科，自由的百科全书"/>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291" y="190134"/>
            <a:ext cx="1340768" cy="13407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143672" y="2958088"/>
            <a:ext cx="6131490" cy="614680"/>
          </a:xfrm>
          <a:prstGeom prst="rect">
            <a:avLst/>
          </a:prstGeom>
          <a:noFill/>
          <a:ln w="9525">
            <a:noFill/>
            <a:miter lim="800000"/>
          </a:ln>
        </p:spPr>
        <p:txBody>
          <a:bodyPr wrap="square" lIns="61221" tIns="30610" rIns="61221" bIns="30610" anchor="ctr" anchorCtr="0">
            <a:spAutoFit/>
          </a:bodyPr>
          <a:lstStyle>
            <a:defPPr>
              <a:defRPr lang="zh-CN"/>
            </a:defPPr>
            <a:lvl1pPr marL="0" marR="0" lvl="0" indent="0" algn="ctr" defTabSz="815975" eaLnBrk="1" fontAlgn="auto" latinLnBrk="0" hangingPunct="1">
              <a:lnSpc>
                <a:spcPct val="100000"/>
              </a:lnSpc>
              <a:spcBef>
                <a:spcPts val="0"/>
              </a:spcBef>
              <a:spcAft>
                <a:spcPts val="600"/>
              </a:spcAft>
              <a:buClr>
                <a:srgbClr val="C00000"/>
              </a:buClr>
              <a:buSzPct val="80000"/>
              <a:buFontTx/>
              <a:buNone/>
              <a:defRPr kumimoji="0" sz="3600" b="1" i="0" u="none" strike="noStrike" cap="none" spc="30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r>
              <a:rPr lang="zh-CN" altLang="en-US" sz="3600" b="1" dirty="0">
                <a:latin typeface="微软雅黑" panose="020B0503020204020204" pitchFamily="34" charset="-122"/>
                <a:ea typeface="微软雅黑" panose="020B0503020204020204" pitchFamily="34" charset="-122"/>
                <a:sym typeface="+mn-ea"/>
              </a:rPr>
              <a:t>深度学习项目</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图像分类定义</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1322070"/>
          </a:xfrm>
          <a:prstGeom prst="rect">
            <a:avLst/>
          </a:prstGeom>
          <a:noFill/>
        </p:spPr>
        <p:txBody>
          <a:bodyPr wrap="square" rtlCol="0">
            <a:spAutoFit/>
          </a:bodyPr>
          <a:lstStyle/>
          <a:p>
            <a:pPr indent="457200"/>
            <a:r>
              <a:rPr lang="zh-CN" altLang="en-US" sz="2000">
                <a:solidFill>
                  <a:schemeClr val="tx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图像分类是指，根据各自在图像信息中所反映的不同特征，把不同类别的目标区分开来的图像处理方法。图像分类的任务，就是对于一个</a:t>
            </a:r>
            <a:r>
              <a:rPr lang="zh-CN" altLang="en-US" sz="200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给定的图像</a:t>
            </a:r>
            <a:r>
              <a:rPr lang="zh-CN" altLang="en-US" sz="2000">
                <a:solidFill>
                  <a:schemeClr val="tx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，预测它属于哪个</a:t>
            </a:r>
            <a:r>
              <a:rPr lang="zh-CN" altLang="en-US" sz="200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分类标签</a:t>
            </a:r>
            <a:r>
              <a:rPr lang="zh-CN" altLang="en-US" sz="2000">
                <a:solidFill>
                  <a:schemeClr val="tx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（或者给出属于一系列不同标签的可能性</a:t>
            </a:r>
            <a:r>
              <a:rPr lang="en-US" altLang="zh-CN" sz="2000">
                <a:solidFill>
                  <a:schemeClr val="tx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 </a:t>
            </a:r>
            <a:r>
              <a:rPr lang="zh-CN" altLang="en-US" sz="2000">
                <a:solidFill>
                  <a:schemeClr val="tx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a:t>
            </a:r>
            <a:r>
              <a:rPr lang="zh-CN" altLang="en-US">
                <a:solidFill>
                  <a:schemeClr val="tx1"/>
                </a:solidFill>
                <a:effectLst>
                  <a:outerShdw blurRad="38100" dist="25400" dir="5400000" algn="ctr" rotWithShape="0">
                    <a:srgbClr val="6E747A">
                      <a:alpha val="43000"/>
                    </a:srgbClr>
                  </a:outerShdw>
                </a:effectLst>
              </a:rPr>
              <a:t>。</a:t>
            </a:r>
          </a:p>
        </p:txBody>
      </p:sp>
      <p:pic>
        <p:nvPicPr>
          <p:cNvPr id="5" name="图片 4"/>
          <p:cNvPicPr>
            <a:picLocks noChangeAspect="1"/>
          </p:cNvPicPr>
          <p:nvPr/>
        </p:nvPicPr>
        <p:blipFill>
          <a:blip r:embed="rId3"/>
          <a:stretch>
            <a:fillRect/>
          </a:stretch>
        </p:blipFill>
        <p:spPr>
          <a:xfrm>
            <a:off x="2711450" y="3140710"/>
            <a:ext cx="5391785" cy="29908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图像分类粒度</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271270" y="1700530"/>
            <a:ext cx="8179435" cy="368300"/>
          </a:xfrm>
          <a:prstGeom prst="rect">
            <a:avLst/>
          </a:prstGeom>
          <a:noFill/>
        </p:spPr>
        <p:txBody>
          <a:bodyPr wrap="square" rtlCol="0">
            <a:spAutoFit/>
          </a:bodyPr>
          <a:lstStyle/>
          <a:p>
            <a:pPr indent="457200"/>
            <a:r>
              <a:rPr lang="zh-CN" altLang="en-US">
                <a:solidFill>
                  <a:schemeClr val="tx1"/>
                </a:solidFill>
                <a:effectLst>
                  <a:outerShdw blurRad="38100" dist="25400" dir="5400000" algn="ctr" rotWithShape="0">
                    <a:srgbClr val="6E747A">
                      <a:alpha val="43000"/>
                    </a:srgbClr>
                  </a:outerShdw>
                </a:effectLst>
              </a:rPr>
              <a:t>（一）跨物种级图像分类：在不同物种层次上识别不同对象，如猫狗分类。</a:t>
            </a:r>
          </a:p>
        </p:txBody>
      </p:sp>
      <p:pic>
        <p:nvPicPr>
          <p:cNvPr id="8" name="图片 7"/>
          <p:cNvPicPr>
            <a:picLocks noChangeAspect="1"/>
          </p:cNvPicPr>
          <p:nvPr/>
        </p:nvPicPr>
        <p:blipFill>
          <a:blip r:embed="rId3"/>
          <a:stretch>
            <a:fillRect/>
          </a:stretch>
        </p:blipFill>
        <p:spPr>
          <a:xfrm>
            <a:off x="2207895" y="2564765"/>
            <a:ext cx="7115175" cy="28098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图像分类粒度</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271270" y="1700530"/>
            <a:ext cx="8179435" cy="645160"/>
          </a:xfrm>
          <a:prstGeom prst="rect">
            <a:avLst/>
          </a:prstGeom>
          <a:noFill/>
        </p:spPr>
        <p:txBody>
          <a:bodyPr wrap="square" rtlCol="0">
            <a:spAutoFit/>
          </a:bodyPr>
          <a:lstStyle/>
          <a:p>
            <a:pPr indent="457200"/>
            <a:r>
              <a:rPr lang="zh-CN" altLang="en-US">
                <a:solidFill>
                  <a:schemeClr val="tx1"/>
                </a:solidFill>
                <a:effectLst>
                  <a:outerShdw blurRad="38100" dist="25400" dir="5400000" algn="ctr" rotWithShape="0">
                    <a:srgbClr val="6E747A">
                      <a:alpha val="43000"/>
                    </a:srgbClr>
                  </a:outerShdw>
                </a:effectLst>
              </a:rPr>
              <a:t>（二）子类细粒度图像分类：同一大类下，不同子类的分类。如不同的鸟的分类，不同的狗分类。</a:t>
            </a:r>
          </a:p>
        </p:txBody>
      </p:sp>
      <p:pic>
        <p:nvPicPr>
          <p:cNvPr id="5" name="图片 4"/>
          <p:cNvPicPr>
            <a:picLocks noChangeAspect="1"/>
          </p:cNvPicPr>
          <p:nvPr/>
        </p:nvPicPr>
        <p:blipFill>
          <a:blip r:embed="rId3"/>
          <a:stretch>
            <a:fillRect/>
          </a:stretch>
        </p:blipFill>
        <p:spPr>
          <a:xfrm>
            <a:off x="1775460" y="2636520"/>
            <a:ext cx="8172450" cy="29908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图像分类粒度</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271270" y="1700530"/>
            <a:ext cx="8179435" cy="368300"/>
          </a:xfrm>
          <a:prstGeom prst="rect">
            <a:avLst/>
          </a:prstGeom>
          <a:noFill/>
        </p:spPr>
        <p:txBody>
          <a:bodyPr wrap="square" rtlCol="0">
            <a:spAutoFit/>
          </a:bodyPr>
          <a:lstStyle/>
          <a:p>
            <a:pPr indent="457200"/>
            <a:r>
              <a:rPr lang="zh-CN" altLang="en-US">
                <a:solidFill>
                  <a:schemeClr val="tx1"/>
                </a:solidFill>
                <a:effectLst>
                  <a:outerShdw blurRad="38100" dist="25400" dir="5400000" algn="ctr" rotWithShape="0">
                    <a:srgbClr val="6E747A">
                      <a:alpha val="43000"/>
                    </a:srgbClr>
                  </a:outerShdw>
                </a:effectLst>
              </a:rPr>
              <a:t>（三）实例级图像分类：区分不同的个体，如人脸识别。</a:t>
            </a:r>
          </a:p>
        </p:txBody>
      </p:sp>
      <p:pic>
        <p:nvPicPr>
          <p:cNvPr id="6" name="图片 5"/>
          <p:cNvPicPr>
            <a:picLocks noChangeAspect="1"/>
          </p:cNvPicPr>
          <p:nvPr/>
        </p:nvPicPr>
        <p:blipFill>
          <a:blip r:embed="rId3"/>
          <a:stretch>
            <a:fillRect/>
          </a:stretch>
        </p:blipFill>
        <p:spPr>
          <a:xfrm>
            <a:off x="1631315" y="2377440"/>
            <a:ext cx="8305800" cy="34099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应用场景</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pic>
        <p:nvPicPr>
          <p:cNvPr id="6" name="图片 5"/>
          <p:cNvPicPr>
            <a:picLocks noChangeAspect="1"/>
          </p:cNvPicPr>
          <p:nvPr/>
        </p:nvPicPr>
        <p:blipFill>
          <a:blip r:embed="rId3"/>
          <a:stretch>
            <a:fillRect/>
          </a:stretch>
        </p:blipFill>
        <p:spPr>
          <a:xfrm>
            <a:off x="3071495" y="3140710"/>
            <a:ext cx="5210175" cy="3095625"/>
          </a:xfrm>
          <a:prstGeom prst="rect">
            <a:avLst/>
          </a:prstGeom>
        </p:spPr>
      </p:pic>
      <p:sp>
        <p:nvSpPr>
          <p:cNvPr id="9" name="文本框 8"/>
          <p:cNvSpPr txBox="1"/>
          <p:nvPr/>
        </p:nvSpPr>
        <p:spPr>
          <a:xfrm>
            <a:off x="1271270" y="1700530"/>
            <a:ext cx="10098405" cy="922020"/>
          </a:xfrm>
          <a:prstGeom prst="rect">
            <a:avLst/>
          </a:prstGeom>
          <a:noFill/>
        </p:spPr>
        <p:txBody>
          <a:bodyPr wrap="square" rtlCol="0">
            <a:spAutoFit/>
          </a:bodyPr>
          <a:lstStyle/>
          <a:p>
            <a:r>
              <a:rPr lang="zh-CN" altLang="en-US"/>
              <a:t>（</a:t>
            </a:r>
            <a:r>
              <a:rPr lang="en-US" altLang="zh-CN">
                <a:latin typeface="宋体" panose="02010600030101010101" pitchFamily="2" charset="-122"/>
              </a:rPr>
              <a:t>1</a:t>
            </a:r>
            <a:r>
              <a:rPr lang="zh-CN" altLang="en-US"/>
              <a:t>）遥感图像</a:t>
            </a:r>
          </a:p>
          <a:p>
            <a:pPr indent="457200"/>
            <a:r>
              <a:rPr lang="zh-CN" altLang="en-US"/>
              <a:t>通过图像分类技术对遥感图像信息中各种地物信息的辨识和提取，进而实现智能化软件程序所实现的对遥感图像分类在土地利用中研究中的应用。</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应用场景</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922020"/>
          </a:xfrm>
          <a:prstGeom prst="rect">
            <a:avLst/>
          </a:prstGeom>
          <a:noFill/>
        </p:spPr>
        <p:txBody>
          <a:bodyPr wrap="square" rtlCol="0">
            <a:spAutoFit/>
          </a:bodyPr>
          <a:lstStyle/>
          <a:p>
            <a:r>
              <a:rPr lang="zh-CN" altLang="en-US"/>
              <a:t>（</a:t>
            </a:r>
            <a:r>
              <a:rPr lang="en-US" altLang="zh-CN">
                <a:latin typeface="宋体" panose="02010600030101010101" pitchFamily="2" charset="-122"/>
              </a:rPr>
              <a:t>2</a:t>
            </a:r>
            <a:r>
              <a:rPr lang="zh-CN" altLang="en-US"/>
              <a:t>）图像和视频检索</a:t>
            </a:r>
          </a:p>
          <a:p>
            <a:pPr indent="457200"/>
            <a:r>
              <a:rPr lang="zh-CN" altLang="en-US"/>
              <a:t>视频检索的过程和图像检索类似，主要是利用图像分类算法针对视频的一些关键帧图像对视频类别进行分类。</a:t>
            </a:r>
          </a:p>
        </p:txBody>
      </p:sp>
      <p:pic>
        <p:nvPicPr>
          <p:cNvPr id="5" name="图片 4"/>
          <p:cNvPicPr>
            <a:picLocks noChangeAspect="1"/>
          </p:cNvPicPr>
          <p:nvPr/>
        </p:nvPicPr>
        <p:blipFill>
          <a:blip r:embed="rId3"/>
          <a:stretch>
            <a:fillRect/>
          </a:stretch>
        </p:blipFill>
        <p:spPr>
          <a:xfrm>
            <a:off x="3143885" y="2852420"/>
            <a:ext cx="5105400" cy="3257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应用场景</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922020"/>
          </a:xfrm>
          <a:prstGeom prst="rect">
            <a:avLst/>
          </a:prstGeom>
          <a:noFill/>
        </p:spPr>
        <p:txBody>
          <a:bodyPr wrap="square" rtlCol="0">
            <a:spAutoFit/>
          </a:bodyPr>
          <a:lstStyle/>
          <a:p>
            <a:r>
              <a:rPr lang="zh-CN" altLang="en-US"/>
              <a:t>（</a:t>
            </a:r>
            <a:r>
              <a:rPr lang="en-US" altLang="zh-CN">
                <a:latin typeface="宋体" panose="02010600030101010101" pitchFamily="2" charset="-122"/>
              </a:rPr>
              <a:t>3</a:t>
            </a:r>
            <a:r>
              <a:rPr lang="zh-CN" altLang="en-US"/>
              <a:t>）医疗影像</a:t>
            </a:r>
          </a:p>
          <a:p>
            <a:pPr indent="457200"/>
            <a:r>
              <a:rPr lang="zh-CN" altLang="en-US"/>
              <a:t>可以通过图像分类技术实现医疗影像的自动化处理，完成人体组织重构、任意切片显示等功能，为病理分析、病例对比、提供决策支持。</a:t>
            </a:r>
          </a:p>
        </p:txBody>
      </p:sp>
      <p:pic>
        <p:nvPicPr>
          <p:cNvPr id="6" name="图片 5"/>
          <p:cNvPicPr>
            <a:picLocks noChangeAspect="1"/>
          </p:cNvPicPr>
          <p:nvPr/>
        </p:nvPicPr>
        <p:blipFill>
          <a:blip r:embed="rId3"/>
          <a:stretch>
            <a:fillRect/>
          </a:stretch>
        </p:blipFill>
        <p:spPr>
          <a:xfrm>
            <a:off x="2783840" y="3068955"/>
            <a:ext cx="5210175" cy="3124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应用场景</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198880"/>
          </a:xfrm>
          <a:prstGeom prst="rect">
            <a:avLst/>
          </a:prstGeom>
          <a:noFill/>
        </p:spPr>
        <p:txBody>
          <a:bodyPr wrap="square" rtlCol="0">
            <a:spAutoFit/>
          </a:bodyPr>
          <a:lstStyle/>
          <a:p>
            <a:r>
              <a:rPr lang="zh-CN" altLang="en-US"/>
              <a:t>（</a:t>
            </a:r>
            <a:r>
              <a:rPr lang="en-US" altLang="zh-CN">
                <a:latin typeface="宋体" panose="02010600030101010101" pitchFamily="2" charset="-122"/>
              </a:rPr>
              <a:t>4</a:t>
            </a:r>
            <a:r>
              <a:rPr lang="zh-CN" altLang="en-US"/>
              <a:t>）智能驾驶</a:t>
            </a:r>
          </a:p>
          <a:p>
            <a:pPr indent="457200"/>
            <a:r>
              <a:rPr lang="zh-CN" altLang="en-US"/>
              <a:t>随着图像分类技术在智能驾驶辅助系统与无人驾驶车辆上应用逐渐增强，基于视觉传感器能够获得各种道路环境信息。辅助驾驶技术与部分自动驾驶技术已完成测试验证阶段，正式进入到产业化阶段。</a:t>
            </a:r>
          </a:p>
        </p:txBody>
      </p:sp>
      <p:pic>
        <p:nvPicPr>
          <p:cNvPr id="5" name="图片 4"/>
          <p:cNvPicPr>
            <a:picLocks noChangeAspect="1"/>
          </p:cNvPicPr>
          <p:nvPr/>
        </p:nvPicPr>
        <p:blipFill>
          <a:blip r:embed="rId3"/>
          <a:stretch>
            <a:fillRect/>
          </a:stretch>
        </p:blipFill>
        <p:spPr>
          <a:xfrm>
            <a:off x="2927350" y="3140710"/>
            <a:ext cx="4943475" cy="2743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应用场景</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198880"/>
          </a:xfrm>
          <a:prstGeom prst="rect">
            <a:avLst/>
          </a:prstGeom>
          <a:noFill/>
        </p:spPr>
        <p:txBody>
          <a:bodyPr wrap="square" rtlCol="0">
            <a:spAutoFit/>
          </a:bodyPr>
          <a:lstStyle/>
          <a:p>
            <a:r>
              <a:rPr lang="zh-CN" altLang="en-US"/>
              <a:t>（</a:t>
            </a:r>
            <a:r>
              <a:rPr lang="en-US" altLang="zh-CN">
                <a:latin typeface="宋体" panose="02010600030101010101" pitchFamily="2" charset="-122"/>
              </a:rPr>
              <a:t>5</a:t>
            </a:r>
            <a:r>
              <a:rPr lang="zh-CN" altLang="en-US"/>
              <a:t>）机器人视觉</a:t>
            </a:r>
          </a:p>
          <a:p>
            <a:pPr indent="457200"/>
            <a:r>
              <a:rPr lang="zh-CN" altLang="en-US"/>
              <a:t>机器人视觉系统一般是指机器人利用摄像头获取环境的数字图像，对得到的数字图像进行分析和计算，并对其进行分类识别的过程。该系统可以通过收集到的视觉信息来预测地方的场景类别，大大提高了其理解场景的和更好地服务于人类的能力。</a:t>
            </a:r>
          </a:p>
        </p:txBody>
      </p:sp>
      <p:pic>
        <p:nvPicPr>
          <p:cNvPr id="6" name="图片 5"/>
          <p:cNvPicPr>
            <a:picLocks noChangeAspect="1"/>
          </p:cNvPicPr>
          <p:nvPr/>
        </p:nvPicPr>
        <p:blipFill>
          <a:blip r:embed="rId3"/>
          <a:stretch>
            <a:fillRect/>
          </a:stretch>
        </p:blipFill>
        <p:spPr>
          <a:xfrm>
            <a:off x="3202305" y="3429000"/>
            <a:ext cx="4438650" cy="29051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常用数据集</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476375"/>
          </a:xfrm>
          <a:prstGeom prst="rect">
            <a:avLst/>
          </a:prstGeom>
          <a:noFill/>
        </p:spPr>
        <p:txBody>
          <a:bodyPr wrap="square" rtlCol="0">
            <a:spAutoFit/>
          </a:bodyPr>
          <a:lstStyle/>
          <a:p>
            <a:r>
              <a:rPr lang="zh-CN" altLang="en-US"/>
              <a:t>（</a:t>
            </a:r>
            <a:r>
              <a:rPr lang="en-US" altLang="zh-CN">
                <a:latin typeface="宋体" panose="02010600030101010101" pitchFamily="2" charset="-122"/>
              </a:rPr>
              <a:t>1</a:t>
            </a:r>
            <a:r>
              <a:rPr lang="zh-CN" altLang="en-US"/>
              <a:t>）</a:t>
            </a:r>
            <a:r>
              <a:rPr lang="en-US" altLang="zh-CN"/>
              <a:t>MNIST</a:t>
            </a:r>
            <a:endParaRPr lang="zh-CN" altLang="en-US"/>
          </a:p>
          <a:p>
            <a:pPr indent="457200"/>
            <a:r>
              <a:rPr lang="en-US" altLang="zh-CN"/>
              <a:t>MNIST</a:t>
            </a:r>
            <a:r>
              <a:rPr lang="zh-CN" altLang="en-US"/>
              <a:t>（</a:t>
            </a:r>
            <a:r>
              <a:rPr lang="en-US" altLang="zh-CN"/>
              <a:t>Modified National Institute of Standard and Technology</a:t>
            </a:r>
            <a:r>
              <a:rPr lang="zh-CN" altLang="en-US"/>
              <a:t>）在计算机视觉领域广受欢迎，很多机器学习的文献中也多次用到该数据集。该数据集包含的是手写数字</a:t>
            </a:r>
            <a:r>
              <a:rPr lang="en-US" altLang="zh-CN"/>
              <a:t> 1 - 9 </a:t>
            </a:r>
            <a:r>
              <a:rPr lang="zh-CN" altLang="en-US"/>
              <a:t>的图像，如下图所示。整个数据集有</a:t>
            </a:r>
            <a:r>
              <a:rPr lang="en-US" altLang="zh-CN"/>
              <a:t> </a:t>
            </a:r>
            <a:r>
              <a:rPr lang="en-US" altLang="zh-CN">
                <a:solidFill>
                  <a:schemeClr val="accent1"/>
                </a:solidFill>
                <a:effectLst>
                  <a:outerShdw blurRad="38100" dist="25400" dir="5400000" algn="ctr" rotWithShape="0">
                    <a:srgbClr val="6E747A">
                      <a:alpha val="43000"/>
                    </a:srgbClr>
                  </a:outerShdw>
                </a:effectLst>
              </a:rPr>
              <a:t>60000</a:t>
            </a:r>
            <a:r>
              <a:rPr lang="en-US" altLang="zh-CN"/>
              <a:t> </a:t>
            </a:r>
            <a:r>
              <a:rPr lang="zh-CN" altLang="en-US"/>
              <a:t>张训练图像和</a:t>
            </a:r>
            <a:r>
              <a:rPr lang="en-US" altLang="zh-CN"/>
              <a:t> </a:t>
            </a:r>
            <a:r>
              <a:rPr lang="en-US" altLang="zh-CN">
                <a:solidFill>
                  <a:schemeClr val="accent1"/>
                </a:solidFill>
                <a:effectLst>
                  <a:outerShdw blurRad="38100" dist="25400" dir="5400000" algn="ctr" rotWithShape="0">
                    <a:srgbClr val="6E747A">
                      <a:alpha val="43000"/>
                    </a:srgbClr>
                  </a:outerShdw>
                </a:effectLst>
              </a:rPr>
              <a:t>10000 </a:t>
            </a:r>
            <a:r>
              <a:rPr lang="zh-CN" altLang="en-US"/>
              <a:t>张测试图像。每张图像都是一个</a:t>
            </a:r>
            <a:r>
              <a:rPr lang="en-US" altLang="zh-CN"/>
              <a:t> 784 </a:t>
            </a:r>
            <a:r>
              <a:rPr lang="zh-CN" altLang="en-US"/>
              <a:t>维的特征向量，即对应于图像的</a:t>
            </a:r>
            <a:r>
              <a:rPr lang="en-US" altLang="zh-CN"/>
              <a:t> 28*28 </a:t>
            </a:r>
            <a:r>
              <a:rPr lang="zh-CN" altLang="en-US"/>
              <a:t>的灰阶像素强度。</a:t>
            </a:r>
          </a:p>
        </p:txBody>
      </p:sp>
      <p:pic>
        <p:nvPicPr>
          <p:cNvPr id="7" name="图片 6"/>
          <p:cNvPicPr/>
          <p:nvPr/>
        </p:nvPicPr>
        <p:blipFill>
          <a:blip r:embed="rId3"/>
          <a:stretch>
            <a:fillRect/>
          </a:stretch>
        </p:blipFill>
        <p:spPr>
          <a:xfrm>
            <a:off x="2351405" y="3284855"/>
            <a:ext cx="6634480" cy="30270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常用数据集</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476375"/>
          </a:xfrm>
          <a:prstGeom prst="rect">
            <a:avLst/>
          </a:prstGeom>
          <a:noFill/>
        </p:spPr>
        <p:txBody>
          <a:bodyPr wrap="square" rtlCol="0">
            <a:spAutoFit/>
          </a:bodyPr>
          <a:lstStyle/>
          <a:p>
            <a:r>
              <a:rPr lang="zh-CN" altLang="en-US"/>
              <a:t>（</a:t>
            </a:r>
            <a:r>
              <a:rPr lang="en-US" altLang="zh-CN"/>
              <a:t>2</a:t>
            </a:r>
            <a:r>
              <a:rPr lang="zh-CN" altLang="en-US"/>
              <a:t>）</a:t>
            </a:r>
            <a:r>
              <a:rPr lang="en-US"/>
              <a:t>CIFAR-10</a:t>
            </a:r>
            <a:r>
              <a:rPr lang="zh-CN" altLang="en-US"/>
              <a:t>和</a:t>
            </a:r>
            <a:r>
              <a:rPr lang="en-US" altLang="zh-CN"/>
              <a:t>CIFAR-100</a:t>
            </a:r>
            <a:endParaRPr lang="en-US"/>
          </a:p>
          <a:p>
            <a:pPr indent="457200"/>
            <a:r>
              <a:rPr lang="en-US" altLang="zh-CN"/>
              <a:t>CIFAR - 10 </a:t>
            </a:r>
            <a:r>
              <a:rPr lang="zh-CN" altLang="en-US"/>
              <a:t>图像数据集中含有</a:t>
            </a:r>
            <a:r>
              <a:rPr lang="en-US" altLang="zh-CN"/>
              <a:t> 10 </a:t>
            </a:r>
            <a:r>
              <a:rPr lang="zh-CN" altLang="en-US"/>
              <a:t>个标签：</a:t>
            </a:r>
            <a:r>
              <a:rPr lang="en-US" altLang="zh-CN"/>
              <a:t>cat</a:t>
            </a:r>
            <a:r>
              <a:rPr lang="zh-CN" altLang="en-US"/>
              <a:t>、</a:t>
            </a:r>
            <a:r>
              <a:rPr lang="en-US" altLang="zh-CN"/>
              <a:t>airplane</a:t>
            </a:r>
            <a:r>
              <a:rPr lang="zh-CN" altLang="en-US"/>
              <a:t>、</a:t>
            </a:r>
            <a:r>
              <a:rPr lang="en-US" altLang="zh-CN"/>
              <a:t>dog</a:t>
            </a:r>
            <a:r>
              <a:rPr lang="zh-CN" altLang="en-US"/>
              <a:t>、</a:t>
            </a:r>
            <a:r>
              <a:rPr lang="en-US" altLang="zh-CN"/>
              <a:t>automobile</a:t>
            </a:r>
            <a:r>
              <a:rPr lang="zh-CN" altLang="en-US"/>
              <a:t>、</a:t>
            </a:r>
            <a:r>
              <a:rPr lang="en-US" altLang="zh-CN"/>
              <a:t>bird</a:t>
            </a:r>
            <a:r>
              <a:rPr lang="zh-CN" altLang="en-US"/>
              <a:t>、</a:t>
            </a:r>
            <a:r>
              <a:rPr lang="en-US" altLang="zh-CN"/>
              <a:t>frog</a:t>
            </a:r>
            <a:r>
              <a:rPr lang="zh-CN" altLang="en-US"/>
              <a:t>、</a:t>
            </a:r>
            <a:r>
              <a:rPr lang="en-US" altLang="zh-CN"/>
              <a:t>deer</a:t>
            </a:r>
            <a:r>
              <a:rPr lang="zh-CN" altLang="en-US"/>
              <a:t>、</a:t>
            </a:r>
            <a:r>
              <a:rPr lang="en-US" altLang="zh-CN"/>
              <a:t>horse</a:t>
            </a:r>
            <a:r>
              <a:rPr lang="zh-CN" altLang="en-US"/>
              <a:t>、</a:t>
            </a:r>
            <a:r>
              <a:rPr lang="en-US" altLang="zh-CN"/>
              <a:t>ship</a:t>
            </a:r>
            <a:r>
              <a:rPr lang="zh-CN" altLang="en-US"/>
              <a:t>、</a:t>
            </a:r>
            <a:r>
              <a:rPr lang="en-US" altLang="zh-CN"/>
              <a:t>truck</a:t>
            </a:r>
            <a:r>
              <a:rPr lang="zh-CN" altLang="en-US"/>
              <a:t>。</a:t>
            </a:r>
          </a:p>
          <a:p>
            <a:pPr indent="457200"/>
            <a:r>
              <a:rPr lang="en-US" altLang="zh-CN"/>
              <a:t>CIFAR - 100 </a:t>
            </a:r>
            <a:r>
              <a:rPr lang="zh-CN" altLang="en-US"/>
              <a:t>图像数据集和</a:t>
            </a:r>
            <a:r>
              <a:rPr lang="en-US" altLang="zh-CN"/>
              <a:t> CIFAR - 10 </a:t>
            </a:r>
            <a:r>
              <a:rPr lang="zh-CN" altLang="en-US"/>
              <a:t>类似，但是</a:t>
            </a:r>
            <a:r>
              <a:rPr lang="en-US" altLang="zh-CN"/>
              <a:t> CIFAR - 100 </a:t>
            </a:r>
            <a:r>
              <a:rPr lang="zh-CN" altLang="en-US"/>
              <a:t>中图像类别较多，共有</a:t>
            </a:r>
            <a:r>
              <a:rPr lang="en-US" altLang="zh-CN"/>
              <a:t> 100 </a:t>
            </a:r>
            <a:r>
              <a:rPr lang="zh-CN" altLang="en-US"/>
              <a:t>个类别。每个类别包含</a:t>
            </a:r>
            <a:r>
              <a:rPr lang="en-US" altLang="zh-CN"/>
              <a:t> 600 </a:t>
            </a:r>
            <a:r>
              <a:rPr lang="zh-CN" altLang="en-US"/>
              <a:t>个图像，</a:t>
            </a:r>
            <a:r>
              <a:rPr lang="en-US" altLang="zh-CN"/>
              <a:t>600 </a:t>
            </a:r>
            <a:r>
              <a:rPr lang="zh-CN" altLang="en-US"/>
              <a:t>个图像中有</a:t>
            </a:r>
            <a:r>
              <a:rPr lang="en-US" altLang="zh-CN"/>
              <a:t> 500 </a:t>
            </a:r>
            <a:r>
              <a:rPr lang="zh-CN" altLang="en-US"/>
              <a:t>个训练图像和</a:t>
            </a:r>
            <a:r>
              <a:rPr lang="en-US" altLang="zh-CN"/>
              <a:t> 100 </a:t>
            </a:r>
            <a:r>
              <a:rPr lang="zh-CN" altLang="en-US"/>
              <a:t>个测试图像。</a:t>
            </a:r>
          </a:p>
        </p:txBody>
      </p:sp>
      <p:pic>
        <p:nvPicPr>
          <p:cNvPr id="5" name="图片 4"/>
          <p:cNvPicPr>
            <a:picLocks noChangeAspect="1"/>
          </p:cNvPicPr>
          <p:nvPr/>
        </p:nvPicPr>
        <p:blipFill>
          <a:blip r:embed="rId3"/>
          <a:stretch>
            <a:fillRect/>
          </a:stretch>
        </p:blipFill>
        <p:spPr>
          <a:xfrm>
            <a:off x="3322955" y="3500755"/>
            <a:ext cx="4318635" cy="20878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常用数据集</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476375"/>
          </a:xfrm>
          <a:prstGeom prst="rect">
            <a:avLst/>
          </a:prstGeom>
          <a:noFill/>
        </p:spPr>
        <p:txBody>
          <a:bodyPr wrap="square" rtlCol="0">
            <a:spAutoFit/>
          </a:bodyPr>
          <a:lstStyle/>
          <a:p>
            <a:r>
              <a:rPr lang="zh-CN" altLang="en-US"/>
              <a:t>（</a:t>
            </a:r>
            <a:r>
              <a:rPr lang="en-US" altLang="zh-CN"/>
              <a:t>3</a:t>
            </a:r>
            <a:r>
              <a:rPr lang="zh-CN" altLang="en-US"/>
              <a:t>）</a:t>
            </a:r>
            <a:r>
              <a:rPr lang="en-US"/>
              <a:t>Caltech-101</a:t>
            </a:r>
          </a:p>
          <a:p>
            <a:pPr indent="457200"/>
            <a:r>
              <a:rPr lang="en-US" altLang="zh-CN"/>
              <a:t>Caltech - 101 </a:t>
            </a:r>
            <a:r>
              <a:rPr lang="zh-CN" altLang="en-US"/>
              <a:t>是</a:t>
            </a:r>
            <a:r>
              <a:rPr lang="en-US" altLang="zh-CN"/>
              <a:t> 2003 </a:t>
            </a:r>
            <a:r>
              <a:rPr lang="zh-CN" altLang="en-US"/>
              <a:t>年加州理工学院编写完成的图像数据集。该数据集是计算机视觉领域用于目标检测的基准数据集。如下图所示，数据集包含</a:t>
            </a:r>
            <a:r>
              <a:rPr lang="en-US" altLang="zh-CN"/>
              <a:t> 101 </a:t>
            </a:r>
            <a:r>
              <a:rPr lang="zh-CN" altLang="en-US"/>
              <a:t>类的物体图像，每个图像都有与之对应的标签。每个类别包含大约</a:t>
            </a:r>
            <a:r>
              <a:rPr lang="en-US" altLang="zh-CN"/>
              <a:t> 40 </a:t>
            </a:r>
            <a:r>
              <a:rPr lang="zh-CN" altLang="en-US"/>
              <a:t>到</a:t>
            </a:r>
            <a:r>
              <a:rPr lang="en-US" altLang="zh-CN"/>
              <a:t> 800 </a:t>
            </a:r>
            <a:r>
              <a:rPr lang="zh-CN" altLang="en-US"/>
              <a:t>张图像，总共约</a:t>
            </a:r>
            <a:r>
              <a:rPr lang="en-US" altLang="zh-CN"/>
              <a:t> 9000 </a:t>
            </a:r>
            <a:r>
              <a:rPr lang="zh-CN" altLang="en-US"/>
              <a:t>多张图像。图像大小可变，典型的边缘长度为</a:t>
            </a:r>
            <a:r>
              <a:rPr lang="en-US" altLang="zh-CN"/>
              <a:t> 200 - 300 </a:t>
            </a:r>
            <a:r>
              <a:rPr lang="zh-CN" altLang="en-US"/>
              <a:t>像素。</a:t>
            </a:r>
          </a:p>
        </p:txBody>
      </p:sp>
      <p:pic>
        <p:nvPicPr>
          <p:cNvPr id="6" name="图片 5"/>
          <p:cNvPicPr>
            <a:picLocks noChangeAspect="1"/>
          </p:cNvPicPr>
          <p:nvPr/>
        </p:nvPicPr>
        <p:blipFill>
          <a:blip r:embed="rId3"/>
          <a:stretch>
            <a:fillRect/>
          </a:stretch>
        </p:blipFill>
        <p:spPr>
          <a:xfrm>
            <a:off x="3431540" y="3644900"/>
            <a:ext cx="4057650" cy="22574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常用数据集</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9" name="文本框 8"/>
          <p:cNvSpPr txBox="1"/>
          <p:nvPr/>
        </p:nvSpPr>
        <p:spPr>
          <a:xfrm>
            <a:off x="1271270" y="1700530"/>
            <a:ext cx="10098405" cy="1476375"/>
          </a:xfrm>
          <a:prstGeom prst="rect">
            <a:avLst/>
          </a:prstGeom>
          <a:noFill/>
        </p:spPr>
        <p:txBody>
          <a:bodyPr wrap="square" rtlCol="0">
            <a:spAutoFit/>
          </a:bodyPr>
          <a:lstStyle/>
          <a:p>
            <a:r>
              <a:rPr lang="zh-CN" altLang="en-US"/>
              <a:t>（</a:t>
            </a:r>
            <a:r>
              <a:rPr lang="en-US" altLang="zh-CN"/>
              <a:t>4</a:t>
            </a:r>
            <a:r>
              <a:rPr lang="zh-CN" altLang="en-US"/>
              <a:t>）</a:t>
            </a:r>
            <a:r>
              <a:rPr lang="en-US" altLang="zh-CN"/>
              <a:t>ImageNet</a:t>
            </a:r>
            <a:endParaRPr lang="en-US"/>
          </a:p>
          <a:p>
            <a:pPr indent="457200"/>
            <a:r>
              <a:rPr lang="en-US" altLang="zh-CN"/>
              <a:t>ImageNet </a:t>
            </a:r>
            <a:r>
              <a:rPr lang="zh-CN" altLang="en-US"/>
              <a:t>是根据</a:t>
            </a:r>
            <a:r>
              <a:rPr lang="en-US" altLang="zh-CN"/>
              <a:t> WordNet </a:t>
            </a:r>
            <a:r>
              <a:rPr lang="zh-CN" altLang="en-US"/>
              <a:t>层次结构组织的图像数据集，旨在根据一组定义的单词和短语，将图像标记并分类到将近</a:t>
            </a:r>
            <a:r>
              <a:rPr lang="en-US" altLang="zh-CN"/>
              <a:t> 2.2 </a:t>
            </a:r>
            <a:r>
              <a:rPr lang="zh-CN" altLang="en-US"/>
              <a:t>万个类别中。该数据集包含</a:t>
            </a:r>
            <a:r>
              <a:rPr lang="en-US" altLang="zh-CN"/>
              <a:t> 1500 </a:t>
            </a:r>
            <a:r>
              <a:rPr lang="zh-CN" altLang="en-US"/>
              <a:t>万图像，</a:t>
            </a:r>
            <a:r>
              <a:rPr lang="en-US" altLang="zh-CN"/>
              <a:t>2.2 </a:t>
            </a:r>
            <a:r>
              <a:rPr lang="zh-CN" altLang="en-US"/>
              <a:t>万个类别，其中训练集包含</a:t>
            </a:r>
            <a:r>
              <a:rPr lang="en-US" altLang="zh-CN"/>
              <a:t> 1281167 </a:t>
            </a:r>
            <a:r>
              <a:rPr lang="zh-CN" altLang="en-US"/>
              <a:t>张图像，验证集包含</a:t>
            </a:r>
            <a:r>
              <a:rPr lang="en-US" altLang="zh-CN"/>
              <a:t> 50000 </a:t>
            </a:r>
            <a:r>
              <a:rPr lang="zh-CN" altLang="en-US"/>
              <a:t>张图像，测试集包含</a:t>
            </a:r>
            <a:r>
              <a:rPr lang="en-US" altLang="zh-CN"/>
              <a:t> 100000 </a:t>
            </a:r>
            <a:r>
              <a:rPr lang="zh-CN" altLang="en-US"/>
              <a:t>张图像。在数据集中一个文件对应着一个类别，每个类有一千多张图。</a:t>
            </a:r>
          </a:p>
        </p:txBody>
      </p:sp>
      <p:pic>
        <p:nvPicPr>
          <p:cNvPr id="8" name="图片 7"/>
          <p:cNvPicPr/>
          <p:nvPr/>
        </p:nvPicPr>
        <p:blipFill>
          <a:blip r:embed="rId3"/>
          <a:stretch>
            <a:fillRect/>
          </a:stretch>
        </p:blipFill>
        <p:spPr>
          <a:xfrm>
            <a:off x="3143885" y="3572510"/>
            <a:ext cx="5273040" cy="28581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15415" y="1125220"/>
            <a:ext cx="8179435" cy="1198880"/>
          </a:xfrm>
          <a:prstGeom prst="rect">
            <a:avLst/>
          </a:prstGeom>
          <a:noFill/>
        </p:spPr>
        <p:txBody>
          <a:bodyPr wrap="square" rtlCol="0">
            <a:spAutoFit/>
          </a:bodyPr>
          <a:lstStyle/>
          <a:p>
            <a:pPr indent="457200"/>
            <a:endParaRPr lang="en-US" altLang="zh-CN">
              <a:solidFill>
                <a:schemeClr val="tx1"/>
              </a:solidFill>
              <a:effectLst>
                <a:outerShdw blurRad="38100" dist="19050" dir="2700000" algn="tl" rotWithShape="0">
                  <a:schemeClr val="dk1">
                    <a:alpha val="40000"/>
                  </a:schemeClr>
                </a:outerShdw>
              </a:effectLst>
            </a:endParaRPr>
          </a:p>
          <a:p>
            <a:pPr indent="457200"/>
            <a:r>
              <a:rPr lang="en-US" altLang="zh-CN">
                <a:solidFill>
                  <a:schemeClr val="tx1"/>
                </a:solidFill>
                <a:effectLst>
                  <a:outerShdw blurRad="38100" dist="19050" dir="2700000" algn="tl" rotWithShape="0">
                    <a:schemeClr val="dk1">
                      <a:alpha val="40000"/>
                    </a:schemeClr>
                  </a:outerShdw>
                </a:effectLst>
              </a:rPr>
              <a:t>LeNet</a:t>
            </a:r>
            <a:r>
              <a:rPr lang="zh-CN" altLang="en-US">
                <a:solidFill>
                  <a:schemeClr val="tx1"/>
                </a:solidFill>
                <a:effectLst>
                  <a:outerShdw blurRad="38100" dist="19050" dir="2700000" algn="tl" rotWithShape="0">
                    <a:schemeClr val="dk1">
                      <a:alpha val="40000"/>
                    </a:schemeClr>
                  </a:outerShdw>
                </a:effectLst>
              </a:rPr>
              <a:t>是最早的卷积神经网络之一。</a:t>
            </a:r>
            <a:r>
              <a:rPr lang="en-US" altLang="zh-CN">
                <a:solidFill>
                  <a:schemeClr val="tx1"/>
                </a:solidFill>
                <a:effectLst>
                  <a:outerShdw blurRad="38100" dist="19050" dir="2700000" algn="tl" rotWithShape="0">
                    <a:schemeClr val="dk1">
                      <a:alpha val="40000"/>
                    </a:schemeClr>
                  </a:outerShdw>
                </a:effectLst>
              </a:rPr>
              <a:t>1989</a:t>
            </a:r>
            <a:r>
              <a:rPr lang="zh-CN" altLang="en-US">
                <a:solidFill>
                  <a:schemeClr val="tx1"/>
                </a:solidFill>
                <a:effectLst>
                  <a:outerShdw blurRad="38100" dist="19050" dir="2700000" algn="tl" rotWithShape="0">
                    <a:schemeClr val="dk1">
                      <a:alpha val="40000"/>
                    </a:schemeClr>
                  </a:outerShdw>
                </a:effectLst>
              </a:rPr>
              <a:t>年，</a:t>
            </a:r>
            <a:r>
              <a:rPr lang="en-US" altLang="zh-CN">
                <a:solidFill>
                  <a:schemeClr val="tx1"/>
                </a:solidFill>
                <a:effectLst>
                  <a:outerShdw blurRad="38100" dist="19050" dir="2700000" algn="tl" rotWithShape="0">
                    <a:schemeClr val="dk1">
                      <a:alpha val="40000"/>
                    </a:schemeClr>
                  </a:outerShdw>
                </a:effectLst>
              </a:rPr>
              <a:t>Yan LeCun</a:t>
            </a:r>
            <a:r>
              <a:rPr lang="zh-CN" altLang="en-US">
                <a:solidFill>
                  <a:schemeClr val="tx1"/>
                </a:solidFill>
                <a:effectLst>
                  <a:outerShdw blurRad="38100" dist="19050" dir="2700000" algn="tl" rotWithShape="0">
                    <a:schemeClr val="dk1">
                      <a:alpha val="40000"/>
                    </a:schemeClr>
                  </a:outerShdw>
                </a:effectLst>
              </a:rPr>
              <a:t>第一次将</a:t>
            </a:r>
            <a:r>
              <a:rPr lang="en-US" altLang="zh-CN">
                <a:solidFill>
                  <a:schemeClr val="tx1"/>
                </a:solidFill>
                <a:effectLst>
                  <a:outerShdw blurRad="38100" dist="19050" dir="2700000" algn="tl" rotWithShape="0">
                    <a:schemeClr val="dk1">
                      <a:alpha val="40000"/>
                    </a:schemeClr>
                  </a:outerShdw>
                </a:effectLst>
              </a:rPr>
              <a:t>LeNet</a:t>
            </a:r>
            <a:r>
              <a:rPr lang="zh-CN" altLang="en-US">
                <a:solidFill>
                  <a:schemeClr val="tx1"/>
                </a:solidFill>
                <a:effectLst>
                  <a:outerShdw blurRad="38100" dist="19050" dir="2700000" algn="tl" rotWithShape="0">
                    <a:schemeClr val="dk1">
                      <a:alpha val="40000"/>
                    </a:schemeClr>
                  </a:outerShdw>
                </a:effectLst>
              </a:rPr>
              <a:t>卷积神经网络应用到图像分类上，在手写数字识别任务中取得了巨大成功。</a:t>
            </a:r>
            <a:r>
              <a:rPr lang="en-US" altLang="zh-CN">
                <a:solidFill>
                  <a:schemeClr val="tx1"/>
                </a:solidFill>
                <a:effectLst>
                  <a:outerShdw blurRad="38100" dist="19050" dir="2700000" algn="tl" rotWithShape="0">
                    <a:schemeClr val="dk1">
                      <a:alpha val="40000"/>
                    </a:schemeClr>
                  </a:outerShdw>
                </a:effectLst>
              </a:rPr>
              <a:t>LeNet</a:t>
            </a:r>
            <a:r>
              <a:rPr lang="zh-CN" altLang="en-US">
                <a:solidFill>
                  <a:schemeClr val="tx1"/>
                </a:solidFill>
                <a:effectLst>
                  <a:outerShdw blurRad="38100" dist="19050" dir="2700000" algn="tl" rotWithShape="0">
                    <a:schemeClr val="dk1">
                      <a:alpha val="40000"/>
                    </a:schemeClr>
                  </a:outerShdw>
                </a:effectLst>
              </a:rPr>
              <a:t>通过连续使用</a:t>
            </a:r>
            <a:r>
              <a:rPr lang="zh-CN" altLang="en-US">
                <a:solidFill>
                  <a:schemeClr val="accent1"/>
                </a:solidFill>
                <a:effectLst>
                  <a:outerShdw blurRad="38100" dist="25400" dir="5400000" algn="ctr" rotWithShape="0">
                    <a:srgbClr val="6E747A">
                      <a:alpha val="43000"/>
                    </a:srgbClr>
                  </a:outerShdw>
                </a:effectLst>
              </a:rPr>
              <a:t>卷积</a:t>
            </a:r>
            <a:r>
              <a:rPr lang="zh-CN" altLang="en-US">
                <a:solidFill>
                  <a:schemeClr val="tx1"/>
                </a:solidFill>
                <a:effectLst>
                  <a:outerShdw blurRad="38100" dist="19050" dir="2700000" algn="tl" rotWithShape="0">
                    <a:schemeClr val="dk1">
                      <a:alpha val="40000"/>
                    </a:schemeClr>
                  </a:outerShdw>
                </a:effectLst>
              </a:rPr>
              <a:t>和</a:t>
            </a:r>
            <a:r>
              <a:rPr lang="zh-CN" altLang="en-US">
                <a:solidFill>
                  <a:schemeClr val="accent1"/>
                </a:solidFill>
                <a:effectLst>
                  <a:outerShdw blurRad="38100" dist="25400" dir="5400000" algn="ctr" rotWithShape="0">
                    <a:srgbClr val="6E747A">
                      <a:alpha val="43000"/>
                    </a:srgbClr>
                  </a:outerShdw>
                </a:effectLst>
              </a:rPr>
              <a:t>池化层</a:t>
            </a:r>
            <a:r>
              <a:rPr lang="zh-CN" altLang="en-US">
                <a:solidFill>
                  <a:schemeClr val="tx1"/>
                </a:solidFill>
                <a:effectLst>
                  <a:outerShdw blurRad="38100" dist="19050" dir="2700000" algn="tl" rotWithShape="0">
                    <a:schemeClr val="dk1">
                      <a:alpha val="40000"/>
                    </a:schemeClr>
                  </a:outerShdw>
                </a:effectLst>
              </a:rPr>
              <a:t>的组合提取图像特征。</a:t>
            </a:r>
          </a:p>
        </p:txBody>
      </p:sp>
      <p:pic>
        <p:nvPicPr>
          <p:cNvPr id="5" name="图片 4"/>
          <p:cNvPicPr>
            <a:picLocks noChangeAspect="1"/>
          </p:cNvPicPr>
          <p:nvPr/>
        </p:nvPicPr>
        <p:blipFill>
          <a:blip r:embed="rId3"/>
          <a:stretch>
            <a:fillRect/>
          </a:stretch>
        </p:blipFill>
        <p:spPr>
          <a:xfrm>
            <a:off x="1703705" y="2925445"/>
            <a:ext cx="8293100" cy="3190875"/>
          </a:xfrm>
          <a:prstGeom prst="rect">
            <a:avLst/>
          </a:prstGeom>
        </p:spPr>
      </p:pic>
      <p:sp>
        <p:nvSpPr>
          <p:cNvPr id="6" name="文本框 5"/>
          <p:cNvSpPr txBox="1"/>
          <p:nvPr/>
        </p:nvSpPr>
        <p:spPr>
          <a:xfrm>
            <a:off x="1271270" y="836930"/>
            <a:ext cx="4064000" cy="583565"/>
          </a:xfrm>
          <a:prstGeom prst="rect">
            <a:avLst/>
          </a:prstGeom>
          <a:noFill/>
        </p:spPr>
        <p:txBody>
          <a:bodyPr wrap="square" rtlCol="0">
            <a:spAutoFit/>
          </a:bodyPr>
          <a:lstStyle/>
          <a:p>
            <a:r>
              <a:rPr lang="en-US" altLang="zh-CN" sz="3200"/>
              <a:t>LeNet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628775"/>
            <a:ext cx="8179435" cy="1476375"/>
          </a:xfrm>
          <a:prstGeom prst="rect">
            <a:avLst/>
          </a:prstGeom>
          <a:noFill/>
        </p:spPr>
        <p:txBody>
          <a:bodyPr wrap="square" rtlCol="0">
            <a:spAutoFit/>
          </a:bodyPr>
          <a:lstStyle/>
          <a:p>
            <a:pPr indent="457200"/>
            <a:r>
              <a:rPr lang="zh-CN" altLang="en-US">
                <a:solidFill>
                  <a:schemeClr val="tx1"/>
                </a:solidFill>
                <a:effectLst>
                  <a:outerShdw blurRad="38100" dist="19050" dir="2700000" algn="tl" rotWithShape="0">
                    <a:schemeClr val="dk1">
                      <a:alpha val="40000"/>
                    </a:schemeClr>
                  </a:outerShdw>
                </a:effectLst>
              </a:rPr>
              <a:t>总体来看，</a:t>
            </a:r>
            <a:r>
              <a:rPr lang="en-US" altLang="zh-CN">
                <a:solidFill>
                  <a:schemeClr val="tx1"/>
                </a:solidFill>
                <a:effectLst>
                  <a:outerShdw blurRad="38100" dist="19050" dir="2700000" algn="tl" rotWithShape="0">
                    <a:schemeClr val="dk1">
                      <a:alpha val="40000"/>
                    </a:schemeClr>
                  </a:outerShdw>
                </a:effectLst>
              </a:rPr>
              <a:t>LeNet</a:t>
            </a:r>
            <a:r>
              <a:rPr lang="zh-CN" altLang="en-US">
                <a:solidFill>
                  <a:schemeClr val="tx1"/>
                </a:solidFill>
                <a:effectLst>
                  <a:outerShdw blurRad="38100" dist="19050" dir="2700000" algn="tl" rotWithShape="0">
                    <a:schemeClr val="dk1">
                      <a:alpha val="40000"/>
                    </a:schemeClr>
                  </a:outerShdw>
                </a:effectLst>
              </a:rPr>
              <a:t>（</a:t>
            </a:r>
            <a:r>
              <a:rPr lang="en-US" altLang="zh-CN">
                <a:solidFill>
                  <a:schemeClr val="tx1"/>
                </a:solidFill>
                <a:effectLst>
                  <a:outerShdw blurRad="38100" dist="19050" dir="2700000" algn="tl" rotWithShape="0">
                    <a:schemeClr val="dk1">
                      <a:alpha val="40000"/>
                    </a:schemeClr>
                  </a:outerShdw>
                </a:effectLst>
              </a:rPr>
              <a:t>LeNet-5</a:t>
            </a:r>
            <a:r>
              <a:rPr lang="zh-CN" altLang="en-US">
                <a:solidFill>
                  <a:schemeClr val="tx1"/>
                </a:solidFill>
                <a:effectLst>
                  <a:outerShdw blurRad="38100" dist="19050" dir="2700000" algn="tl" rotWithShape="0">
                    <a:schemeClr val="dk1">
                      <a:alpha val="40000"/>
                    </a:schemeClr>
                  </a:outerShdw>
                </a:effectLst>
              </a:rPr>
              <a:t>）由两个部分组成：</a:t>
            </a:r>
          </a:p>
          <a:p>
            <a:pPr indent="457200"/>
            <a:endParaRPr lang="en-US" altLang="zh-CN">
              <a:sym typeface="+mn-ea"/>
            </a:endParaRPr>
          </a:p>
          <a:p>
            <a:pPr indent="457200"/>
            <a:r>
              <a:rPr lang="en-US" altLang="zh-CN">
                <a:sym typeface="+mn-ea"/>
              </a:rPr>
              <a:t>•</a:t>
            </a:r>
            <a:r>
              <a:rPr lang="zh-CN" altLang="en-US">
                <a:solidFill>
                  <a:schemeClr val="tx1"/>
                </a:solidFill>
                <a:effectLst>
                  <a:outerShdw blurRad="38100" dist="19050" dir="2700000" algn="tl" rotWithShape="0">
                    <a:schemeClr val="dk1">
                      <a:alpha val="40000"/>
                    </a:schemeClr>
                  </a:outerShdw>
                </a:effectLst>
              </a:rPr>
              <a:t>卷积编码器：由两个卷积层组成。</a:t>
            </a:r>
            <a:endParaRPr lang="en-US" altLang="zh-CN">
              <a:solidFill>
                <a:schemeClr val="tx1"/>
              </a:solidFill>
              <a:effectLst>
                <a:outerShdw blurRad="38100" dist="19050" dir="2700000" algn="tl" rotWithShape="0">
                  <a:schemeClr val="dk1">
                    <a:alpha val="40000"/>
                  </a:schemeClr>
                </a:outerShdw>
              </a:effectLst>
            </a:endParaRPr>
          </a:p>
          <a:p>
            <a:pPr indent="457200"/>
            <a:endParaRPr lang="en-US" altLang="zh-CN">
              <a:sym typeface="+mn-ea"/>
            </a:endParaRPr>
          </a:p>
          <a:p>
            <a:pPr indent="457200"/>
            <a:r>
              <a:rPr lang="en-US" altLang="zh-CN">
                <a:sym typeface="+mn-ea"/>
              </a:rPr>
              <a:t>•</a:t>
            </a:r>
            <a:r>
              <a:rPr lang="zh-CN" altLang="en-US">
                <a:solidFill>
                  <a:schemeClr val="tx1"/>
                </a:solidFill>
                <a:effectLst>
                  <a:outerShdw blurRad="38100" dist="19050" dir="2700000" algn="tl" rotWithShape="0">
                    <a:schemeClr val="dk1">
                      <a:alpha val="40000"/>
                    </a:schemeClr>
                  </a:outerShdw>
                </a:effectLst>
              </a:rPr>
              <a:t>全连接层密集块：由三个全连接层组成。</a:t>
            </a:r>
          </a:p>
        </p:txBody>
      </p:sp>
      <p:pic>
        <p:nvPicPr>
          <p:cNvPr id="6" name="图片 5"/>
          <p:cNvPicPr>
            <a:picLocks noChangeAspect="1"/>
          </p:cNvPicPr>
          <p:nvPr/>
        </p:nvPicPr>
        <p:blipFill>
          <a:blip r:embed="rId3"/>
          <a:stretch>
            <a:fillRect/>
          </a:stretch>
        </p:blipFill>
        <p:spPr>
          <a:xfrm>
            <a:off x="3863975" y="3215640"/>
            <a:ext cx="3219450" cy="3275965"/>
          </a:xfrm>
          <a:prstGeom prst="rect">
            <a:avLst/>
          </a:prstGeom>
        </p:spPr>
      </p:pic>
      <p:sp>
        <p:nvSpPr>
          <p:cNvPr id="5" name="文本框 4"/>
          <p:cNvSpPr txBox="1"/>
          <p:nvPr/>
        </p:nvSpPr>
        <p:spPr>
          <a:xfrm>
            <a:off x="1481455" y="866140"/>
            <a:ext cx="4064000" cy="583565"/>
          </a:xfrm>
          <a:prstGeom prst="rect">
            <a:avLst/>
          </a:prstGeom>
          <a:noFill/>
        </p:spPr>
        <p:txBody>
          <a:bodyPr wrap="square" rtlCol="0">
            <a:spAutoFit/>
          </a:bodyPr>
          <a:lstStyle/>
          <a:p>
            <a:r>
              <a:rPr lang="en-US" altLang="zh-CN" sz="3200"/>
              <a:t>LeNet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628775"/>
            <a:ext cx="8905875" cy="1198880"/>
          </a:xfrm>
          <a:prstGeom prst="rect">
            <a:avLst/>
          </a:prstGeom>
          <a:noFill/>
        </p:spPr>
        <p:txBody>
          <a:bodyPr wrap="square" rtlCol="0">
            <a:spAutoFit/>
          </a:bodyPr>
          <a:lstStyle/>
          <a:p>
            <a:pPr indent="457200"/>
            <a:r>
              <a:rPr lang="zh-CN" altLang="en-US">
                <a:solidFill>
                  <a:schemeClr val="tx1"/>
                </a:solidFill>
                <a:effectLst/>
              </a:rPr>
              <a:t>卷积编码器：每个卷积编码器中的基本单元是一个卷积层、一个</a:t>
            </a:r>
            <a:r>
              <a:rPr lang="en-US" altLang="zh-CN">
                <a:solidFill>
                  <a:schemeClr val="tx1"/>
                </a:solidFill>
                <a:effectLst/>
              </a:rPr>
              <a:t>sigmoid</a:t>
            </a:r>
            <a:r>
              <a:rPr lang="zh-CN" altLang="en-US">
                <a:solidFill>
                  <a:schemeClr val="tx1"/>
                </a:solidFill>
                <a:effectLst/>
              </a:rPr>
              <a:t>激活函数和平均汇聚层（</a:t>
            </a:r>
            <a:r>
              <a:rPr lang="en-US" altLang="zh-CN">
                <a:solidFill>
                  <a:schemeClr val="tx1"/>
                </a:solidFill>
                <a:effectLst/>
              </a:rPr>
              <a:t>average pooling</a:t>
            </a:r>
            <a:r>
              <a:rPr lang="zh-CN" altLang="en-US">
                <a:solidFill>
                  <a:schemeClr val="tx1"/>
                </a:solidFill>
                <a:effectLst/>
              </a:rPr>
              <a:t>）。请注意，虽然</a:t>
            </a:r>
            <a:r>
              <a:rPr lang="en-US" altLang="zh-CN">
                <a:solidFill>
                  <a:schemeClr val="tx1"/>
                </a:solidFill>
                <a:effectLst/>
              </a:rPr>
              <a:t>ReLU</a:t>
            </a:r>
            <a:r>
              <a:rPr lang="zh-CN" altLang="en-US">
                <a:solidFill>
                  <a:schemeClr val="tx1"/>
                </a:solidFill>
                <a:effectLst/>
              </a:rPr>
              <a:t>和最大汇聚层（</a:t>
            </a:r>
            <a:r>
              <a:rPr lang="en-US" altLang="zh-CN">
                <a:solidFill>
                  <a:schemeClr val="tx1"/>
                </a:solidFill>
                <a:effectLst/>
              </a:rPr>
              <a:t>max pooling</a:t>
            </a:r>
            <a:r>
              <a:rPr lang="zh-CN" altLang="en-US">
                <a:solidFill>
                  <a:schemeClr val="tx1"/>
                </a:solidFill>
                <a:effectLst/>
              </a:rPr>
              <a:t>）更有效，但它们在</a:t>
            </a:r>
            <a:r>
              <a:rPr lang="en-US" altLang="zh-CN">
                <a:solidFill>
                  <a:schemeClr val="tx1"/>
                </a:solidFill>
                <a:effectLst/>
              </a:rPr>
              <a:t>20</a:t>
            </a:r>
            <a:r>
              <a:rPr lang="zh-CN" altLang="en-US">
                <a:solidFill>
                  <a:schemeClr val="tx1"/>
                </a:solidFill>
                <a:effectLst/>
              </a:rPr>
              <a:t>世纪</a:t>
            </a:r>
            <a:r>
              <a:rPr lang="en-US" altLang="zh-CN">
                <a:solidFill>
                  <a:schemeClr val="tx1"/>
                </a:solidFill>
                <a:effectLst/>
              </a:rPr>
              <a:t>90</a:t>
            </a:r>
            <a:r>
              <a:rPr lang="zh-CN" altLang="en-US">
                <a:solidFill>
                  <a:schemeClr val="tx1"/>
                </a:solidFill>
                <a:effectLst/>
              </a:rPr>
              <a:t>年代还没有出现</a:t>
            </a:r>
            <a:r>
              <a:rPr lang="zh-CN" altLang="en-US">
                <a:solidFill>
                  <a:schemeClr val="tx1"/>
                </a:solidFill>
                <a:effectLst>
                  <a:outerShdw blurRad="38100" dist="19050" dir="2700000" algn="tl" rotWithShape="0">
                    <a:schemeClr val="dk1">
                      <a:alpha val="40000"/>
                    </a:schemeClr>
                  </a:outerShdw>
                </a:effectLst>
              </a:rPr>
              <a:t>。</a:t>
            </a:r>
          </a:p>
          <a:p>
            <a:pPr indent="457200"/>
            <a:endParaRPr lang="zh-CN" altLang="en-US">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73530" y="948690"/>
            <a:ext cx="4064000" cy="583565"/>
          </a:xfrm>
          <a:prstGeom prst="rect">
            <a:avLst/>
          </a:prstGeom>
          <a:noFill/>
        </p:spPr>
        <p:txBody>
          <a:bodyPr wrap="square" rtlCol="0">
            <a:spAutoFit/>
          </a:bodyPr>
          <a:lstStyle/>
          <a:p>
            <a:r>
              <a:rPr lang="en-US" altLang="zh-CN" sz="3200"/>
              <a:t>LeNet</a:t>
            </a:r>
          </a:p>
        </p:txBody>
      </p:sp>
      <p:pic>
        <p:nvPicPr>
          <p:cNvPr id="8" name="图片 7"/>
          <p:cNvPicPr>
            <a:picLocks noChangeAspect="1"/>
          </p:cNvPicPr>
          <p:nvPr/>
        </p:nvPicPr>
        <p:blipFill>
          <a:blip r:embed="rId3"/>
          <a:stretch>
            <a:fillRect/>
          </a:stretch>
        </p:blipFill>
        <p:spPr>
          <a:xfrm>
            <a:off x="2567305" y="2791460"/>
            <a:ext cx="4132580" cy="31527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628775"/>
            <a:ext cx="9638030" cy="1753235"/>
          </a:xfrm>
          <a:prstGeom prst="rect">
            <a:avLst/>
          </a:prstGeom>
          <a:noFill/>
        </p:spPr>
        <p:txBody>
          <a:bodyPr wrap="square" rtlCol="0">
            <a:spAutoFit/>
          </a:bodyPr>
          <a:lstStyle/>
          <a:p>
            <a:pPr indent="457200"/>
            <a:r>
              <a:rPr lang="zh-CN" altLang="en-US" dirty="0">
                <a:sym typeface="+mn-ea"/>
              </a:rPr>
              <a:t>卷积层的核心操作是使用一个比输入图像矩阵更小或相等的二维卷积核，对图像进行逐步计算。卷积核在输入矩阵上滑动，每次移动时执行</a:t>
            </a:r>
            <a:r>
              <a:rPr lang="zh-CN" altLang="en-US" dirty="0">
                <a:solidFill>
                  <a:srgbClr val="FF0000"/>
                </a:solidFill>
                <a:sym typeface="+mn-ea"/>
              </a:rPr>
              <a:t>对应元素的乘积求和</a:t>
            </a:r>
            <a:r>
              <a:rPr lang="zh-CN" altLang="en-US" dirty="0">
                <a:sym typeface="+mn-ea"/>
              </a:rPr>
              <a:t>，并将结果赋值给特征图的相应位置。该过程不仅提取关键信息，还实现降维，从而突出图像的显著特征。计算所得的新矩阵称为</a:t>
            </a:r>
            <a:r>
              <a:rPr lang="zh-CN" altLang="en-US" b="1" dirty="0">
                <a:sym typeface="+mn-ea"/>
              </a:rPr>
              <a:t>特征图（</a:t>
            </a:r>
            <a:r>
              <a:rPr lang="en-US" altLang="zh-CN" b="1" dirty="0">
                <a:latin typeface="Times New Roman" panose="02020603050405020304" pitchFamily="18" charset="0"/>
                <a:cs typeface="Times New Roman" panose="02020603050405020304" pitchFamily="18" charset="0"/>
                <a:sym typeface="+mn-ea"/>
              </a:rPr>
              <a:t>Feature Map</a:t>
            </a:r>
            <a:r>
              <a:rPr lang="zh-CN" altLang="en-US" b="1" dirty="0">
                <a:sym typeface="+mn-ea"/>
              </a:rPr>
              <a:t>）</a:t>
            </a:r>
            <a:r>
              <a:rPr lang="zh-CN" altLang="en-US" dirty="0">
                <a:sym typeface="+mn-ea"/>
              </a:rPr>
              <a:t>，其中卷积核的移动与计算过程决定了最终的特征表示。</a:t>
            </a:r>
            <a:r>
              <a:rPr lang="zh-CN" altLang="en-US" dirty="0">
                <a:solidFill>
                  <a:srgbClr val="4D4D4D"/>
                </a:solidFill>
                <a:effectLst/>
                <a:latin typeface="-apple-system"/>
                <a:sym typeface="+mn-ea"/>
              </a:rPr>
              <a:t>比如该动图中，下方移动的深蓝色正方形就是卷积核，上方不动的青色正方形就是特征图。</a:t>
            </a:r>
            <a:endParaRPr lang="en-US" altLang="zh-CN" b="0" i="0" dirty="0">
              <a:solidFill>
                <a:srgbClr val="4D4D4D"/>
              </a:solidFill>
              <a:effectLst/>
              <a:latin typeface="-apple-system"/>
            </a:endParaRPr>
          </a:p>
          <a:p>
            <a:pPr indent="457200"/>
            <a:endParaRPr lang="zh-CN" altLang="en-US">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73530" y="948690"/>
            <a:ext cx="4064000" cy="583565"/>
          </a:xfrm>
          <a:prstGeom prst="rect">
            <a:avLst/>
          </a:prstGeom>
          <a:noFill/>
        </p:spPr>
        <p:txBody>
          <a:bodyPr wrap="square" rtlCol="0">
            <a:spAutoFit/>
          </a:bodyPr>
          <a:lstStyle/>
          <a:p>
            <a:r>
              <a:rPr lang="en-US" altLang="zh-CN" sz="3200"/>
              <a:t>LeNet</a:t>
            </a:r>
          </a:p>
        </p:txBody>
      </p:sp>
      <p:pic>
        <p:nvPicPr>
          <p:cNvPr id="44034" name="Picture 2" descr="请添加图片描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839" y="3188737"/>
            <a:ext cx="3456384" cy="36688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628775"/>
            <a:ext cx="9638030" cy="1198880"/>
          </a:xfrm>
          <a:prstGeom prst="rect">
            <a:avLst/>
          </a:prstGeom>
          <a:noFill/>
        </p:spPr>
        <p:txBody>
          <a:bodyPr wrap="square" rtlCol="0">
            <a:spAutoFit/>
          </a:bodyPr>
          <a:lstStyle/>
          <a:p>
            <a:pPr indent="457200"/>
            <a:r>
              <a:rPr lang="zh-CN" altLang="en-US" dirty="0">
                <a:sym typeface="+mn-ea"/>
              </a:rPr>
              <a:t>在卷积操作中，中心区域因多次计算而特征提取较充分，而边缘区域仅计算一次，可能导致特征丢失，影响准确性。为解决此问题，可在输入图像的二维矩阵周围扩展一圈或多圈，使所有位置均能公平计算，从而保留完整的特征信息。这一方法称为 </a:t>
            </a:r>
            <a:r>
              <a:rPr lang="en-US" altLang="zh-CN" b="1" dirty="0">
                <a:latin typeface="Times New Roman" panose="02020603050405020304" pitchFamily="18" charset="0"/>
                <a:cs typeface="Times New Roman" panose="02020603050405020304" pitchFamily="18" charset="0"/>
                <a:sym typeface="+mn-ea"/>
              </a:rPr>
              <a:t>Padding</a:t>
            </a:r>
            <a:r>
              <a:rPr lang="zh-CN" altLang="en-US" b="1" dirty="0">
                <a:sym typeface="+mn-ea"/>
              </a:rPr>
              <a:t>（填充）</a:t>
            </a:r>
            <a:r>
              <a:rPr lang="zh-CN" altLang="en-US" dirty="0">
                <a:sym typeface="+mn-ea"/>
              </a:rPr>
              <a:t>，有效改善边缘特征提取，提高模型的性能和鲁棒性。</a:t>
            </a:r>
            <a:endParaRPr lang="zh-CN" altLang="en-US">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73530" y="948690"/>
            <a:ext cx="4064000" cy="583565"/>
          </a:xfrm>
          <a:prstGeom prst="rect">
            <a:avLst/>
          </a:prstGeom>
          <a:noFill/>
        </p:spPr>
        <p:txBody>
          <a:bodyPr wrap="square" rtlCol="0">
            <a:spAutoFit/>
          </a:bodyPr>
          <a:lstStyle/>
          <a:p>
            <a:r>
              <a:rPr lang="en-US" altLang="zh-CN" sz="3200"/>
              <a:t>LeNet</a:t>
            </a:r>
          </a:p>
        </p:txBody>
      </p:sp>
      <p:pic>
        <p:nvPicPr>
          <p:cNvPr id="450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09" y="3645024"/>
            <a:ext cx="2780999" cy="3161186"/>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6026" y="3717322"/>
            <a:ext cx="2752020" cy="301332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1955165" y="3069590"/>
            <a:ext cx="9133205" cy="645160"/>
          </a:xfrm>
          <a:prstGeom prst="rect">
            <a:avLst/>
          </a:prstGeom>
          <a:noFill/>
        </p:spPr>
        <p:txBody>
          <a:bodyPr wrap="square" rtlCol="0">
            <a:spAutoFit/>
          </a:bodyPr>
          <a:lstStyle/>
          <a:p>
            <a:r>
              <a:rPr lang="zh-CN" altLang="en-US"/>
              <a:t>（</a:t>
            </a:r>
            <a:r>
              <a:rPr lang="en-US" altLang="zh-CN"/>
              <a:t>1</a:t>
            </a:r>
            <a:r>
              <a:rPr lang="zh-CN" altLang="en-US"/>
              <a:t>）</a:t>
            </a:r>
            <a:r>
              <a:rPr lang="en-US" altLang="zh-CN"/>
              <a:t>Padding</a:t>
            </a:r>
            <a:r>
              <a:rPr lang="zh-CN" altLang="en-US"/>
              <a:t>取值为</a:t>
            </a:r>
            <a:r>
              <a:rPr lang="en-US" altLang="zh-CN"/>
              <a:t>1</a:t>
            </a:r>
            <a:r>
              <a:rPr lang="zh-CN" altLang="en-US"/>
              <a:t>，填充一圈</a:t>
            </a:r>
            <a:r>
              <a:rPr lang="en-US" altLang="zh-CN"/>
              <a:t>                            </a:t>
            </a:r>
            <a:r>
              <a:rPr lang="zh-CN" altLang="en-US">
                <a:sym typeface="+mn-ea"/>
              </a:rPr>
              <a:t>（</a:t>
            </a:r>
            <a:r>
              <a:rPr lang="en-US" altLang="zh-CN">
                <a:sym typeface="+mn-ea"/>
              </a:rPr>
              <a:t>2</a:t>
            </a:r>
            <a:r>
              <a:rPr lang="zh-CN" altLang="en-US">
                <a:sym typeface="+mn-ea"/>
              </a:rPr>
              <a:t>）</a:t>
            </a:r>
            <a:r>
              <a:rPr lang="en-US" altLang="zh-CN">
                <a:sym typeface="+mn-ea"/>
              </a:rPr>
              <a:t>Padding</a:t>
            </a:r>
            <a:r>
              <a:rPr lang="zh-CN" altLang="en-US">
                <a:sym typeface="+mn-ea"/>
              </a:rPr>
              <a:t>取值为</a:t>
            </a:r>
            <a:r>
              <a:rPr lang="en-US" altLang="zh-CN">
                <a:sym typeface="+mn-ea"/>
              </a:rPr>
              <a:t>2</a:t>
            </a:r>
            <a:r>
              <a:rPr lang="zh-CN" altLang="en-US">
                <a:sym typeface="+mn-ea"/>
              </a:rPr>
              <a:t>，填充一圈</a:t>
            </a:r>
            <a:endParaRPr lang="zh-CN" altLang="en-US"/>
          </a:p>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sym typeface="+mn-ea"/>
              </a:rPr>
              <a:t>图像分类</a:t>
            </a:r>
            <a:endParaRPr lang="zh-CN" altLang="en-US" sz="3200" b="1" dirty="0"/>
          </a:p>
        </p:txBody>
      </p:sp>
      <p:sp>
        <p:nvSpPr>
          <p:cNvPr id="4" name="Title 1"/>
          <p:cNvSpPr txBox="1"/>
          <p:nvPr/>
        </p:nvSpPr>
        <p:spPr>
          <a:xfrm>
            <a:off x="1270985" y="106209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endParaRPr lang="zh-CN" altLang="en-US" sz="3200" dirty="0"/>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628775"/>
            <a:ext cx="9638030" cy="2030095"/>
          </a:xfrm>
          <a:prstGeom prst="rect">
            <a:avLst/>
          </a:prstGeom>
          <a:noFill/>
        </p:spPr>
        <p:txBody>
          <a:bodyPr wrap="square" rtlCol="0">
            <a:spAutoFit/>
          </a:bodyPr>
          <a:lstStyle/>
          <a:p>
            <a:pPr indent="457200">
              <a:buNone/>
            </a:pPr>
            <a:r>
              <a:rPr lang="zh-CN" altLang="en-US" dirty="0">
                <a:sym typeface="+mn-ea"/>
              </a:rPr>
              <a:t>在卷积神经网络中，每个卷积核都会生成一个特征图，因此随着卷积核数量的增加，提取的特征也会增多。然而，并非所有特征都是有用的，许多冗余特征可能导致以下问题：</a:t>
            </a:r>
            <a:endParaRPr lang="zh-CN" altLang="en-US" dirty="0"/>
          </a:p>
          <a:p>
            <a:pPr marL="342900" indent="-342900">
              <a:buFont typeface="Arial" panose="020B0604020202020204" pitchFamily="34" charset="0"/>
              <a:buChar char="•"/>
            </a:pPr>
            <a:r>
              <a:rPr lang="zh-CN" altLang="en-US" b="1" dirty="0">
                <a:sym typeface="+mn-ea"/>
              </a:rPr>
              <a:t>过拟合</a:t>
            </a:r>
            <a:r>
              <a:rPr lang="zh-CN" altLang="en-US" dirty="0">
                <a:sym typeface="+mn-ea"/>
              </a:rPr>
              <a:t>：模型可能过度拟合训练数据，影响泛化能力。</a:t>
            </a:r>
            <a:endParaRPr lang="zh-CN" altLang="en-US" dirty="0"/>
          </a:p>
          <a:p>
            <a:pPr marL="342900" indent="-342900">
              <a:buFont typeface="Arial" panose="020B0604020202020204" pitchFamily="34" charset="0"/>
              <a:buChar char="•"/>
            </a:pPr>
            <a:r>
              <a:rPr lang="zh-CN" altLang="en-US" b="1" dirty="0">
                <a:sym typeface="+mn-ea"/>
              </a:rPr>
              <a:t>维度过高</a:t>
            </a:r>
            <a:r>
              <a:rPr lang="zh-CN" altLang="en-US" dirty="0">
                <a:sym typeface="+mn-ea"/>
              </a:rPr>
              <a:t>：计算量增加，影响训练效率和存储需求。</a:t>
            </a:r>
            <a:endParaRPr lang="zh-CN" altLang="en-US" dirty="0"/>
          </a:p>
          <a:p>
            <a:pPr indent="457200"/>
            <a:r>
              <a:rPr lang="zh-CN" altLang="en-US" dirty="0">
                <a:sym typeface="+mn-ea"/>
              </a:rPr>
              <a:t>为了解决这些问题，可以引入</a:t>
            </a:r>
            <a:r>
              <a:rPr lang="zh-CN" altLang="en-US" b="1" dirty="0">
                <a:sym typeface="+mn-ea"/>
              </a:rPr>
              <a:t>池化层（</a:t>
            </a:r>
            <a:r>
              <a:rPr lang="en-US" altLang="zh-CN" b="1" dirty="0">
                <a:latin typeface="Times New Roman" panose="02020603050405020304" pitchFamily="18" charset="0"/>
                <a:cs typeface="Times New Roman" panose="02020603050405020304" pitchFamily="18" charset="0"/>
                <a:sym typeface="+mn-ea"/>
              </a:rPr>
              <a:t>Pooling Layer</a:t>
            </a:r>
            <a:r>
              <a:rPr lang="zh-CN" altLang="en-US" b="1" dirty="0">
                <a:sym typeface="+mn-ea"/>
              </a:rPr>
              <a:t>）</a:t>
            </a:r>
            <a:r>
              <a:rPr lang="zh-CN" altLang="en-US" dirty="0">
                <a:sym typeface="+mn-ea"/>
              </a:rPr>
              <a:t>，也称为</a:t>
            </a:r>
            <a:r>
              <a:rPr lang="zh-CN" altLang="en-US" b="1" dirty="0">
                <a:sym typeface="+mn-ea"/>
              </a:rPr>
              <a:t>下采样（</a:t>
            </a:r>
            <a:r>
              <a:rPr lang="en-US" altLang="zh-CN" b="1" dirty="0" err="1">
                <a:latin typeface="Times New Roman" panose="02020603050405020304" pitchFamily="18" charset="0"/>
                <a:cs typeface="Times New Roman" panose="02020603050405020304" pitchFamily="18" charset="0"/>
                <a:sym typeface="+mn-ea"/>
              </a:rPr>
              <a:t>Downsampling</a:t>
            </a:r>
            <a:r>
              <a:rPr lang="zh-CN" altLang="en-US" b="1" dirty="0">
                <a:sym typeface="+mn-ea"/>
              </a:rPr>
              <a:t>）</a:t>
            </a:r>
            <a:r>
              <a:rPr lang="zh-CN" altLang="en-US" dirty="0">
                <a:sym typeface="+mn-ea"/>
              </a:rPr>
              <a:t>。池化层的作用是在卷积操作后对特征图进行筛选，仅保留最具代表性的特征，减少数据冗余，同时降低模型复杂度。</a:t>
            </a:r>
            <a:endParaRPr lang="zh-CN" altLang="en-US">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73530" y="948690"/>
            <a:ext cx="4064000" cy="583565"/>
          </a:xfrm>
          <a:prstGeom prst="rect">
            <a:avLst/>
          </a:prstGeom>
          <a:noFill/>
        </p:spPr>
        <p:txBody>
          <a:bodyPr wrap="square" rtlCol="0">
            <a:spAutoFit/>
          </a:bodyPr>
          <a:lstStyle/>
          <a:p>
            <a:r>
              <a:rPr lang="en-US" altLang="zh-CN" sz="3200"/>
              <a:t>LeNet</a:t>
            </a:r>
          </a:p>
        </p:txBody>
      </p:sp>
      <p:pic>
        <p:nvPicPr>
          <p:cNvPr id="47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567" y="3861558"/>
            <a:ext cx="4464496" cy="2500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pPr>
              <a:defRPr/>
            </a:pPr>
            <a:r>
              <a:rPr lang="zh-CN" altLang="en-US" sz="3200" b="1" dirty="0">
                <a:sym typeface="+mn-ea"/>
              </a:rPr>
              <a:t>图像分类</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54685" y="768003"/>
            <a:ext cx="10801200" cy="1322070"/>
          </a:xfrm>
          <a:prstGeom prst="rect">
            <a:avLst/>
          </a:prstGeom>
          <a:noFill/>
        </p:spPr>
        <p:txBody>
          <a:bodyPr wrap="square" rtlCol="0">
            <a:spAutoFit/>
          </a:bodyPr>
          <a:lstStyle/>
          <a:p>
            <a:r>
              <a:rPr lang="en-US" altLang="zh-CN" sz="3200" dirty="0">
                <a:solidFill>
                  <a:srgbClr val="4D4D4D"/>
                </a:solidFill>
                <a:latin typeface="+mj-ea"/>
                <a:ea typeface="+mj-ea"/>
              </a:rPr>
              <a:t>LeNet</a:t>
            </a:r>
            <a:endParaRPr lang="zh-CN" altLang="en-US" sz="3200" dirty="0">
              <a:solidFill>
                <a:srgbClr val="4D4D4D"/>
              </a:solidFill>
              <a:latin typeface="+mj-ea"/>
              <a:ea typeface="+mj-ea"/>
            </a:endParaRPr>
          </a:p>
          <a:p>
            <a:pPr indent="457200"/>
            <a:r>
              <a:rPr lang="zh-CN" altLang="en-US" sz="2400" dirty="0">
                <a:solidFill>
                  <a:srgbClr val="4D4D4D"/>
                </a:solidFill>
                <a:latin typeface="-apple-system"/>
              </a:rPr>
              <a:t>平均</a:t>
            </a:r>
            <a:r>
              <a:rPr lang="zh-CN" altLang="en-US" sz="2400" b="0" i="0" dirty="0">
                <a:solidFill>
                  <a:srgbClr val="4D4D4D"/>
                </a:solidFill>
                <a:effectLst/>
                <a:latin typeface="-apple-system"/>
              </a:rPr>
              <a:t>池化</a:t>
            </a:r>
            <a:r>
              <a:rPr lang="zh-CN" altLang="en-US" sz="2400" dirty="0">
                <a:solidFill>
                  <a:srgbClr val="4D4D4D"/>
                </a:solidFill>
                <a:latin typeface="-apple-system"/>
              </a:rPr>
              <a:t>：</a:t>
            </a:r>
            <a:r>
              <a:rPr lang="zh-CN" altLang="en-US" sz="2400" b="0" i="0" dirty="0">
                <a:solidFill>
                  <a:srgbClr val="4D4D4D"/>
                </a:solidFill>
                <a:effectLst/>
                <a:latin typeface="-apple-system"/>
              </a:rPr>
              <a:t>取此正方形区域中所有值的平均值，考虑到每个位置的值对于此处特征的影响。</a:t>
            </a:r>
            <a:endParaRPr lang="en-US" altLang="zh-CN" sz="2400" b="0" i="0" dirty="0">
              <a:solidFill>
                <a:srgbClr val="4D4D4D"/>
              </a:solidFill>
              <a:effectLst/>
              <a:latin typeface="-apple-system"/>
            </a:endParaRPr>
          </a:p>
        </p:txBody>
      </p:sp>
      <p:sp>
        <p:nvSpPr>
          <p:cNvPr id="5" name="文本框 4"/>
          <p:cNvSpPr txBox="1"/>
          <p:nvPr/>
        </p:nvSpPr>
        <p:spPr>
          <a:xfrm>
            <a:off x="5879976" y="2564904"/>
            <a:ext cx="5675909" cy="2831544"/>
          </a:xfrm>
          <a:prstGeom prst="rect">
            <a:avLst/>
          </a:prstGeom>
          <a:noFill/>
        </p:spPr>
        <p:txBody>
          <a:bodyPr wrap="square" rtlCol="0">
            <a:spAutoFit/>
          </a:bodyPr>
          <a:lstStyle/>
          <a:p>
            <a:r>
              <a:rPr lang="zh-CN" altLang="en-US" dirty="0"/>
              <a:t>参数说明：</a:t>
            </a:r>
            <a:endParaRPr lang="en-US" altLang="zh-CN" dirty="0"/>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kernel_size = 2</a:t>
            </a:r>
            <a:r>
              <a:rPr lang="zh-CN" altLang="en-US" sz="2000" dirty="0">
                <a:latin typeface="Times New Roman" panose="02020603050405020304" pitchFamily="18" charset="0"/>
                <a:ea typeface="宋体" panose="02010600030101010101" pitchFamily="2" charset="-122"/>
              </a:rPr>
              <a:t>：池化过程使用的正方形尺寸是</a:t>
            </a:r>
            <a:r>
              <a:rPr lang="en-US" altLang="zh-CN" sz="2000" dirty="0">
                <a:latin typeface="Times New Roman" panose="02020603050405020304" pitchFamily="18" charset="0"/>
                <a:ea typeface="宋体" panose="02010600030101010101" pitchFamily="2" charset="-122"/>
              </a:rPr>
              <a:t>2×2</a:t>
            </a:r>
            <a:r>
              <a:rPr lang="zh-CN" altLang="en-US" sz="2000" dirty="0">
                <a:latin typeface="Times New Roman" panose="02020603050405020304" pitchFamily="18" charset="0"/>
                <a:ea typeface="宋体" panose="02010600030101010101" pitchFamily="2" charset="-122"/>
              </a:rPr>
              <a:t>，如果是在卷积的过程中就说明卷积核的大小是</a:t>
            </a:r>
            <a:r>
              <a:rPr lang="en-US" altLang="zh-CN" sz="2000" dirty="0">
                <a:latin typeface="Times New Roman" panose="02020603050405020304" pitchFamily="18" charset="0"/>
                <a:ea typeface="宋体" panose="02010600030101010101" pitchFamily="2" charset="-122"/>
              </a:rPr>
              <a:t>2×2      </a:t>
            </a: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stride = 2</a:t>
            </a:r>
            <a:r>
              <a:rPr lang="zh-CN" altLang="en-US" sz="2000" dirty="0">
                <a:latin typeface="Times New Roman" panose="02020603050405020304" pitchFamily="18" charset="0"/>
                <a:ea typeface="宋体" panose="02010600030101010101" pitchFamily="2" charset="-122"/>
              </a:rPr>
              <a:t>：每次正方形移动两个位置（从左到右，从上到下），这个过程其实和卷积的操作过程一样      </a:t>
            </a:r>
            <a:endParaRPr lang="en-US" altLang="zh-CN" sz="2000" dirty="0">
              <a:latin typeface="Times New Roman" panose="02020603050405020304" pitchFamily="18" charset="0"/>
              <a:ea typeface="宋体" panose="02010600030101010101" pitchFamily="2" charset="-122"/>
            </a:endParaRP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padding = 0</a:t>
            </a:r>
            <a:r>
              <a:rPr lang="zh-CN" altLang="en-US" sz="2000" dirty="0">
                <a:latin typeface="Times New Roman" panose="02020603050405020304" pitchFamily="18" charset="0"/>
                <a:ea typeface="宋体" panose="02010600030101010101" pitchFamily="2" charset="-122"/>
              </a:rPr>
              <a:t>：如果此值为</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，说明没有进行拓展</a:t>
            </a:r>
          </a:p>
        </p:txBody>
      </p:sp>
      <p:pic>
        <p:nvPicPr>
          <p:cNvPr id="512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85" y="2276872"/>
            <a:ext cx="5021948" cy="3628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pPr>
              <a:defRPr/>
            </a:pPr>
            <a:r>
              <a:rPr lang="zh-CN" altLang="en-US" sz="3200" b="1" dirty="0">
                <a:sym typeface="+mn-ea"/>
              </a:rPr>
              <a:t>图像分类</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67408" y="741221"/>
            <a:ext cx="10801200" cy="1322070"/>
          </a:xfrm>
          <a:prstGeom prst="rect">
            <a:avLst/>
          </a:prstGeom>
          <a:noFill/>
        </p:spPr>
        <p:txBody>
          <a:bodyPr wrap="square" rtlCol="0">
            <a:spAutoFit/>
          </a:bodyPr>
          <a:lstStyle/>
          <a:p>
            <a:pPr marL="0" indent="0">
              <a:buFont typeface="Wingdings" panose="05000000000000000000" pitchFamily="2" charset="2"/>
              <a:buNone/>
            </a:pPr>
            <a:r>
              <a:rPr lang="en-US" altLang="zh-CN" sz="3200" dirty="0">
                <a:latin typeface="+mj-ea"/>
                <a:ea typeface="+mj-ea"/>
              </a:rPr>
              <a:t>LeNet</a:t>
            </a:r>
          </a:p>
          <a:p>
            <a:pPr indent="457200"/>
            <a:r>
              <a:rPr lang="zh-CN" altLang="en-US" sz="2400" b="0" i="0" dirty="0">
                <a:solidFill>
                  <a:srgbClr val="4D4D4D"/>
                </a:solidFill>
                <a:effectLst/>
                <a:latin typeface="-apple-system"/>
              </a:rPr>
              <a:t>最大池化</a:t>
            </a:r>
            <a:r>
              <a:rPr lang="zh-CN" altLang="en-US" sz="2400" dirty="0">
                <a:solidFill>
                  <a:srgbClr val="4D4D4D"/>
                </a:solidFill>
                <a:latin typeface="-apple-system"/>
              </a:rPr>
              <a:t>：</a:t>
            </a:r>
            <a:r>
              <a:rPr lang="zh-CN" altLang="en-US" sz="2400" b="0" i="0" dirty="0">
                <a:solidFill>
                  <a:srgbClr val="4D4D4D"/>
                </a:solidFill>
                <a:effectLst/>
                <a:latin typeface="-apple-system"/>
              </a:rPr>
              <a:t>每次取正方形中所有值的最大值，这个最大值也就相当于当前位置最具有代表性的特征。</a:t>
            </a:r>
            <a:endParaRPr lang="en-US" altLang="zh-CN" sz="2400" b="0" i="0" dirty="0">
              <a:solidFill>
                <a:srgbClr val="4D4D4D"/>
              </a:solidFill>
              <a:effectLst/>
              <a:latin typeface="-apple-system"/>
            </a:endParaRPr>
          </a:p>
        </p:txBody>
      </p:sp>
      <p:pic>
        <p:nvPicPr>
          <p:cNvPr id="49154" name="Picture 2" descr="请添加图片描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16" y="2348880"/>
            <a:ext cx="4871375" cy="335993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5879976" y="2564904"/>
            <a:ext cx="5675909" cy="2831544"/>
          </a:xfrm>
          <a:prstGeom prst="rect">
            <a:avLst/>
          </a:prstGeom>
          <a:noFill/>
        </p:spPr>
        <p:txBody>
          <a:bodyPr wrap="square" rtlCol="0">
            <a:spAutoFit/>
          </a:bodyPr>
          <a:lstStyle/>
          <a:p>
            <a:r>
              <a:rPr lang="zh-CN" altLang="en-US" dirty="0"/>
              <a:t>参数说明：</a:t>
            </a:r>
            <a:endParaRPr lang="en-US" altLang="zh-CN" dirty="0"/>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kernel_size = 2</a:t>
            </a:r>
            <a:r>
              <a:rPr lang="zh-CN" altLang="en-US" sz="2000" dirty="0">
                <a:latin typeface="Times New Roman" panose="02020603050405020304" pitchFamily="18" charset="0"/>
                <a:ea typeface="宋体" panose="02010600030101010101" pitchFamily="2" charset="-122"/>
              </a:rPr>
              <a:t>：池化过程使用的正方形尺寸是</a:t>
            </a:r>
            <a:r>
              <a:rPr lang="en-US" altLang="zh-CN" sz="2000" dirty="0">
                <a:latin typeface="Times New Roman" panose="02020603050405020304" pitchFamily="18" charset="0"/>
                <a:ea typeface="宋体" panose="02010600030101010101" pitchFamily="2" charset="-122"/>
              </a:rPr>
              <a:t>2×2</a:t>
            </a:r>
            <a:r>
              <a:rPr lang="zh-CN" altLang="en-US" sz="2000" dirty="0">
                <a:latin typeface="Times New Roman" panose="02020603050405020304" pitchFamily="18" charset="0"/>
                <a:ea typeface="宋体" panose="02010600030101010101" pitchFamily="2" charset="-122"/>
              </a:rPr>
              <a:t>，如果是在卷积的过程中就说明卷积核的大小是</a:t>
            </a:r>
            <a:r>
              <a:rPr lang="en-US" altLang="zh-CN" sz="2000" dirty="0">
                <a:latin typeface="Times New Roman" panose="02020603050405020304" pitchFamily="18" charset="0"/>
                <a:ea typeface="宋体" panose="02010600030101010101" pitchFamily="2" charset="-122"/>
              </a:rPr>
              <a:t>2×2      </a:t>
            </a: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stride = 2</a:t>
            </a:r>
            <a:r>
              <a:rPr lang="zh-CN" altLang="en-US" sz="2000" dirty="0">
                <a:latin typeface="Times New Roman" panose="02020603050405020304" pitchFamily="18" charset="0"/>
                <a:ea typeface="宋体" panose="02010600030101010101" pitchFamily="2" charset="-122"/>
              </a:rPr>
              <a:t>：每次正方形移动两个位置（从左到右，从上到下），这个过程其实和卷积的操作过程一样      </a:t>
            </a:r>
            <a:endParaRPr lang="en-US" altLang="zh-CN" sz="2000" dirty="0">
              <a:latin typeface="Times New Roman" panose="02020603050405020304" pitchFamily="18" charset="0"/>
              <a:ea typeface="宋体" panose="02010600030101010101" pitchFamily="2" charset="-122"/>
            </a:endParaRP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padding = 0</a:t>
            </a:r>
            <a:r>
              <a:rPr lang="zh-CN" altLang="en-US" sz="2000" dirty="0">
                <a:latin typeface="Times New Roman" panose="02020603050405020304" pitchFamily="18" charset="0"/>
                <a:ea typeface="宋体" panose="02010600030101010101" pitchFamily="2" charset="-122"/>
              </a:rPr>
              <a:t>：如果此值为</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，说明没有进行拓展</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pPr>
              <a:defRPr/>
            </a:pPr>
            <a:r>
              <a:rPr lang="zh-CN" altLang="en-US" sz="3200" b="1" dirty="0">
                <a:sym typeface="+mn-ea"/>
              </a:rPr>
              <a:t>图像分类</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54685" y="768003"/>
            <a:ext cx="10885931" cy="2061210"/>
          </a:xfrm>
          <a:prstGeom prst="rect">
            <a:avLst/>
          </a:prstGeom>
          <a:noFill/>
        </p:spPr>
        <p:txBody>
          <a:bodyPr wrap="square" rtlCol="0">
            <a:spAutoFit/>
          </a:bodyPr>
          <a:lstStyle/>
          <a:p>
            <a:r>
              <a:rPr lang="en-US" altLang="zh-CN" sz="3200" dirty="0"/>
              <a:t>LeNet</a:t>
            </a:r>
          </a:p>
          <a:p>
            <a:pPr indent="457200"/>
            <a:r>
              <a:rPr lang="zh-CN" altLang="en-US" sz="2400" dirty="0"/>
              <a:t>在完成卷积和池化操作后，需要将所有特征图</a:t>
            </a:r>
            <a:r>
              <a:rPr lang="zh-CN" altLang="en-US" sz="2400" b="1" dirty="0"/>
              <a:t>展平</a:t>
            </a:r>
            <a:r>
              <a:rPr lang="zh-CN" altLang="en-US" sz="2400" dirty="0"/>
              <a:t>，将其维度转换为</a:t>
            </a:r>
            <a:r>
              <a:rPr lang="zh-CN" altLang="en-US" sz="2400" b="1" dirty="0"/>
              <a:t>（</a:t>
            </a:r>
            <a:r>
              <a:rPr lang="en-US" altLang="zh-CN" sz="2400" b="1" dirty="0">
                <a:latin typeface="Times New Roman" panose="02020603050405020304" pitchFamily="18" charset="0"/>
                <a:cs typeface="Times New Roman" panose="02020603050405020304" pitchFamily="18" charset="0"/>
              </a:rPr>
              <a:t>1×x</a:t>
            </a:r>
            <a:r>
              <a:rPr lang="en-US" altLang="zh-CN" sz="2400" b="1" dirty="0"/>
              <a:t> </a:t>
            </a:r>
            <a:r>
              <a:rPr lang="zh-CN" altLang="en-US" sz="2400" b="1" dirty="0"/>
              <a:t>）</a:t>
            </a:r>
            <a:r>
              <a:rPr lang="zh-CN" altLang="en-US" sz="2400" dirty="0"/>
              <a:t>，这一过程称为</a:t>
            </a:r>
            <a:r>
              <a:rPr lang="zh-CN" altLang="en-US" sz="2400" b="1" dirty="0"/>
              <a:t>全连接（</a:t>
            </a:r>
            <a:r>
              <a:rPr lang="en-US" altLang="zh-CN" sz="2400" b="1" dirty="0">
                <a:latin typeface="Times New Roman" panose="02020603050405020304" pitchFamily="18" charset="0"/>
                <a:cs typeface="Times New Roman" panose="02020603050405020304" pitchFamily="18" charset="0"/>
              </a:rPr>
              <a:t>Fully Connected</a:t>
            </a:r>
            <a:r>
              <a:rPr lang="zh-CN" altLang="en-US" sz="2400" b="1" dirty="0"/>
              <a:t>）</a:t>
            </a:r>
            <a:r>
              <a:rPr lang="zh-CN" altLang="en-US" sz="2400" dirty="0"/>
              <a:t>。全连接层将展平后的特征输入神经网络进行计算，最终输出一个</a:t>
            </a:r>
            <a:r>
              <a:rPr lang="zh-CN" altLang="en-US" sz="2400" b="1" dirty="0"/>
              <a:t>概率值</a:t>
            </a:r>
            <a:r>
              <a:rPr lang="zh-CN" altLang="en-US" sz="2400" dirty="0"/>
              <a:t>，表示各种图像分类的可能性。通过此方法，模型能够综合分析提取的特征，实现对输入图像的分类识别。</a:t>
            </a:r>
            <a:endParaRPr lang="en-US" altLang="zh-CN" sz="2400" dirty="0">
              <a:latin typeface="+mj-ea"/>
              <a:ea typeface="+mj-ea"/>
            </a:endParaRPr>
          </a:p>
        </p:txBody>
      </p:sp>
      <p:pic>
        <p:nvPicPr>
          <p:cNvPr id="542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880" y="3933190"/>
            <a:ext cx="4968240" cy="26803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pPr>
              <a:defRPr/>
            </a:pPr>
            <a:r>
              <a:rPr lang="zh-CN" altLang="en-US" sz="3200" b="1" dirty="0">
                <a:sym typeface="+mn-ea"/>
              </a:rPr>
              <a:t>图像分类</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54685" y="768003"/>
            <a:ext cx="10885931" cy="2430145"/>
          </a:xfrm>
          <a:prstGeom prst="rect">
            <a:avLst/>
          </a:prstGeom>
          <a:noFill/>
        </p:spPr>
        <p:txBody>
          <a:bodyPr wrap="square" rtlCol="0">
            <a:spAutoFit/>
          </a:bodyPr>
          <a:lstStyle/>
          <a:p>
            <a:r>
              <a:rPr lang="en-US" altLang="zh-CN" sz="3200" dirty="0"/>
              <a:t>LeNet</a:t>
            </a:r>
          </a:p>
          <a:p>
            <a:pPr indent="457200"/>
            <a:r>
              <a:rPr lang="zh-CN" altLang="en-US" sz="2400" dirty="0">
                <a:latin typeface="宋体" panose="02010600030101010101" pitchFamily="2" charset="-122"/>
                <a:cs typeface="宋体" panose="02010600030101010101" pitchFamily="2" charset="-122"/>
              </a:rPr>
              <a:t>在</a:t>
            </a:r>
            <a:r>
              <a:rPr lang="en-US" altLang="zh-CN" sz="2400" dirty="0">
                <a:latin typeface="宋体" panose="02010600030101010101" pitchFamily="2" charset="-122"/>
                <a:cs typeface="宋体" panose="02010600030101010101" pitchFamily="2" charset="-122"/>
              </a:rPr>
              <a:t>LeNet</a:t>
            </a:r>
            <a:r>
              <a:rPr lang="zh-CN" altLang="en-US" sz="2400" dirty="0">
                <a:latin typeface="宋体" panose="02010600030101010101" pitchFamily="2" charset="-122"/>
                <a:cs typeface="宋体" panose="02010600030101010101" pitchFamily="2" charset="-122"/>
              </a:rPr>
              <a:t>提出后，卷积神经网络在计算机视觉和机器学习领域中小有名气。但卷积神经网络并没有主导这些领域。这是因为虽然</a:t>
            </a:r>
            <a:r>
              <a:rPr lang="en-US" altLang="zh-CN" sz="2400" dirty="0">
                <a:latin typeface="宋体" panose="02010600030101010101" pitchFamily="2" charset="-122"/>
                <a:cs typeface="宋体" panose="02010600030101010101" pitchFamily="2" charset="-122"/>
              </a:rPr>
              <a:t>LeNet</a:t>
            </a:r>
            <a:r>
              <a:rPr lang="zh-CN" altLang="en-US" sz="2400" dirty="0">
                <a:latin typeface="宋体" panose="02010600030101010101" pitchFamily="2" charset="-122"/>
                <a:cs typeface="宋体" panose="02010600030101010101" pitchFamily="2" charset="-122"/>
              </a:rPr>
              <a:t>在小数据集上取得了很好的效果，但是在更大、更真实的数据集上训练卷积神经网络的性能和可行性还有待研究。事实上，在上世纪</a:t>
            </a:r>
            <a:r>
              <a:rPr lang="en-US" altLang="zh-CN" sz="2400" dirty="0">
                <a:latin typeface="宋体" panose="02010600030101010101" pitchFamily="2" charset="-122"/>
                <a:cs typeface="宋体" panose="02010600030101010101" pitchFamily="2" charset="-122"/>
              </a:rPr>
              <a:t>90</a:t>
            </a:r>
            <a:r>
              <a:rPr lang="zh-CN" altLang="en-US" sz="2400" dirty="0">
                <a:latin typeface="宋体" panose="02010600030101010101" pitchFamily="2" charset="-122"/>
                <a:cs typeface="宋体" panose="02010600030101010101" pitchFamily="2" charset="-122"/>
              </a:rPr>
              <a:t>年代初到</a:t>
            </a:r>
            <a:r>
              <a:rPr lang="en-US" altLang="zh-CN" sz="2400" dirty="0">
                <a:latin typeface="宋体" panose="02010600030101010101" pitchFamily="2" charset="-122"/>
                <a:cs typeface="宋体" panose="02010600030101010101" pitchFamily="2" charset="-122"/>
              </a:rPr>
              <a:t>2012</a:t>
            </a:r>
            <a:r>
              <a:rPr lang="zh-CN" altLang="en-US" sz="2400" dirty="0">
                <a:latin typeface="宋体" panose="02010600030101010101" pitchFamily="2" charset="-122"/>
                <a:cs typeface="宋体" panose="02010600030101010101" pitchFamily="2" charset="-122"/>
              </a:rPr>
              <a:t>年之间的大部分时间里，神经网络往往被其他机器学习方法超越，如支持向量机（</a:t>
            </a:r>
            <a:r>
              <a:rPr lang="en-US" altLang="zh-CN" sz="2400" dirty="0">
                <a:latin typeface="宋体" panose="02010600030101010101" pitchFamily="2" charset="-122"/>
                <a:cs typeface="宋体" panose="02010600030101010101" pitchFamily="2" charset="-122"/>
              </a:rPr>
              <a:t>support vector machines</a:t>
            </a:r>
            <a:r>
              <a:rPr lang="zh-CN" altLang="en-US" sz="2400" dirty="0">
                <a:latin typeface="宋体" panose="02010600030101010101" pitchFamily="2" charset="-122"/>
                <a:cs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pPr>
              <a:defRPr/>
            </a:pPr>
            <a:r>
              <a:rPr lang="zh-CN" altLang="en-US" sz="3200" b="1" dirty="0">
                <a:sym typeface="+mn-ea"/>
              </a:rPr>
              <a:t>图像分类</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54685" y="768003"/>
            <a:ext cx="10885931" cy="4646295"/>
          </a:xfrm>
          <a:prstGeom prst="rect">
            <a:avLst/>
          </a:prstGeom>
          <a:noFill/>
        </p:spPr>
        <p:txBody>
          <a:bodyPr wrap="square" rtlCol="0">
            <a:spAutoFit/>
          </a:bodyPr>
          <a:lstStyle/>
          <a:p>
            <a:r>
              <a:rPr lang="en-US" altLang="zh-CN" sz="3200" dirty="0"/>
              <a:t>LeNet</a:t>
            </a:r>
          </a:p>
          <a:p>
            <a:pPr indent="457200"/>
            <a:r>
              <a:rPr lang="zh-CN" altLang="en-US" sz="2400" dirty="0">
                <a:latin typeface="宋体" panose="02010600030101010101" pitchFamily="2" charset="-122"/>
                <a:cs typeface="宋体" panose="02010600030101010101" pitchFamily="2" charset="-122"/>
              </a:rPr>
              <a:t>因此，与训练端到端（从像素到分类结果）系统不同，当时经典机器学习的流水线看起来更像下面这样：</a:t>
            </a:r>
          </a:p>
          <a:p>
            <a:pPr indent="457200"/>
            <a:r>
              <a:rPr lang="en-US" altLang="zh-CN" sz="2400">
                <a:sym typeface="+mn-ea"/>
              </a:rPr>
              <a:t>•</a:t>
            </a:r>
            <a:r>
              <a:rPr lang="zh-CN" altLang="en-US" sz="2400" dirty="0">
                <a:latin typeface="宋体" panose="02010600030101010101" pitchFamily="2" charset="-122"/>
                <a:cs typeface="宋体" panose="02010600030101010101" pitchFamily="2" charset="-122"/>
              </a:rPr>
              <a:t>获取一个有趣的数据集。在早期，收集这些数据集需要昂贵的传感器（在当时最先进的图像也就</a:t>
            </a:r>
            <a:r>
              <a:rPr lang="en-US" altLang="zh-CN" sz="2400" dirty="0">
                <a:latin typeface="宋体" panose="02010600030101010101" pitchFamily="2" charset="-122"/>
                <a:cs typeface="宋体" panose="02010600030101010101" pitchFamily="2" charset="-122"/>
              </a:rPr>
              <a:t>100</a:t>
            </a:r>
            <a:r>
              <a:rPr lang="zh-CN" altLang="en-US" sz="2400" dirty="0">
                <a:latin typeface="宋体" panose="02010600030101010101" pitchFamily="2" charset="-122"/>
                <a:cs typeface="宋体" panose="02010600030101010101" pitchFamily="2" charset="-122"/>
              </a:rPr>
              <a:t>万像素）。</a:t>
            </a:r>
          </a:p>
          <a:p>
            <a:pPr indent="457200"/>
            <a:r>
              <a:rPr lang="en-US" altLang="zh-CN" sz="2400">
                <a:sym typeface="+mn-ea"/>
              </a:rPr>
              <a:t>•</a:t>
            </a:r>
            <a:r>
              <a:rPr lang="zh-CN" altLang="en-US" sz="2400" dirty="0">
                <a:latin typeface="宋体" panose="02010600030101010101" pitchFamily="2" charset="-122"/>
                <a:cs typeface="宋体" panose="02010600030101010101" pitchFamily="2" charset="-122"/>
              </a:rPr>
              <a:t>根据光学、几何学、其他知识以及偶然的发现，手工对特征数据集进行预处理。</a:t>
            </a:r>
          </a:p>
          <a:p>
            <a:pPr indent="457200"/>
            <a:r>
              <a:rPr lang="en-US" altLang="zh-CN" sz="2400">
                <a:sym typeface="+mn-ea"/>
              </a:rPr>
              <a:t>•</a:t>
            </a:r>
            <a:r>
              <a:rPr lang="zh-CN" altLang="en-US" sz="2400" dirty="0">
                <a:latin typeface="宋体" panose="02010600030101010101" pitchFamily="2" charset="-122"/>
                <a:cs typeface="宋体" panose="02010600030101010101" pitchFamily="2" charset="-122"/>
              </a:rPr>
              <a:t>通过标准的特征提取算法，如</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SIFT</a:t>
            </a:r>
            <a:r>
              <a:rPr lang="zh-CN" altLang="en-US" sz="2400" dirty="0">
                <a:latin typeface="宋体" panose="02010600030101010101" pitchFamily="2" charset="-122"/>
                <a:cs typeface="宋体" panose="02010600030101010101" pitchFamily="2" charset="-122"/>
              </a:rPr>
              <a:t>（尺度不变特征变换）</a:t>
            </a:r>
            <a:r>
              <a:rPr lang="en-US" altLang="zh-CN" sz="2400" dirty="0">
                <a:latin typeface="宋体" panose="02010600030101010101" pitchFamily="2" charset="-122"/>
                <a:cs typeface="宋体" panose="02010600030101010101" pitchFamily="2" charset="-122"/>
              </a:rPr>
              <a:t> (Lowe, 2004)</a:t>
            </a:r>
            <a:r>
              <a:rPr lang="zh-CN" altLang="en-US" sz="2400" dirty="0">
                <a:latin typeface="宋体" panose="02010600030101010101" pitchFamily="2" charset="-122"/>
                <a:cs typeface="宋体" panose="02010600030101010101" pitchFamily="2" charset="-122"/>
              </a:rPr>
              <a:t>和</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SURF</a:t>
            </a:r>
            <a:r>
              <a:rPr lang="zh-CN" altLang="en-US" sz="2400" dirty="0">
                <a:latin typeface="宋体" panose="02010600030101010101" pitchFamily="2" charset="-122"/>
                <a:cs typeface="宋体" panose="02010600030101010101" pitchFamily="2" charset="-122"/>
              </a:rPr>
              <a:t>（加速鲁棒特征）</a:t>
            </a:r>
            <a:r>
              <a:rPr lang="en-US" altLang="zh-CN" sz="2400" dirty="0">
                <a:latin typeface="宋体" panose="02010600030101010101" pitchFamily="2" charset="-122"/>
                <a:cs typeface="宋体" panose="02010600030101010101" pitchFamily="2" charset="-122"/>
              </a:rPr>
              <a:t> (Bay et al., 2006)</a:t>
            </a:r>
            <a:r>
              <a:rPr lang="zh-CN" altLang="en-US" sz="2400" dirty="0">
                <a:latin typeface="宋体" panose="02010600030101010101" pitchFamily="2" charset="-122"/>
                <a:cs typeface="宋体" panose="02010600030101010101" pitchFamily="2" charset="-122"/>
              </a:rPr>
              <a:t>或其他手动调整的流水线来输入数据。</a:t>
            </a:r>
          </a:p>
          <a:p>
            <a:pPr indent="457200"/>
            <a:r>
              <a:rPr lang="en-US" altLang="zh-CN" sz="2400">
                <a:sym typeface="+mn-ea"/>
              </a:rPr>
              <a:t>•</a:t>
            </a:r>
            <a:r>
              <a:rPr lang="zh-CN" altLang="en-US" sz="2400" dirty="0">
                <a:latin typeface="宋体" panose="02010600030101010101" pitchFamily="2" charset="-122"/>
                <a:cs typeface="宋体" panose="02010600030101010101" pitchFamily="2" charset="-122"/>
              </a:rPr>
              <a:t>将提取的特征送入最喜欢的分类器中（例如线性模型或其它核方法），以训练分类器。</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51180"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en-US" altLang="zh-CN" sz="2400" dirty="0">
              <a:latin typeface="宋体" panose="02010600030101010101" pitchFamily="2" charset="-122"/>
              <a:ea typeface="宋体" panose="02010600030101010101" pitchFamily="2" charset="-122"/>
            </a:endParaRPr>
          </a:p>
          <a:p>
            <a:pPr indent="457200" fontAlgn="auto">
              <a:spcAft>
                <a:spcPts val="0"/>
              </a:spcAft>
            </a:pPr>
            <a:r>
              <a:rPr lang="en-US" altLang="zh-CN" sz="2400" dirty="0">
                <a:latin typeface="宋体" panose="02010600030101010101" pitchFamily="2" charset="-122"/>
                <a:ea typeface="宋体" panose="02010600030101010101" pitchFamily="2" charset="-122"/>
              </a:rPr>
              <a:t>ILSVRC</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ImageNet Large Scale Visual Recognition Challenge</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从</a:t>
            </a:r>
            <a:r>
              <a:rPr lang="en-US" altLang="zh-CN" sz="2000" dirty="0">
                <a:latin typeface="宋体" panose="02010600030101010101" pitchFamily="2" charset="-122"/>
                <a:ea typeface="宋体" panose="02010600030101010101" pitchFamily="2" charset="-122"/>
              </a:rPr>
              <a:t> 2010 </a:t>
            </a:r>
            <a:r>
              <a:rPr lang="zh-CN" altLang="en-US" sz="2000" dirty="0">
                <a:latin typeface="宋体" panose="02010600030101010101" pitchFamily="2" charset="-122"/>
                <a:ea typeface="宋体" panose="02010600030101010101" pitchFamily="2" charset="-122"/>
              </a:rPr>
              <a:t>年至今每年举办的图像分类比赛，是评估图像分类算法的一个重要赛事。</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它的数据集是</a:t>
            </a:r>
            <a:r>
              <a:rPr lang="en-US" altLang="zh-CN" sz="2000" dirty="0">
                <a:latin typeface="宋体" panose="02010600030101010101" pitchFamily="2" charset="-122"/>
                <a:ea typeface="宋体" panose="02010600030101010101" pitchFamily="2" charset="-122"/>
              </a:rPr>
              <a:t> ImageNet </a:t>
            </a:r>
            <a:r>
              <a:rPr lang="zh-CN" altLang="en-US" sz="2000" dirty="0">
                <a:latin typeface="宋体" panose="02010600030101010101" pitchFamily="2" charset="-122"/>
                <a:ea typeface="宋体" panose="02010600030101010101" pitchFamily="2" charset="-122"/>
              </a:rPr>
              <a:t>的子集，包含划分为</a:t>
            </a:r>
            <a:r>
              <a:rPr lang="en-US" altLang="zh-CN" sz="2000" dirty="0">
                <a:latin typeface="宋体" panose="02010600030101010101" pitchFamily="2" charset="-122"/>
                <a:ea typeface="宋体" panose="02010600030101010101" pitchFamily="2" charset="-122"/>
              </a:rPr>
              <a:t> 1000 </a:t>
            </a:r>
            <a:r>
              <a:rPr lang="zh-CN" altLang="en-US" sz="2000" dirty="0">
                <a:latin typeface="宋体" panose="02010600030101010101" pitchFamily="2" charset="-122"/>
                <a:ea typeface="宋体" panose="02010600030101010101" pitchFamily="2" charset="-122"/>
              </a:rPr>
              <a:t>个类别的上百万张图像。</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rPr>
              <a:t>2010 </a:t>
            </a:r>
            <a:r>
              <a:rPr lang="zh-CN" altLang="en-US" sz="2000" dirty="0">
                <a:latin typeface="宋体" panose="02010600030101010101" pitchFamily="2" charset="-122"/>
                <a:ea typeface="宋体" panose="02010600030101010101" pitchFamily="2" charset="-122"/>
              </a:rPr>
              <a:t>年与</a:t>
            </a:r>
            <a:r>
              <a:rPr lang="en-US" altLang="zh-CN" sz="2000" dirty="0">
                <a:latin typeface="宋体" panose="02010600030101010101" pitchFamily="2" charset="-122"/>
                <a:ea typeface="宋体" panose="02010600030101010101" pitchFamily="2" charset="-122"/>
              </a:rPr>
              <a:t> 2011 </a:t>
            </a:r>
            <a:r>
              <a:rPr lang="zh-CN" altLang="en-US" sz="2000" dirty="0">
                <a:latin typeface="宋体" panose="02010600030101010101" pitchFamily="2" charset="-122"/>
                <a:ea typeface="宋体" panose="02010600030101010101" pitchFamily="2" charset="-122"/>
              </a:rPr>
              <a:t>年的获胜团队采用的都是传统图像分类算法，主要使用</a:t>
            </a:r>
            <a:r>
              <a:rPr lang="en-US" altLang="zh-CN" sz="2000" dirty="0">
                <a:latin typeface="宋体" panose="02010600030101010101" pitchFamily="2" charset="-122"/>
                <a:ea typeface="宋体" panose="02010600030101010101" pitchFamily="2" charset="-122"/>
              </a:rPr>
              <a:t> SIFT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LBP </a:t>
            </a:r>
            <a:r>
              <a:rPr lang="zh-CN" altLang="en-US" sz="2000" dirty="0">
                <a:latin typeface="宋体" panose="02010600030101010101" pitchFamily="2" charset="-122"/>
                <a:ea typeface="宋体" panose="02010600030101010101" pitchFamily="2" charset="-122"/>
              </a:rPr>
              <a:t>等算法来手动提取特征，再将提取的特征用于训练支持向量机（</a:t>
            </a:r>
            <a:r>
              <a:rPr lang="en-US" altLang="zh-CN" sz="2000" dirty="0">
                <a:latin typeface="宋体" panose="02010600030101010101" pitchFamily="2" charset="-122"/>
                <a:ea typeface="宋体" panose="02010600030101010101" pitchFamily="2" charset="-122"/>
              </a:rPr>
              <a:t>Support vector machine</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SVM</a:t>
            </a:r>
            <a:r>
              <a:rPr lang="zh-CN" altLang="en-US" sz="2000" dirty="0">
                <a:latin typeface="宋体" panose="02010600030101010101" pitchFamily="2" charset="-122"/>
                <a:ea typeface="宋体" panose="02010600030101010101" pitchFamily="2" charset="-122"/>
              </a:rPr>
              <a:t>）等分类器进行分类，取得的最好结果是</a:t>
            </a:r>
            <a:r>
              <a:rPr lang="en-US" altLang="zh-CN" sz="2000" dirty="0">
                <a:latin typeface="宋体" panose="02010600030101010101" pitchFamily="2" charset="-122"/>
                <a:ea typeface="宋体" panose="02010600030101010101" pitchFamily="2" charset="-122"/>
              </a:rPr>
              <a:t> 28.2% </a:t>
            </a:r>
            <a:r>
              <a:rPr lang="zh-CN" altLang="en-US" sz="2000" dirty="0">
                <a:latin typeface="宋体" panose="02010600030101010101" pitchFamily="2" charset="-122"/>
                <a:ea typeface="宋体" panose="02010600030101010101" pitchFamily="2" charset="-122"/>
              </a:rPr>
              <a:t>的错误率。</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591820" y="908685"/>
            <a:ext cx="4064000" cy="583565"/>
          </a:xfrm>
          <a:prstGeom prst="rect">
            <a:avLst/>
          </a:prstGeom>
          <a:noFill/>
        </p:spPr>
        <p:txBody>
          <a:bodyPr wrap="square" rtlCol="0">
            <a:spAutoFit/>
          </a:bodyPr>
          <a:lstStyle/>
          <a:p>
            <a:pPr indent="457200" fontAlgn="auto">
              <a:spcAft>
                <a:spcPts val="0"/>
              </a:spcAft>
            </a:pPr>
            <a:r>
              <a:rPr lang="zh-CN" altLang="en-US" sz="3200" dirty="0">
                <a:latin typeface="宋体" panose="02010600030101010101" pitchFamily="2" charset="-122"/>
                <a:sym typeface="+mn-ea"/>
              </a:rPr>
              <a:t>实现方式</a:t>
            </a:r>
            <a:endParaRPr lang="zh-CN" altLang="en-US" sz="320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sym typeface="+mn-ea"/>
              </a:rPr>
              <a:t>实现方式</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深度学习是机器学习的一个分支，是近些年来机器学习领域取得的重大突破和研究热点之一。</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深度学习的思想提出后，深度学习在学术界和工业界持续升温，在语音识别、图像识别和自然语言处理等领域获得了突破性的进展。</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rPr>
              <a:t>2011 </a:t>
            </a:r>
            <a:r>
              <a:rPr lang="zh-CN" altLang="en-US" sz="2000" dirty="0">
                <a:latin typeface="宋体" panose="02010600030101010101" pitchFamily="2" charset="-122"/>
                <a:ea typeface="宋体" panose="02010600030101010101" pitchFamily="2" charset="-122"/>
              </a:rPr>
              <a:t>年以来，研究人员首先在语音识别问题上应用深度学习技术，将准确率提高了</a:t>
            </a:r>
            <a:r>
              <a:rPr lang="en-US" altLang="zh-CN" sz="2000" dirty="0">
                <a:latin typeface="宋体" panose="02010600030101010101" pitchFamily="2" charset="-122"/>
                <a:ea typeface="宋体" panose="02010600030101010101" pitchFamily="2" charset="-122"/>
              </a:rPr>
              <a:t> 20%--30%</a:t>
            </a:r>
            <a:r>
              <a:rPr lang="zh-CN" altLang="en-US" sz="2000" dirty="0">
                <a:latin typeface="宋体" panose="02010600030101010101" pitchFamily="2" charset="-122"/>
                <a:ea typeface="宋体" panose="02010600030101010101" pitchFamily="2" charset="-122"/>
              </a:rPr>
              <a:t>，取得了十多年来最大的突破性进展。一年之后，基于卷积神经网络的深度学习模型在大规模图像分类任务上取得了非常大的性能提高，掀起深度学习研究的热潮，持续至今。</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AlexNet</a:t>
            </a:r>
            <a:r>
              <a:rPr lang="zh-CN" altLang="en-US" sz="2000" dirty="0">
                <a:latin typeface="宋体" panose="02010600030101010101" pitchFamily="2" charset="-122"/>
                <a:ea typeface="宋体" panose="02010600030101010101" pitchFamily="2" charset="-122"/>
              </a:rPr>
              <a:t>、</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GoogleNet</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和</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深度残差网络（</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ResNet</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是其中具有代表性的</a:t>
            </a:r>
            <a:r>
              <a:rPr lang="en-US" altLang="zh-CN" sz="2000" dirty="0">
                <a:latin typeface="宋体" panose="02010600030101010101" pitchFamily="2" charset="-122"/>
                <a:ea typeface="宋体" panose="02010600030101010101" pitchFamily="2" charset="-122"/>
              </a:rPr>
              <a:t> 3 </a:t>
            </a:r>
            <a:r>
              <a:rPr lang="zh-CN" altLang="en-US" sz="2000" dirty="0">
                <a:latin typeface="宋体" panose="02010600030101010101" pitchFamily="2" charset="-122"/>
                <a:ea typeface="宋体" panose="02010600030101010101" pitchFamily="2" charset="-122"/>
              </a:rPr>
              <a:t>个网络。</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sym typeface="+mn-ea"/>
              </a:rPr>
              <a:t>实现方式</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ILSVRC2012</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是大规模图像分类领域的一个重要转折点。</a:t>
            </a:r>
          </a:p>
          <a:p>
            <a:pPr indent="457200" fontAlgn="auto">
              <a:spcAft>
                <a:spcPts val="0"/>
              </a:spcAft>
            </a:pPr>
            <a:r>
              <a:rPr lang="zh-CN" altLang="en-US" sz="2000" dirty="0">
                <a:latin typeface="宋体" panose="02010600030101010101" pitchFamily="2" charset="-122"/>
                <a:ea typeface="宋体" panose="02010600030101010101" pitchFamily="2" charset="-122"/>
              </a:rPr>
              <a:t>在这场赛事中，</a:t>
            </a:r>
            <a:r>
              <a:rPr lang="en-US" altLang="zh-CN" sz="2000" dirty="0">
                <a:latin typeface="宋体" panose="02010600030101010101" pitchFamily="2" charset="-122"/>
                <a:ea typeface="宋体" panose="02010600030101010101" pitchFamily="2" charset="-122"/>
              </a:rPr>
              <a:t>Alex Krizhevsk </a:t>
            </a:r>
            <a:r>
              <a:rPr lang="zh-CN" altLang="en-US" sz="2000" dirty="0">
                <a:latin typeface="宋体" panose="02010600030101010101" pitchFamily="2" charset="-122"/>
                <a:ea typeface="宋体" panose="02010600030101010101" pitchFamily="2" charset="-122"/>
              </a:rPr>
              <a:t>等提出的</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AlexNet</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首次将深度学习应用于大规模图像分类，并取得了</a:t>
            </a:r>
            <a:r>
              <a:rPr lang="en-US" altLang="zh-CN" sz="2000" dirty="0">
                <a:latin typeface="宋体" panose="02010600030101010101" pitchFamily="2" charset="-122"/>
                <a:ea typeface="宋体" panose="02010600030101010101" pitchFamily="2" charset="-122"/>
              </a:rPr>
              <a:t> 16.4% </a:t>
            </a:r>
            <a:r>
              <a:rPr lang="zh-CN" altLang="en-US" sz="2000" dirty="0">
                <a:latin typeface="宋体" panose="02010600030101010101" pitchFamily="2" charset="-122"/>
                <a:ea typeface="宋体" panose="02010600030101010101" pitchFamily="2" charset="-122"/>
              </a:rPr>
              <a:t>的错误率，该错误率比使用传统算法的第</a:t>
            </a:r>
            <a:r>
              <a:rPr lang="en-US" altLang="zh-CN" sz="2000" dirty="0">
                <a:latin typeface="宋体" panose="02010600030101010101" pitchFamily="2" charset="-122"/>
                <a:ea typeface="宋体" panose="02010600030101010101" pitchFamily="2" charset="-122"/>
              </a:rPr>
              <a:t> 2 </a:t>
            </a:r>
            <a:r>
              <a:rPr lang="zh-CN" altLang="en-US" sz="2000" dirty="0">
                <a:latin typeface="宋体" panose="02010600030101010101" pitchFamily="2" charset="-122"/>
                <a:ea typeface="宋体" panose="02010600030101010101" pitchFamily="2" charset="-122"/>
              </a:rPr>
              <a:t>名的参赛队低了大约</a:t>
            </a:r>
            <a:r>
              <a:rPr lang="en-US" altLang="zh-CN" sz="2000" dirty="0">
                <a:latin typeface="宋体" panose="02010600030101010101" pitchFamily="2" charset="-122"/>
                <a:ea typeface="宋体" panose="02010600030101010101" pitchFamily="2" charset="-122"/>
              </a:rPr>
              <a:t> 10%</a:t>
            </a:r>
            <a:r>
              <a:rPr lang="zh-CN" altLang="en-US" sz="2000" dirty="0">
                <a:latin typeface="宋体" panose="02010600030101010101" pitchFamily="2" charset="-122"/>
                <a:ea typeface="宋体" panose="02010600030101010101" pitchFamily="2" charset="-122"/>
              </a:rPr>
              <a:t>。</a:t>
            </a:r>
          </a:p>
          <a:p>
            <a:pPr indent="457200" fontAlgn="auto">
              <a:spcAft>
                <a:spcPts val="0"/>
              </a:spcAft>
            </a:pPr>
            <a:r>
              <a:rPr lang="zh-CN" altLang="en-US" sz="2000" dirty="0">
                <a:latin typeface="宋体" panose="02010600030101010101" pitchFamily="2" charset="-122"/>
                <a:ea typeface="宋体" panose="02010600030101010101" pitchFamily="2" charset="-122"/>
              </a:rPr>
              <a:t>如图所示，</a:t>
            </a:r>
            <a:r>
              <a:rPr lang="en-US" altLang="zh-CN" sz="2000" dirty="0">
                <a:latin typeface="宋体" panose="02010600030101010101" pitchFamily="2" charset="-122"/>
                <a:ea typeface="宋体" panose="02010600030101010101" pitchFamily="2" charset="-122"/>
              </a:rPr>
              <a:t>AlexNet </a:t>
            </a:r>
            <a:r>
              <a:rPr lang="zh-CN" altLang="en-US" sz="2000" dirty="0">
                <a:latin typeface="宋体" panose="02010600030101010101" pitchFamily="2" charset="-122"/>
                <a:ea typeface="宋体" panose="02010600030101010101" pitchFamily="2" charset="-122"/>
              </a:rPr>
              <a:t>是一个</a:t>
            </a:r>
            <a:r>
              <a:rPr lang="en-US" altLang="zh-CN" sz="2000" dirty="0">
                <a:latin typeface="宋体" panose="02010600030101010101" pitchFamily="2" charset="-122"/>
                <a:ea typeface="宋体" panose="02010600030101010101" pitchFamily="2" charset="-122"/>
              </a:rPr>
              <a:t> 8 </a:t>
            </a:r>
            <a:r>
              <a:rPr lang="zh-CN" altLang="en-US" sz="2000" dirty="0">
                <a:latin typeface="宋体" panose="02010600030101010101" pitchFamily="2" charset="-122"/>
                <a:ea typeface="宋体" panose="02010600030101010101" pitchFamily="2" charset="-122"/>
              </a:rPr>
              <a:t>层的卷积神经网络，前</a:t>
            </a:r>
            <a:r>
              <a:rPr lang="en-US" altLang="zh-CN" sz="2000" dirty="0">
                <a:latin typeface="宋体" panose="02010600030101010101" pitchFamily="2" charset="-122"/>
                <a:ea typeface="宋体" panose="02010600030101010101" pitchFamily="2" charset="-122"/>
              </a:rPr>
              <a:t> 5 </a:t>
            </a:r>
            <a:r>
              <a:rPr lang="zh-CN" altLang="en-US" sz="2000" dirty="0">
                <a:latin typeface="宋体" panose="02010600030101010101" pitchFamily="2" charset="-122"/>
                <a:ea typeface="宋体" panose="02010600030101010101" pitchFamily="2" charset="-122"/>
              </a:rPr>
              <a:t>层是卷积层，后</a:t>
            </a:r>
            <a:r>
              <a:rPr lang="en-US" altLang="zh-CN" sz="2000" dirty="0">
                <a:latin typeface="宋体" panose="02010600030101010101" pitchFamily="2" charset="-122"/>
                <a:ea typeface="宋体" panose="02010600030101010101" pitchFamily="2" charset="-122"/>
              </a:rPr>
              <a:t> 3 </a:t>
            </a:r>
            <a:r>
              <a:rPr lang="zh-CN" altLang="en-US" sz="2000" dirty="0">
                <a:latin typeface="宋体" panose="02010600030101010101" pitchFamily="2" charset="-122"/>
                <a:ea typeface="宋体" panose="02010600030101010101" pitchFamily="2" charset="-122"/>
              </a:rPr>
              <a:t>层为全连接层，其中最后一层采用</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softmax </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进行分类</a:t>
            </a:r>
            <a:r>
              <a:rPr lang="zh-CN" altLang="en-US" sz="2000" dirty="0">
                <a:latin typeface="宋体" panose="02010600030101010101" pitchFamily="2" charset="-122"/>
                <a:ea typeface="宋体" panose="02010600030101010101" pitchFamily="2" charset="-122"/>
              </a:rPr>
              <a:t>。该模型采用线性修正单元</a:t>
            </a:r>
            <a:r>
              <a:rPr lang="en-US" altLang="zh-CN" sz="2000" dirty="0">
                <a:latin typeface="宋体" panose="02010600030101010101" pitchFamily="2" charset="-122"/>
                <a:ea typeface="宋体" panose="02010600030101010101" pitchFamily="2" charset="-122"/>
              </a:rPr>
              <a:t> ReLU </a:t>
            </a:r>
            <a:r>
              <a:rPr lang="zh-CN" altLang="en-US" sz="2000" dirty="0">
                <a:latin typeface="宋体" panose="02010600030101010101" pitchFamily="2" charset="-122"/>
                <a:ea typeface="宋体" panose="02010600030101010101" pitchFamily="2" charset="-122"/>
              </a:rPr>
              <a:t>来取代传统的</a:t>
            </a:r>
            <a:r>
              <a:rPr lang="en-US" altLang="zh-CN" sz="2000" dirty="0">
                <a:latin typeface="宋体" panose="02010600030101010101" pitchFamily="2" charset="-122"/>
                <a:ea typeface="宋体" panose="02010600030101010101" pitchFamily="2" charset="-122"/>
              </a:rPr>
              <a:t> Sigmoid </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 tanh </a:t>
            </a:r>
            <a:r>
              <a:rPr lang="zh-CN" altLang="en-US" sz="2000" dirty="0">
                <a:latin typeface="宋体" panose="02010600030101010101" pitchFamily="2" charset="-122"/>
                <a:ea typeface="宋体" panose="02010600030101010101" pitchFamily="2" charset="-122"/>
              </a:rPr>
              <a:t>函数作为神经元的非线性激活函数，并提出了</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Dropout </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方法</a:t>
            </a:r>
            <a:r>
              <a:rPr lang="zh-CN" altLang="en-US" sz="2000" dirty="0">
                <a:latin typeface="宋体" panose="02010600030101010101" pitchFamily="2" charset="-122"/>
                <a:ea typeface="宋体" panose="02010600030101010101" pitchFamily="2" charset="-122"/>
              </a:rPr>
              <a:t>来减轻过拟合问题。</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pic>
        <p:nvPicPr>
          <p:cNvPr id="5" name="图片 4"/>
          <p:cNvPicPr>
            <a:picLocks noChangeAspect="1"/>
          </p:cNvPicPr>
          <p:nvPr/>
        </p:nvPicPr>
        <p:blipFill>
          <a:blip r:embed="rId3"/>
          <a:stretch>
            <a:fillRect/>
          </a:stretch>
        </p:blipFill>
        <p:spPr>
          <a:xfrm>
            <a:off x="2639695" y="3803650"/>
            <a:ext cx="5724525" cy="2603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sym typeface="+mn-ea"/>
              </a:rPr>
              <a:t>实现方式</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rPr>
              <a:t>ILSVRC2014 </a:t>
            </a:r>
            <a:r>
              <a:rPr lang="zh-CN" altLang="en-US" sz="2000" dirty="0">
                <a:latin typeface="宋体" panose="02010600030101010101" pitchFamily="2" charset="-122"/>
                <a:ea typeface="宋体" panose="02010600030101010101" pitchFamily="2" charset="-122"/>
              </a:rPr>
              <a:t>的图像分类比赛结果相比于前一年取得了重大的突破，其中获胜队伍</a:t>
            </a:r>
            <a:r>
              <a:rPr lang="en-US" altLang="zh-CN" sz="2000" dirty="0">
                <a:latin typeface="宋体" panose="02010600030101010101" pitchFamily="2" charset="-122"/>
                <a:ea typeface="宋体" panose="02010600030101010101" pitchFamily="2" charset="-122"/>
              </a:rPr>
              <a:t> Google </a:t>
            </a:r>
            <a:r>
              <a:rPr lang="zh-CN" altLang="en-US" sz="2000" dirty="0">
                <a:latin typeface="宋体" panose="02010600030101010101" pitchFamily="2" charset="-122"/>
                <a:ea typeface="宋体" panose="02010600030101010101" pitchFamily="2" charset="-122"/>
              </a:rPr>
              <a:t>团队所提出的</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GoogleNet</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以</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6.7%</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的错误率将图像分类比赛的错误率降至以往最佳记录的一半。</a:t>
            </a:r>
          </a:p>
          <a:p>
            <a:pPr indent="457200" fontAlgn="auto">
              <a:spcAft>
                <a:spcPts val="0"/>
              </a:spcAft>
            </a:pPr>
            <a:r>
              <a:rPr lang="zh-CN" altLang="en-US" sz="2000" dirty="0">
                <a:latin typeface="宋体" panose="02010600030101010101" pitchFamily="2" charset="-122"/>
                <a:ea typeface="宋体" panose="02010600030101010101" pitchFamily="2" charset="-122"/>
              </a:rPr>
              <a:t>该网络有</a:t>
            </a:r>
            <a:r>
              <a:rPr lang="en-US" altLang="zh-CN" sz="2000" dirty="0">
                <a:latin typeface="宋体" panose="02010600030101010101" pitchFamily="2" charset="-122"/>
                <a:ea typeface="宋体" panose="02010600030101010101" pitchFamily="2" charset="-122"/>
              </a:rPr>
              <a:t> 22 </a:t>
            </a:r>
            <a:r>
              <a:rPr lang="zh-CN" altLang="en-US" sz="2000" dirty="0">
                <a:latin typeface="宋体" panose="02010600030101010101" pitchFamily="2" charset="-122"/>
                <a:ea typeface="宋体" panose="02010600030101010101" pitchFamily="2" charset="-122"/>
              </a:rPr>
              <a:t>层，受到赫布学习规则的启发，基于多尺度处理的方法对卷积神经网络作出改进，提出了</a:t>
            </a:r>
            <a:r>
              <a:rPr lang="en-US" altLang="zh-CN" sz="2000" dirty="0">
                <a:latin typeface="宋体" panose="02010600030101010101" pitchFamily="2" charset="-122"/>
                <a:ea typeface="宋体" panose="02010600030101010101" pitchFamily="2" charset="-122"/>
              </a:rPr>
              <a:t> </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Inception </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模块</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Inception </a:t>
            </a:r>
            <a:r>
              <a:rPr lang="zh-CN" altLang="en-US" sz="2000" dirty="0">
                <a:latin typeface="宋体" panose="02010600030101010101" pitchFamily="2" charset="-122"/>
                <a:ea typeface="宋体" panose="02010600030101010101" pitchFamily="2" charset="-122"/>
              </a:rPr>
              <a:t>模块的结构如图所示，它的主要思想是想办法找出图像的最优局部稀疏结构，并将其近似地用稠密组件替代。优点如下：</a:t>
            </a: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实现有效的降维，从而能够在计算资源同等的情况下增加网络的宽度与深度；</a:t>
            </a: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减少需要训练的参数，从而减轻过拟合问题，提高模型的推广能力。</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pic>
        <p:nvPicPr>
          <p:cNvPr id="7" name="图片 6"/>
          <p:cNvPicPr/>
          <p:nvPr/>
        </p:nvPicPr>
        <p:blipFill>
          <a:blip r:embed="rId3"/>
          <a:stretch>
            <a:fillRect/>
          </a:stretch>
        </p:blipFill>
        <p:spPr>
          <a:xfrm>
            <a:off x="2567305" y="4004945"/>
            <a:ext cx="5055235" cy="20847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sym typeface="+mn-ea"/>
              </a:rPr>
              <a:t>实现方式</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深层残差网络</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 ResNet </a:t>
            </a:r>
            <a:r>
              <a:rPr lang="zh-CN" altLang="en-US" sz="2000" dirty="0">
                <a:latin typeface="宋体" panose="02010600030101010101" pitchFamily="2" charset="-122"/>
                <a:ea typeface="宋体" panose="02010600030101010101" pitchFamily="2" charset="-122"/>
              </a:rPr>
              <a:t>是：</a:t>
            </a:r>
            <a:r>
              <a:rPr lang="en-US" altLang="zh-CN" sz="2000" dirty="0">
                <a:latin typeface="宋体" panose="02010600030101010101" pitchFamily="2" charset="-122"/>
                <a:ea typeface="宋体" panose="02010600030101010101" pitchFamily="2" charset="-122"/>
              </a:rPr>
              <a:t>2015 </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 ILSVRC2015 </a:t>
            </a:r>
            <a:r>
              <a:rPr lang="zh-CN" altLang="en-US" sz="2000" dirty="0">
                <a:latin typeface="宋体" panose="02010600030101010101" pitchFamily="2" charset="-122"/>
                <a:ea typeface="宋体" panose="02010600030101010101" pitchFamily="2" charset="-122"/>
              </a:rPr>
              <a:t>大赛的冠军，它是微软亚洲研究院团队所提出的深达</a:t>
            </a:r>
            <a:r>
              <a:rPr lang="en-US" altLang="zh-CN" sz="2000" dirty="0">
                <a:latin typeface="宋体" panose="02010600030101010101" pitchFamily="2" charset="-122"/>
                <a:ea typeface="宋体" panose="02010600030101010101" pitchFamily="2" charset="-122"/>
              </a:rPr>
              <a:t> 152 </a:t>
            </a:r>
            <a:r>
              <a:rPr lang="zh-CN" altLang="en-US" sz="2000" dirty="0">
                <a:latin typeface="宋体" panose="02010600030101010101" pitchFamily="2" charset="-122"/>
                <a:ea typeface="宋体" panose="02010600030101010101" pitchFamily="2" charset="-122"/>
              </a:rPr>
              <a:t>层的模型，其以绝对优势获得图像检测、图像分类和图像定位</a:t>
            </a:r>
            <a:r>
              <a:rPr lang="en-US" altLang="zh-CN" sz="2000" dirty="0">
                <a:latin typeface="宋体" panose="02010600030101010101" pitchFamily="2" charset="-122"/>
                <a:ea typeface="宋体" panose="02010600030101010101" pitchFamily="2" charset="-122"/>
              </a:rPr>
              <a:t> 3 </a:t>
            </a:r>
            <a:r>
              <a:rPr lang="zh-CN" altLang="en-US" sz="2000" dirty="0">
                <a:latin typeface="宋体" panose="02010600030101010101" pitchFamily="2" charset="-122"/>
                <a:ea typeface="宋体" panose="02010600030101010101" pitchFamily="2" charset="-122"/>
              </a:rPr>
              <a:t>个项目的冠军，其中在图像分类的数据集上取得了</a:t>
            </a:r>
            <a:r>
              <a:rPr lang="en-US" altLang="zh-CN" sz="2000" dirty="0">
                <a:latin typeface="宋体" panose="02010600030101010101" pitchFamily="2" charset="-122"/>
                <a:ea typeface="宋体" panose="02010600030101010101" pitchFamily="2" charset="-122"/>
              </a:rPr>
              <a:t> 3.57% </a:t>
            </a:r>
            <a:r>
              <a:rPr lang="zh-CN" altLang="en-US" sz="2000" dirty="0">
                <a:latin typeface="宋体" panose="02010600030101010101" pitchFamily="2" charset="-122"/>
                <a:ea typeface="宋体" panose="02010600030101010101" pitchFamily="2" charset="-122"/>
              </a:rPr>
              <a:t>的错误率。</a:t>
            </a:r>
          </a:p>
          <a:p>
            <a:pPr indent="457200" fontAlgn="auto">
              <a:spcAft>
                <a:spcPts val="0"/>
              </a:spcAft>
            </a:pPr>
            <a:r>
              <a:rPr lang="zh-CN" altLang="en-US" sz="2000" dirty="0">
                <a:latin typeface="宋体" panose="02010600030101010101" pitchFamily="2" charset="-122"/>
                <a:ea typeface="宋体" panose="02010600030101010101" pitchFamily="2" charset="-122"/>
              </a:rPr>
              <a:t>背景：随着卷积神经网络层数的加深，网络的训练过程更加困难，从而导致准确率开始达到饱和甚至下降。</a:t>
            </a:r>
          </a:p>
          <a:p>
            <a:pPr indent="457200" fontAlgn="auto">
              <a:spcAft>
                <a:spcPts val="0"/>
              </a:spcAft>
            </a:pPr>
            <a:r>
              <a:rPr lang="zh-CN" altLang="en-US" sz="2000" dirty="0">
                <a:latin typeface="宋体" panose="02010600030101010101" pitchFamily="2" charset="-122"/>
                <a:ea typeface="宋体" panose="02010600030101010101" pitchFamily="2" charset="-122"/>
              </a:rPr>
              <a:t>思路：当一个网络达到最优训练效果时，可能要求某些层的输出与输入完全一致；这时让网络层学习值为</a:t>
            </a:r>
            <a:r>
              <a:rPr lang="en-US" altLang="zh-CN" sz="2000" dirty="0">
                <a:latin typeface="宋体" panose="02010600030101010101" pitchFamily="2" charset="-122"/>
                <a:ea typeface="宋体" panose="02010600030101010101" pitchFamily="2" charset="-122"/>
              </a:rPr>
              <a:t> 0 </a:t>
            </a:r>
            <a:r>
              <a:rPr lang="zh-CN" altLang="en-US" sz="2000" dirty="0">
                <a:latin typeface="宋体" panose="02010600030101010101" pitchFamily="2" charset="-122"/>
                <a:ea typeface="宋体" panose="02010600030101010101" pitchFamily="2" charset="-122"/>
              </a:rPr>
              <a:t>的残差函数比学习恒等函数更加容易。</a:t>
            </a:r>
          </a:p>
          <a:p>
            <a:pPr indent="457200" fontAlgn="auto">
              <a:spcAft>
                <a:spcPts val="0"/>
              </a:spcAft>
            </a:pPr>
            <a:r>
              <a:rPr lang="zh-CN" altLang="en-US" sz="2000" dirty="0">
                <a:latin typeface="宋体" panose="02010600030101010101" pitchFamily="2" charset="-122"/>
                <a:ea typeface="宋体" panose="02010600030101010101" pitchFamily="2" charset="-122"/>
              </a:rPr>
              <a:t>解决方法：残差学习。如图所示，为了实现残差学习，将</a:t>
            </a:r>
            <a:r>
              <a:rPr lang="en-US" altLang="zh-CN" sz="2000" dirty="0">
                <a:latin typeface="宋体" panose="02010600030101010101" pitchFamily="2" charset="-122"/>
                <a:ea typeface="宋体" panose="02010600030101010101" pitchFamily="2" charset="-122"/>
              </a:rPr>
              <a:t> Shortcut connection </a:t>
            </a:r>
            <a:r>
              <a:rPr lang="zh-CN" altLang="en-US" sz="2000" dirty="0">
                <a:latin typeface="宋体" panose="02010600030101010101" pitchFamily="2" charset="-122"/>
                <a:ea typeface="宋体" panose="02010600030101010101" pitchFamily="2" charset="-122"/>
              </a:rPr>
              <a:t>的方法适当地运用于网络中部分层之间的连接，从而保证随着网络层数的增加，准确率能够不断提高，而不会下降。</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pic>
        <p:nvPicPr>
          <p:cNvPr id="5" name="图片 4"/>
          <p:cNvPicPr>
            <a:picLocks noChangeAspect="1"/>
          </p:cNvPicPr>
          <p:nvPr/>
        </p:nvPicPr>
        <p:blipFill>
          <a:blip r:embed="rId3"/>
          <a:stretch>
            <a:fillRect/>
          </a:stretch>
        </p:blipFill>
        <p:spPr>
          <a:xfrm>
            <a:off x="3431540" y="4292600"/>
            <a:ext cx="3267075" cy="20815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476375"/>
          </a:xfrm>
          <a:prstGeom prst="rect">
            <a:avLst/>
          </a:prstGeom>
          <a:noFill/>
        </p:spPr>
        <p:txBody>
          <a:bodyPr wrap="square" rtlCol="0">
            <a:spAutoFit/>
          </a:bodyPr>
          <a:lstStyle/>
          <a:p>
            <a:r>
              <a:rPr lang="en-US" altLang="zh-CN"/>
              <a:t>AlexNet</a:t>
            </a:r>
            <a:r>
              <a:rPr lang="zh-CN" altLang="en-US"/>
              <a:t>是一种深度神经网络结构，相对于原始的</a:t>
            </a:r>
            <a:r>
              <a:rPr lang="en-US" altLang="zh-CN"/>
              <a:t>LeNet</a:t>
            </a:r>
            <a:r>
              <a:rPr lang="zh-CN" altLang="en-US"/>
              <a:t>来说更深，</a:t>
            </a:r>
            <a:r>
              <a:rPr lang="en-US" altLang="zh-CN"/>
              <a:t>LeNet</a:t>
            </a:r>
            <a:r>
              <a:rPr lang="zh-CN" altLang="en-US"/>
              <a:t>为</a:t>
            </a:r>
            <a:r>
              <a:rPr lang="en-US" altLang="zh-CN"/>
              <a:t>5</a:t>
            </a:r>
            <a:r>
              <a:rPr lang="zh-CN" altLang="en-US"/>
              <a:t>层，而</a:t>
            </a:r>
            <a:r>
              <a:rPr lang="en-US" altLang="zh-CN"/>
              <a:t>AlexNet</a:t>
            </a:r>
            <a:r>
              <a:rPr lang="zh-CN" altLang="en-US"/>
              <a:t>为</a:t>
            </a:r>
            <a:r>
              <a:rPr lang="en-US" altLang="zh-CN"/>
              <a:t>8</a:t>
            </a:r>
            <a:r>
              <a:rPr lang="zh-CN" altLang="en-US"/>
              <a:t>层。</a:t>
            </a:r>
            <a:r>
              <a:rPr lang="en-US" altLang="zh-CN"/>
              <a:t>AlexNet</a:t>
            </a:r>
            <a:r>
              <a:rPr lang="zh-CN" altLang="en-US"/>
              <a:t>在神经网络发展过程中起到了重要的作用，让研究人员意识到网络深度对性能的巨大影响。它的出现打破了以前学者们对于学习特征的认知，首次证明了学习到的特征可以超越手工设计的特征。</a:t>
            </a:r>
          </a:p>
          <a:p>
            <a:endParaRPr lang="en-US" altLang="zh-CN"/>
          </a:p>
        </p:txBody>
      </p:sp>
      <p:pic>
        <p:nvPicPr>
          <p:cNvPr id="7" name="图片 6"/>
          <p:cNvPicPr>
            <a:picLocks noChangeAspect="1"/>
          </p:cNvPicPr>
          <p:nvPr/>
        </p:nvPicPr>
        <p:blipFill>
          <a:blip r:embed="rId3"/>
          <a:stretch>
            <a:fillRect/>
          </a:stretch>
        </p:blipFill>
        <p:spPr>
          <a:xfrm>
            <a:off x="1847850" y="2996565"/>
            <a:ext cx="8582025" cy="33197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endParaRPr lang="zh-CN" altLang="en-US" sz="32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198880"/>
          </a:xfrm>
          <a:prstGeom prst="rect">
            <a:avLst/>
          </a:prstGeom>
          <a:noFill/>
        </p:spPr>
        <p:txBody>
          <a:bodyPr wrap="square" rtlCol="0">
            <a:spAutoFit/>
          </a:bodyPr>
          <a:lstStyle/>
          <a:p>
            <a:r>
              <a:rPr lang="en-US" altLang="zh-CN"/>
              <a:t>AlexNet</a:t>
            </a:r>
            <a:r>
              <a:rPr lang="zh-CN" altLang="en-US"/>
              <a:t>和</a:t>
            </a:r>
            <a:r>
              <a:rPr lang="en-US" altLang="zh-CN"/>
              <a:t>LeNet</a:t>
            </a:r>
            <a:r>
              <a:rPr lang="zh-CN" altLang="en-US"/>
              <a:t>的设计理念非常相似，但也存在显著差异。</a:t>
            </a:r>
          </a:p>
          <a:p>
            <a:r>
              <a:rPr lang="en-US" altLang="zh-CN">
                <a:sym typeface="+mn-ea"/>
              </a:rPr>
              <a:t>•</a:t>
            </a:r>
            <a:r>
              <a:rPr lang="en-US" altLang="zh-CN"/>
              <a:t>AlexNet</a:t>
            </a:r>
            <a:r>
              <a:rPr lang="zh-CN" altLang="en-US"/>
              <a:t>比相对较小的</a:t>
            </a:r>
            <a:r>
              <a:rPr lang="en-US" altLang="zh-CN"/>
              <a:t>LeNet5</a:t>
            </a:r>
            <a:r>
              <a:rPr lang="zh-CN" altLang="en-US"/>
              <a:t>要深得多。</a:t>
            </a:r>
            <a:r>
              <a:rPr lang="en-US" altLang="zh-CN"/>
              <a:t>AlexNet</a:t>
            </a:r>
            <a:r>
              <a:rPr lang="zh-CN" altLang="en-US"/>
              <a:t>由八层组成：五个卷积层、两个全连接隐藏层和一个全连接输出层。</a:t>
            </a:r>
          </a:p>
          <a:p>
            <a:r>
              <a:rPr lang="en-US" altLang="zh-CN">
                <a:sym typeface="+mn-ea"/>
              </a:rPr>
              <a:t>•</a:t>
            </a:r>
            <a:r>
              <a:rPr lang="en-US" altLang="zh-CN"/>
              <a:t>AlexNet</a:t>
            </a:r>
            <a:r>
              <a:rPr lang="zh-CN" altLang="en-US"/>
              <a:t>使用</a:t>
            </a:r>
            <a:r>
              <a:rPr lang="en-US" altLang="zh-CN">
                <a:solidFill>
                  <a:schemeClr val="accent1"/>
                </a:solidFill>
                <a:effectLst>
                  <a:outerShdw blurRad="38100" dist="25400" dir="5400000" algn="ctr" rotWithShape="0">
                    <a:srgbClr val="6E747A">
                      <a:alpha val="43000"/>
                    </a:srgbClr>
                  </a:outerShdw>
                </a:effectLst>
              </a:rPr>
              <a:t>ReLU</a:t>
            </a:r>
            <a:r>
              <a:rPr lang="zh-CN" altLang="en-US"/>
              <a:t>而不是</a:t>
            </a:r>
            <a:r>
              <a:rPr lang="en-US" altLang="zh-CN">
                <a:solidFill>
                  <a:schemeClr val="accent1"/>
                </a:solidFill>
                <a:effectLst>
                  <a:outerShdw blurRad="38100" dist="25400" dir="5400000" algn="ctr" rotWithShape="0">
                    <a:srgbClr val="6E747A">
                      <a:alpha val="43000"/>
                    </a:srgbClr>
                  </a:outerShdw>
                </a:effectLst>
              </a:rPr>
              <a:t>sigmoid</a:t>
            </a:r>
            <a:r>
              <a:rPr lang="zh-CN" altLang="en-US"/>
              <a:t>作为其激活函数。</a:t>
            </a:r>
          </a:p>
        </p:txBody>
      </p:sp>
      <p:pic>
        <p:nvPicPr>
          <p:cNvPr id="5" name="图片 4"/>
          <p:cNvPicPr>
            <a:picLocks noChangeAspect="1"/>
          </p:cNvPicPr>
          <p:nvPr/>
        </p:nvPicPr>
        <p:blipFill>
          <a:blip r:embed="rId3"/>
          <a:stretch>
            <a:fillRect/>
          </a:stretch>
        </p:blipFill>
        <p:spPr>
          <a:xfrm>
            <a:off x="4007485" y="3111500"/>
            <a:ext cx="3265805" cy="34575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r>
              <a:rPr lang="zh-CN" altLang="en-US" sz="3200" dirty="0">
                <a:latin typeface="宋体" panose="02010600030101010101" pitchFamily="2" charset="-122"/>
                <a:ea typeface="宋体" panose="02010600030101010101" pitchFamily="2" charset="-122"/>
              </a:rPr>
              <a:t>创新点</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922020"/>
          </a:xfrm>
          <a:prstGeom prst="rect">
            <a:avLst/>
          </a:prstGeom>
          <a:noFill/>
        </p:spPr>
        <p:txBody>
          <a:bodyPr wrap="square" rtlCol="0">
            <a:spAutoFit/>
          </a:bodyPr>
          <a:lstStyle/>
          <a:p>
            <a:pPr indent="457200"/>
            <a:r>
              <a:rPr lang="en-US" altLang="zh-CN"/>
              <a:t>1</a:t>
            </a:r>
            <a:r>
              <a:rPr lang="zh-CN" altLang="en-US"/>
              <a:t>、更深的神经网络结构</a:t>
            </a:r>
          </a:p>
          <a:p>
            <a:pPr indent="457200"/>
            <a:r>
              <a:rPr lang="en-US" altLang="zh-CN"/>
              <a:t>AlexNet </a:t>
            </a:r>
            <a:r>
              <a:rPr lang="zh-CN" altLang="en-US"/>
              <a:t>是首个真正意义上的深度卷积神经网络，它的深度达到了当时先前神经网络的数倍。通过增加网络深度，</a:t>
            </a:r>
            <a:r>
              <a:rPr lang="en-US" altLang="zh-CN"/>
              <a:t>AlexNet </a:t>
            </a:r>
            <a:r>
              <a:rPr lang="zh-CN" altLang="en-US"/>
              <a:t>能够更好地学习数据集的特征，从而提高了图像分类的精度。</a:t>
            </a:r>
          </a:p>
        </p:txBody>
      </p:sp>
      <p:pic>
        <p:nvPicPr>
          <p:cNvPr id="5" name="图片 4"/>
          <p:cNvPicPr/>
          <p:nvPr/>
        </p:nvPicPr>
        <p:blipFill>
          <a:blip r:embed="rId3"/>
          <a:stretch>
            <a:fillRect/>
          </a:stretch>
        </p:blipFill>
        <p:spPr>
          <a:xfrm>
            <a:off x="3503930" y="2743835"/>
            <a:ext cx="3869055" cy="35521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r>
              <a:rPr lang="zh-CN" altLang="en-US" sz="3200" dirty="0">
                <a:latin typeface="宋体" panose="02010600030101010101" pitchFamily="2" charset="-122"/>
                <a:ea typeface="宋体" panose="02010600030101010101" pitchFamily="2" charset="-122"/>
              </a:rPr>
              <a:t>创新点</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198880"/>
          </a:xfrm>
          <a:prstGeom prst="rect">
            <a:avLst/>
          </a:prstGeom>
          <a:noFill/>
        </p:spPr>
        <p:txBody>
          <a:bodyPr wrap="square" rtlCol="0">
            <a:spAutoFit/>
          </a:bodyPr>
          <a:lstStyle/>
          <a:p>
            <a:pPr indent="457200"/>
            <a:r>
              <a:rPr lang="en-US" altLang="zh-CN"/>
              <a:t>2</a:t>
            </a:r>
            <a:r>
              <a:rPr lang="zh-CN" altLang="en-US"/>
              <a:t>、</a:t>
            </a:r>
            <a:r>
              <a:rPr lang="en-US" altLang="zh-CN"/>
              <a:t>ReLU</a:t>
            </a:r>
            <a:r>
              <a:rPr lang="zh-CN" altLang="en-US"/>
              <a:t>激活函数的使用</a:t>
            </a:r>
          </a:p>
          <a:p>
            <a:pPr indent="457200"/>
            <a:r>
              <a:rPr lang="en-US" altLang="zh-CN"/>
              <a:t>AlexNet </a:t>
            </a:r>
            <a:r>
              <a:rPr lang="zh-CN" altLang="en-US"/>
              <a:t>首次使用了修正线性单元（</a:t>
            </a:r>
            <a:r>
              <a:rPr lang="en-US" altLang="zh-CN"/>
              <a:t>ReLU</a:t>
            </a:r>
            <a:r>
              <a:rPr lang="zh-CN" altLang="en-US"/>
              <a:t>）这一非线性激活函数。相比于传统的</a:t>
            </a:r>
            <a:r>
              <a:rPr lang="en-US" altLang="zh-CN"/>
              <a:t> sigmoid </a:t>
            </a:r>
            <a:r>
              <a:rPr lang="zh-CN" altLang="en-US"/>
              <a:t>和</a:t>
            </a:r>
            <a:r>
              <a:rPr lang="en-US" altLang="zh-CN"/>
              <a:t> tanh </a:t>
            </a:r>
            <a:r>
              <a:rPr lang="zh-CN" altLang="en-US"/>
              <a:t>函数，</a:t>
            </a:r>
            <a:r>
              <a:rPr lang="en-US" altLang="zh-CN"/>
              <a:t>ReLU </a:t>
            </a:r>
            <a:r>
              <a:rPr lang="zh-CN" altLang="en-US"/>
              <a:t>能够在保持计算速度的同时，有效地解决了梯度消失问题，从而使得训练更加高效。</a:t>
            </a:r>
          </a:p>
        </p:txBody>
      </p:sp>
      <p:pic>
        <p:nvPicPr>
          <p:cNvPr id="7" name="图片 6"/>
          <p:cNvPicPr>
            <a:picLocks noChangeAspect="1"/>
          </p:cNvPicPr>
          <p:nvPr/>
        </p:nvPicPr>
        <p:blipFill>
          <a:blip r:embed="rId3"/>
          <a:stretch>
            <a:fillRect/>
          </a:stretch>
        </p:blipFill>
        <p:spPr>
          <a:xfrm>
            <a:off x="4236720" y="3140710"/>
            <a:ext cx="3133725" cy="2676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r>
              <a:rPr lang="zh-CN" altLang="en-US" sz="3200" dirty="0">
                <a:latin typeface="宋体" panose="02010600030101010101" pitchFamily="2" charset="-122"/>
                <a:ea typeface="宋体" panose="02010600030101010101" pitchFamily="2" charset="-122"/>
              </a:rPr>
              <a:t>创新点</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476375"/>
          </a:xfrm>
          <a:prstGeom prst="rect">
            <a:avLst/>
          </a:prstGeom>
          <a:noFill/>
        </p:spPr>
        <p:txBody>
          <a:bodyPr wrap="square" rtlCol="0">
            <a:spAutoFit/>
          </a:bodyPr>
          <a:lstStyle/>
          <a:p>
            <a:pPr indent="457200"/>
            <a:r>
              <a:rPr lang="en-US" altLang="zh-CN"/>
              <a:t>3</a:t>
            </a:r>
            <a:r>
              <a:rPr lang="zh-CN" altLang="en-US"/>
              <a:t>、局部响应归一化（</a:t>
            </a:r>
            <a:r>
              <a:rPr lang="en-US" altLang="zh-CN"/>
              <a:t>LRN</a:t>
            </a:r>
            <a:r>
              <a:rPr lang="zh-CN" altLang="en-US"/>
              <a:t>）的使用</a:t>
            </a:r>
          </a:p>
          <a:p>
            <a:pPr indent="457200"/>
            <a:r>
              <a:rPr lang="en-US" altLang="zh-CN"/>
              <a:t>LRN</a:t>
            </a:r>
            <a:r>
              <a:rPr lang="zh-CN" altLang="en-US"/>
              <a:t>是在卷积层和池化层之间添加的一种归一化操作。在卷积层中，每个卷积核都对应一个特征图（</a:t>
            </a:r>
            <a:r>
              <a:rPr lang="en-US" altLang="zh-CN"/>
              <a:t>feature map</a:t>
            </a:r>
            <a:r>
              <a:rPr lang="zh-CN" altLang="en-US"/>
              <a:t>），</a:t>
            </a:r>
            <a:r>
              <a:rPr lang="en-US" altLang="zh-CN"/>
              <a:t>LRN</a:t>
            </a:r>
            <a:r>
              <a:rPr lang="zh-CN" altLang="en-US"/>
              <a:t>就是对这些特征图进行归一化。具体来说，对于每个特征图上的每个位置，计算该位置周围的像素的平方和，然后将当前位置的像素值除以这个和。计算过程可以用以下公式表示：</a:t>
            </a:r>
          </a:p>
        </p:txBody>
      </p:sp>
      <p:pic>
        <p:nvPicPr>
          <p:cNvPr id="5" name="图片 4"/>
          <p:cNvPicPr>
            <a:picLocks noChangeAspect="1"/>
          </p:cNvPicPr>
          <p:nvPr/>
        </p:nvPicPr>
        <p:blipFill>
          <a:blip r:embed="rId3"/>
          <a:stretch>
            <a:fillRect/>
          </a:stretch>
        </p:blipFill>
        <p:spPr>
          <a:xfrm>
            <a:off x="3863975" y="3356610"/>
            <a:ext cx="3619500" cy="981075"/>
          </a:xfrm>
          <a:prstGeom prst="rect">
            <a:avLst/>
          </a:prstGeom>
        </p:spPr>
      </p:pic>
      <p:sp>
        <p:nvSpPr>
          <p:cNvPr id="8" name="文本框 7"/>
          <p:cNvSpPr txBox="1"/>
          <p:nvPr/>
        </p:nvSpPr>
        <p:spPr>
          <a:xfrm>
            <a:off x="1487805" y="4868545"/>
            <a:ext cx="8736330" cy="645160"/>
          </a:xfrm>
          <a:prstGeom prst="rect">
            <a:avLst/>
          </a:prstGeom>
          <a:noFill/>
        </p:spPr>
        <p:txBody>
          <a:bodyPr wrap="square" rtlCol="0">
            <a:spAutoFit/>
          </a:bodyPr>
          <a:lstStyle/>
          <a:p>
            <a:pPr indent="457200"/>
            <a:r>
              <a:rPr lang="en-US" altLang="zh-CN"/>
              <a:t>LRN</a:t>
            </a:r>
            <a:r>
              <a:rPr lang="zh-CN" altLang="en-US"/>
              <a:t>本质是抑制邻近神经元的响应，从而增强了神经元的较大响应。这种技术在一定程度上能够避免过拟合，并提高网络的泛化能力。</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图像分类</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3200" dirty="0">
                <a:latin typeface="宋体" panose="02010600030101010101" pitchFamily="2" charset="-122"/>
                <a:ea typeface="宋体" panose="02010600030101010101" pitchFamily="2" charset="-122"/>
              </a:rPr>
              <a:t>AlexNet</a:t>
            </a:r>
            <a:r>
              <a:rPr lang="zh-CN" altLang="en-US" sz="3200" dirty="0">
                <a:latin typeface="宋体" panose="02010600030101010101" pitchFamily="2" charset="-122"/>
                <a:ea typeface="宋体" panose="02010600030101010101" pitchFamily="2" charset="-122"/>
              </a:rPr>
              <a:t>创新点</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753235"/>
          </a:xfrm>
          <a:prstGeom prst="rect">
            <a:avLst/>
          </a:prstGeom>
          <a:noFill/>
        </p:spPr>
        <p:txBody>
          <a:bodyPr wrap="square" rtlCol="0">
            <a:spAutoFit/>
          </a:bodyPr>
          <a:lstStyle/>
          <a:p>
            <a:pPr indent="457200"/>
            <a:r>
              <a:rPr lang="en-US" altLang="zh-CN"/>
              <a:t>4</a:t>
            </a:r>
            <a:r>
              <a:rPr lang="zh-CN" altLang="en-US"/>
              <a:t>、数据增强和</a:t>
            </a:r>
            <a:r>
              <a:rPr lang="en-US" altLang="zh-CN"/>
              <a:t>Dropout</a:t>
            </a:r>
          </a:p>
          <a:p>
            <a:pPr indent="457200"/>
            <a:r>
              <a:rPr lang="zh-CN" altLang="en-US"/>
              <a:t>为了防止过拟合，</a:t>
            </a:r>
            <a:r>
              <a:rPr lang="en-US" altLang="zh-CN"/>
              <a:t>AlexNet </a:t>
            </a:r>
            <a:r>
              <a:rPr lang="zh-CN" altLang="en-US"/>
              <a:t>引入了数据增强和</a:t>
            </a:r>
            <a:r>
              <a:rPr lang="en-US" altLang="zh-CN"/>
              <a:t> Dropout </a:t>
            </a:r>
            <a:r>
              <a:rPr lang="zh-CN" altLang="en-US"/>
              <a:t>技术。数据增强可以通过对图像进行旋转、翻转、裁剪等变换，增加训练数据的多样性，提高模型的泛化能力。</a:t>
            </a:r>
            <a:r>
              <a:rPr lang="en-US" altLang="zh-CN"/>
              <a:t>Dropout </a:t>
            </a:r>
            <a:r>
              <a:rPr lang="zh-CN" altLang="en-US"/>
              <a:t>则是在训练过程中随机删除一定比例的神经元，强制网络学习多个互不相同的子网络，从而提高网络的泛化能力。</a:t>
            </a:r>
            <a:r>
              <a:rPr lang="en-US" altLang="zh-CN"/>
              <a:t>Dropout</a:t>
            </a:r>
            <a:r>
              <a:rPr lang="zh-CN" altLang="en-US"/>
              <a:t>简单来说就是在前向传播的时候，让某个神经元的激活值以一定的概率</a:t>
            </a:r>
            <a:r>
              <a:rPr lang="en-US" altLang="zh-CN"/>
              <a:t>p</a:t>
            </a:r>
            <a:r>
              <a:rPr lang="zh-CN" altLang="en-US"/>
              <a:t>停止工作，这样可以使模型泛化性更强，因为它不会太依赖某些局部的特征。</a:t>
            </a:r>
          </a:p>
        </p:txBody>
      </p:sp>
      <p:pic>
        <p:nvPicPr>
          <p:cNvPr id="7" name="图片 6"/>
          <p:cNvPicPr>
            <a:picLocks noChangeAspect="1"/>
          </p:cNvPicPr>
          <p:nvPr/>
        </p:nvPicPr>
        <p:blipFill>
          <a:blip r:embed="rId3"/>
          <a:stretch>
            <a:fillRect/>
          </a:stretch>
        </p:blipFill>
        <p:spPr>
          <a:xfrm>
            <a:off x="3218815" y="3500755"/>
            <a:ext cx="5537200" cy="26650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198880"/>
          </a:xfrm>
          <a:prstGeom prst="rect">
            <a:avLst/>
          </a:prstGeom>
          <a:noFill/>
        </p:spPr>
        <p:txBody>
          <a:bodyPr wrap="square" rtlCol="0">
            <a:spAutoFit/>
          </a:bodyPr>
          <a:lstStyle/>
          <a:p>
            <a:pPr indent="457200"/>
            <a:r>
              <a:rPr lang="zh-CN" altLang="en-US"/>
              <a:t>目标检测（</a:t>
            </a:r>
            <a:r>
              <a:rPr lang="en-US" altLang="zh-CN"/>
              <a:t>Object Detection</a:t>
            </a:r>
            <a:r>
              <a:rPr lang="zh-CN" altLang="en-US"/>
              <a:t>）的任务是找出图像中所有感兴趣的目标（物体），确定它们的类别和位置，是计算机视觉领域的核心问题之一。由于各类物体有不同的外观、形状和姿态，加上成像时光照、遮挡等因素的干扰，目标检测一直是计算机视觉领域最具有挑战性的问题。</a:t>
            </a:r>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pic>
        <p:nvPicPr>
          <p:cNvPr id="8" name="图片 7"/>
          <p:cNvPicPr/>
          <p:nvPr/>
        </p:nvPicPr>
        <p:blipFill>
          <a:blip r:embed="rId3"/>
          <a:stretch>
            <a:fillRect/>
          </a:stretch>
        </p:blipFill>
        <p:spPr>
          <a:xfrm>
            <a:off x="3218815" y="2903220"/>
            <a:ext cx="4712970" cy="27374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645160"/>
          </a:xfrm>
          <a:prstGeom prst="rect">
            <a:avLst/>
          </a:prstGeom>
          <a:noFill/>
        </p:spPr>
        <p:txBody>
          <a:bodyPr wrap="square" rtlCol="0">
            <a:spAutoFit/>
          </a:bodyPr>
          <a:lstStyle/>
          <a:p>
            <a:pPr indent="457200"/>
            <a:r>
              <a:rPr lang="zh-CN" altLang="en-US"/>
              <a:t>目标检测实际上就是找出图像中所有感兴趣的目标（</a:t>
            </a:r>
            <a:r>
              <a:rPr lang="en-US" altLang="zh-CN"/>
              <a:t>object)</a:t>
            </a:r>
            <a:r>
              <a:rPr lang="zh-CN" altLang="en-US"/>
              <a:t>，并获得这一目标的类别信息和位置信息。因此，目标检测任务可以解耦成分类任务和定位任务。</a:t>
            </a:r>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pic>
        <p:nvPicPr>
          <p:cNvPr id="7" name="图片 6"/>
          <p:cNvPicPr>
            <a:picLocks noChangeAspect="1"/>
          </p:cNvPicPr>
          <p:nvPr/>
        </p:nvPicPr>
        <p:blipFill>
          <a:blip r:embed="rId3"/>
          <a:stretch>
            <a:fillRect/>
          </a:stretch>
        </p:blipFill>
        <p:spPr>
          <a:xfrm>
            <a:off x="1271270" y="2421255"/>
            <a:ext cx="5524500" cy="3914775"/>
          </a:xfrm>
          <a:prstGeom prst="rect">
            <a:avLst/>
          </a:prstGeom>
        </p:spPr>
      </p:pic>
      <p:pic>
        <p:nvPicPr>
          <p:cNvPr id="9" name="图片 8"/>
          <p:cNvPicPr>
            <a:picLocks noChangeAspect="1"/>
          </p:cNvPicPr>
          <p:nvPr/>
        </p:nvPicPr>
        <p:blipFill>
          <a:blip r:embed="rId4"/>
          <a:stretch>
            <a:fillRect/>
          </a:stretch>
        </p:blipFill>
        <p:spPr>
          <a:xfrm>
            <a:off x="7176135" y="3285490"/>
            <a:ext cx="4487545" cy="205676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911225" y="1701165"/>
            <a:ext cx="9507855" cy="368300"/>
          </a:xfrm>
          <a:prstGeom prst="rect">
            <a:avLst/>
          </a:prstGeom>
          <a:noFill/>
        </p:spPr>
        <p:txBody>
          <a:bodyPr wrap="square" rtlCol="0">
            <a:spAutoFit/>
          </a:bodyPr>
          <a:lstStyle/>
          <a:p>
            <a:pPr indent="457200"/>
            <a:r>
              <a:rPr lang="zh-CN" altLang="en-US"/>
              <a:t>从目标的定位角度出发，目标检测需要解决的核心问题主要有</a:t>
            </a:r>
            <a:r>
              <a:rPr lang="en-US" altLang="zh-CN"/>
              <a:t>3</a:t>
            </a:r>
            <a:r>
              <a:rPr lang="zh-CN" altLang="en-US"/>
              <a:t>个：</a:t>
            </a:r>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sp>
        <p:nvSpPr>
          <p:cNvPr id="12" name="文本框 11"/>
          <p:cNvSpPr txBox="1"/>
          <p:nvPr/>
        </p:nvSpPr>
        <p:spPr>
          <a:xfrm>
            <a:off x="839470" y="2102485"/>
            <a:ext cx="10343515" cy="3415030"/>
          </a:xfrm>
          <a:prstGeom prst="rect">
            <a:avLst/>
          </a:prstGeom>
          <a:noFill/>
        </p:spPr>
        <p:txBody>
          <a:bodyPr wrap="square" rtlCol="0">
            <a:spAutoFit/>
          </a:bodyPr>
          <a:lstStyle/>
          <a:p>
            <a:r>
              <a:rPr lang="en-US" altLang="zh-CN">
                <a:sym typeface="+mn-ea"/>
              </a:rPr>
              <a:t>•</a:t>
            </a:r>
            <a:r>
              <a:rPr lang="zh-CN" altLang="en-US"/>
              <a:t>大小的多样性</a:t>
            </a:r>
          </a:p>
          <a:p>
            <a:r>
              <a:rPr lang="zh-CN" altLang="en-US"/>
              <a:t>同一张图像上可能同时出现多个不同或相同的目标，他们之间的大小差异大</a:t>
            </a:r>
          </a:p>
          <a:p>
            <a:endParaRPr lang="en-US" altLang="zh-CN">
              <a:sym typeface="+mn-ea"/>
            </a:endParaRPr>
          </a:p>
          <a:p>
            <a:endParaRPr lang="en-US" altLang="zh-CN">
              <a:sym typeface="+mn-ea"/>
            </a:endParaRPr>
          </a:p>
          <a:p>
            <a:endParaRPr lang="en-US" altLang="zh-CN">
              <a:sym typeface="+mn-ea"/>
            </a:endParaRPr>
          </a:p>
          <a:p>
            <a:r>
              <a:rPr lang="en-US" altLang="zh-CN">
                <a:sym typeface="+mn-ea"/>
              </a:rPr>
              <a:t>•</a:t>
            </a:r>
            <a:r>
              <a:rPr lang="zh-CN" altLang="en-US"/>
              <a:t>位置的任意性</a:t>
            </a:r>
          </a:p>
          <a:p>
            <a:r>
              <a:rPr lang="zh-CN" altLang="en-US"/>
              <a:t>目标可以出现在图像的任意位置</a:t>
            </a:r>
          </a:p>
          <a:p>
            <a:endParaRPr lang="en-US" altLang="zh-CN">
              <a:sym typeface="+mn-ea"/>
            </a:endParaRPr>
          </a:p>
          <a:p>
            <a:endParaRPr lang="en-US" altLang="zh-CN">
              <a:sym typeface="+mn-ea"/>
            </a:endParaRPr>
          </a:p>
          <a:p>
            <a:endParaRPr lang="en-US" altLang="zh-CN">
              <a:sym typeface="+mn-ea"/>
            </a:endParaRPr>
          </a:p>
          <a:p>
            <a:r>
              <a:rPr lang="en-US" altLang="zh-CN">
                <a:sym typeface="+mn-ea"/>
              </a:rPr>
              <a:t>•</a:t>
            </a:r>
            <a:r>
              <a:rPr lang="zh-CN" altLang="en-US"/>
              <a:t>形态的差异性</a:t>
            </a:r>
          </a:p>
          <a:p>
            <a:r>
              <a:rPr lang="zh-CN" altLang="en-US"/>
              <a:t>同一物体目标的形态差异可能很大，目标可能有各种不同的形状</a:t>
            </a:r>
          </a:p>
        </p:txBody>
      </p:sp>
      <p:pic>
        <p:nvPicPr>
          <p:cNvPr id="13" name="图片 12"/>
          <p:cNvPicPr>
            <a:picLocks noChangeAspect="1"/>
          </p:cNvPicPr>
          <p:nvPr/>
        </p:nvPicPr>
        <p:blipFill>
          <a:blip r:embed="rId3"/>
          <a:stretch>
            <a:fillRect/>
          </a:stretch>
        </p:blipFill>
        <p:spPr>
          <a:xfrm>
            <a:off x="9119870" y="1557020"/>
            <a:ext cx="2562225" cy="1647825"/>
          </a:xfrm>
          <a:prstGeom prst="rect">
            <a:avLst/>
          </a:prstGeom>
        </p:spPr>
      </p:pic>
      <p:pic>
        <p:nvPicPr>
          <p:cNvPr id="14" name="图片 13"/>
          <p:cNvPicPr>
            <a:picLocks noChangeAspect="1"/>
          </p:cNvPicPr>
          <p:nvPr/>
        </p:nvPicPr>
        <p:blipFill>
          <a:blip r:embed="rId4"/>
          <a:stretch>
            <a:fillRect/>
          </a:stretch>
        </p:blipFill>
        <p:spPr>
          <a:xfrm>
            <a:off x="9205595" y="3142615"/>
            <a:ext cx="2390775" cy="1590675"/>
          </a:xfrm>
          <a:prstGeom prst="rect">
            <a:avLst/>
          </a:prstGeom>
        </p:spPr>
      </p:pic>
      <p:pic>
        <p:nvPicPr>
          <p:cNvPr id="15" name="图片 14"/>
          <p:cNvPicPr>
            <a:picLocks noChangeAspect="1"/>
          </p:cNvPicPr>
          <p:nvPr/>
        </p:nvPicPr>
        <p:blipFill>
          <a:blip r:embed="rId5"/>
          <a:stretch>
            <a:fillRect/>
          </a:stretch>
        </p:blipFill>
        <p:spPr>
          <a:xfrm>
            <a:off x="9264015" y="4797425"/>
            <a:ext cx="2352675" cy="15144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911225" y="1701165"/>
            <a:ext cx="9507855" cy="645160"/>
          </a:xfrm>
          <a:prstGeom prst="rect">
            <a:avLst/>
          </a:prstGeom>
          <a:noFill/>
        </p:spPr>
        <p:txBody>
          <a:bodyPr wrap="square" rtlCol="0">
            <a:spAutoFit/>
          </a:bodyPr>
          <a:lstStyle/>
          <a:p>
            <a:pPr indent="457200"/>
            <a:r>
              <a:rPr lang="zh-CN" altLang="en-US"/>
              <a:t>目标检测分为两大系列</a:t>
            </a:r>
            <a:r>
              <a:rPr lang="en-US" altLang="zh-CN"/>
              <a:t>——RCNN</a:t>
            </a:r>
            <a:r>
              <a:rPr lang="zh-CN" altLang="en-US"/>
              <a:t>系列和</a:t>
            </a:r>
            <a:r>
              <a:rPr lang="en-US" altLang="zh-CN"/>
              <a:t>YOLO</a:t>
            </a:r>
            <a:r>
              <a:rPr lang="zh-CN" altLang="en-US"/>
              <a:t>系列，</a:t>
            </a:r>
            <a:r>
              <a:rPr lang="en-US" altLang="zh-CN"/>
              <a:t>RCNN</a:t>
            </a:r>
            <a:r>
              <a:rPr lang="zh-CN" altLang="en-US"/>
              <a:t>系列是基于区域检测的代表性算法，</a:t>
            </a:r>
            <a:r>
              <a:rPr lang="en-US" altLang="zh-CN"/>
              <a:t>YOLO</a:t>
            </a:r>
            <a:r>
              <a:rPr lang="zh-CN" altLang="en-US"/>
              <a:t>是基于区域提取的代表性算法，另外还有著名的</a:t>
            </a:r>
            <a:r>
              <a:rPr lang="en-US" altLang="zh-CN"/>
              <a:t>SSD</a:t>
            </a:r>
            <a:r>
              <a:rPr lang="zh-CN" altLang="en-US"/>
              <a:t>是基于前两个系列的改进。</a:t>
            </a:r>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pic>
        <p:nvPicPr>
          <p:cNvPr id="7" name="图片 6"/>
          <p:cNvPicPr/>
          <p:nvPr/>
        </p:nvPicPr>
        <p:blipFill>
          <a:blip r:embed="rId3"/>
          <a:stretch>
            <a:fillRect/>
          </a:stretch>
        </p:blipFill>
        <p:spPr>
          <a:xfrm>
            <a:off x="2855595" y="2925445"/>
            <a:ext cx="5669280" cy="27127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基于</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的目标检测算法主要分为两个方向</a:t>
            </a:r>
            <a:r>
              <a:rPr lang="en-US" altLang="zh-CN" sz="2000" dirty="0">
                <a:latin typeface="宋体" panose="02010600030101010101" pitchFamily="2" charset="-122"/>
                <a:ea typeface="宋体" panose="02010600030101010101" pitchFamily="2" charset="-122"/>
              </a:rPr>
              <a:t>One-Stage</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Two-Stage</a:t>
            </a:r>
            <a:r>
              <a:rPr lang="zh-CN" altLang="en-US" sz="2000" dirty="0">
                <a:latin typeface="宋体" panose="02010600030101010101" pitchFamily="2" charset="-122"/>
                <a:ea typeface="宋体" panose="02010600030101010101" pitchFamily="2" charset="-122"/>
              </a:rPr>
              <a:t>两种策略。</a:t>
            </a: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rPr>
              <a:t>Two-Stage</a:t>
            </a:r>
            <a:r>
              <a:rPr lang="zh-CN" altLang="en-US" sz="2000" dirty="0">
                <a:latin typeface="宋体" panose="02010600030101010101" pitchFamily="2" charset="-122"/>
                <a:ea typeface="宋体" panose="02010600030101010101" pitchFamily="2" charset="-122"/>
              </a:rPr>
              <a:t>采用</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Region Proposal Network</a:t>
            </a:r>
            <a:r>
              <a:rPr lang="zh-CN" altLang="en-US" sz="2000" dirty="0">
                <a:latin typeface="宋体" panose="02010600030101010101" pitchFamily="2" charset="-122"/>
                <a:ea typeface="宋体" panose="02010600030101010101" pitchFamily="2" charset="-122"/>
              </a:rPr>
              <a:t>）生成候选区域，然后通过分类和回归网路得到图片中目标的位置和类别（如</a:t>
            </a:r>
            <a:r>
              <a:rPr lang="en-US" altLang="zh-CN" sz="2000" dirty="0">
                <a:latin typeface="宋体" panose="02010600030101010101" pitchFamily="2" charset="-122"/>
                <a:ea typeface="宋体" panose="02010600030101010101" pitchFamily="2" charset="-122"/>
              </a:rPr>
              <a:t>Faster-RCNN</a:t>
            </a:r>
            <a:r>
              <a:rPr lang="zh-CN" altLang="en-US" sz="2000" dirty="0">
                <a:latin typeface="宋体" panose="02010600030101010101" pitchFamily="2" charset="-122"/>
                <a:ea typeface="宋体" panose="02010600030101010101" pitchFamily="2" charset="-122"/>
              </a:rPr>
              <a: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pic>
        <p:nvPicPr>
          <p:cNvPr id="6" name="图片 5"/>
          <p:cNvPicPr/>
          <p:nvPr/>
        </p:nvPicPr>
        <p:blipFill>
          <a:blip r:embed="rId3"/>
          <a:stretch>
            <a:fillRect/>
          </a:stretch>
        </p:blipFill>
        <p:spPr>
          <a:xfrm>
            <a:off x="3071495" y="3135630"/>
            <a:ext cx="4983480" cy="24085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基于</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的目标检测算法主要分为两个方向</a:t>
            </a:r>
            <a:r>
              <a:rPr lang="en-US" altLang="zh-CN" sz="2000" dirty="0">
                <a:latin typeface="宋体" panose="02010600030101010101" pitchFamily="2" charset="-122"/>
                <a:ea typeface="宋体" panose="02010600030101010101" pitchFamily="2" charset="-122"/>
              </a:rPr>
              <a:t>One-Stage</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Two-Stage</a:t>
            </a:r>
            <a:r>
              <a:rPr lang="zh-CN" altLang="en-US" sz="2000" dirty="0">
                <a:latin typeface="宋体" panose="02010600030101010101" pitchFamily="2" charset="-122"/>
                <a:ea typeface="宋体" panose="02010600030101010101" pitchFamily="2" charset="-122"/>
              </a:rPr>
              <a:t>两种策略。</a:t>
            </a: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rPr>
              <a:t>One-Stage</a:t>
            </a:r>
            <a:r>
              <a:rPr lang="zh-CN" altLang="en-US" sz="2000" dirty="0">
                <a:latin typeface="宋体" panose="02010600030101010101" pitchFamily="2" charset="-122"/>
                <a:ea typeface="宋体" panose="02010600030101010101" pitchFamily="2" charset="-122"/>
              </a:rPr>
              <a:t>采用更简单粗暴的方法直接从图片预测目标的位置和类别。一般来说</a:t>
            </a:r>
            <a:r>
              <a:rPr lang="en-US" altLang="zh-CN" sz="2000" dirty="0">
                <a:latin typeface="宋体" panose="02010600030101010101" pitchFamily="2" charset="-122"/>
                <a:ea typeface="宋体" panose="02010600030101010101" pitchFamily="2" charset="-122"/>
              </a:rPr>
              <a:t>Two-Stage</a:t>
            </a:r>
            <a:r>
              <a:rPr lang="zh-CN" altLang="en-US" sz="2000" dirty="0">
                <a:latin typeface="宋体" panose="02010600030101010101" pitchFamily="2" charset="-122"/>
                <a:ea typeface="宋体" panose="02010600030101010101" pitchFamily="2" charset="-122"/>
              </a:rPr>
              <a:t>方法比</a:t>
            </a:r>
            <a:r>
              <a:rPr lang="en-US" altLang="zh-CN" sz="2000" dirty="0">
                <a:latin typeface="宋体" panose="02010600030101010101" pitchFamily="2" charset="-122"/>
                <a:ea typeface="宋体" panose="02010600030101010101" pitchFamily="2" charset="-122"/>
              </a:rPr>
              <a:t>One-Stage</a:t>
            </a:r>
            <a:r>
              <a:rPr lang="zh-CN" altLang="en-US" sz="2000" dirty="0">
                <a:latin typeface="宋体" panose="02010600030101010101" pitchFamily="2" charset="-122"/>
                <a:ea typeface="宋体" panose="02010600030101010101" pitchFamily="2" charset="-122"/>
              </a:rPr>
              <a:t>方法目标检测准确率更高，但速度更慢（这是基于同时代的对比）（如</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zh-CN" altLang="en-US" sz="3200"/>
              <a:t>目标检测定义</a:t>
            </a:r>
          </a:p>
        </p:txBody>
      </p:sp>
      <p:pic>
        <p:nvPicPr>
          <p:cNvPr id="8" name="图片 7"/>
          <p:cNvPicPr/>
          <p:nvPr/>
        </p:nvPicPr>
        <p:blipFill>
          <a:blip r:embed="rId3"/>
          <a:stretch>
            <a:fillRect/>
          </a:stretch>
        </p:blipFill>
        <p:spPr>
          <a:xfrm>
            <a:off x="3215640" y="3213100"/>
            <a:ext cx="4419600" cy="25527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Faster RCNN</a:t>
            </a:r>
            <a:r>
              <a:rPr lang="zh-CN" altLang="en-US" sz="2000" dirty="0">
                <a:latin typeface="宋体" panose="02010600030101010101" pitchFamily="2" charset="-122"/>
                <a:ea typeface="宋体" panose="02010600030101010101" pitchFamily="2" charset="-122"/>
              </a:rPr>
              <a:t>是</a:t>
            </a:r>
            <a:r>
              <a:rPr lang="en-US" altLang="zh-CN" sz="2000" dirty="0">
                <a:latin typeface="宋体" panose="02010600030101010101" pitchFamily="2" charset="-122"/>
                <a:ea typeface="宋体" panose="02010600030101010101" pitchFamily="2" charset="-122"/>
              </a:rPr>
              <a:t>two-stage</a:t>
            </a:r>
            <a:r>
              <a:rPr lang="zh-CN" altLang="en-US" sz="2000" dirty="0">
                <a:latin typeface="宋体" panose="02010600030101010101" pitchFamily="2" charset="-122"/>
                <a:ea typeface="宋体" panose="02010600030101010101" pitchFamily="2" charset="-122"/>
              </a:rPr>
              <a:t>目标检测模型中的典型代表，</a:t>
            </a:r>
            <a:r>
              <a:rPr lang="en-US" altLang="zh-CN" sz="2000" dirty="0">
                <a:latin typeface="宋体" panose="02010600030101010101" pitchFamily="2" charset="-122"/>
                <a:ea typeface="宋体" panose="02010600030101010101" pitchFamily="2" charset="-122"/>
              </a:rPr>
              <a:t>Faster R-CNN </a:t>
            </a:r>
            <a:r>
              <a:rPr lang="zh-CN" altLang="en-US" sz="2000" dirty="0">
                <a:latin typeface="宋体" panose="02010600030101010101" pitchFamily="2" charset="-122"/>
                <a:ea typeface="宋体" panose="02010600030101010101" pitchFamily="2" charset="-122"/>
              </a:rPr>
              <a:t>网络有两部分组成，第一部分是区域建议网络（</a:t>
            </a:r>
            <a:r>
              <a:rPr lang="en-US" altLang="zh-CN" sz="2000" dirty="0">
                <a:latin typeface="宋体" panose="02010600030101010101" pitchFamily="2" charset="-122"/>
                <a:ea typeface="宋体" panose="02010600030101010101" pitchFamily="2" charset="-122"/>
              </a:rPr>
              <a:t> Region Proposal Network, RPN</a:t>
            </a:r>
            <a:r>
              <a:rPr lang="zh-CN" altLang="en-US" sz="2000" dirty="0">
                <a:latin typeface="宋体" panose="02010600030101010101" pitchFamily="2" charset="-122"/>
                <a:ea typeface="宋体" panose="02010600030101010101" pitchFamily="2" charset="-122"/>
              </a:rPr>
              <a:t>），该网络是一个全卷积神经网络，用来生成候选区域；第二部分是</a:t>
            </a:r>
            <a:r>
              <a:rPr lang="en-US" altLang="zh-CN" sz="2000" dirty="0">
                <a:latin typeface="宋体" panose="02010600030101010101" pitchFamily="2" charset="-122"/>
                <a:ea typeface="宋体" panose="02010600030101010101" pitchFamily="2" charset="-122"/>
              </a:rPr>
              <a:t> Fast R-CNN </a:t>
            </a:r>
            <a:r>
              <a:rPr lang="zh-CN" altLang="en-US" sz="2000" dirty="0">
                <a:latin typeface="宋体" panose="02010600030101010101" pitchFamily="2" charset="-122"/>
                <a:ea typeface="宋体" panose="02010600030101010101" pitchFamily="2" charset="-122"/>
              </a:rPr>
              <a:t>检测网络，将第一部分</a:t>
            </a:r>
            <a:r>
              <a:rPr lang="en-US" altLang="zh-CN" sz="2000" dirty="0">
                <a:latin typeface="宋体" panose="02010600030101010101" pitchFamily="2" charset="-122"/>
                <a:ea typeface="宋体" panose="02010600030101010101" pitchFamily="2" charset="-122"/>
              </a:rPr>
              <a:t> RPN(</a:t>
            </a:r>
            <a:r>
              <a:rPr lang="zh-CN" altLang="en-US" sz="2000" dirty="0">
                <a:latin typeface="宋体" panose="02010600030101010101" pitchFamily="2" charset="-122"/>
                <a:ea typeface="宋体" panose="02010600030101010101" pitchFamily="2" charset="-122"/>
              </a:rPr>
              <a:t>区域建议网络</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生成的候选区域送入</a:t>
            </a:r>
            <a:r>
              <a:rPr lang="en-US" altLang="zh-CN" sz="2000" dirty="0">
                <a:latin typeface="宋体" panose="02010600030101010101" pitchFamily="2" charset="-122"/>
                <a:ea typeface="宋体" panose="02010600030101010101" pitchFamily="2" charset="-122"/>
              </a:rPr>
              <a:t> Fast R-CNN </a:t>
            </a:r>
            <a:r>
              <a:rPr lang="zh-CN" altLang="en-US" sz="2000" dirty="0">
                <a:latin typeface="宋体" panose="02010600030101010101" pitchFamily="2" charset="-122"/>
                <a:ea typeface="宋体" panose="02010600030101010101" pitchFamily="2" charset="-122"/>
              </a:rPr>
              <a:t>检测网络，对候选区域进行分类和边界回归。</a:t>
            </a: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p:nvPr/>
        </p:nvPicPr>
        <p:blipFill>
          <a:blip r:embed="rId3"/>
          <a:stretch>
            <a:fillRect/>
          </a:stretch>
        </p:blipFill>
        <p:spPr>
          <a:xfrm>
            <a:off x="3071495" y="3141345"/>
            <a:ext cx="5564505" cy="33362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Faster R-CNN</a:t>
            </a:r>
            <a:r>
              <a:rPr lang="zh-CN" altLang="en-US" sz="2000" dirty="0">
                <a:latin typeface="宋体" panose="02010600030101010101" pitchFamily="2" charset="-122"/>
                <a:ea typeface="宋体" panose="02010600030101010101" pitchFamily="2" charset="-122"/>
              </a:rPr>
              <a:t>算法流程：</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）将图像输入</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网络得到相应的特征图。</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）使用</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网络生成候选框，将</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生成的候选框投影到特征图上获得</a:t>
            </a:r>
            <a:r>
              <a:rPr lang="en-US" altLang="zh-CN" sz="2000" dirty="0">
                <a:latin typeface="宋体" panose="02010600030101010101" pitchFamily="2" charset="-122"/>
                <a:ea typeface="宋体" panose="02010600030101010101" pitchFamily="2" charset="-122"/>
              </a:rPr>
              <a:t>ROI</a:t>
            </a:r>
            <a:r>
              <a:rPr lang="zh-CN" altLang="en-US" sz="2000" dirty="0">
                <a:latin typeface="宋体" panose="02010600030101010101" pitchFamily="2" charset="-122"/>
                <a:ea typeface="宋体" panose="02010600030101010101" pitchFamily="2" charset="-122"/>
              </a:rPr>
              <a:t>区域的特征矩阵。</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）将每个</a:t>
            </a:r>
            <a:r>
              <a:rPr lang="en-US" altLang="zh-CN" sz="2000" dirty="0">
                <a:latin typeface="宋体" panose="02010600030101010101" pitchFamily="2" charset="-122"/>
                <a:ea typeface="宋体" panose="02010600030101010101" pitchFamily="2" charset="-122"/>
              </a:rPr>
              <a:t>ROI</a:t>
            </a:r>
            <a:r>
              <a:rPr lang="zh-CN" altLang="en-US" sz="2000" dirty="0">
                <a:latin typeface="宋体" panose="02010600030101010101" pitchFamily="2" charset="-122"/>
                <a:ea typeface="宋体" panose="02010600030101010101" pitchFamily="2" charset="-122"/>
              </a:rPr>
              <a:t>区域的特征矩阵通过</a:t>
            </a:r>
            <a:r>
              <a:rPr lang="en-US" altLang="zh-CN" sz="2000" dirty="0">
                <a:latin typeface="宋体" panose="02010600030101010101" pitchFamily="2" charset="-122"/>
                <a:ea typeface="宋体" panose="02010600030101010101" pitchFamily="2" charset="-122"/>
              </a:rPr>
              <a:t>ROI pooling</a:t>
            </a:r>
            <a:r>
              <a:rPr lang="zh-CN" altLang="en-US" sz="2000" dirty="0">
                <a:latin typeface="宋体" panose="02010600030101010101" pitchFamily="2" charset="-122"/>
                <a:ea typeface="宋体" panose="02010600030101010101" pitchFamily="2" charset="-122"/>
              </a:rPr>
              <a:t>层缩放到</a:t>
            </a:r>
            <a:r>
              <a:rPr lang="en-US" altLang="zh-CN" sz="2000" dirty="0">
                <a:latin typeface="宋体" panose="02010600030101010101" pitchFamily="2" charset="-122"/>
                <a:ea typeface="宋体" panose="02010600030101010101" pitchFamily="2" charset="-122"/>
              </a:rPr>
              <a:t>7</a:t>
            </a:r>
            <a:r>
              <a:rPr lang="en-US"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en-US" sz="2000" dirty="0">
                <a:latin typeface="宋体" panose="02010600030101010101" pitchFamily="2" charset="-122"/>
                <a:ea typeface="宋体" panose="02010600030101010101" pitchFamily="2" charset="-122"/>
              </a:rPr>
              <a:t>大小的特征图，接着将特征图展平为</a:t>
            </a:r>
            <a:r>
              <a:rPr lang="en-US" altLang="zh-CN" sz="2000" dirty="0">
                <a:latin typeface="宋体" panose="02010600030101010101" pitchFamily="2" charset="-122"/>
                <a:ea typeface="宋体" panose="02010600030101010101" pitchFamily="2" charset="-122"/>
              </a:rPr>
              <a:t>vector</a:t>
            </a:r>
            <a:r>
              <a:rPr lang="zh-CN" altLang="en-US" sz="2000" dirty="0">
                <a:latin typeface="宋体" panose="02010600030101010101" pitchFamily="2" charset="-122"/>
                <a:ea typeface="宋体" panose="02010600030101010101" pitchFamily="2" charset="-122"/>
              </a:rPr>
              <a:t>，之后通过一系列全连接层得到预测结果。</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基于</a:t>
            </a:r>
            <a:r>
              <a:rPr lang="en-US" altLang="zh-CN" sz="2000" dirty="0">
                <a:latin typeface="宋体" panose="02010600030101010101" pitchFamily="2" charset="-122"/>
                <a:ea typeface="宋体" panose="02010600030101010101" pitchFamily="2" charset="-122"/>
              </a:rPr>
              <a:t> CNN(</a:t>
            </a:r>
            <a:r>
              <a:rPr lang="zh-CN" altLang="en-US" sz="2000" dirty="0">
                <a:latin typeface="宋体" panose="02010600030101010101" pitchFamily="2" charset="-122"/>
                <a:ea typeface="宋体" panose="02010600030101010101" pitchFamily="2" charset="-122"/>
              </a:rPr>
              <a:t>卷积神经网络</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的目标检测方法一般都是候选区域生成和</a:t>
            </a:r>
            <a:r>
              <a:rPr lang="en-US" altLang="zh-CN" sz="2000" dirty="0">
                <a:latin typeface="宋体" panose="02010600030101010101" pitchFamily="2" charset="-122"/>
                <a:ea typeface="宋体" panose="02010600030101010101" pitchFamily="2" charset="-122"/>
              </a:rPr>
              <a:t> CNN </a:t>
            </a:r>
            <a:r>
              <a:rPr lang="zh-CN" altLang="en-US" sz="2000" dirty="0">
                <a:latin typeface="宋体" panose="02010600030101010101" pitchFamily="2" charset="-122"/>
                <a:ea typeface="宋体" panose="02010600030101010101" pitchFamily="2" charset="-122"/>
              </a:rPr>
              <a:t>分类的组合，生成候选区域的质量好坏直接影响着总体的检测精度。</a:t>
            </a:r>
          </a:p>
          <a:p>
            <a:pPr indent="457200" fontAlgn="auto">
              <a:spcAft>
                <a:spcPts val="0"/>
              </a:spcAft>
            </a:pP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（区域建议网络）网络以</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原始图像</a:t>
            </a:r>
            <a:r>
              <a:rPr lang="zh-CN" altLang="en-US" sz="2000" dirty="0">
                <a:latin typeface="宋体" panose="02010600030101010101" pitchFamily="2" charset="-122"/>
                <a:ea typeface="宋体" panose="02010600030101010101" pitchFamily="2" charset="-122"/>
              </a:rPr>
              <a:t>所提取出的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卷积特征图矩阵</a:t>
            </a:r>
            <a:r>
              <a:rPr lang="zh-CN" altLang="en-US" sz="2000" dirty="0">
                <a:latin typeface="宋体" panose="02010600030101010101" pitchFamily="2" charset="-122"/>
                <a:ea typeface="宋体" panose="02010600030101010101" pitchFamily="2" charset="-122"/>
              </a:rPr>
              <a:t>作为输入，输出一系列的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矩形候选区域框以及该矩形候选区域是否为目标的分数</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objectness scores</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 </a:t>
            </a:r>
            <a:r>
              <a:rPr lang="zh-CN" altLang="en-US" sz="2000" dirty="0">
                <a:latin typeface="宋体" panose="02010600030101010101" pitchFamily="2" charset="-122"/>
                <a:ea typeface="宋体" panose="02010600030101010101" pitchFamily="2" charset="-122"/>
              </a:rPr>
              <a:t>网络的结构如下图所示。</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p:nvPr/>
        </p:nvPicPr>
        <p:blipFill>
          <a:blip r:embed="rId3"/>
          <a:stretch>
            <a:fillRect/>
          </a:stretch>
        </p:blipFill>
        <p:spPr>
          <a:xfrm>
            <a:off x="3359785" y="3604260"/>
            <a:ext cx="4895850" cy="3130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图中的</a:t>
            </a:r>
            <a:r>
              <a:rPr lang="en-US" altLang="zh-CN" sz="2000" dirty="0">
                <a:latin typeface="宋体" panose="02010600030101010101" pitchFamily="2" charset="-122"/>
                <a:ea typeface="宋体" panose="02010600030101010101" pitchFamily="2" charset="-122"/>
              </a:rPr>
              <a:t> conv feature map </a:t>
            </a:r>
            <a:r>
              <a:rPr lang="zh-CN" altLang="en-US" sz="2000" dirty="0">
                <a:latin typeface="宋体" panose="02010600030101010101" pitchFamily="2" charset="-122"/>
                <a:ea typeface="宋体" panose="02010600030101010101" pitchFamily="2" charset="-122"/>
              </a:rPr>
              <a:t>是图像输入网络得到相应的特征图，通过</a:t>
            </a:r>
            <a:r>
              <a:rPr lang="en-US" altLang="zh-CN" sz="2000" dirty="0">
                <a:latin typeface="宋体" panose="02010600030101010101" pitchFamily="2" charset="-122"/>
                <a:ea typeface="宋体" panose="02010600030101010101" pitchFamily="2" charset="-122"/>
              </a:rPr>
              <a:t>sliding window</a:t>
            </a:r>
            <a:r>
              <a:rPr lang="zh-CN" altLang="en-US" sz="2000" dirty="0">
                <a:latin typeface="宋体" panose="02010600030101010101" pitchFamily="2" charset="-122"/>
                <a:ea typeface="宋体" panose="02010600030101010101" pitchFamily="2" charset="-122"/>
              </a:rPr>
              <a:t>处理之后产生一个</a:t>
            </a:r>
            <a:r>
              <a:rPr lang="en-US" altLang="zh-CN" sz="2000" dirty="0">
                <a:latin typeface="宋体" panose="02010600030101010101" pitchFamily="2" charset="-122"/>
                <a:ea typeface="宋体" panose="02010600030101010101" pitchFamily="2" charset="-122"/>
              </a:rPr>
              <a:t>256d</a:t>
            </a:r>
            <a:r>
              <a:rPr lang="zh-CN" altLang="en-US" sz="2000" dirty="0">
                <a:latin typeface="宋体" panose="02010600030101010101" pitchFamily="2" charset="-122"/>
                <a:ea typeface="宋体" panose="02010600030101010101" pitchFamily="2" charset="-122"/>
              </a:rPr>
              <a:t>的一维向量。该向量通过两个全连接层，分别输出分类概率</a:t>
            </a:r>
            <a:r>
              <a:rPr lang="en-US" altLang="zh-CN" sz="2000" dirty="0">
                <a:latin typeface="宋体" panose="02010600030101010101" pitchFamily="2" charset="-122"/>
                <a:ea typeface="宋体" panose="02010600030101010101" pitchFamily="2" charset="-122"/>
              </a:rPr>
              <a:t>scores</a:t>
            </a:r>
            <a:r>
              <a:rPr lang="zh-CN" altLang="en-US" sz="2000" dirty="0">
                <a:latin typeface="宋体" panose="02010600030101010101" pitchFamily="2" charset="-122"/>
                <a:ea typeface="宋体" panose="02010600030101010101" pitchFamily="2" charset="-122"/>
              </a:rPr>
              <a:t>和边界框回归参数</a:t>
            </a:r>
            <a:r>
              <a:rPr lang="en-US" altLang="zh-CN" sz="2000" dirty="0">
                <a:latin typeface="宋体" panose="02010600030101010101" pitchFamily="2" charset="-122"/>
                <a:ea typeface="宋体" panose="02010600030101010101" pitchFamily="2" charset="-122"/>
              </a:rPr>
              <a:t>coordinates</a:t>
            </a:r>
            <a:r>
              <a:rPr lang="zh-CN" altLang="en-US" sz="2000" dirty="0">
                <a:latin typeface="宋体" panose="02010600030101010101" pitchFamily="2" charset="-122"/>
                <a:ea typeface="宋体" panose="02010600030101010101" pitchFamily="2" charset="-122"/>
              </a:rPr>
              <a:t>，其中</a:t>
            </a:r>
            <a:r>
              <a:rPr lang="en-US" altLang="zh-CN" sz="2000" dirty="0">
                <a:latin typeface="宋体" panose="02010600030101010101" pitchFamily="2" charset="-122"/>
                <a:ea typeface="宋体" panose="02010600030101010101" pitchFamily="2" charset="-122"/>
              </a:rPr>
              <a:t>k</a:t>
            </a:r>
            <a:r>
              <a:rPr lang="zh-CN" altLang="en-US" sz="2000" dirty="0">
                <a:latin typeface="宋体" panose="02010600030101010101" pitchFamily="2" charset="-122"/>
                <a:ea typeface="宋体" panose="02010600030101010101" pitchFamily="2" charset="-122"/>
              </a:rPr>
              <a:t>是指</a:t>
            </a:r>
            <a:r>
              <a:rPr lang="en-US" altLang="zh-CN" sz="2000" dirty="0">
                <a:latin typeface="宋体" panose="02010600030101010101" pitchFamily="2" charset="-122"/>
                <a:ea typeface="宋体" panose="02010600030101010101" pitchFamily="2" charset="-122"/>
              </a:rPr>
              <a:t> k</a:t>
            </a:r>
            <a:r>
              <a:rPr lang="zh-CN" altLang="en-US" sz="2000" dirty="0">
                <a:latin typeface="宋体" panose="02010600030101010101" pitchFamily="2" charset="-122"/>
                <a:ea typeface="宋体" panose="02010600030101010101" pitchFamily="2" charset="-122"/>
              </a:rPr>
              <a:t>个</a:t>
            </a:r>
            <a:r>
              <a:rPr lang="en-US" altLang="zh-CN" sz="2000" dirty="0">
                <a:latin typeface="宋体" panose="02010600030101010101" pitchFamily="2" charset="-122"/>
                <a:ea typeface="宋体" panose="02010600030101010101" pitchFamily="2" charset="-122"/>
              </a:rPr>
              <a:t> anchor boxes</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2k</a:t>
            </a:r>
            <a:r>
              <a:rPr lang="zh-CN" altLang="en-US" sz="2000" dirty="0">
                <a:latin typeface="宋体" panose="02010600030101010101" pitchFamily="2" charset="-122"/>
                <a:ea typeface="宋体" panose="02010600030101010101" pitchFamily="2" charset="-122"/>
              </a:rPr>
              <a:t>个</a:t>
            </a:r>
            <a:r>
              <a:rPr lang="en-US" altLang="zh-CN" sz="2000" dirty="0">
                <a:latin typeface="宋体" panose="02010600030101010101" pitchFamily="2" charset="-122"/>
                <a:ea typeface="宋体" panose="02010600030101010101" pitchFamily="2" charset="-122"/>
              </a:rPr>
              <a:t>scores</a:t>
            </a:r>
            <a:r>
              <a:rPr lang="zh-CN" altLang="en-US" sz="2000" dirty="0">
                <a:latin typeface="宋体" panose="02010600030101010101" pitchFamily="2" charset="-122"/>
                <a:ea typeface="宋体" panose="02010600030101010101" pitchFamily="2" charset="-122"/>
              </a:rPr>
              <a:t>是每个</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分别为前景和背景的概率（注意这里只区分前景和背景，所有的类别都归为前景），</a:t>
            </a:r>
            <a:r>
              <a:rPr lang="en-US" altLang="zh-CN" sz="2000" dirty="0">
                <a:latin typeface="宋体" panose="02010600030101010101" pitchFamily="2" charset="-122"/>
                <a:ea typeface="宋体" panose="02010600030101010101" pitchFamily="2" charset="-122"/>
              </a:rPr>
              <a:t>4k</a:t>
            </a:r>
            <a:r>
              <a:rPr lang="zh-CN" altLang="en-US" sz="2000" dirty="0">
                <a:latin typeface="宋体" panose="02010600030101010101" pitchFamily="2" charset="-122"/>
                <a:ea typeface="宋体" panose="02010600030101010101" pitchFamily="2" charset="-122"/>
              </a:rPr>
              <a:t>个</a:t>
            </a:r>
            <a:r>
              <a:rPr lang="en-US" altLang="zh-CN" sz="2000" dirty="0">
                <a:latin typeface="宋体" panose="02010600030101010101" pitchFamily="2" charset="-122"/>
                <a:ea typeface="宋体" panose="02010600030101010101" pitchFamily="2" charset="-122"/>
              </a:rPr>
              <a:t>coordinates</a:t>
            </a:r>
            <a:r>
              <a:rPr lang="zh-CN" altLang="en-US" sz="2000" dirty="0">
                <a:latin typeface="宋体" panose="02010600030101010101" pitchFamily="2" charset="-122"/>
                <a:ea typeface="宋体" panose="02010600030101010101" pitchFamily="2" charset="-122"/>
              </a:rPr>
              <a:t>是因为每个</a:t>
            </a:r>
            <a:r>
              <a:rPr lang="en-US" altLang="zh-CN" sz="2000" dirty="0">
                <a:latin typeface="宋体" panose="02010600030101010101" pitchFamily="2" charset="-122"/>
                <a:ea typeface="宋体" panose="02010600030101010101" pitchFamily="2" charset="-122"/>
              </a:rPr>
              <a:t>anchor box </a:t>
            </a:r>
            <a:r>
              <a:rPr lang="zh-CN" altLang="en-US" sz="2000" dirty="0">
                <a:latin typeface="宋体" panose="02010600030101010101" pitchFamily="2" charset="-122"/>
                <a:ea typeface="宋体" panose="02010600030101010101" pitchFamily="2" charset="-122"/>
              </a:rPr>
              <a:t>有四个参数</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7" name="图片 6"/>
          <p:cNvPicPr>
            <a:picLocks noChangeAspect="1"/>
          </p:cNvPicPr>
          <p:nvPr/>
        </p:nvPicPr>
        <p:blipFill>
          <a:blip r:embed="rId3"/>
          <a:stretch>
            <a:fillRect/>
          </a:stretch>
        </p:blipFill>
        <p:spPr>
          <a:xfrm>
            <a:off x="2747645" y="3717290"/>
            <a:ext cx="5610225" cy="2971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en-US" altLang="zh-CN" sz="2000" dirty="0">
                <a:latin typeface="宋体" panose="02010600030101010101" pitchFamily="2" charset="-122"/>
                <a:ea typeface="宋体" panose="02010600030101010101" pitchFamily="2" charset="-122"/>
              </a:rPr>
              <a:t>Anchor Boxes</a:t>
            </a:r>
            <a:r>
              <a:rPr lang="zh-CN" altLang="en-US" sz="2000" dirty="0">
                <a:latin typeface="宋体" panose="02010600030101010101" pitchFamily="2" charset="-122"/>
                <a:ea typeface="宋体" panose="02010600030101010101" pitchFamily="2" charset="-122"/>
              </a:rPr>
              <a:t>是一种预定义的框，具有特定的宽度和高度，在目标检测中用于捕获不同目标的形状和大小。通常，</a:t>
            </a:r>
            <a:r>
              <a:rPr lang="en-US" altLang="zh-CN" sz="2000" dirty="0">
                <a:latin typeface="宋体" panose="02010600030101010101" pitchFamily="2" charset="-122"/>
                <a:ea typeface="宋体" panose="02010600030101010101" pitchFamily="2" charset="-122"/>
              </a:rPr>
              <a:t>Anchor Boxes</a:t>
            </a:r>
            <a:r>
              <a:rPr lang="zh-CN" altLang="en-US" sz="2000" dirty="0">
                <a:latin typeface="宋体" panose="02010600030101010101" pitchFamily="2" charset="-122"/>
                <a:ea typeface="宋体" panose="02010600030101010101" pitchFamily="2" charset="-122"/>
              </a:rPr>
              <a:t>是在训练目标检测模型之前手动定义的，然后在训练过程中作为先验框使用。</a:t>
            </a:r>
          </a:p>
          <a:p>
            <a:pPr indent="457200" fontAlgn="auto">
              <a:spcAft>
                <a:spcPts val="0"/>
              </a:spcAft>
            </a:pPr>
            <a:r>
              <a:rPr lang="zh-CN" altLang="en-US" sz="2000" dirty="0">
                <a:latin typeface="宋体" panose="02010600030101010101" pitchFamily="2" charset="-122"/>
                <a:ea typeface="宋体" panose="02010600030101010101" pitchFamily="2" charset="-122"/>
              </a:rPr>
              <a:t>预测框我们一般使用（</a:t>
            </a:r>
            <a:r>
              <a:rPr lang="en-US" altLang="zh-CN" sz="2000" dirty="0">
                <a:latin typeface="宋体" panose="02010600030101010101" pitchFamily="2" charset="-122"/>
                <a:ea typeface="宋体" panose="02010600030101010101" pitchFamily="2" charset="-122"/>
              </a:rPr>
              <a:t>x,y,w,h</a:t>
            </a:r>
            <a:r>
              <a:rPr lang="zh-CN" altLang="en-US" sz="2000" dirty="0">
                <a:latin typeface="宋体" panose="02010600030101010101" pitchFamily="2" charset="-122"/>
                <a:ea typeface="宋体" panose="02010600030101010101" pitchFamily="2" charset="-122"/>
              </a:rPr>
              <a:t>）来表示，其中</a:t>
            </a:r>
            <a:r>
              <a:rPr lang="en-US" altLang="zh-CN" sz="2000" dirty="0">
                <a:latin typeface="宋体" panose="02010600030101010101" pitchFamily="2" charset="-122"/>
                <a:ea typeface="宋体" panose="02010600030101010101" pitchFamily="2" charset="-122"/>
              </a:rPr>
              <a:t>x,y</a:t>
            </a:r>
            <a:r>
              <a:rPr lang="zh-CN" altLang="en-US" sz="2000" dirty="0">
                <a:latin typeface="宋体" panose="02010600030101010101" pitchFamily="2" charset="-122"/>
                <a:ea typeface="宋体" panose="02010600030101010101" pitchFamily="2" charset="-122"/>
              </a:rPr>
              <a:t>代表预测框的中心点，</a:t>
            </a:r>
            <a:r>
              <a:rPr lang="en-US" altLang="zh-CN" sz="2000" dirty="0">
                <a:latin typeface="宋体" panose="02010600030101010101" pitchFamily="2" charset="-122"/>
                <a:ea typeface="宋体" panose="02010600030101010101" pitchFamily="2" charset="-122"/>
              </a:rPr>
              <a:t>w,h</a:t>
            </a:r>
            <a:r>
              <a:rPr lang="zh-CN" altLang="en-US" sz="2000" dirty="0">
                <a:latin typeface="宋体" panose="02010600030101010101" pitchFamily="2" charset="-122"/>
                <a:ea typeface="宋体" panose="02010600030101010101" pitchFamily="2" charset="-122"/>
              </a:rPr>
              <a:t>代表预测框的宽高。</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p:nvPr/>
        </p:nvPicPr>
        <p:blipFill>
          <a:blip r:embed="rId3"/>
          <a:stretch>
            <a:fillRect/>
          </a:stretch>
        </p:blipFill>
        <p:spPr>
          <a:xfrm>
            <a:off x="3503295" y="3573145"/>
            <a:ext cx="3810000" cy="2857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其中</a:t>
            </a:r>
            <a:r>
              <a:rPr lang="en-US" altLang="zh-CN" sz="2000" dirty="0">
                <a:latin typeface="宋体" panose="02010600030101010101" pitchFamily="2" charset="-122"/>
                <a:ea typeface="宋体" panose="02010600030101010101" pitchFamily="2" charset="-122"/>
                <a:sym typeface="+mn-ea"/>
              </a:rPr>
              <a:t>k</a:t>
            </a:r>
            <a:r>
              <a:rPr lang="zh-CN" altLang="en-US" sz="2000" dirty="0">
                <a:latin typeface="宋体" panose="02010600030101010101" pitchFamily="2" charset="-122"/>
                <a:ea typeface="宋体" panose="02010600030101010101" pitchFamily="2" charset="-122"/>
                <a:sym typeface="+mn-ea"/>
              </a:rPr>
              <a:t>个</a:t>
            </a:r>
            <a:r>
              <a:rPr lang="en-US" altLang="zh-CN" sz="2000" dirty="0">
                <a:latin typeface="宋体" panose="02010600030101010101" pitchFamily="2" charset="-122"/>
                <a:ea typeface="宋体" panose="02010600030101010101" pitchFamily="2" charset="-122"/>
                <a:sym typeface="+mn-ea"/>
              </a:rPr>
              <a:t>anchor boxes</a:t>
            </a:r>
            <a:r>
              <a:rPr lang="zh-CN" altLang="en-US" sz="2000" dirty="0">
                <a:latin typeface="宋体" panose="02010600030101010101" pitchFamily="2" charset="-122"/>
                <a:ea typeface="宋体" panose="02010600030101010101" pitchFamily="2" charset="-122"/>
                <a:sym typeface="+mn-ea"/>
              </a:rPr>
              <a:t>含有</a:t>
            </a:r>
            <a:r>
              <a:rPr lang="en-US" altLang="zh-CN" sz="2000" dirty="0">
                <a:latin typeface="宋体" panose="02010600030101010101" pitchFamily="2" charset="-122"/>
                <a:ea typeface="宋体" panose="02010600030101010101" pitchFamily="2" charset="-122"/>
                <a:sym typeface="+mn-ea"/>
              </a:rPr>
              <a:t>2k</a:t>
            </a:r>
            <a:r>
              <a:rPr lang="zh-CN" altLang="en-US" sz="2000" dirty="0">
                <a:latin typeface="宋体" panose="02010600030101010101" pitchFamily="2" charset="-122"/>
                <a:ea typeface="宋体" panose="02010600030101010101" pitchFamily="2" charset="-122"/>
                <a:sym typeface="+mn-ea"/>
              </a:rPr>
              <a:t>个</a:t>
            </a:r>
            <a:r>
              <a:rPr lang="en-US" altLang="zh-CN" sz="2000" dirty="0">
                <a:latin typeface="宋体" panose="02010600030101010101" pitchFamily="2" charset="-122"/>
                <a:ea typeface="宋体" panose="02010600030101010101" pitchFamily="2" charset="-122"/>
                <a:sym typeface="+mn-ea"/>
              </a:rPr>
              <a:t>scores</a:t>
            </a:r>
            <a:r>
              <a:rPr lang="zh-CN" altLang="en-US" sz="2000" dirty="0">
                <a:latin typeface="宋体" panose="02010600030101010101" pitchFamily="2" charset="-122"/>
                <a:ea typeface="宋体" panose="02010600030101010101" pitchFamily="2" charset="-122"/>
                <a:sym typeface="+mn-ea"/>
              </a:rPr>
              <a:t>是每个</a:t>
            </a:r>
            <a:r>
              <a:rPr lang="en-US" altLang="zh-CN" sz="2000" dirty="0">
                <a:latin typeface="宋体" panose="02010600030101010101" pitchFamily="2" charset="-122"/>
                <a:ea typeface="宋体" panose="02010600030101010101" pitchFamily="2" charset="-122"/>
                <a:sym typeface="+mn-ea"/>
              </a:rPr>
              <a:t> anchor box </a:t>
            </a:r>
            <a:r>
              <a:rPr lang="zh-CN" altLang="en-US" sz="2000" dirty="0">
                <a:latin typeface="宋体" panose="02010600030101010101" pitchFamily="2" charset="-122"/>
                <a:ea typeface="宋体" panose="02010600030101010101" pitchFamily="2" charset="-122"/>
                <a:sym typeface="+mn-ea"/>
              </a:rPr>
              <a:t>分别为前景和背景的概率（注意这里只区分前景和背景，所有被的类别都归为前景）。</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前景：前景是指</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中包含目标物体的部分。当一个</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与真实目标框有较高的重叠度时，就被认为是前景</a:t>
            </a:r>
            <a:r>
              <a:rPr lang="en-US" altLang="zh-CN" sz="2000" dirty="0">
                <a:latin typeface="宋体" panose="02010600030101010101" pitchFamily="2" charset="-122"/>
                <a:ea typeface="宋体" panose="02010600030101010101" pitchFamily="2" charset="-122"/>
              </a:rPr>
              <a:t> Anchor Box</a:t>
            </a:r>
            <a:r>
              <a:rPr lang="zh-CN" altLang="en-US" sz="2000" dirty="0">
                <a:latin typeface="宋体" panose="02010600030101010101" pitchFamily="2" charset="-122"/>
                <a:ea typeface="宋体" panose="02010600030101010101" pitchFamily="2" charset="-122"/>
              </a:rPr>
              <a:t>。通常使用交并比（</a:t>
            </a:r>
            <a:r>
              <a:rPr lang="en-US" altLang="zh-CN" sz="2000" dirty="0">
                <a:latin typeface="宋体" panose="02010600030101010101" pitchFamily="2" charset="-122"/>
                <a:ea typeface="宋体" panose="02010600030101010101" pitchFamily="2" charset="-122"/>
              </a:rPr>
              <a:t>IoU</a:t>
            </a:r>
            <a:r>
              <a:rPr lang="zh-CN" altLang="en-US" sz="2000" dirty="0">
                <a:latin typeface="宋体" panose="02010600030101010101" pitchFamily="2" charset="-122"/>
                <a:ea typeface="宋体" panose="02010600030101010101" pitchFamily="2" charset="-122"/>
              </a:rPr>
              <a:t>）来衡量</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与真实目标框的重叠程度，当</a:t>
            </a:r>
            <a:r>
              <a:rPr lang="en-US" altLang="zh-CN" sz="2000" dirty="0">
                <a:latin typeface="宋体" panose="02010600030101010101" pitchFamily="2" charset="-122"/>
                <a:ea typeface="宋体" panose="02010600030101010101" pitchFamily="2" charset="-122"/>
              </a:rPr>
              <a:t> IoU </a:t>
            </a:r>
            <a:r>
              <a:rPr lang="zh-CN" altLang="en-US" sz="2000" dirty="0">
                <a:latin typeface="宋体" panose="02010600030101010101" pitchFamily="2" charset="-122"/>
                <a:ea typeface="宋体" panose="02010600030101010101" pitchFamily="2" charset="-122"/>
              </a:rPr>
              <a:t>超过一定阈值（如</a:t>
            </a:r>
            <a:r>
              <a:rPr lang="en-US" altLang="zh-CN" sz="2000" dirty="0">
                <a:latin typeface="宋体" panose="02010600030101010101" pitchFamily="2" charset="-122"/>
                <a:ea typeface="宋体" panose="02010600030101010101" pitchFamily="2" charset="-122"/>
              </a:rPr>
              <a:t> 0.5</a:t>
            </a:r>
            <a:r>
              <a:rPr lang="zh-CN" altLang="en-US" sz="2000" dirty="0">
                <a:latin typeface="宋体" panose="02010600030101010101" pitchFamily="2" charset="-122"/>
                <a:ea typeface="宋体" panose="02010600030101010101" pitchFamily="2" charset="-122"/>
              </a:rPr>
              <a:t>）时，该</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被视为前景，即它很可能包含了我们要检测的目标物体。</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rPr>
              <a:t>背景：背景则是指</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中不包含目标物体的部分。如果一个</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与所有真实目标框的</a:t>
            </a:r>
            <a:r>
              <a:rPr lang="en-US" altLang="zh-CN" sz="2000" dirty="0">
                <a:latin typeface="宋体" panose="02010600030101010101" pitchFamily="2" charset="-122"/>
                <a:ea typeface="宋体" panose="02010600030101010101" pitchFamily="2" charset="-122"/>
              </a:rPr>
              <a:t> IoU </a:t>
            </a:r>
            <a:r>
              <a:rPr lang="zh-CN" altLang="en-US" sz="2000" dirty="0">
                <a:latin typeface="宋体" panose="02010600030101010101" pitchFamily="2" charset="-122"/>
                <a:ea typeface="宋体" panose="02010600030101010101" pitchFamily="2" charset="-122"/>
              </a:rPr>
              <a:t>都低于设定的阈值，那么它就被归类为背景</a:t>
            </a:r>
            <a:r>
              <a:rPr lang="en-US" altLang="zh-CN" sz="2000" dirty="0">
                <a:latin typeface="宋体" panose="02010600030101010101" pitchFamily="2" charset="-122"/>
                <a:ea typeface="宋体" panose="02010600030101010101" pitchFamily="2" charset="-122"/>
              </a:rPr>
              <a:t> Anchor Box</a:t>
            </a:r>
            <a:r>
              <a:rPr lang="zh-CN" altLang="en-US" sz="2000" dirty="0">
                <a:latin typeface="宋体" panose="02010600030101010101" pitchFamily="2" charset="-122"/>
                <a:ea typeface="宋体" panose="02010600030101010101" pitchFamily="2" charset="-122"/>
              </a:rPr>
              <a:t>。背景</a:t>
            </a:r>
            <a:r>
              <a:rPr lang="en-US" altLang="zh-CN" sz="2000" dirty="0">
                <a:latin typeface="宋体" panose="02010600030101010101" pitchFamily="2" charset="-122"/>
                <a:ea typeface="宋体" panose="02010600030101010101" pitchFamily="2" charset="-122"/>
              </a:rPr>
              <a:t> Anchor Box </a:t>
            </a:r>
            <a:r>
              <a:rPr lang="zh-CN" altLang="en-US" sz="2000" dirty="0">
                <a:latin typeface="宋体" panose="02010600030101010101" pitchFamily="2" charset="-122"/>
                <a:ea typeface="宋体" panose="02010600030101010101" pitchFamily="2" charset="-122"/>
              </a:rPr>
              <a:t>在训练过程中主要用于提供负样本，以帮助模型学习区分目标和非目标区域。</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en-US" altLang="zh-CN" sz="2000" dirty="0">
                <a:latin typeface="宋体" panose="02010600030101010101" pitchFamily="2" charset="-122"/>
                <a:ea typeface="宋体" panose="02010600030101010101" pitchFamily="2" charset="-122"/>
              </a:rPr>
              <a:t>IoU</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Intersection over Union</a:t>
            </a:r>
            <a:r>
              <a:rPr lang="zh-CN" altLang="en-US" sz="2000" dirty="0">
                <a:latin typeface="宋体" panose="02010600030101010101" pitchFamily="2" charset="-122"/>
                <a:ea typeface="宋体" panose="02010600030101010101" pitchFamily="2" charset="-122"/>
              </a:rPr>
              <a:t>）指数是在目标检测和语义分割等计算机视觉任务中常用的一种性能评估指标。它衡量了两个边界框（或区域）之间的重叠程度，公式如下：</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a:picLocks noChangeAspect="1"/>
          </p:cNvPicPr>
          <p:nvPr/>
        </p:nvPicPr>
        <p:blipFill>
          <a:blip r:embed="rId3"/>
          <a:stretch>
            <a:fillRect/>
          </a:stretch>
        </p:blipFill>
        <p:spPr>
          <a:xfrm>
            <a:off x="2999740" y="2637155"/>
            <a:ext cx="4743450" cy="962025"/>
          </a:xfrm>
          <a:prstGeom prst="rect">
            <a:avLst/>
          </a:prstGeom>
        </p:spPr>
      </p:pic>
      <p:sp>
        <p:nvSpPr>
          <p:cNvPr id="7" name="文本框 6"/>
          <p:cNvSpPr txBox="1"/>
          <p:nvPr/>
        </p:nvSpPr>
        <p:spPr>
          <a:xfrm>
            <a:off x="1314450" y="3678555"/>
            <a:ext cx="9328150" cy="922020"/>
          </a:xfrm>
          <a:prstGeom prst="rect">
            <a:avLst/>
          </a:prstGeom>
          <a:noFill/>
        </p:spPr>
        <p:txBody>
          <a:bodyPr wrap="square" rtlCol="0">
            <a:spAutoFit/>
          </a:bodyPr>
          <a:lstStyle/>
          <a:p>
            <a:r>
              <a:rPr lang="zh-CN" altLang="en-US"/>
              <a:t>其中，</a:t>
            </a:r>
            <a:r>
              <a:rPr lang="en-US" altLang="zh-CN"/>
              <a:t>(A) </a:t>
            </a:r>
            <a:r>
              <a:rPr lang="zh-CN" altLang="en-US"/>
              <a:t>和</a:t>
            </a:r>
            <a:r>
              <a:rPr lang="en-US" altLang="zh-CN"/>
              <a:t> (B) </a:t>
            </a:r>
            <a:r>
              <a:rPr lang="zh-CN" altLang="en-US"/>
              <a:t>分别表示两个边界框（或区域），</a:t>
            </a:r>
            <a:r>
              <a:rPr lang="en-US" altLang="zh-CN"/>
              <a:t>(A ∩ B) </a:t>
            </a:r>
            <a:r>
              <a:rPr lang="zh-CN" altLang="en-US"/>
              <a:t>表示它们的交集区域的面积，</a:t>
            </a:r>
            <a:r>
              <a:rPr lang="en-US" altLang="zh-CN"/>
              <a:t>(A ∪ B) </a:t>
            </a:r>
            <a:r>
              <a:rPr lang="zh-CN" altLang="en-US"/>
              <a:t>表示它们的并集区域的面积。</a:t>
            </a:r>
          </a:p>
          <a:p>
            <a:endParaRPr lang="en-US" altLang="zh-CN"/>
          </a:p>
        </p:txBody>
      </p:sp>
      <p:pic>
        <p:nvPicPr>
          <p:cNvPr id="8" name="图片 7"/>
          <p:cNvPicPr/>
          <p:nvPr/>
        </p:nvPicPr>
        <p:blipFill>
          <a:blip r:embed="rId4"/>
          <a:stretch>
            <a:fillRect/>
          </a:stretch>
        </p:blipFill>
        <p:spPr>
          <a:xfrm>
            <a:off x="3072130" y="4365625"/>
            <a:ext cx="4413885" cy="2108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zh-CN" altLang="en-US" sz="2000" dirty="0">
                <a:latin typeface="宋体" panose="02010600030101010101" pitchFamily="2" charset="-122"/>
                <a:ea typeface="宋体" panose="02010600030101010101" pitchFamily="2" charset="-122"/>
              </a:rPr>
              <a:t>为什么需要</a:t>
            </a:r>
            <a:r>
              <a:rPr lang="en-US" altLang="zh-CN" sz="2000" dirty="0">
                <a:latin typeface="宋体" panose="02010600030101010101" pitchFamily="2" charset="-122"/>
                <a:ea typeface="宋体" panose="02010600030101010101" pitchFamily="2" charset="-122"/>
              </a:rPr>
              <a:t>anchor box?</a:t>
            </a: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往往，图片上的每一处位置都有可能出现目标物体，并且目标的大小是不确定的</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最容易想到的办法就是，以一个像素为中心截取很多个不同宽高比和大小的小块，每个小块都检测一下包不包含物体，如果包含物体，该物体的位置就是刚刚截取的这个小块的位置，同时再预测一下它的类别是什么。</a:t>
            </a:r>
          </a:p>
          <a:p>
            <a:pPr indent="457200" fontAlgn="auto">
              <a:spcAft>
                <a:spcPts val="0"/>
              </a:spcAft>
            </a:pPr>
            <a:r>
              <a:rPr lang="zh-CN" altLang="en-US" sz="2000" dirty="0">
                <a:latin typeface="宋体" panose="02010600030101010101" pitchFamily="2" charset="-122"/>
                <a:ea typeface="宋体" panose="02010600030101010101" pitchFamily="2" charset="-122"/>
              </a:rPr>
              <a:t>这种方法容易理解并且确实有效，但是缺点也是突出的</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计算量太大了。假如一张图片的特征图大小为</a:t>
            </a:r>
            <a:r>
              <a:rPr lang="en-US" altLang="zh-CN" sz="2000" dirty="0">
                <a:latin typeface="宋体" panose="02010600030101010101" pitchFamily="2" charset="-122"/>
                <a:ea typeface="宋体" panose="02010600030101010101" pitchFamily="2" charset="-122"/>
              </a:rPr>
              <a:t>640*640</a:t>
            </a:r>
            <a:r>
              <a:rPr lang="zh-CN" altLang="en-US" sz="2000" dirty="0">
                <a:latin typeface="宋体" panose="02010600030101010101" pitchFamily="2" charset="-122"/>
                <a:ea typeface="宋体" panose="02010600030101010101" pitchFamily="2" charset="-122"/>
              </a:rPr>
              <a:t>，在图像中每一个像素上取</a:t>
            </a:r>
            <a:r>
              <a:rPr lang="en-US" altLang="zh-CN" sz="2000" dirty="0">
                <a:latin typeface="宋体" panose="02010600030101010101" pitchFamily="2" charset="-122"/>
                <a:ea typeface="宋体" panose="02010600030101010101" pitchFamily="2" charset="-122"/>
              </a:rPr>
              <a:t>10</a:t>
            </a:r>
            <a:r>
              <a:rPr lang="zh-CN" altLang="en-US" sz="2000" dirty="0">
                <a:latin typeface="宋体" panose="02010600030101010101" pitchFamily="2" charset="-122"/>
                <a:ea typeface="宋体" panose="02010600030101010101" pitchFamily="2" charset="-122"/>
              </a:rPr>
              <a:t>个不同宽高比不同大小的框做检测，则需要检测的框就会有</a:t>
            </a:r>
            <a:r>
              <a:rPr lang="en-US" altLang="zh-CN" sz="2000" dirty="0">
                <a:latin typeface="宋体" panose="02010600030101010101" pitchFamily="2" charset="-122"/>
                <a:ea typeface="宋体" panose="02010600030101010101" pitchFamily="2" charset="-122"/>
              </a:rPr>
              <a:t>640 x 640 x 10 = 4096000</a:t>
            </a:r>
            <a:r>
              <a:rPr lang="zh-CN" altLang="en-US" sz="2000" dirty="0">
                <a:latin typeface="宋体" panose="02010600030101010101" pitchFamily="2" charset="-122"/>
                <a:ea typeface="宋体" panose="02010600030101010101" pitchFamily="2" charset="-122"/>
              </a:rPr>
              <a: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9" name="图片 8"/>
          <p:cNvPicPr/>
          <p:nvPr/>
        </p:nvPicPr>
        <p:blipFill>
          <a:blip r:embed="rId3"/>
          <a:stretch>
            <a:fillRect/>
          </a:stretch>
        </p:blipFill>
        <p:spPr>
          <a:xfrm>
            <a:off x="3431540" y="4293235"/>
            <a:ext cx="3562985" cy="22180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zh-CN" altLang="en-US" sz="2000" dirty="0">
                <a:latin typeface="宋体" panose="02010600030101010101" pitchFamily="2" charset="-122"/>
                <a:ea typeface="宋体" panose="02010600030101010101" pitchFamily="2" charset="-122"/>
              </a:rPr>
              <a:t>为什么需要</a:t>
            </a:r>
            <a:r>
              <a:rPr lang="en-US" altLang="zh-CN" sz="2000" dirty="0">
                <a:latin typeface="宋体" panose="02010600030101010101" pitchFamily="2" charset="-122"/>
                <a:ea typeface="宋体" panose="02010600030101010101" pitchFamily="2" charset="-122"/>
              </a:rPr>
              <a:t>anchor box?</a:t>
            </a: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所以，设法在保证覆盖整张图的基础上，略去重叠太严重的框，避开背景框，找高质量的、可能包含目标物体的候选框进行检测就显得尤为重要，可以以此来降低运算量，提高检测速度。</a:t>
            </a:r>
            <a:r>
              <a:rPr lang="en-US" altLang="zh-CN" sz="2000" dirty="0">
                <a:latin typeface="宋体" panose="02010600030101010101" pitchFamily="2" charset="-122"/>
                <a:ea typeface="宋体" panose="02010600030101010101" pitchFamily="2" charset="-122"/>
              </a:rPr>
              <a:t>anchor boxes</a:t>
            </a:r>
            <a:r>
              <a:rPr lang="zh-CN" altLang="en-US" sz="2000" dirty="0">
                <a:latin typeface="宋体" panose="02010600030101010101" pitchFamily="2" charset="-122"/>
                <a:ea typeface="宋体" panose="02010600030101010101" pitchFamily="2" charset="-122"/>
              </a:rPr>
              <a:t>就是我们在检测之前确定的一系列候选框。我们默认，图片上会出现的所有物体，都会被我们设定的</a:t>
            </a:r>
            <a:r>
              <a:rPr lang="en-US" altLang="zh-CN" sz="2000" dirty="0">
                <a:latin typeface="宋体" panose="02010600030101010101" pitchFamily="2" charset="-122"/>
                <a:ea typeface="宋体" panose="02010600030101010101" pitchFamily="2" charset="-122"/>
              </a:rPr>
              <a:t>anchor boxes</a:t>
            </a:r>
            <a:r>
              <a:rPr lang="zh-CN" altLang="en-US" sz="2000" dirty="0">
                <a:latin typeface="宋体" panose="02010600030101010101" pitchFamily="2" charset="-122"/>
                <a:ea typeface="宋体" panose="02010600030101010101" pitchFamily="2" charset="-122"/>
              </a:rPr>
              <a:t>所覆盖。</a:t>
            </a:r>
          </a:p>
          <a:p>
            <a:pPr indent="457200" fontAlgn="auto">
              <a:spcAft>
                <a:spcPts val="0"/>
              </a:spcAft>
            </a:pPr>
            <a:r>
              <a:rPr lang="en-US" altLang="zh-CN" sz="2000" dirty="0">
                <a:latin typeface="宋体" panose="02010600030101010101" pitchFamily="2" charset="-122"/>
                <a:ea typeface="宋体" panose="02010600030101010101" pitchFamily="2" charset="-122"/>
              </a:rPr>
              <a:t>anchor box</a:t>
            </a:r>
            <a:r>
              <a:rPr lang="zh-CN" altLang="en-US" sz="2000" dirty="0">
                <a:latin typeface="宋体" panose="02010600030101010101" pitchFamily="2" charset="-122"/>
                <a:ea typeface="宋体" panose="02010600030101010101" pitchFamily="2" charset="-122"/>
              </a:rPr>
              <a:t>选择的需要考虑到一下两个方面：</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一是能不能很好的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覆盖整张图</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一是能不能框住图片中</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可能出现的每个物体</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zh-CN" altLang="en-US" sz="2000" dirty="0">
                <a:latin typeface="宋体" panose="02010600030101010101" pitchFamily="2" charset="-122"/>
                <a:ea typeface="宋体" panose="02010600030101010101" pitchFamily="2" charset="-122"/>
              </a:rPr>
              <a:t>如何选择</a:t>
            </a:r>
            <a:r>
              <a:rPr lang="en-US" altLang="zh-CN" sz="2000" dirty="0">
                <a:latin typeface="宋体" panose="02010600030101010101" pitchFamily="2" charset="-122"/>
                <a:ea typeface="宋体" panose="02010600030101010101" pitchFamily="2" charset="-122"/>
              </a:rPr>
              <a:t>anchor box?</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因为绝大多数数据集里目标物体的尺寸为</a:t>
            </a:r>
            <a:r>
              <a:rPr lang="en-US" altLang="zh-CN" sz="2000" dirty="0">
                <a:latin typeface="宋体" panose="02010600030101010101" pitchFamily="2" charset="-122"/>
                <a:ea typeface="宋体" panose="02010600030101010101" pitchFamily="2" charset="-122"/>
              </a:rPr>
              <a:t> 40 *40</a:t>
            </a:r>
            <a:r>
              <a:rPr lang="zh-CN" altLang="en-US" sz="2000" dirty="0">
                <a:latin typeface="宋体" panose="02010600030101010101" pitchFamily="2" charset="-122"/>
                <a:ea typeface="宋体" panose="02010600030101010101" pitchFamily="2" charset="-122"/>
              </a:rPr>
              <a:t>或</a:t>
            </a:r>
            <a:r>
              <a:rPr lang="en-US" altLang="zh-CN" sz="2000" dirty="0">
                <a:latin typeface="宋体" panose="02010600030101010101" pitchFamily="2" charset="-122"/>
                <a:ea typeface="宋体" panose="02010600030101010101" pitchFamily="2" charset="-122"/>
              </a:rPr>
              <a:t>80*40</a:t>
            </a:r>
            <a:r>
              <a:rPr lang="zh-CN" altLang="en-US" sz="2000" dirty="0">
                <a:latin typeface="宋体" panose="02010600030101010101" pitchFamily="2" charset="-122"/>
                <a:ea typeface="宋体" panose="02010600030101010101" pitchFamily="2" charset="-122"/>
              </a:rPr>
              <a:t>，这说明数据集中绝大多数物体的真值边框的高宽比为</a:t>
            </a:r>
            <a:r>
              <a:rPr lang="en-US" altLang="zh-CN" sz="2000" dirty="0">
                <a:latin typeface="宋体" panose="02010600030101010101" pitchFamily="2" charset="-122"/>
                <a:ea typeface="宋体" panose="02010600030101010101" pitchFamily="2" charset="-122"/>
              </a:rPr>
              <a:t>1:1</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2:1.</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同样为了选一组能更好的代表数据集里目标的尺度，我们应该以数据集中目标物体的最大尺度值和最小尺度值为上下限。</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p:nvPr/>
        </p:nvPicPr>
        <p:blipFill>
          <a:blip r:embed="rId3"/>
          <a:stretch>
            <a:fillRect/>
          </a:stretch>
        </p:blipFill>
        <p:spPr>
          <a:xfrm>
            <a:off x="3307080" y="3698875"/>
            <a:ext cx="4189730" cy="2984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indent="457200" fontAlgn="auto">
              <a:spcAft>
                <a:spcPts val="0"/>
              </a:spcAft>
            </a:pP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多任务损失函数如下所示：</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7" name="图片 6"/>
          <p:cNvPicPr>
            <a:picLocks noChangeAspect="1"/>
          </p:cNvPicPr>
          <p:nvPr/>
        </p:nvPicPr>
        <p:blipFill>
          <a:blip r:embed="rId3"/>
          <a:stretch>
            <a:fillRect/>
          </a:stretch>
        </p:blipFill>
        <p:spPr>
          <a:xfrm>
            <a:off x="2089150" y="2348865"/>
            <a:ext cx="6753225" cy="1038225"/>
          </a:xfrm>
          <a:prstGeom prst="rect">
            <a:avLst/>
          </a:prstGeom>
        </p:spPr>
      </p:pic>
      <p:pic>
        <p:nvPicPr>
          <p:cNvPr id="9" name="图片 8"/>
          <p:cNvPicPr>
            <a:picLocks noChangeAspect="1"/>
          </p:cNvPicPr>
          <p:nvPr/>
        </p:nvPicPr>
        <p:blipFill>
          <a:blip r:embed="rId4"/>
          <a:stretch>
            <a:fillRect/>
          </a:stretch>
        </p:blipFill>
        <p:spPr>
          <a:xfrm>
            <a:off x="1071880" y="3573145"/>
            <a:ext cx="10048875" cy="19335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（区域建议网络）</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其中分类损失函数如下所示，是两个类别（目标与非目标背景）的对数损失：</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pic>
        <p:nvPicPr>
          <p:cNvPr id="6" name="图片 5"/>
          <p:cNvPicPr>
            <a:picLocks noChangeAspect="1"/>
          </p:cNvPicPr>
          <p:nvPr/>
        </p:nvPicPr>
        <p:blipFill>
          <a:blip r:embed="rId3"/>
          <a:stretch>
            <a:fillRect/>
          </a:stretch>
        </p:blipFill>
        <p:spPr>
          <a:xfrm>
            <a:off x="2927350" y="2348865"/>
            <a:ext cx="4981575" cy="704850"/>
          </a:xfrm>
          <a:prstGeom prst="rect">
            <a:avLst/>
          </a:prstGeom>
        </p:spPr>
      </p:pic>
      <p:sp>
        <p:nvSpPr>
          <p:cNvPr id="8" name="文本框 7"/>
          <p:cNvSpPr txBox="1"/>
          <p:nvPr/>
        </p:nvSpPr>
        <p:spPr>
          <a:xfrm>
            <a:off x="1055370" y="3357245"/>
            <a:ext cx="4064000" cy="368300"/>
          </a:xfrm>
          <a:prstGeom prst="rect">
            <a:avLst/>
          </a:prstGeom>
          <a:noFill/>
        </p:spPr>
        <p:txBody>
          <a:bodyPr wrap="square" rtlCol="0">
            <a:spAutoFit/>
          </a:bodyPr>
          <a:lstStyle/>
          <a:p>
            <a:pPr indent="457200"/>
            <a:r>
              <a:rPr lang="zh-CN" altLang="en-US"/>
              <a:t>回归损失公式如下公式：</a:t>
            </a:r>
          </a:p>
        </p:txBody>
      </p:sp>
      <p:pic>
        <p:nvPicPr>
          <p:cNvPr id="11" name="图片 10"/>
          <p:cNvPicPr>
            <a:picLocks noChangeAspect="1"/>
          </p:cNvPicPr>
          <p:nvPr/>
        </p:nvPicPr>
        <p:blipFill>
          <a:blip r:embed="rId4"/>
          <a:stretch>
            <a:fillRect/>
          </a:stretch>
        </p:blipFill>
        <p:spPr>
          <a:xfrm>
            <a:off x="3143250" y="4293235"/>
            <a:ext cx="4495800" cy="8286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sym typeface="+mn-ea"/>
              </a:rPr>
              <a:t>Fast R-CNN </a:t>
            </a:r>
            <a:r>
              <a:rPr lang="zh-CN" altLang="en-US" sz="2000" dirty="0">
                <a:latin typeface="宋体" panose="02010600030101010101" pitchFamily="2" charset="-122"/>
                <a:ea typeface="宋体" panose="02010600030101010101" pitchFamily="2" charset="-122"/>
                <a:sym typeface="+mn-ea"/>
              </a:rPr>
              <a:t>（检测网络）</a:t>
            </a: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en-US" altLang="zh-CN" sz="2000" dirty="0">
                <a:latin typeface="宋体" panose="02010600030101010101" pitchFamily="2" charset="-122"/>
                <a:ea typeface="宋体" panose="02010600030101010101" pitchFamily="2" charset="-122"/>
              </a:rPr>
              <a:t>ROI Pooling:RPN</a:t>
            </a:r>
            <a:r>
              <a:rPr lang="zh-CN" altLang="en-US" sz="2000" dirty="0">
                <a:latin typeface="宋体" panose="02010600030101010101" pitchFamily="2" charset="-122"/>
                <a:ea typeface="宋体" panose="02010600030101010101" pitchFamily="2" charset="-122"/>
              </a:rPr>
              <a:t>网络获得的目标区域，其大小并不是固定的，对应到特征图上也就是不同尺寸。但后续区域分类和位置回归需要输入固定大小特征数据进入全连接网络，所以需要对每个</a:t>
            </a:r>
            <a:r>
              <a:rPr lang="en-US" altLang="zh-CN" sz="2000" dirty="0">
                <a:latin typeface="宋体" panose="02010600030101010101" pitchFamily="2" charset="-122"/>
                <a:ea typeface="宋体" panose="02010600030101010101" pitchFamily="2" charset="-122"/>
              </a:rPr>
              <a:t>roi</a:t>
            </a:r>
            <a:r>
              <a:rPr lang="zh-CN" altLang="en-US" sz="2000" dirty="0">
                <a:latin typeface="宋体" panose="02010600030101010101" pitchFamily="2" charset="-122"/>
                <a:ea typeface="宋体" panose="02010600030101010101" pitchFamily="2" charset="-122"/>
              </a:rPr>
              <a:t>区域提取的特征进行尺寸缩放，使其变换为同一大小。此外，经过</a:t>
            </a:r>
            <a:r>
              <a:rPr lang="en-US" altLang="zh-CN" sz="2000" dirty="0">
                <a:latin typeface="宋体" panose="02010600030101010101" pitchFamily="2" charset="-122"/>
                <a:ea typeface="宋体" panose="02010600030101010101" pitchFamily="2" charset="-122"/>
              </a:rPr>
              <a:t>ROI Pooling</a:t>
            </a:r>
            <a:r>
              <a:rPr lang="zh-CN" altLang="en-US" sz="2000" dirty="0">
                <a:latin typeface="宋体" panose="02010600030101010101" pitchFamily="2" charset="-122"/>
                <a:ea typeface="宋体" panose="02010600030101010101" pitchFamily="2" charset="-122"/>
              </a:rPr>
              <a:t>后，获得的区域池化特征</a:t>
            </a:r>
            <a:r>
              <a:rPr lang="en-US" altLang="zh-CN" sz="2000" dirty="0">
                <a:latin typeface="宋体" panose="02010600030101010101" pitchFamily="2" charset="-122"/>
                <a:ea typeface="宋体" panose="02010600030101010101" pitchFamily="2" charset="-122"/>
              </a:rPr>
              <a:t>pool_features</a:t>
            </a:r>
            <a:r>
              <a:rPr lang="zh-CN" altLang="en-US" sz="2000" dirty="0">
                <a:latin typeface="宋体" panose="02010600030101010101" pitchFamily="2" charset="-122"/>
                <a:ea typeface="宋体" panose="02010600030101010101" pitchFamily="2" charset="-122"/>
              </a:rPr>
              <a:t>又有两个流向，一是进行边界框位置预测，二是进行目标类别判断。</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sp>
        <p:nvSpPr>
          <p:cNvPr id="8" name="文本框 7"/>
          <p:cNvSpPr txBox="1"/>
          <p:nvPr/>
        </p:nvSpPr>
        <p:spPr>
          <a:xfrm>
            <a:off x="1055370" y="3357245"/>
            <a:ext cx="4064000" cy="368300"/>
          </a:xfrm>
          <a:prstGeom prst="rect">
            <a:avLst/>
          </a:prstGeom>
          <a:noFill/>
        </p:spPr>
        <p:txBody>
          <a:bodyPr wrap="square" rtlCol="0">
            <a:spAutoFit/>
          </a:bodyPr>
          <a:lstStyle/>
          <a:p>
            <a:pPr indent="457200"/>
            <a:r>
              <a:rPr lang="zh-CN" altLang="en-US"/>
              <a:t>：</a:t>
            </a:r>
          </a:p>
        </p:txBody>
      </p:sp>
      <p:pic>
        <p:nvPicPr>
          <p:cNvPr id="7" name="图片 6"/>
          <p:cNvPicPr>
            <a:picLocks noChangeAspect="1"/>
          </p:cNvPicPr>
          <p:nvPr/>
        </p:nvPicPr>
        <p:blipFill>
          <a:blip r:embed="rId3"/>
          <a:stretch>
            <a:fillRect/>
          </a:stretch>
        </p:blipFill>
        <p:spPr>
          <a:xfrm>
            <a:off x="3039745" y="3717290"/>
            <a:ext cx="4417695" cy="25342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sym typeface="+mn-ea"/>
              </a:rPr>
              <a:t>Fast R-CNN </a:t>
            </a:r>
            <a:r>
              <a:rPr lang="zh-CN" altLang="en-US" sz="2000" dirty="0">
                <a:latin typeface="宋体" panose="02010600030101010101" pitchFamily="2" charset="-122"/>
                <a:ea typeface="宋体" panose="02010600030101010101" pitchFamily="2" charset="-122"/>
                <a:sym typeface="+mn-ea"/>
              </a:rPr>
              <a:t>（检测网络）</a:t>
            </a: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从</a:t>
            </a:r>
            <a:r>
              <a:rPr lang="en-US" altLang="zh-CN" sz="2000" dirty="0">
                <a:latin typeface="宋体" panose="02010600030101010101" pitchFamily="2" charset="-122"/>
                <a:ea typeface="宋体" panose="02010600030101010101" pitchFamily="2" charset="-122"/>
              </a:rPr>
              <a:t>RoI pooling</a:t>
            </a:r>
            <a:r>
              <a:rPr lang="zh-CN" altLang="en-US" sz="2000" dirty="0">
                <a:latin typeface="宋体" panose="02010600030101010101" pitchFamily="2" charset="-122"/>
                <a:ea typeface="宋体" panose="02010600030101010101" pitchFamily="2" charset="-122"/>
              </a:rPr>
              <a:t>处获取到的</a:t>
            </a:r>
            <a:r>
              <a:rPr lang="en-US" altLang="zh-CN" sz="2000" dirty="0">
                <a:latin typeface="宋体" panose="02010600030101010101" pitchFamily="2" charset="-122"/>
                <a:ea typeface="宋体" panose="02010600030101010101" pitchFamily="2" charset="-122"/>
              </a:rPr>
              <a:t>proposal feature map</a:t>
            </a:r>
            <a:r>
              <a:rPr lang="zh-CN" altLang="en-US" sz="2000" dirty="0">
                <a:latin typeface="宋体" panose="02010600030101010101" pitchFamily="2" charset="-122"/>
                <a:ea typeface="宋体" panose="02010600030101010101" pitchFamily="2" charset="-122"/>
              </a:rPr>
              <a:t>后，送入后续网络</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注意这里的分类和</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中的分类不同，</a:t>
            </a:r>
            <a:r>
              <a:rPr lang="en-US" altLang="zh-CN" sz="2000" dirty="0">
                <a:latin typeface="宋体" panose="02010600030101010101" pitchFamily="2" charset="-122"/>
                <a:ea typeface="宋体" panose="02010600030101010101" pitchFamily="2" charset="-122"/>
              </a:rPr>
              <a:t>RPN</a:t>
            </a:r>
            <a:r>
              <a:rPr lang="zh-CN" altLang="en-US" sz="2000" dirty="0">
                <a:latin typeface="宋体" panose="02010600030101010101" pitchFamily="2" charset="-122"/>
                <a:ea typeface="宋体" panose="02010600030101010101" pitchFamily="2" charset="-122"/>
              </a:rPr>
              <a:t>中只是二分类，区分目标还是背景；这里的分类是要对之前的所有</a:t>
            </a:r>
            <a:r>
              <a:rPr lang="en-US" altLang="zh-CN" sz="2000" dirty="0">
                <a:latin typeface="宋体" panose="02010600030101010101" pitchFamily="2" charset="-122"/>
                <a:ea typeface="宋体" panose="02010600030101010101" pitchFamily="2" charset="-122"/>
              </a:rPr>
              <a:t>positive anchors</a:t>
            </a:r>
            <a:r>
              <a:rPr lang="zh-CN" altLang="en-US" sz="2000" dirty="0">
                <a:latin typeface="宋体" panose="02010600030101010101" pitchFamily="2" charset="-122"/>
                <a:ea typeface="宋体" panose="02010600030101010101" pitchFamily="2" charset="-122"/>
              </a:rPr>
              <a:t>通过</a:t>
            </a:r>
            <a:r>
              <a:rPr lang="en-US" altLang="zh-CN" sz="2000" dirty="0">
                <a:latin typeface="宋体" panose="02010600030101010101" pitchFamily="2" charset="-122"/>
                <a:ea typeface="宋体" panose="02010600030101010101" pitchFamily="2" charset="-122"/>
              </a:rPr>
              <a:t>softmax</a:t>
            </a:r>
            <a:r>
              <a:rPr lang="zh-CN" altLang="en-US" sz="2000" dirty="0">
                <a:latin typeface="宋体" panose="02010600030101010101" pitchFamily="2" charset="-122"/>
                <a:ea typeface="宋体" panose="02010600030101010101" pitchFamily="2" charset="-122"/>
              </a:rPr>
              <a:t>识别其具体属于哪一类。</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Faster-RCNN</a:t>
            </a:r>
          </a:p>
        </p:txBody>
      </p:sp>
      <p:sp>
        <p:nvSpPr>
          <p:cNvPr id="8" name="文本框 7"/>
          <p:cNvSpPr txBox="1"/>
          <p:nvPr/>
        </p:nvSpPr>
        <p:spPr>
          <a:xfrm>
            <a:off x="1055370" y="3357245"/>
            <a:ext cx="4064000" cy="368300"/>
          </a:xfrm>
          <a:prstGeom prst="rect">
            <a:avLst/>
          </a:prstGeom>
          <a:noFill/>
        </p:spPr>
        <p:txBody>
          <a:bodyPr wrap="square" rtlCol="0">
            <a:spAutoFit/>
          </a:bodyPr>
          <a:lstStyle/>
          <a:p>
            <a:pPr indent="457200"/>
            <a:r>
              <a:rPr lang="zh-CN" altLang="en-US"/>
              <a:t>：</a:t>
            </a:r>
          </a:p>
        </p:txBody>
      </p:sp>
      <p:pic>
        <p:nvPicPr>
          <p:cNvPr id="6" name="图片 5"/>
          <p:cNvPicPr>
            <a:picLocks noChangeAspect="1"/>
          </p:cNvPicPr>
          <p:nvPr/>
        </p:nvPicPr>
        <p:blipFill>
          <a:blip r:embed="rId3"/>
          <a:stretch>
            <a:fillRect/>
          </a:stretch>
        </p:blipFill>
        <p:spPr>
          <a:xfrm>
            <a:off x="479425" y="2997200"/>
            <a:ext cx="11134725" cy="29241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You Only Look Once</a:t>
            </a:r>
            <a:r>
              <a:rPr lang="zh-CN" altLang="en-US" sz="2000" dirty="0">
                <a:latin typeface="宋体" panose="02010600030101010101" pitchFamily="2" charset="-122"/>
                <a:ea typeface="宋体" panose="02010600030101010101" pitchFamily="2" charset="-122"/>
              </a:rPr>
              <a:t>）则是</a:t>
            </a:r>
            <a:r>
              <a:rPr lang="en-US" altLang="zh-CN" sz="2000" dirty="0">
                <a:latin typeface="宋体" panose="02010600030101010101" pitchFamily="2" charset="-122"/>
                <a:ea typeface="宋体" panose="02010600030101010101" pitchFamily="2" charset="-122"/>
              </a:rPr>
              <a:t>one-stage</a:t>
            </a:r>
            <a:r>
              <a:rPr lang="zh-CN" altLang="en-US" sz="2000" dirty="0">
                <a:latin typeface="宋体" panose="02010600030101010101" pitchFamily="2" charset="-122"/>
                <a:ea typeface="宋体" panose="02010600030101010101" pitchFamily="2" charset="-122"/>
              </a:rPr>
              <a:t>目标检测模型中的典型代表，</a:t>
            </a:r>
            <a:r>
              <a:rPr lang="en-US" altLang="zh-CN" sz="2000" dirty="0">
                <a:latin typeface="宋体" panose="02010600030101010101" pitchFamily="2" charset="-122"/>
                <a:ea typeface="宋体" panose="02010600030101010101" pitchFamily="2" charset="-122"/>
              </a:rPr>
              <a:t>YOLO </a:t>
            </a:r>
            <a:r>
              <a:rPr lang="zh-CN" altLang="en-US" sz="2000" dirty="0">
                <a:latin typeface="宋体" panose="02010600030101010101" pitchFamily="2" charset="-122"/>
                <a:ea typeface="宋体" panose="02010600030101010101" pitchFamily="2" charset="-122"/>
              </a:rPr>
              <a:t>的核心思想就是把目标检测转变成一个回归问题，利用整张图作为网络的输入，仅仅经过一个神经网络，得到</a:t>
            </a:r>
            <a:r>
              <a:rPr lang="en-US" altLang="zh-CN" sz="2000" dirty="0">
                <a:latin typeface="宋体" panose="02010600030101010101" pitchFamily="2" charset="-122"/>
                <a:ea typeface="宋体" panose="02010600030101010101" pitchFamily="2" charset="-122"/>
              </a:rPr>
              <a:t>bounding box</a:t>
            </a:r>
            <a:r>
              <a:rPr lang="zh-CN" altLang="en-US" sz="2000" dirty="0">
                <a:latin typeface="宋体" panose="02010600030101010101" pitchFamily="2" charset="-122"/>
                <a:ea typeface="宋体" panose="02010600030101010101" pitchFamily="2" charset="-122"/>
              </a:rPr>
              <a:t>（边界框）</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的位置及其所属的类别。</a:t>
            </a: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415415" y="939800"/>
            <a:ext cx="4064000" cy="583565"/>
          </a:xfrm>
          <a:prstGeom prst="rect">
            <a:avLst/>
          </a:prstGeom>
          <a:noFill/>
        </p:spPr>
        <p:txBody>
          <a:bodyPr wrap="square" rtlCol="0">
            <a:spAutoFit/>
          </a:bodyPr>
          <a:lstStyle/>
          <a:p>
            <a:r>
              <a:rPr lang="en-US" altLang="zh-CN" sz="3200"/>
              <a:t>YOLO</a:t>
            </a:r>
            <a:endParaRPr lang="zh-CN" altLang="en-US" sz="3200"/>
          </a:p>
        </p:txBody>
      </p:sp>
      <p:pic>
        <p:nvPicPr>
          <p:cNvPr id="8" name="图片 7"/>
          <p:cNvPicPr>
            <a:picLocks noChangeAspect="1"/>
          </p:cNvPicPr>
          <p:nvPr/>
        </p:nvPicPr>
        <p:blipFill>
          <a:blip r:embed="rId3"/>
          <a:stretch>
            <a:fillRect/>
          </a:stretch>
        </p:blipFill>
        <p:spPr>
          <a:xfrm>
            <a:off x="1775460" y="2853055"/>
            <a:ext cx="8067675" cy="2962275"/>
          </a:xfrm>
          <a:prstGeom prst="rect">
            <a:avLst/>
          </a:prstGeom>
        </p:spPr>
      </p:pic>
      <p:sp>
        <p:nvSpPr>
          <p:cNvPr id="7" name="文本框 6"/>
          <p:cNvSpPr txBox="1"/>
          <p:nvPr/>
        </p:nvSpPr>
        <p:spPr>
          <a:xfrm>
            <a:off x="4295775" y="5805170"/>
            <a:ext cx="4064000" cy="368300"/>
          </a:xfrm>
          <a:prstGeom prst="rect">
            <a:avLst/>
          </a:prstGeom>
          <a:noFill/>
        </p:spPr>
        <p:txBody>
          <a:bodyPr wrap="square" rtlCol="0">
            <a:spAutoFit/>
          </a:bodyPr>
          <a:lstStyle/>
          <a:p>
            <a:r>
              <a:rPr lang="en-US" altLang="zh-CN"/>
              <a:t>YOLO</a:t>
            </a:r>
            <a:r>
              <a:rPr lang="zh-CN" altLang="en-US"/>
              <a:t>算法的发展过程</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自</a:t>
            </a:r>
            <a:r>
              <a:rPr lang="en-US" altLang="zh-CN" sz="2000" dirty="0">
                <a:latin typeface="宋体" panose="02010600030101010101" pitchFamily="2" charset="-122"/>
                <a:ea typeface="宋体" panose="02010600030101010101" pitchFamily="2" charset="-122"/>
              </a:rPr>
              <a:t>2016</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YOLOv1</a:t>
            </a:r>
            <a:r>
              <a:rPr lang="zh-CN" altLang="en-US" sz="2000" dirty="0">
                <a:latin typeface="宋体" panose="02010600030101010101" pitchFamily="2" charset="-122"/>
                <a:ea typeface="宋体" panose="02010600030101010101" pitchFamily="2" charset="-122"/>
              </a:rPr>
              <a:t>问世以来，</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算法经历了多次迭代，每一版本都在精度、速度、模型结构等方面有了显著的改进。</a:t>
            </a:r>
          </a:p>
          <a:p>
            <a:pPr indent="457200" fontAlgn="auto">
              <a:spcAft>
                <a:spcPts val="0"/>
              </a:spcAft>
            </a:pPr>
            <a:r>
              <a:rPr lang="en-US" altLang="zh-CN" sz="2000" dirty="0">
                <a:latin typeface="宋体" panose="02010600030101010101" pitchFamily="2" charset="-122"/>
                <a:ea typeface="宋体" panose="02010600030101010101" pitchFamily="2" charset="-122"/>
              </a:rPr>
              <a:t>YOLOv1</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初代版本</a:t>
            </a:r>
            <a:r>
              <a:rPr lang="zh-CN" altLang="en-US" sz="2000" dirty="0">
                <a:latin typeface="宋体" panose="02010600030101010101" pitchFamily="2" charset="-122"/>
                <a:ea typeface="宋体" panose="02010600030101010101" pitchFamily="2" charset="-122"/>
              </a:rPr>
              <a:t>，提出了将</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目标检测简化为回归问题</a:t>
            </a:r>
            <a:r>
              <a:rPr lang="zh-CN" altLang="en-US" sz="2000" dirty="0">
                <a:latin typeface="宋体" panose="02010600030101010101" pitchFamily="2" charset="-122"/>
                <a:ea typeface="宋体" panose="02010600030101010101" pitchFamily="2" charset="-122"/>
              </a:rPr>
              <a:t>的创新思路。</a:t>
            </a:r>
          </a:p>
          <a:p>
            <a:pPr indent="457200" fontAlgn="auto">
              <a:spcAft>
                <a:spcPts val="0"/>
              </a:spcAft>
            </a:pPr>
            <a:r>
              <a:rPr lang="en-US" altLang="zh-CN" sz="2000" dirty="0">
                <a:latin typeface="宋体" panose="02010600030101010101" pitchFamily="2" charset="-122"/>
                <a:ea typeface="宋体" panose="02010600030101010101" pitchFamily="2" charset="-122"/>
              </a:rPr>
              <a:t>YOLOv2</a:t>
            </a:r>
            <a:r>
              <a:rPr lang="zh-CN" altLang="en-US" sz="2000" dirty="0">
                <a:latin typeface="宋体" panose="02010600030101010101" pitchFamily="2" charset="-122"/>
                <a:ea typeface="宋体" panose="02010600030101010101" pitchFamily="2" charset="-122"/>
              </a:rPr>
              <a:t>：在</a:t>
            </a:r>
            <a:r>
              <a:rPr lang="en-US" altLang="zh-CN" sz="2000" dirty="0">
                <a:latin typeface="宋体" panose="02010600030101010101" pitchFamily="2" charset="-122"/>
                <a:ea typeface="宋体" panose="02010600030101010101" pitchFamily="2" charset="-122"/>
              </a:rPr>
              <a:t>YOLOv1</a:t>
            </a:r>
            <a:r>
              <a:rPr lang="zh-CN" altLang="en-US" sz="2000" dirty="0">
                <a:latin typeface="宋体" panose="02010600030101010101" pitchFamily="2" charset="-122"/>
                <a:ea typeface="宋体" panose="02010600030101010101" pitchFamily="2" charset="-122"/>
              </a:rPr>
              <a:t>的基础上，</a:t>
            </a:r>
            <a:r>
              <a:rPr lang="en-US" altLang="zh-CN" sz="2000" dirty="0">
                <a:latin typeface="宋体" panose="02010600030101010101" pitchFamily="2" charset="-122"/>
                <a:ea typeface="宋体" panose="02010600030101010101" pitchFamily="2" charset="-122"/>
              </a:rPr>
              <a:t>YOLOv2</a:t>
            </a:r>
            <a:r>
              <a:rPr lang="zh-CN" altLang="en-US" sz="2000" dirty="0">
                <a:latin typeface="宋体" panose="02010600030101010101" pitchFamily="2" charset="-122"/>
                <a:ea typeface="宋体" panose="02010600030101010101" pitchFamily="2" charset="-122"/>
              </a:rPr>
              <a:t>引入了</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批归一化（</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Batch Normalization</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Anchor Boxes</a:t>
            </a:r>
            <a:r>
              <a:rPr lang="zh-CN" altLang="en-US" sz="2000" dirty="0">
                <a:latin typeface="宋体" panose="02010600030101010101" pitchFamily="2" charset="-122"/>
                <a:ea typeface="宋体" panose="02010600030101010101" pitchFamily="2" charset="-122"/>
              </a:rPr>
              <a:t>等技术，极大地提高了模型的稳定性和检测精度。</a:t>
            </a:r>
          </a:p>
          <a:p>
            <a:pPr indent="457200" fontAlgn="auto">
              <a:spcAft>
                <a:spcPts val="0"/>
              </a:spcAft>
            </a:pPr>
            <a:r>
              <a:rPr lang="en-US" altLang="zh-CN" sz="2000" dirty="0">
                <a:latin typeface="宋体" panose="02010600030101010101" pitchFamily="2" charset="-122"/>
                <a:ea typeface="宋体" panose="02010600030101010101" pitchFamily="2" charset="-122"/>
              </a:rPr>
              <a:t>YOLOv3</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YOLOv3</a:t>
            </a:r>
            <a:r>
              <a:rPr lang="zh-CN" altLang="en-US" sz="2000" dirty="0">
                <a:latin typeface="宋体" panose="02010600030101010101" pitchFamily="2" charset="-122"/>
                <a:ea typeface="宋体" panose="02010600030101010101" pitchFamily="2" charset="-122"/>
              </a:rPr>
              <a:t>引入了一个</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新的特征提取网络</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Darknet-53</a:t>
            </a:r>
            <a:r>
              <a:rPr lang="zh-CN" altLang="en-US" sz="2000" dirty="0">
                <a:latin typeface="宋体" panose="02010600030101010101" pitchFamily="2" charset="-122"/>
                <a:ea typeface="宋体" panose="02010600030101010101" pitchFamily="2" charset="-122"/>
              </a:rPr>
              <a:t>，并采用了多尺度检测方法，使得模型在不同大小的目标检测上表现更为出色。</a:t>
            </a:r>
          </a:p>
          <a:p>
            <a:pPr indent="457200" fontAlgn="auto">
              <a:spcAft>
                <a:spcPts val="0"/>
              </a:spcAft>
            </a:pPr>
            <a:r>
              <a:rPr lang="en-US" altLang="zh-CN" sz="2000" dirty="0">
                <a:latin typeface="宋体" panose="02010600030101010101" pitchFamily="2" charset="-122"/>
                <a:ea typeface="宋体" panose="02010600030101010101" pitchFamily="2" charset="-122"/>
              </a:rPr>
              <a:t>YOLOv4</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YOLOv4</a:t>
            </a:r>
            <a:r>
              <a:rPr lang="zh-CN" altLang="en-US" sz="2000" dirty="0">
                <a:latin typeface="宋体" panose="02010600030101010101" pitchFamily="2" charset="-122"/>
                <a:ea typeface="宋体" panose="02010600030101010101" pitchFamily="2" charset="-122"/>
              </a:rPr>
              <a:t>结合了诸如</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CSPNet</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Mish</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激活函数</a:t>
            </a:r>
            <a:r>
              <a:rPr lang="zh-CN" altLang="en-US" sz="2000" dirty="0">
                <a:latin typeface="宋体" panose="02010600030101010101" pitchFamily="2" charset="-122"/>
                <a:ea typeface="宋体" panose="02010600030101010101" pitchFamily="2" charset="-122"/>
              </a:rPr>
              <a:t>等最新的网络结构与优化方法，在保证检测速度的同时进一步提高了精度。</a:t>
            </a:r>
          </a:p>
          <a:p>
            <a:pPr indent="457200" fontAlgn="auto">
              <a:spcAft>
                <a:spcPts val="0"/>
              </a:spcAft>
            </a:pPr>
            <a:r>
              <a:rPr lang="en-US" altLang="zh-CN" sz="2000" dirty="0">
                <a:latin typeface="宋体" panose="02010600030101010101" pitchFamily="2" charset="-122"/>
                <a:ea typeface="宋体" panose="02010600030101010101" pitchFamily="2" charset="-122"/>
              </a:rPr>
              <a:t>YOLOv5</a:t>
            </a:r>
            <a:r>
              <a:rPr lang="zh-CN" altLang="en-US" sz="2000" dirty="0">
                <a:latin typeface="宋体" panose="02010600030101010101" pitchFamily="2" charset="-122"/>
                <a:ea typeface="宋体" panose="02010600030101010101" pitchFamily="2" charset="-122"/>
              </a:rPr>
              <a:t>：虽然</a:t>
            </a:r>
            <a:r>
              <a:rPr lang="en-US" altLang="zh-CN" sz="2000" dirty="0">
                <a:latin typeface="宋体" panose="02010600030101010101" pitchFamily="2" charset="-122"/>
                <a:ea typeface="宋体" panose="02010600030101010101" pitchFamily="2" charset="-122"/>
              </a:rPr>
              <a:t>YOLOv5</a:t>
            </a:r>
            <a:r>
              <a:rPr lang="zh-CN" altLang="en-US" sz="2000" dirty="0">
                <a:latin typeface="宋体" panose="02010600030101010101" pitchFamily="2" charset="-122"/>
                <a:ea typeface="宋体" panose="02010600030101010101" pitchFamily="2" charset="-122"/>
              </a:rPr>
              <a:t>并非由</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的原作者发布，但由于其在易用性和性能上的出色表现，迅速成为了开发者们的首选。</a:t>
            </a:r>
            <a:r>
              <a:rPr lang="en-US" altLang="zh-CN" sz="2000" dirty="0">
                <a:latin typeface="宋体" panose="02010600030101010101" pitchFamily="2" charset="-122"/>
                <a:ea typeface="宋体" panose="02010600030101010101" pitchFamily="2" charset="-122"/>
              </a:rPr>
              <a:t>YOLOv5</a:t>
            </a:r>
            <a:r>
              <a:rPr lang="zh-CN" altLang="en-US" sz="2000" dirty="0">
                <a:latin typeface="宋体" panose="02010600030101010101" pitchFamily="2" charset="-122"/>
                <a:ea typeface="宋体" panose="02010600030101010101" pitchFamily="2" charset="-122"/>
              </a:rPr>
              <a:t>采用了</a:t>
            </a:r>
            <a:r>
              <a:rPr lang="en-US" altLang="zh-CN" sz="2000" dirty="0">
                <a:latin typeface="宋体" panose="02010600030101010101" pitchFamily="2" charset="-122"/>
                <a:ea typeface="宋体" panose="02010600030101010101" pitchFamily="2" charset="-122"/>
              </a:rPr>
              <a:t>PyTorch</a:t>
            </a:r>
            <a:r>
              <a:rPr lang="zh-CN" altLang="en-US" sz="2000" dirty="0">
                <a:latin typeface="宋体" panose="02010600030101010101" pitchFamily="2" charset="-122"/>
                <a:ea typeface="宋体" panose="02010600030101010101" pitchFamily="2" charset="-122"/>
              </a:rPr>
              <a:t>框架实现，并在推理速度和精度上取得了很好的平衡，是实际应用</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中广泛使用的版本</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871085"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 YOLO</a:t>
            </a:r>
            <a:r>
              <a:rPr lang="zh-CN" altLang="en-US" sz="2000" dirty="0">
                <a:latin typeface="宋体" panose="02010600030101010101" pitchFamily="2" charset="-122"/>
                <a:ea typeface="宋体" panose="02010600030101010101" pitchFamily="2" charset="-122"/>
              </a:rPr>
              <a:t>系列算法的步骤</a:t>
            </a: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）划分图像：</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将输入图像划分为一个固定大小的网格。</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）预测边界框和类别：对于每个网格，</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预测出固定数量（通常为</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个或</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个）</a:t>
            </a:r>
          </a:p>
          <a:p>
            <a:pPr indent="457200" fontAlgn="auto">
              <a:spcAft>
                <a:spcPts val="0"/>
              </a:spcAft>
            </a:pPr>
            <a:r>
              <a:rPr lang="zh-CN" altLang="en-US" sz="2000" dirty="0">
                <a:latin typeface="宋体" panose="02010600030101010101" pitchFamily="2" charset="-122"/>
                <a:ea typeface="宋体" panose="02010600030101010101" pitchFamily="2" charset="-122"/>
              </a:rPr>
              <a:t>的边界框。每个边界框由</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个主要属性描述</a:t>
            </a:r>
            <a:r>
              <a:rPr lang="en-US" altLang="zh-CN"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）单次前向传递：</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通过一个卷积神经网络（</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）进行单次前向传递，同时预测所有边界框的位置和类别。</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）损失函数：</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使用多任务损失函数来训练网络。该损失函数包括位置损失、置信度损失和类别损失。</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）非最大抑制（</a:t>
            </a:r>
            <a:r>
              <a:rPr lang="en-US" altLang="zh-CN" sz="2000" dirty="0">
                <a:latin typeface="宋体" panose="02010600030101010101" pitchFamily="2" charset="-122"/>
                <a:ea typeface="宋体" panose="02010600030101010101" pitchFamily="2" charset="-122"/>
              </a:rPr>
              <a:t>Non-Maximum Suppression</a:t>
            </a:r>
            <a:r>
              <a:rPr lang="zh-CN" altLang="en-US" sz="2000" dirty="0">
                <a:latin typeface="宋体" panose="02010600030101010101" pitchFamily="2" charset="-122"/>
                <a:ea typeface="宋体" panose="02010600030101010101" pitchFamily="2" charset="-122"/>
              </a:rPr>
              <a:t>）：在预测的边界框中，可能存在多个相互重叠的框，代表同一个目标。为了消除冗余的边界框，</a:t>
            </a: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使用非最大抑制算法，根据置信度和重叠程度筛选出最佳的边界框。</a:t>
            </a: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）划分图像</a:t>
            </a:r>
          </a:p>
          <a:p>
            <a:pPr indent="457200" fontAlgn="auto">
              <a:spcAft>
                <a:spcPts val="0"/>
              </a:spcAft>
            </a:pPr>
            <a:r>
              <a:rPr lang="en-US" altLang="zh-CN" sz="2000" dirty="0">
                <a:latin typeface="宋体" panose="02010600030101010101" pitchFamily="2" charset="-122"/>
                <a:ea typeface="宋体" panose="02010600030101010101" pitchFamily="2" charset="-122"/>
              </a:rPr>
              <a:t>YOLO</a:t>
            </a:r>
            <a:r>
              <a:rPr lang="zh-CN" altLang="en-US" sz="2000" dirty="0">
                <a:latin typeface="宋体" panose="02010600030101010101" pitchFamily="2" charset="-122"/>
                <a:ea typeface="宋体" panose="02010600030101010101" pitchFamily="2" charset="-122"/>
              </a:rPr>
              <a:t>采用的是</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分而治之</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的策略，如</a:t>
            </a:r>
            <a:r>
              <a:rPr lang="en-US" altLang="zh-CN" sz="2000" dirty="0">
                <a:latin typeface="宋体" panose="02010600030101010101" pitchFamily="2" charset="-122"/>
                <a:ea typeface="宋体" panose="02010600030101010101" pitchFamily="2" charset="-122"/>
              </a:rPr>
              <a:t>YOLOv1</a:t>
            </a:r>
            <a:r>
              <a:rPr lang="zh-CN" altLang="en-US" sz="2000" dirty="0">
                <a:latin typeface="宋体" panose="02010600030101010101" pitchFamily="2" charset="-122"/>
                <a:ea typeface="宋体" panose="02010600030101010101" pitchFamily="2" charset="-122"/>
              </a:rPr>
              <a:t>将一张图片平均分成</a:t>
            </a:r>
            <a:r>
              <a:rPr lang="en-US" altLang="zh-CN" sz="2000" dirty="0">
                <a:latin typeface="宋体" panose="02010600030101010101" pitchFamily="2" charset="-122"/>
                <a:ea typeface="宋体" panose="02010600030101010101" pitchFamily="2" charset="-122"/>
              </a:rPr>
              <a:t>7</a:t>
            </a:r>
            <a:r>
              <a:rPr lang="en-US"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en-US" sz="2000" dirty="0">
                <a:latin typeface="宋体" panose="02010600030101010101" pitchFamily="2" charset="-122"/>
                <a:ea typeface="宋体" panose="02010600030101010101" pitchFamily="2" charset="-122"/>
              </a:rPr>
              <a:t>个网格，每个网格分别负责预测中心点落在该网格内的目标。</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6" name="图片 5"/>
          <p:cNvPicPr/>
          <p:nvPr/>
        </p:nvPicPr>
        <p:blipFill>
          <a:blip r:embed="rId3"/>
          <a:stretch>
            <a:fillRect/>
          </a:stretch>
        </p:blipFill>
        <p:spPr>
          <a:xfrm>
            <a:off x="3358833" y="2636203"/>
            <a:ext cx="3362325" cy="3038475"/>
          </a:xfrm>
          <a:prstGeom prst="rect">
            <a:avLst/>
          </a:prstGeom>
        </p:spPr>
      </p:pic>
      <p:sp>
        <p:nvSpPr>
          <p:cNvPr id="8" name="文本框 7"/>
          <p:cNvSpPr txBox="1"/>
          <p:nvPr/>
        </p:nvSpPr>
        <p:spPr>
          <a:xfrm>
            <a:off x="3431540" y="5732780"/>
            <a:ext cx="4064000" cy="368300"/>
          </a:xfrm>
          <a:prstGeom prst="rect">
            <a:avLst/>
          </a:prstGeom>
          <a:noFill/>
        </p:spPr>
        <p:txBody>
          <a:bodyPr wrap="square" rtlCol="0">
            <a:spAutoFit/>
          </a:bodyPr>
          <a:lstStyle/>
          <a:p>
            <a:r>
              <a:rPr lang="zh-CN" altLang="en-US"/>
              <a:t>这里以划分成</a:t>
            </a:r>
            <a:r>
              <a:rPr lang="en-US" altLang="zh-CN"/>
              <a:t>3*3</a:t>
            </a:r>
            <a:r>
              <a:rPr lang="zh-CN" altLang="en-US"/>
              <a:t>为例</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预测边界框和类别</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对于每个网格，</a:t>
            </a:r>
            <a:r>
              <a:rPr lang="en-US" altLang="zh-CN" sz="2000" dirty="0">
                <a:latin typeface="宋体" panose="02010600030101010101" pitchFamily="2" charset="-122"/>
                <a:ea typeface="宋体" panose="02010600030101010101" pitchFamily="2" charset="-122"/>
                <a:sym typeface="+mn-ea"/>
              </a:rPr>
              <a:t>YOLO</a:t>
            </a:r>
            <a:r>
              <a:rPr lang="zh-CN" altLang="en-US" sz="2000" dirty="0">
                <a:latin typeface="宋体" panose="02010600030101010101" pitchFamily="2" charset="-122"/>
                <a:ea typeface="宋体" panose="02010600030101010101" pitchFamily="2" charset="-122"/>
                <a:sym typeface="+mn-ea"/>
              </a:rPr>
              <a:t>预测出固定数量（通常为</a:t>
            </a:r>
            <a:r>
              <a:rPr lang="en-US" altLang="zh-CN" sz="2000" dirty="0">
                <a:latin typeface="宋体" panose="02010600030101010101" pitchFamily="2" charset="-122"/>
                <a:ea typeface="宋体" panose="02010600030101010101" pitchFamily="2" charset="-122"/>
                <a:sym typeface="+mn-ea"/>
              </a:rPr>
              <a:t>5</a:t>
            </a:r>
            <a:r>
              <a:rPr lang="zh-CN" altLang="en-US" sz="2000" dirty="0">
                <a:latin typeface="宋体" panose="02010600030101010101" pitchFamily="2" charset="-122"/>
                <a:ea typeface="宋体" panose="02010600030101010101" pitchFamily="2" charset="-122"/>
                <a:sym typeface="+mn-ea"/>
              </a:rPr>
              <a:t>个或</a:t>
            </a:r>
            <a:r>
              <a:rPr lang="en-US" altLang="zh-CN" sz="2000" dirty="0">
                <a:latin typeface="宋体" panose="02010600030101010101" pitchFamily="2" charset="-122"/>
                <a:ea typeface="宋体" panose="02010600030101010101" pitchFamily="2" charset="-122"/>
                <a:sym typeface="+mn-ea"/>
              </a:rPr>
              <a:t>3</a:t>
            </a:r>
            <a:r>
              <a:rPr lang="zh-CN" altLang="en-US" sz="2000" dirty="0">
                <a:latin typeface="宋体" panose="02010600030101010101" pitchFamily="2" charset="-122"/>
                <a:ea typeface="宋体" panose="02010600030101010101" pitchFamily="2" charset="-122"/>
                <a:sym typeface="+mn-ea"/>
              </a:rPr>
              <a:t>个）的边界框，每个边界框有固定的参数，以预测</a:t>
            </a:r>
            <a:r>
              <a:rPr lang="en-US" altLang="zh-CN" sz="2000" dirty="0">
                <a:latin typeface="宋体" panose="02010600030101010101" pitchFamily="2" charset="-122"/>
                <a:ea typeface="宋体" panose="02010600030101010101" pitchFamily="2" charset="-122"/>
                <a:sym typeface="+mn-ea"/>
              </a:rPr>
              <a:t>3</a:t>
            </a:r>
            <a:r>
              <a:rPr lang="zh-CN" altLang="en-US" sz="2000" dirty="0">
                <a:latin typeface="宋体" panose="02010600030101010101" pitchFamily="2" charset="-122"/>
                <a:ea typeface="宋体" panose="02010600030101010101" pitchFamily="2" charset="-122"/>
                <a:sym typeface="+mn-ea"/>
              </a:rPr>
              <a:t>个类别为例，如分别是行人（</a:t>
            </a:r>
            <a:r>
              <a:rPr lang="en-US" altLang="zh-CN" sz="2000" dirty="0">
                <a:latin typeface="宋体" panose="02010600030101010101" pitchFamily="2" charset="-122"/>
                <a:ea typeface="宋体" panose="02010600030101010101" pitchFamily="2" charset="-122"/>
                <a:sym typeface="+mn-ea"/>
              </a:rPr>
              <a:t>c1</a:t>
            </a:r>
            <a:r>
              <a:rPr lang="zh-CN" altLang="en-US" sz="2000" dirty="0">
                <a:latin typeface="宋体" panose="02010600030101010101" pitchFamily="2" charset="-122"/>
                <a:ea typeface="宋体" panose="02010600030101010101" pitchFamily="2" charset="-122"/>
                <a:sym typeface="+mn-ea"/>
              </a:rPr>
              <a:t>）、汽车（</a:t>
            </a:r>
            <a:r>
              <a:rPr lang="en-US" altLang="zh-CN" sz="2000" dirty="0">
                <a:latin typeface="宋体" panose="02010600030101010101" pitchFamily="2" charset="-122"/>
                <a:ea typeface="宋体" panose="02010600030101010101" pitchFamily="2" charset="-122"/>
                <a:sym typeface="+mn-ea"/>
              </a:rPr>
              <a:t>c2</a:t>
            </a:r>
            <a:r>
              <a:rPr lang="zh-CN" altLang="en-US" sz="2000" dirty="0">
                <a:latin typeface="宋体" panose="02010600030101010101" pitchFamily="2" charset="-122"/>
                <a:ea typeface="宋体" panose="02010600030101010101" pitchFamily="2" charset="-122"/>
                <a:sym typeface="+mn-ea"/>
              </a:rPr>
              <a:t>）和摩托车（</a:t>
            </a:r>
            <a:r>
              <a:rPr lang="en-US" altLang="zh-CN" sz="2000" dirty="0">
                <a:latin typeface="宋体" panose="02010600030101010101" pitchFamily="2" charset="-122"/>
                <a:ea typeface="宋体" panose="02010600030101010101" pitchFamily="2" charset="-122"/>
                <a:sym typeface="+mn-ea"/>
              </a:rPr>
              <a:t>c3</a:t>
            </a:r>
            <a:r>
              <a:rPr lang="zh-CN" altLang="en-US" sz="2000" dirty="0">
                <a:latin typeface="宋体" panose="02010600030101010101" pitchFamily="2" charset="-122"/>
                <a:ea typeface="宋体" panose="02010600030101010101" pitchFamily="2" charset="-122"/>
                <a:sym typeface="+mn-ea"/>
              </a:rPr>
              <a:t>），那样对于每个边界框，标签</a:t>
            </a:r>
            <a:r>
              <a:rPr lang="en-US" altLang="zh-CN" sz="2000" dirty="0">
                <a:latin typeface="宋体" panose="02010600030101010101" pitchFamily="2" charset="-122"/>
                <a:ea typeface="宋体" panose="02010600030101010101" pitchFamily="2" charset="-122"/>
                <a:sym typeface="+mn-ea"/>
              </a:rPr>
              <a:t>y</a:t>
            </a:r>
            <a:r>
              <a:rPr lang="zh-CN" altLang="en-US" sz="2000" dirty="0">
                <a:latin typeface="宋体" panose="02010600030101010101" pitchFamily="2" charset="-122"/>
                <a:ea typeface="宋体" panose="02010600030101010101" pitchFamily="2" charset="-122"/>
                <a:sym typeface="+mn-ea"/>
              </a:rPr>
              <a:t>将是一个八维向量。</a:t>
            </a: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7" name="图片 6"/>
          <p:cNvPicPr/>
          <p:nvPr/>
        </p:nvPicPr>
        <p:blipFill>
          <a:blip r:embed="rId3"/>
          <a:stretch>
            <a:fillRect/>
          </a:stretch>
        </p:blipFill>
        <p:spPr>
          <a:xfrm>
            <a:off x="8615680" y="3284855"/>
            <a:ext cx="1381760" cy="1884045"/>
          </a:xfrm>
          <a:prstGeom prst="rect">
            <a:avLst/>
          </a:prstGeom>
        </p:spPr>
      </p:pic>
      <p:sp>
        <p:nvSpPr>
          <p:cNvPr id="9" name="文本框 8"/>
          <p:cNvSpPr txBox="1"/>
          <p:nvPr/>
        </p:nvSpPr>
        <p:spPr>
          <a:xfrm>
            <a:off x="1198880" y="3371215"/>
            <a:ext cx="5080000" cy="1711960"/>
          </a:xfrm>
          <a:prstGeom prst="rect">
            <a:avLst/>
          </a:prstGeom>
        </p:spPr>
        <p:txBody>
          <a:bodyPr>
            <a:spAutoFit/>
          </a:bodyPr>
          <a:lstStyle/>
          <a:p>
            <a:pPr marL="0" indent="0"/>
            <a:r>
              <a:rPr lang="zh-CN" altLang="en-US" sz="1700" b="0" i="0">
                <a:solidFill>
                  <a:srgbClr val="24292E"/>
                </a:solidFill>
                <a:latin typeface="宋体" panose="02010600030101010101" pitchFamily="2" charset="-122"/>
                <a:cs typeface="宋体" panose="02010600030101010101" pitchFamily="2" charset="-122"/>
              </a:rPr>
              <a:t>其中：</a:t>
            </a:r>
          </a:p>
          <a:p>
            <a:pPr marL="0" indent="0">
              <a:lnSpc>
                <a:spcPts val="1950"/>
              </a:lnSpc>
              <a:spcBef>
                <a:spcPct val="0"/>
              </a:spcBef>
              <a:spcAft>
                <a:spcPts val="1200"/>
              </a:spcAft>
              <a:buFont typeface="Arial" panose="020B0604020202020204"/>
              <a:buChar char="•"/>
            </a:pPr>
            <a:r>
              <a:rPr lang="en-US" altLang="zh-CN" sz="1600" b="0" i="0">
                <a:solidFill>
                  <a:srgbClr val="24292E"/>
                </a:solidFill>
                <a:latin typeface="宋体" panose="02010600030101010101" pitchFamily="2" charset="-122"/>
                <a:cs typeface="宋体" panose="02010600030101010101" pitchFamily="2" charset="-122"/>
              </a:rPr>
              <a:t>pc</a:t>
            </a:r>
            <a:r>
              <a:rPr lang="zh-CN" altLang="en-US" sz="1600" b="0" i="0">
                <a:solidFill>
                  <a:srgbClr val="24292E"/>
                </a:solidFill>
                <a:latin typeface="宋体" panose="02010600030101010101" pitchFamily="2" charset="-122"/>
                <a:cs typeface="宋体" panose="02010600030101010101" pitchFamily="2" charset="-122"/>
              </a:rPr>
              <a:t>定义对象是否存在于网格中（存在的概率）；</a:t>
            </a:r>
          </a:p>
          <a:p>
            <a:pPr marL="0" indent="0">
              <a:lnSpc>
                <a:spcPts val="1950"/>
              </a:lnSpc>
              <a:spcBef>
                <a:spcPts val="200"/>
              </a:spcBef>
              <a:spcAft>
                <a:spcPts val="1200"/>
              </a:spcAft>
              <a:buFont typeface="Arial" panose="020B0604020202020204"/>
              <a:buChar char="•"/>
            </a:pPr>
            <a:r>
              <a:rPr lang="en-US" altLang="zh-CN" sz="1600" b="0" i="0">
                <a:solidFill>
                  <a:srgbClr val="24292E"/>
                </a:solidFill>
                <a:latin typeface="宋体" panose="02010600030101010101" pitchFamily="2" charset="-122"/>
                <a:cs typeface="宋体" panose="02010600030101010101" pitchFamily="2" charset="-122"/>
              </a:rPr>
              <a:t>bx</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by</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bh</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bw</a:t>
            </a:r>
            <a:r>
              <a:rPr lang="zh-CN" altLang="en-US" sz="1600" b="0" i="0">
                <a:solidFill>
                  <a:srgbClr val="24292E"/>
                </a:solidFill>
                <a:latin typeface="宋体" panose="02010600030101010101" pitchFamily="2" charset="-122"/>
                <a:cs typeface="宋体" panose="02010600030101010101" pitchFamily="2" charset="-122"/>
              </a:rPr>
              <a:t>指定边界框；</a:t>
            </a:r>
          </a:p>
          <a:p>
            <a:pPr marL="0" indent="0">
              <a:lnSpc>
                <a:spcPts val="1950"/>
              </a:lnSpc>
              <a:spcBef>
                <a:spcPts val="200"/>
              </a:spcBef>
              <a:spcAft>
                <a:spcPts val="1200"/>
              </a:spcAft>
              <a:buFont typeface="Arial" panose="020B0604020202020204"/>
              <a:buChar char="•"/>
            </a:pPr>
            <a:r>
              <a:rPr lang="en-US" altLang="zh-CN" sz="1600" b="0" i="0">
                <a:solidFill>
                  <a:srgbClr val="24292E"/>
                </a:solidFill>
                <a:latin typeface="宋体" panose="02010600030101010101" pitchFamily="2" charset="-122"/>
                <a:cs typeface="宋体" panose="02010600030101010101" pitchFamily="2" charset="-122"/>
              </a:rPr>
              <a:t>c1</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c2</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c3</a:t>
            </a:r>
            <a:r>
              <a:rPr lang="zh-CN" altLang="en-US" sz="1600" b="0" i="0">
                <a:solidFill>
                  <a:srgbClr val="24292E"/>
                </a:solidFill>
                <a:latin typeface="宋体" panose="02010600030101010101" pitchFamily="2" charset="-122"/>
                <a:cs typeface="宋体" panose="02010600030101010101" pitchFamily="2" charset="-122"/>
              </a:rPr>
              <a:t>代表类别。如果检测对象是汽车，则</a:t>
            </a:r>
            <a:r>
              <a:rPr lang="en-US" altLang="zh-CN" sz="1600" b="0" i="0">
                <a:solidFill>
                  <a:srgbClr val="24292E"/>
                </a:solidFill>
                <a:latin typeface="宋体" panose="02010600030101010101" pitchFamily="2" charset="-122"/>
                <a:cs typeface="宋体" panose="02010600030101010101" pitchFamily="2" charset="-122"/>
              </a:rPr>
              <a:t>c2</a:t>
            </a:r>
            <a:r>
              <a:rPr lang="zh-CN" altLang="en-US" sz="1600" b="0" i="0">
                <a:solidFill>
                  <a:srgbClr val="24292E"/>
                </a:solidFill>
                <a:latin typeface="宋体" panose="02010600030101010101" pitchFamily="2" charset="-122"/>
                <a:cs typeface="宋体" panose="02010600030101010101" pitchFamily="2" charset="-122"/>
              </a:rPr>
              <a:t>位置处的值将为</a:t>
            </a:r>
            <a:r>
              <a:rPr lang="en-US" altLang="zh-CN" sz="1600" b="0" i="0">
                <a:solidFill>
                  <a:srgbClr val="24292E"/>
                </a:solidFill>
                <a:latin typeface="宋体" panose="02010600030101010101" pitchFamily="2" charset="-122"/>
                <a:cs typeface="宋体" panose="02010600030101010101" pitchFamily="2" charset="-122"/>
              </a:rPr>
              <a:t>1</a:t>
            </a:r>
            <a:r>
              <a:rPr lang="zh-CN" altLang="en-US" sz="1600" b="0" i="0">
                <a:solidFill>
                  <a:srgbClr val="24292E"/>
                </a:solidFill>
                <a:latin typeface="宋体" panose="02010600030101010101" pitchFamily="2" charset="-122"/>
                <a:cs typeface="宋体" panose="02010600030101010101" pitchFamily="2" charset="-122"/>
              </a:rPr>
              <a:t>，</a:t>
            </a:r>
            <a:r>
              <a:rPr lang="en-US" altLang="zh-CN" sz="1600" b="0" i="0">
                <a:solidFill>
                  <a:srgbClr val="24292E"/>
                </a:solidFill>
                <a:latin typeface="宋体" panose="02010600030101010101" pitchFamily="2" charset="-122"/>
                <a:cs typeface="宋体" panose="02010600030101010101" pitchFamily="2" charset="-122"/>
              </a:rPr>
              <a:t>c1</a:t>
            </a:r>
            <a:r>
              <a:rPr lang="zh-CN" altLang="en-US" sz="1600" b="0" i="0">
                <a:solidFill>
                  <a:srgbClr val="24292E"/>
                </a:solidFill>
                <a:latin typeface="宋体" panose="02010600030101010101" pitchFamily="2" charset="-122"/>
                <a:cs typeface="宋体" panose="02010600030101010101" pitchFamily="2" charset="-122"/>
              </a:rPr>
              <a:t>和</a:t>
            </a:r>
            <a:r>
              <a:rPr lang="en-US" altLang="zh-CN" sz="1600" b="0" i="0">
                <a:solidFill>
                  <a:srgbClr val="24292E"/>
                </a:solidFill>
                <a:latin typeface="宋体" panose="02010600030101010101" pitchFamily="2" charset="-122"/>
                <a:cs typeface="宋体" panose="02010600030101010101" pitchFamily="2" charset="-122"/>
              </a:rPr>
              <a:t>c3</a:t>
            </a:r>
            <a:r>
              <a:rPr lang="zh-CN" altLang="en-US" sz="1600" b="0" i="0">
                <a:solidFill>
                  <a:srgbClr val="24292E"/>
                </a:solidFill>
                <a:latin typeface="宋体" panose="02010600030101010101" pitchFamily="2" charset="-122"/>
                <a:cs typeface="宋体" panose="02010600030101010101" pitchFamily="2" charset="-122"/>
              </a:rPr>
              <a:t>处的值将为</a:t>
            </a:r>
            <a:r>
              <a:rPr lang="en-US" altLang="zh-CN" sz="1600" b="0" i="0">
                <a:solidFill>
                  <a:srgbClr val="24292E"/>
                </a:solidFill>
                <a:latin typeface="宋体" panose="02010600030101010101" pitchFamily="2" charset="-122"/>
                <a:cs typeface="宋体" panose="02010600030101010101" pitchFamily="2" charset="-122"/>
              </a:rPr>
              <a:t>0</a:t>
            </a:r>
            <a:r>
              <a:rPr lang="zh-CN" altLang="en-US" sz="1600" b="0" i="0">
                <a:solidFill>
                  <a:srgbClr val="24292E"/>
                </a:solidFill>
                <a:latin typeface="宋体" panose="02010600030101010101" pitchFamily="2" charset="-122"/>
                <a:cs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预测边界框和类别</a:t>
            </a: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假设从上面的例子中选择第一个网格：</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6" name="图片 5"/>
          <p:cNvPicPr/>
          <p:nvPr/>
        </p:nvPicPr>
        <p:blipFill>
          <a:blip r:embed="rId3"/>
          <a:stretch>
            <a:fillRect/>
          </a:stretch>
        </p:blipFill>
        <p:spPr>
          <a:xfrm>
            <a:off x="2345055" y="2492375"/>
            <a:ext cx="1169035" cy="1023620"/>
          </a:xfrm>
          <a:prstGeom prst="rect">
            <a:avLst/>
          </a:prstGeom>
        </p:spPr>
      </p:pic>
      <p:sp>
        <p:nvSpPr>
          <p:cNvPr id="8" name="文本框 7"/>
          <p:cNvSpPr txBox="1"/>
          <p:nvPr/>
        </p:nvSpPr>
        <p:spPr>
          <a:xfrm>
            <a:off x="1055370" y="3956685"/>
            <a:ext cx="7909560" cy="368300"/>
          </a:xfrm>
          <a:prstGeom prst="rect">
            <a:avLst/>
          </a:prstGeom>
          <a:noFill/>
        </p:spPr>
        <p:txBody>
          <a:bodyPr wrap="square" rtlCol="0">
            <a:spAutoFit/>
          </a:bodyPr>
          <a:lstStyle/>
          <a:p>
            <a:r>
              <a:rPr lang="en-US" altLang="zh-CN"/>
              <a:t> </a:t>
            </a:r>
            <a:r>
              <a:rPr lang="zh-CN" altLang="en-US"/>
              <a:t>由于此网格中没有对象，因此</a:t>
            </a:r>
            <a:r>
              <a:rPr lang="en-US" altLang="zh-CN"/>
              <a:t>pc</a:t>
            </a:r>
            <a:r>
              <a:rPr lang="zh-CN" altLang="en-US"/>
              <a:t>将为零，此网格的</a:t>
            </a:r>
            <a:r>
              <a:rPr lang="en-US" altLang="zh-CN"/>
              <a:t>y</a:t>
            </a:r>
            <a:r>
              <a:rPr lang="zh-CN" altLang="en-US"/>
              <a:t>标签将为：</a:t>
            </a:r>
          </a:p>
        </p:txBody>
      </p:sp>
      <p:pic>
        <p:nvPicPr>
          <p:cNvPr id="11" name="图片 10"/>
          <p:cNvPicPr/>
          <p:nvPr/>
        </p:nvPicPr>
        <p:blipFill>
          <a:blip r:embed="rId4"/>
          <a:stretch>
            <a:fillRect/>
          </a:stretch>
        </p:blipFill>
        <p:spPr>
          <a:xfrm>
            <a:off x="2278698" y="4364673"/>
            <a:ext cx="1171575" cy="1400175"/>
          </a:xfrm>
          <a:prstGeom prst="rect">
            <a:avLst/>
          </a:prstGeom>
        </p:spPr>
      </p:pic>
      <p:sp>
        <p:nvSpPr>
          <p:cNvPr id="13" name="文本框 12"/>
          <p:cNvSpPr txBox="1"/>
          <p:nvPr/>
        </p:nvSpPr>
        <p:spPr>
          <a:xfrm>
            <a:off x="1127125" y="6098540"/>
            <a:ext cx="7522845" cy="368300"/>
          </a:xfrm>
          <a:prstGeom prst="rect">
            <a:avLst/>
          </a:prstGeom>
          <a:noFill/>
        </p:spPr>
        <p:txBody>
          <a:bodyPr wrap="square" rtlCol="0">
            <a:spAutoFit/>
          </a:bodyPr>
          <a:lstStyle/>
          <a:p>
            <a:r>
              <a:rPr lang="zh-CN" altLang="en-US"/>
              <a:t>其中？意味着其它值是什么并不重要，因为网格中没有被检测的对象。</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预测边界框和类别</a:t>
            </a:r>
          </a:p>
          <a:p>
            <a:pPr indent="457200" fontAlgn="auto">
              <a:spcAft>
                <a:spcPts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下面举例另一个有车的网格（</a:t>
            </a:r>
            <a:r>
              <a:rPr lang="en-US" altLang="zh-CN" sz="2000" dirty="0">
                <a:latin typeface="宋体" panose="02010600030101010101" pitchFamily="2" charset="-122"/>
                <a:ea typeface="宋体" panose="02010600030101010101" pitchFamily="2" charset="-122"/>
              </a:rPr>
              <a:t>c2=1</a:t>
            </a:r>
            <a:r>
              <a:rPr lang="zh-CN" altLang="en-US" sz="2000" dirty="0">
                <a:latin typeface="宋体" panose="02010600030101010101" pitchFamily="2" charset="-122"/>
                <a:ea typeface="宋体" panose="02010600030101010101" pitchFamily="2" charset="-122"/>
              </a:rPr>
              <a:t>）：</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sp>
        <p:nvSpPr>
          <p:cNvPr id="8" name="文本框 7"/>
          <p:cNvSpPr txBox="1"/>
          <p:nvPr/>
        </p:nvSpPr>
        <p:spPr>
          <a:xfrm>
            <a:off x="1055370" y="3956685"/>
            <a:ext cx="9939655" cy="645160"/>
          </a:xfrm>
          <a:prstGeom prst="rect">
            <a:avLst/>
          </a:prstGeom>
          <a:noFill/>
        </p:spPr>
        <p:txBody>
          <a:bodyPr wrap="square" rtlCol="0">
            <a:spAutoFit/>
          </a:bodyPr>
          <a:lstStyle/>
          <a:p>
            <a:r>
              <a:rPr lang="en-US" altLang="zh-CN"/>
              <a:t>    </a:t>
            </a:r>
            <a:r>
              <a:rPr lang="zh-CN" altLang="en-US"/>
              <a:t>由于此网格中存在对象，因此</a:t>
            </a:r>
            <a:r>
              <a:rPr lang="en-US" altLang="zh-CN"/>
              <a:t>pc</a:t>
            </a:r>
            <a:r>
              <a:rPr lang="zh-CN" altLang="en-US"/>
              <a:t>将等于</a:t>
            </a:r>
            <a:r>
              <a:rPr lang="en-US" altLang="zh-CN"/>
              <a:t>1</a:t>
            </a:r>
            <a:r>
              <a:rPr lang="zh-CN" altLang="en-US"/>
              <a:t>，</a:t>
            </a:r>
            <a:r>
              <a:rPr lang="en-US" altLang="zh-CN"/>
              <a:t>bx</a:t>
            </a:r>
            <a:r>
              <a:rPr lang="zh-CN" altLang="en-US"/>
              <a:t>、</a:t>
            </a:r>
            <a:r>
              <a:rPr lang="en-US" altLang="zh-CN"/>
              <a:t>by</a:t>
            </a:r>
            <a:r>
              <a:rPr lang="zh-CN" altLang="en-US"/>
              <a:t>、</a:t>
            </a:r>
            <a:r>
              <a:rPr lang="en-US" altLang="zh-CN"/>
              <a:t>bh</a:t>
            </a:r>
            <a:r>
              <a:rPr lang="zh-CN" altLang="en-US"/>
              <a:t>、</a:t>
            </a:r>
            <a:r>
              <a:rPr lang="en-US" altLang="zh-CN"/>
              <a:t>bw</a:t>
            </a:r>
            <a:r>
              <a:rPr lang="zh-CN" altLang="en-US"/>
              <a:t>将相对于正在处理的特定网格单元计算。由于检测出的对象是汽车，所以</a:t>
            </a:r>
            <a:r>
              <a:rPr lang="en-US" altLang="zh-CN"/>
              <a:t> c2=1</a:t>
            </a:r>
            <a:r>
              <a:rPr lang="zh-CN" altLang="en-US"/>
              <a:t>，</a:t>
            </a:r>
            <a:r>
              <a:rPr lang="en-US" altLang="zh-CN"/>
              <a:t>c1</a:t>
            </a:r>
            <a:r>
              <a:rPr lang="zh-CN" altLang="en-US"/>
              <a:t>和</a:t>
            </a:r>
            <a:r>
              <a:rPr lang="en-US" altLang="zh-CN"/>
              <a:t>c3</a:t>
            </a:r>
            <a:r>
              <a:rPr lang="zh-CN" altLang="en-US"/>
              <a:t>均为</a:t>
            </a:r>
            <a:r>
              <a:rPr lang="en-US" altLang="zh-CN"/>
              <a:t>0</a:t>
            </a:r>
            <a:r>
              <a:rPr lang="zh-CN" altLang="en-US"/>
              <a:t>。</a:t>
            </a:r>
          </a:p>
        </p:txBody>
      </p:sp>
      <p:pic>
        <p:nvPicPr>
          <p:cNvPr id="7" name="图片 6"/>
          <p:cNvPicPr/>
          <p:nvPr/>
        </p:nvPicPr>
        <p:blipFill>
          <a:blip r:embed="rId3"/>
          <a:stretch>
            <a:fillRect/>
          </a:stretch>
        </p:blipFill>
        <p:spPr>
          <a:xfrm>
            <a:off x="2289810" y="2358390"/>
            <a:ext cx="1160780" cy="1172210"/>
          </a:xfrm>
          <a:prstGeom prst="rect">
            <a:avLst/>
          </a:prstGeom>
        </p:spPr>
      </p:pic>
      <p:pic>
        <p:nvPicPr>
          <p:cNvPr id="9" name="图片 8"/>
          <p:cNvPicPr/>
          <p:nvPr/>
        </p:nvPicPr>
        <p:blipFill>
          <a:blip r:embed="rId4"/>
          <a:stretch>
            <a:fillRect/>
          </a:stretch>
        </p:blipFill>
        <p:spPr>
          <a:xfrm>
            <a:off x="2289810" y="4725035"/>
            <a:ext cx="1247140" cy="14312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单次前向传递</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sym typeface="+mn-ea"/>
              </a:rPr>
              <a:t>YOLO</a:t>
            </a:r>
            <a:r>
              <a:rPr lang="zh-CN" altLang="en-US" sz="2000" dirty="0">
                <a:latin typeface="宋体" panose="02010600030101010101" pitchFamily="2" charset="-122"/>
                <a:ea typeface="宋体" panose="02010600030101010101" pitchFamily="2" charset="-122"/>
                <a:sym typeface="+mn-ea"/>
              </a:rPr>
              <a:t>是</a:t>
            </a:r>
            <a:r>
              <a:rPr lang="en-US" altLang="zh-CN" sz="2000" dirty="0">
                <a:latin typeface="宋体" panose="02010600030101010101" pitchFamily="2" charset="-122"/>
                <a:ea typeface="宋体" panose="02010600030101010101" pitchFamily="2" charset="-122"/>
                <a:sym typeface="+mn-ea"/>
              </a:rPr>
              <a:t>one-stage</a:t>
            </a:r>
            <a:r>
              <a:rPr lang="zh-CN" altLang="en-US" sz="2000" dirty="0">
                <a:latin typeface="宋体" panose="02010600030101010101" pitchFamily="2" charset="-122"/>
                <a:ea typeface="宋体" panose="02010600030101010101" pitchFamily="2" charset="-122"/>
                <a:sym typeface="+mn-ea"/>
              </a:rPr>
              <a:t>目标检测模型中的典型代表，仅仅经过一个卷积神经网络（</a:t>
            </a:r>
            <a:r>
              <a:rPr lang="en-US" altLang="zh-CN" sz="2000" dirty="0">
                <a:latin typeface="宋体" panose="02010600030101010101" pitchFamily="2" charset="-122"/>
                <a:ea typeface="宋体" panose="02010600030101010101" pitchFamily="2" charset="-122"/>
                <a:sym typeface="+mn-ea"/>
              </a:rPr>
              <a:t>CNN</a:t>
            </a:r>
            <a:r>
              <a:rPr lang="zh-CN" altLang="en-US" sz="2000" dirty="0">
                <a:latin typeface="宋体" panose="02010600030101010101" pitchFamily="2" charset="-122"/>
                <a:ea typeface="宋体" panose="02010600030101010101" pitchFamily="2" charset="-122"/>
                <a:sym typeface="+mn-ea"/>
              </a:rPr>
              <a:t>），得到</a:t>
            </a:r>
            <a:r>
              <a:rPr lang="en-US" altLang="zh-CN" sz="2000" dirty="0">
                <a:latin typeface="宋体" panose="02010600030101010101" pitchFamily="2" charset="-122"/>
                <a:ea typeface="宋体" panose="02010600030101010101" pitchFamily="2" charset="-122"/>
                <a:sym typeface="+mn-ea"/>
              </a:rPr>
              <a:t>bounding box</a:t>
            </a:r>
            <a:r>
              <a:rPr lang="zh-CN" altLang="en-US" sz="2000" dirty="0">
                <a:latin typeface="宋体" panose="02010600030101010101" pitchFamily="2" charset="-122"/>
                <a:ea typeface="宋体" panose="02010600030101010101" pitchFamily="2" charset="-122"/>
                <a:sym typeface="+mn-ea"/>
              </a:rPr>
              <a:t>（边界框）</a:t>
            </a:r>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的位置及其所属的类别。</a:t>
            </a: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6" name="图片 5"/>
          <p:cNvPicPr/>
          <p:nvPr/>
        </p:nvPicPr>
        <p:blipFill>
          <a:blip r:embed="rId3"/>
          <a:stretch>
            <a:fillRect/>
          </a:stretch>
        </p:blipFill>
        <p:spPr>
          <a:xfrm>
            <a:off x="1631315" y="2708910"/>
            <a:ext cx="7931150" cy="2952750"/>
          </a:xfrm>
          <a:prstGeom prst="rect">
            <a:avLst/>
          </a:prstGeom>
        </p:spPr>
      </p:pic>
      <p:sp>
        <p:nvSpPr>
          <p:cNvPr id="11" name="文本框 10"/>
          <p:cNvSpPr txBox="1"/>
          <p:nvPr/>
        </p:nvSpPr>
        <p:spPr>
          <a:xfrm>
            <a:off x="4151630" y="5805170"/>
            <a:ext cx="4064000" cy="368300"/>
          </a:xfrm>
          <a:prstGeom prst="rect">
            <a:avLst/>
          </a:prstGeom>
          <a:noFill/>
        </p:spPr>
        <p:txBody>
          <a:bodyPr wrap="square" rtlCol="0">
            <a:spAutoFit/>
          </a:bodyPr>
          <a:lstStyle/>
          <a:p>
            <a:r>
              <a:rPr lang="en-US" altLang="zh-CN"/>
              <a:t>YOLOv1</a:t>
            </a:r>
            <a:r>
              <a:rPr lang="zh-CN" altLang="en-US"/>
              <a:t>网络架构</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）损失函数</a:t>
            </a:r>
          </a:p>
          <a:p>
            <a:pPr indent="457200" fontAlgn="auto">
              <a:spcAft>
                <a:spcPts val="0"/>
              </a:spcAft>
            </a:pPr>
            <a:r>
              <a:rPr lang="zh-CN" altLang="en-US" sz="2000" dirty="0">
                <a:latin typeface="宋体" panose="02010600030101010101" pitchFamily="2" charset="-122"/>
                <a:ea typeface="宋体" panose="02010600030101010101" pitchFamily="2" charset="-122"/>
              </a:rPr>
              <a:t>损失由三部分组成，分别是：坐标预测损失、置信度预测损失、类别预测损失。</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7" name="图片 6"/>
          <p:cNvPicPr/>
          <p:nvPr/>
        </p:nvPicPr>
        <p:blipFill>
          <a:blip r:embed="rId3"/>
          <a:stretch>
            <a:fillRect/>
          </a:stretch>
        </p:blipFill>
        <p:spPr>
          <a:xfrm>
            <a:off x="1918970" y="2420620"/>
            <a:ext cx="6115050" cy="40557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）损失函数</a:t>
            </a:r>
          </a:p>
          <a:p>
            <a:pPr indent="457200" fontAlgn="auto">
              <a:spcAft>
                <a:spcPts val="0"/>
              </a:spcAft>
            </a:pPr>
            <a:r>
              <a:rPr lang="zh-CN" altLang="en-US" sz="2000" dirty="0">
                <a:latin typeface="宋体" panose="02010600030101010101" pitchFamily="2" charset="-122"/>
                <a:ea typeface="宋体" panose="02010600030101010101" pitchFamily="2" charset="-122"/>
              </a:rPr>
              <a:t>坐标预测损失：其中第一项为预测的中心坐标做损失，第二项为对预测边界框的宽高做损失。</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9" name="图片 8"/>
          <p:cNvPicPr/>
          <p:nvPr/>
        </p:nvPicPr>
        <p:blipFill>
          <a:blip r:embed="rId3"/>
          <a:stretch>
            <a:fillRect/>
          </a:stretch>
        </p:blipFill>
        <p:spPr>
          <a:xfrm>
            <a:off x="991235" y="2955290"/>
            <a:ext cx="9624695" cy="31680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）损失函数</a:t>
            </a: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坐标预测损失：</a:t>
            </a:r>
            <a:r>
              <a:rPr lang="zh-CN" altLang="en-US" sz="2000" dirty="0">
                <a:latin typeface="宋体" panose="02010600030101010101" pitchFamily="2" charset="-122"/>
                <a:ea typeface="宋体" panose="02010600030101010101" pitchFamily="2" charset="-122"/>
              </a:rPr>
              <a:t>其中第一项为预测的中心坐标做损失，第二项为对预测边界框的宽高做损失。</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6" name="图片 5"/>
          <p:cNvPicPr/>
          <p:nvPr/>
        </p:nvPicPr>
        <p:blipFill>
          <a:blip r:embed="rId3"/>
          <a:stretch>
            <a:fillRect/>
          </a:stretch>
        </p:blipFill>
        <p:spPr>
          <a:xfrm>
            <a:off x="911225" y="2564765"/>
            <a:ext cx="10369550" cy="33547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）损失函数</a:t>
            </a: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类别预测损失：分类损失通常用交叉熵损失来计算。交叉熵损失衡量的是模型预测的概率分布与真实标签之间的差异。</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7" name="图片 6"/>
          <p:cNvPicPr/>
          <p:nvPr/>
        </p:nvPicPr>
        <p:blipFill>
          <a:blip r:embed="rId3"/>
          <a:stretch>
            <a:fillRect/>
          </a:stretch>
        </p:blipFill>
        <p:spPr>
          <a:xfrm>
            <a:off x="767080" y="2636520"/>
            <a:ext cx="9601200" cy="28384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损失函数</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置信度预测损失：此处我们计算了与每个边界框预测值的置信度得分相关的损失。</a:t>
            </a:r>
            <a:r>
              <a:rPr lang="en-US" altLang="zh-CN" sz="2000" dirty="0">
                <a:latin typeface="宋体" panose="02010600030101010101" pitchFamily="2" charset="-122"/>
                <a:ea typeface="宋体" panose="02010600030101010101" pitchFamily="2" charset="-122"/>
                <a:sym typeface="+mn-ea"/>
              </a:rPr>
              <a:t>C</a:t>
            </a:r>
            <a:r>
              <a:rPr lang="zh-CN" altLang="en-US" sz="2000" dirty="0">
                <a:latin typeface="宋体" panose="02010600030101010101" pitchFamily="2" charset="-122"/>
                <a:ea typeface="宋体" panose="02010600030101010101" pitchFamily="2" charset="-122"/>
                <a:sym typeface="+mn-ea"/>
              </a:rPr>
              <a:t>是置信度得分，是预测边界框与基本事实的交叉部分。</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6" name="图片 5"/>
          <p:cNvPicPr>
            <a:picLocks noChangeAspect="1"/>
          </p:cNvPicPr>
          <p:nvPr/>
        </p:nvPicPr>
        <p:blipFill>
          <a:blip r:embed="rId3"/>
          <a:stretch>
            <a:fillRect/>
          </a:stretch>
        </p:blipFill>
        <p:spPr>
          <a:xfrm>
            <a:off x="2135505" y="3284855"/>
            <a:ext cx="6000750" cy="1000125"/>
          </a:xfrm>
          <a:prstGeom prst="rect">
            <a:avLst/>
          </a:prstGeom>
        </p:spPr>
      </p:pic>
      <p:graphicFrame>
        <p:nvGraphicFramePr>
          <p:cNvPr id="8" name="对象 7">
            <a:hlinkClick r:id="" action="ppaction://ole?verb=0"/>
          </p:cNvPr>
          <p:cNvGraphicFramePr>
            <a:graphicFrameLocks noChangeAspect="1"/>
          </p:cNvGraphicFramePr>
          <p:nvPr/>
        </p:nvGraphicFramePr>
        <p:xfrm>
          <a:off x="1775460" y="2204720"/>
          <a:ext cx="175260" cy="248285"/>
        </p:xfrm>
        <a:graphic>
          <a:graphicData uri="http://schemas.openxmlformats.org/presentationml/2006/ole">
            <mc:AlternateContent xmlns:mc="http://schemas.openxmlformats.org/markup-compatibility/2006">
              <mc:Choice xmlns:v="urn:schemas-microsoft-com:vml" Requires="v">
                <p:oleObj r:id="rId4" imgW="152400" imgH="215900" progId="Equation.KSEE3">
                  <p:embed/>
                </p:oleObj>
              </mc:Choice>
              <mc:Fallback>
                <p:oleObj r:id="rId4" imgW="152400" imgH="215900" progId="Equation.KSEE3">
                  <p:embed/>
                  <p:pic>
                    <p:nvPicPr>
                      <p:cNvPr id="0" name="图片 1024"/>
                      <p:cNvPicPr/>
                      <p:nvPr/>
                    </p:nvPicPr>
                    <p:blipFill>
                      <a:blip r:embed="rId5"/>
                      <a:stretch>
                        <a:fillRect/>
                      </a:stretch>
                    </p:blipFill>
                    <p:spPr>
                      <a:xfrm>
                        <a:off x="1775460" y="2204720"/>
                        <a:ext cx="175260" cy="24828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损失函数</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sym typeface="+mn-ea"/>
              </a:rPr>
              <a:t>YOLO </a:t>
            </a:r>
            <a:r>
              <a:rPr lang="zh-CN" altLang="en-US" sz="2000" dirty="0">
                <a:latin typeface="宋体" panose="02010600030101010101" pitchFamily="2" charset="-122"/>
                <a:ea typeface="宋体" panose="02010600030101010101" pitchFamily="2" charset="-122"/>
                <a:sym typeface="+mn-ea"/>
              </a:rPr>
              <a:t>的三大损失函数分别针对不同的任务进行优化：</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sym typeface="+mn-ea"/>
              </a:rPr>
              <a:t>边界框回归损失</a:t>
            </a:r>
            <a:r>
              <a:rPr lang="en-US" altLang="zh-CN" sz="2000" dirty="0">
                <a:latin typeface="宋体" panose="02010600030101010101" pitchFamily="2" charset="-122"/>
                <a:ea typeface="宋体" panose="02010600030101010101" pitchFamily="2" charset="-122"/>
                <a:sym typeface="+mn-ea"/>
              </a:rPr>
              <a:t> (Box Loss)</a:t>
            </a:r>
            <a:r>
              <a:rPr lang="zh-CN" altLang="en-US" sz="2000" dirty="0">
                <a:latin typeface="宋体" panose="02010600030101010101" pitchFamily="2" charset="-122"/>
                <a:ea typeface="宋体" panose="02010600030101010101" pitchFamily="2" charset="-122"/>
                <a:sym typeface="+mn-ea"/>
              </a:rPr>
              <a:t>：确保模型能够准确地定位目标。</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sym typeface="+mn-ea"/>
              </a:rPr>
              <a:t>置信度损失</a:t>
            </a:r>
            <a:r>
              <a:rPr lang="en-US" altLang="zh-CN" sz="2000" dirty="0">
                <a:latin typeface="宋体" panose="02010600030101010101" pitchFamily="2" charset="-122"/>
                <a:ea typeface="宋体" panose="02010600030101010101" pitchFamily="2" charset="-122"/>
                <a:sym typeface="+mn-ea"/>
              </a:rPr>
              <a:t> (Objectness Loss)</a:t>
            </a:r>
            <a:r>
              <a:rPr lang="zh-CN" altLang="en-US" sz="2000" dirty="0">
                <a:latin typeface="宋体" panose="02010600030101010101" pitchFamily="2" charset="-122"/>
                <a:ea typeface="宋体" panose="02010600030101010101" pitchFamily="2" charset="-122"/>
                <a:sym typeface="+mn-ea"/>
              </a:rPr>
              <a:t>：优化预测边界框的置信度，提高模型对目标存在与否的判断能力。</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sym typeface="+mn-ea"/>
              </a:rPr>
              <a:t>分类损失</a:t>
            </a:r>
            <a:r>
              <a:rPr lang="en-US" altLang="zh-CN" sz="2000" dirty="0">
                <a:latin typeface="宋体" panose="02010600030101010101" pitchFamily="2" charset="-122"/>
                <a:ea typeface="宋体" panose="02010600030101010101" pitchFamily="2" charset="-122"/>
                <a:sym typeface="+mn-ea"/>
              </a:rPr>
              <a:t> (Classification Loss)</a:t>
            </a:r>
            <a:r>
              <a:rPr lang="zh-CN" altLang="en-US" sz="2000" dirty="0">
                <a:latin typeface="宋体" panose="02010600030101010101" pitchFamily="2" charset="-122"/>
                <a:ea typeface="宋体" panose="02010600030101010101" pitchFamily="2" charset="-122"/>
                <a:sym typeface="+mn-ea"/>
              </a:rPr>
              <a:t>：确保模型能够正确识别出图像中的对象属于哪个类别。</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非最大值抑制（</a:t>
            </a:r>
            <a:r>
              <a:rPr lang="en-US" altLang="zh-CN" sz="2000" dirty="0">
                <a:latin typeface="宋体" panose="02010600030101010101" pitchFamily="2" charset="-122"/>
                <a:ea typeface="宋体" panose="02010600030101010101" pitchFamily="2" charset="-122"/>
                <a:sym typeface="+mn-ea"/>
              </a:rPr>
              <a:t>Non-Maximum Suppression</a:t>
            </a:r>
            <a:r>
              <a:rPr lang="zh-CN" altLang="en-US" sz="2000" dirty="0">
                <a:latin typeface="宋体" panose="02010600030101010101" pitchFamily="2" charset="-122"/>
                <a:ea typeface="宋体" panose="02010600030101010101" pitchFamily="2" charset="-122"/>
                <a:sym typeface="+mn-ea"/>
              </a:rPr>
              <a:t>）</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候选框与置信度：</a:t>
            </a:r>
            <a:r>
              <a:rPr lang="en-US" altLang="zh-CN" sz="2000" dirty="0">
                <a:latin typeface="宋体" panose="02010600030101010101" pitchFamily="2" charset="-122"/>
                <a:ea typeface="宋体" panose="02010600030101010101" pitchFamily="2" charset="-122"/>
                <a:sym typeface="+mn-ea"/>
              </a:rPr>
              <a:t>YOLO </a:t>
            </a:r>
            <a:r>
              <a:rPr lang="zh-CN" altLang="en-US" sz="2000" dirty="0">
                <a:latin typeface="宋体" panose="02010600030101010101" pitchFamily="2" charset="-122"/>
                <a:ea typeface="宋体" panose="02010600030101010101" pitchFamily="2" charset="-122"/>
                <a:sym typeface="+mn-ea"/>
              </a:rPr>
              <a:t>模型会生成许多候选检测框，每个框都有置信度分数，代表框内存在目标的可能性。</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排序与选择：首先依据置信度分数对所有候选框排序，选出分数最高的框作为最终框。</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计算重叠度：用交并比（</a:t>
            </a:r>
            <a:r>
              <a:rPr lang="en-US" altLang="zh-CN" sz="2000" dirty="0">
                <a:latin typeface="宋体" panose="02010600030101010101" pitchFamily="2" charset="-122"/>
                <a:ea typeface="宋体" panose="02010600030101010101" pitchFamily="2" charset="-122"/>
                <a:sym typeface="+mn-ea"/>
              </a:rPr>
              <a:t>IoU</a:t>
            </a:r>
            <a:r>
              <a:rPr lang="zh-CN" altLang="en-US" sz="2000" dirty="0">
                <a:latin typeface="宋体" panose="02010600030101010101" pitchFamily="2" charset="-122"/>
                <a:ea typeface="宋体" panose="02010600030101010101" pitchFamily="2" charset="-122"/>
                <a:sym typeface="+mn-ea"/>
              </a:rPr>
              <a:t>）计算该框与其余框的重叠程度。</a:t>
            </a:r>
          </a:p>
          <a:p>
            <a:pPr indent="457200" fontAlgn="auto">
              <a:spcAft>
                <a:spcPts val="0"/>
              </a:spcAft>
            </a:pPr>
            <a:endParaRPr lang="zh-CN" altLang="en-US" sz="2000" dirty="0">
              <a:latin typeface="宋体" panose="02010600030101010101" pitchFamily="2" charset="-122"/>
              <a:ea typeface="宋体" panose="02010600030101010101" pitchFamily="2" charset="-122"/>
              <a:sym typeface="+mn-ea"/>
            </a:endParaRP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抑制操作：若其他框和选定框的</a:t>
            </a:r>
            <a:r>
              <a:rPr lang="en-US" altLang="zh-CN" sz="2000" dirty="0">
                <a:latin typeface="宋体" panose="02010600030101010101" pitchFamily="2" charset="-122"/>
                <a:ea typeface="宋体" panose="02010600030101010101" pitchFamily="2" charset="-122"/>
                <a:sym typeface="+mn-ea"/>
              </a:rPr>
              <a:t> IoU </a:t>
            </a:r>
            <a:r>
              <a:rPr lang="zh-CN" altLang="en-US" sz="2000" dirty="0">
                <a:latin typeface="宋体" panose="02010600030101010101" pitchFamily="2" charset="-122"/>
                <a:ea typeface="宋体" panose="02010600030101010101" pitchFamily="2" charset="-122"/>
                <a:sym typeface="+mn-ea"/>
              </a:rPr>
              <a:t>超预设阈值，则将这些框抑制（删除）。不断重复该步骤，直到无框可抑制。</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目标检测</a:t>
            </a:r>
          </a:p>
        </p:txBody>
      </p:sp>
      <p:sp>
        <p:nvSpPr>
          <p:cNvPr id="4" name="Title 1"/>
          <p:cNvSpPr txBox="1"/>
          <p:nvPr/>
        </p:nvSpPr>
        <p:spPr>
          <a:xfrm>
            <a:off x="542925" y="162941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sym typeface="+mn-ea"/>
              </a:rPr>
              <a:t>非最大值抑制（</a:t>
            </a:r>
            <a:r>
              <a:rPr lang="en-US" altLang="zh-CN" sz="2000" dirty="0">
                <a:latin typeface="宋体" panose="02010600030101010101" pitchFamily="2" charset="-122"/>
                <a:ea typeface="宋体" panose="02010600030101010101" pitchFamily="2" charset="-122"/>
                <a:sym typeface="+mn-ea"/>
              </a:rPr>
              <a:t>Non-Maximum Suppression</a:t>
            </a:r>
            <a:r>
              <a:rPr lang="zh-CN" altLang="en-US" sz="2000" dirty="0">
                <a:latin typeface="宋体" panose="02010600030101010101" pitchFamily="2" charset="-122"/>
                <a:ea typeface="宋体" panose="02010600030101010101" pitchFamily="2" charset="-122"/>
                <a:sym typeface="+mn-ea"/>
              </a:rPr>
              <a:t>）</a:t>
            </a:r>
            <a:endParaRPr lang="zh-CN" altLang="en-US" sz="2000" dirty="0">
              <a:latin typeface="宋体" panose="02010600030101010101" pitchFamily="2" charset="-122"/>
              <a:ea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sym typeface="+mn-ea"/>
              </a:rPr>
              <a:t>NMS </a:t>
            </a:r>
            <a:r>
              <a:rPr lang="zh-CN" altLang="en-US" sz="2000" dirty="0">
                <a:latin typeface="宋体" panose="02010600030101010101" pitchFamily="2" charset="-122"/>
                <a:ea typeface="宋体" panose="02010600030101010101" pitchFamily="2" charset="-122"/>
                <a:sym typeface="+mn-ea"/>
              </a:rPr>
              <a:t>的核心思想就是在这些检测结果中，找到局部最大值并抑制非极大值。</a:t>
            </a:r>
          </a:p>
          <a:p>
            <a:pPr indent="457200" fontAlgn="auto">
              <a:spcAft>
                <a:spcPts val="0"/>
              </a:spcAft>
            </a:pPr>
            <a:r>
              <a:rPr lang="zh-CN" altLang="en-US" sz="2000" dirty="0">
                <a:latin typeface="宋体" panose="02010600030101010101" pitchFamily="2" charset="-122"/>
                <a:ea typeface="宋体" panose="02010600030101010101" pitchFamily="2" charset="-122"/>
                <a:sym typeface="+mn-ea"/>
              </a:rPr>
              <a:t>具体来说，对于一组检测结果，按照某个分数（如置信度）进行排序，然后依次选取分数最高的检测框，将其与其他检测框进行比较，如果其他检测框与该框的重叠度超过一定阈值，则认为该检测框不是最优的，将其抑制（通常是将其分数置为</a:t>
            </a:r>
            <a:r>
              <a:rPr lang="en-US" altLang="zh-CN" sz="2000" dirty="0">
                <a:latin typeface="宋体" panose="02010600030101010101" pitchFamily="2" charset="-122"/>
                <a:ea typeface="宋体" panose="02010600030101010101" pitchFamily="2" charset="-122"/>
                <a:sym typeface="+mn-ea"/>
              </a:rPr>
              <a:t> 0 </a:t>
            </a:r>
            <a:r>
              <a:rPr lang="zh-CN" altLang="en-US" sz="2000" dirty="0">
                <a:latin typeface="宋体" panose="02010600030101010101" pitchFamily="2" charset="-122"/>
                <a:ea typeface="宋体" panose="02010600030101010101" pitchFamily="2" charset="-122"/>
                <a:sym typeface="+mn-ea"/>
              </a:rPr>
              <a:t>或降低其分数）。</a:t>
            </a:r>
          </a:p>
        </p:txBody>
      </p:sp>
      <p:sp>
        <p:nvSpPr>
          <p:cNvPr id="10" name="文本框 9"/>
          <p:cNvSpPr txBox="1"/>
          <p:nvPr/>
        </p:nvSpPr>
        <p:spPr>
          <a:xfrm>
            <a:off x="4583430" y="2852420"/>
            <a:ext cx="6096000" cy="1597025"/>
          </a:xfrm>
          <a:prstGeom prst="rect">
            <a:avLst/>
          </a:prstGeom>
          <a:noFill/>
        </p:spPr>
        <p:txBody>
          <a:bodyPr wrap="square" rtlCol="0" anchor="t">
            <a:noAutofit/>
          </a:bodyPr>
          <a:lstStyle/>
          <a:p>
            <a:endParaRPr lang="zh-CN" altLang="en-US"/>
          </a:p>
        </p:txBody>
      </p:sp>
      <p:sp>
        <p:nvSpPr>
          <p:cNvPr id="5" name="文本框 4"/>
          <p:cNvSpPr txBox="1"/>
          <p:nvPr/>
        </p:nvSpPr>
        <p:spPr>
          <a:xfrm>
            <a:off x="1879600" y="939800"/>
            <a:ext cx="4064000" cy="583565"/>
          </a:xfrm>
          <a:prstGeom prst="rect">
            <a:avLst/>
          </a:prstGeom>
          <a:noFill/>
        </p:spPr>
        <p:txBody>
          <a:bodyPr wrap="square" rtlCol="0">
            <a:spAutoFit/>
          </a:bodyPr>
          <a:lstStyle/>
          <a:p>
            <a:r>
              <a:rPr lang="en-US" altLang="zh-CN" sz="3200"/>
              <a:t>YOLO</a:t>
            </a:r>
          </a:p>
        </p:txBody>
      </p:sp>
      <p:pic>
        <p:nvPicPr>
          <p:cNvPr id="8" name="图片 7"/>
          <p:cNvPicPr>
            <a:picLocks noChangeAspect="1"/>
          </p:cNvPicPr>
          <p:nvPr/>
        </p:nvPicPr>
        <p:blipFill>
          <a:blip r:embed="rId3"/>
          <a:stretch>
            <a:fillRect/>
          </a:stretch>
        </p:blipFill>
        <p:spPr>
          <a:xfrm>
            <a:off x="2495550" y="3154680"/>
            <a:ext cx="5000625" cy="35642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rPr>
              <a:t>图像分割定义</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198880"/>
          </a:xfrm>
          <a:prstGeom prst="rect">
            <a:avLst/>
          </a:prstGeom>
          <a:noFill/>
        </p:spPr>
        <p:txBody>
          <a:bodyPr wrap="square" rtlCol="0">
            <a:spAutoFit/>
          </a:bodyPr>
          <a:lstStyle/>
          <a:p>
            <a:pPr indent="457200"/>
            <a:r>
              <a:rPr lang="zh-CN" altLang="en-US"/>
              <a:t>图像分割</a:t>
            </a:r>
            <a:r>
              <a:rPr lang="en-US" altLang="zh-CN"/>
              <a:t>(Semantic Segmentation)</a:t>
            </a:r>
            <a:r>
              <a:rPr lang="zh-CN" altLang="en-US"/>
              <a:t>是图像处理和是机器视觉技术中关于图像理解的重要一环，旨在鉴别区分出一张图片的不同部分，比如人物、汽车等等。从技术角度讲，图像分割任务需要根据不同的语义信息区分并聚集起对应相同语义的像素点。通过对每个像素进行密集的预测、推断标签来实现细粒度的推理，图像语义分割是像素级别的！</a:t>
            </a:r>
          </a:p>
        </p:txBody>
      </p:sp>
      <p:pic>
        <p:nvPicPr>
          <p:cNvPr id="5" name="图片 4"/>
          <p:cNvPicPr/>
          <p:nvPr/>
        </p:nvPicPr>
        <p:blipFill>
          <a:blip r:embed="rId3"/>
          <a:stretch>
            <a:fillRect/>
          </a:stretch>
        </p:blipFill>
        <p:spPr>
          <a:xfrm>
            <a:off x="2999105" y="3140710"/>
            <a:ext cx="6282690" cy="30416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rPr>
              <a:t>图像分割定义</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2030095"/>
          </a:xfrm>
          <a:prstGeom prst="rect">
            <a:avLst/>
          </a:prstGeom>
          <a:noFill/>
        </p:spPr>
        <p:txBody>
          <a:bodyPr wrap="square" rtlCol="0">
            <a:spAutoFit/>
          </a:bodyPr>
          <a:lstStyle/>
          <a:p>
            <a:pPr indent="457200"/>
            <a:r>
              <a:rPr lang="zh-CN" altLang="en-US"/>
              <a:t>大体上，图像分割可以分为三个子任务</a:t>
            </a:r>
            <a:r>
              <a:rPr lang="en-US" altLang="zh-CN"/>
              <a:t>: </a:t>
            </a:r>
            <a:r>
              <a:rPr lang="zh-CN" altLang="en-US"/>
              <a:t>实例分割</a:t>
            </a:r>
            <a:r>
              <a:rPr lang="en-US" altLang="zh-CN"/>
              <a:t> (instance segmentation) </a:t>
            </a:r>
            <a:r>
              <a:rPr lang="zh-CN" altLang="en-US"/>
              <a:t>、语义分割</a:t>
            </a:r>
            <a:r>
              <a:rPr lang="en-US" altLang="zh-CN"/>
              <a:t> (semantic segmentation) </a:t>
            </a:r>
            <a:r>
              <a:rPr lang="zh-CN" altLang="en-US"/>
              <a:t>、全景分割</a:t>
            </a:r>
            <a:r>
              <a:rPr lang="en-US" altLang="zh-CN"/>
              <a:t> (panoptic segmentation)</a:t>
            </a:r>
            <a:r>
              <a:rPr lang="zh-CN" altLang="en-US"/>
              <a:t>。这三个子任务都有着大量的算法与模型。</a:t>
            </a:r>
          </a:p>
          <a:p>
            <a:pPr indent="457200"/>
            <a:r>
              <a:rPr lang="en-US" altLang="zh-CN">
                <a:sym typeface="+mn-ea"/>
              </a:rPr>
              <a:t>•</a:t>
            </a:r>
            <a:r>
              <a:rPr lang="zh-CN" altLang="en-US"/>
              <a:t>实例分割：任务旨在区分不同的</a:t>
            </a:r>
            <a:r>
              <a:rPr lang="en-US" altLang="zh-CN"/>
              <a:t>“</a:t>
            </a:r>
            <a:r>
              <a:rPr lang="zh-CN" altLang="en-US"/>
              <a:t>实例</a:t>
            </a:r>
            <a:r>
              <a:rPr lang="en-US" altLang="zh-CN"/>
              <a:t>”</a:t>
            </a:r>
            <a:r>
              <a:rPr lang="zh-CN" altLang="en-US"/>
              <a:t>，例如图像中不同的人物个体。实例分割从某种角度看和目标检测很像，不同的是在这里我们需要的是一个对应类别的二元的分割掩膜，而不是一个检测框。</a:t>
            </a:r>
          </a:p>
          <a:p>
            <a:pPr indent="457200"/>
            <a:endParaRPr lang="zh-CN" altLang="en-US"/>
          </a:p>
        </p:txBody>
      </p:sp>
      <p:pic>
        <p:nvPicPr>
          <p:cNvPr id="8" name="图片 7"/>
          <p:cNvPicPr>
            <a:picLocks noChangeAspect="1"/>
          </p:cNvPicPr>
          <p:nvPr/>
        </p:nvPicPr>
        <p:blipFill>
          <a:blip r:embed="rId3"/>
          <a:stretch>
            <a:fillRect/>
          </a:stretch>
        </p:blipFill>
        <p:spPr>
          <a:xfrm>
            <a:off x="3792220" y="3572510"/>
            <a:ext cx="3329305" cy="2413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rPr>
              <a:t>图像分割定义</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2030095"/>
          </a:xfrm>
          <a:prstGeom prst="rect">
            <a:avLst/>
          </a:prstGeom>
          <a:noFill/>
        </p:spPr>
        <p:txBody>
          <a:bodyPr wrap="square" rtlCol="0">
            <a:spAutoFit/>
          </a:bodyPr>
          <a:lstStyle/>
          <a:p>
            <a:pPr indent="457200"/>
            <a:r>
              <a:rPr lang="zh-CN" altLang="en-US"/>
              <a:t>大体上，图像分割可以分为三个子任务</a:t>
            </a:r>
            <a:r>
              <a:rPr lang="en-US" altLang="zh-CN"/>
              <a:t>: </a:t>
            </a:r>
            <a:r>
              <a:rPr lang="zh-CN" altLang="en-US"/>
              <a:t>实例分割</a:t>
            </a:r>
            <a:r>
              <a:rPr lang="en-US" altLang="zh-CN"/>
              <a:t> (instance segmentation) </a:t>
            </a:r>
            <a:r>
              <a:rPr lang="zh-CN" altLang="en-US"/>
              <a:t>、语义分割</a:t>
            </a:r>
            <a:r>
              <a:rPr lang="en-US" altLang="zh-CN"/>
              <a:t> (semantic segmentation) </a:t>
            </a:r>
            <a:r>
              <a:rPr lang="zh-CN" altLang="en-US"/>
              <a:t>、全景分割</a:t>
            </a:r>
            <a:r>
              <a:rPr lang="en-US" altLang="zh-CN"/>
              <a:t> (panoptic segmentation)</a:t>
            </a:r>
            <a:r>
              <a:rPr lang="zh-CN" altLang="en-US"/>
              <a:t>。这三个子任务都有着大量的算法与模型。</a:t>
            </a:r>
          </a:p>
          <a:p>
            <a:pPr indent="457200"/>
            <a:r>
              <a:rPr lang="en-US" altLang="zh-CN">
                <a:sym typeface="+mn-ea"/>
              </a:rPr>
              <a:t>•</a:t>
            </a:r>
            <a:r>
              <a:rPr lang="zh-CN" altLang="en-US"/>
              <a:t>语义分割：区分的是不同的</a:t>
            </a:r>
            <a:r>
              <a:rPr lang="en-US" altLang="zh-CN"/>
              <a:t>“</a:t>
            </a:r>
            <a:r>
              <a:rPr lang="zh-CN" altLang="en-US"/>
              <a:t>语义类别</a:t>
            </a:r>
            <a:r>
              <a:rPr lang="en-US" altLang="zh-CN"/>
              <a:t>”</a:t>
            </a:r>
            <a:r>
              <a:rPr lang="zh-CN" altLang="en-US"/>
              <a:t>，比如属于人物、天空等类别的各个像素点。与实例分割不同的是，这里我们不需要区分开同一类别下的不同个体，例如这里我们只需要得到</a:t>
            </a:r>
            <a:r>
              <a:rPr lang="en-US" altLang="zh-CN"/>
              <a:t>“</a:t>
            </a:r>
            <a:r>
              <a:rPr lang="zh-CN" altLang="en-US"/>
              <a:t>人物</a:t>
            </a:r>
            <a:r>
              <a:rPr lang="en-US" altLang="zh-CN"/>
              <a:t>”</a:t>
            </a:r>
            <a:r>
              <a:rPr lang="zh-CN" altLang="en-US"/>
              <a:t>类别的像素级掩膜即可，不需要区分开不同的人。</a:t>
            </a:r>
          </a:p>
          <a:p>
            <a:pPr indent="457200"/>
            <a:endParaRPr lang="zh-CN" altLang="en-US"/>
          </a:p>
        </p:txBody>
      </p:sp>
      <p:pic>
        <p:nvPicPr>
          <p:cNvPr id="5" name="图片 4"/>
          <p:cNvPicPr>
            <a:picLocks noChangeAspect="1"/>
          </p:cNvPicPr>
          <p:nvPr/>
        </p:nvPicPr>
        <p:blipFill>
          <a:blip r:embed="rId3"/>
          <a:stretch>
            <a:fillRect/>
          </a:stretch>
        </p:blipFill>
        <p:spPr>
          <a:xfrm>
            <a:off x="4044950" y="3572510"/>
            <a:ext cx="3270885" cy="24676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3200" dirty="0">
                <a:latin typeface="宋体" panose="02010600030101010101" pitchFamily="2" charset="-122"/>
                <a:ea typeface="宋体" panose="02010600030101010101" pitchFamily="2" charset="-122"/>
              </a:rPr>
              <a:t>图像分割定义</a:t>
            </a:r>
          </a:p>
          <a:p>
            <a:pPr indent="457200" fontAlgn="auto">
              <a:spcAft>
                <a:spcPts val="0"/>
              </a:spcAft>
            </a:pPr>
            <a:endParaRPr lang="zh-CN" altLang="en-US" sz="2000" dirty="0">
              <a:latin typeface="宋体" panose="02010600030101010101" pitchFamily="2" charset="-122"/>
              <a:ea typeface="宋体" panose="02010600030101010101" pitchFamily="2" charset="-122"/>
            </a:endParaRP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2030095"/>
          </a:xfrm>
          <a:prstGeom prst="rect">
            <a:avLst/>
          </a:prstGeom>
          <a:noFill/>
        </p:spPr>
        <p:txBody>
          <a:bodyPr wrap="square" rtlCol="0">
            <a:spAutoFit/>
          </a:bodyPr>
          <a:lstStyle/>
          <a:p>
            <a:pPr indent="457200"/>
            <a:r>
              <a:rPr lang="zh-CN" altLang="en-US"/>
              <a:t>大体上，图像分割可以分为三个子任务</a:t>
            </a:r>
            <a:r>
              <a:rPr lang="en-US" altLang="zh-CN"/>
              <a:t>: </a:t>
            </a:r>
            <a:r>
              <a:rPr lang="zh-CN" altLang="en-US"/>
              <a:t>实例分割</a:t>
            </a:r>
            <a:r>
              <a:rPr lang="en-US" altLang="zh-CN"/>
              <a:t> (instance segmentation) </a:t>
            </a:r>
            <a:r>
              <a:rPr lang="zh-CN" altLang="en-US"/>
              <a:t>、语义分割</a:t>
            </a:r>
            <a:r>
              <a:rPr lang="en-US" altLang="zh-CN"/>
              <a:t> (semantic segmentation) </a:t>
            </a:r>
            <a:r>
              <a:rPr lang="zh-CN" altLang="en-US"/>
              <a:t>、全景分割</a:t>
            </a:r>
            <a:r>
              <a:rPr lang="en-US" altLang="zh-CN"/>
              <a:t> (panoptic segmentation)</a:t>
            </a:r>
            <a:r>
              <a:rPr lang="zh-CN" altLang="en-US"/>
              <a:t>。这三个子任务都有着大量的算法与模型。</a:t>
            </a:r>
          </a:p>
          <a:p>
            <a:pPr indent="457200"/>
            <a:r>
              <a:rPr lang="en-US" altLang="zh-CN">
                <a:sym typeface="+mn-ea"/>
              </a:rPr>
              <a:t>•</a:t>
            </a:r>
            <a:r>
              <a:rPr lang="zh-CN" altLang="en-US"/>
              <a:t>全景分割：在</a:t>
            </a:r>
            <a:r>
              <a:rPr lang="en-US" altLang="zh-CN"/>
              <a:t> 2018 </a:t>
            </a:r>
            <a:r>
              <a:rPr lang="zh-CN" altLang="en-US"/>
              <a:t>年由</a:t>
            </a:r>
            <a:r>
              <a:rPr lang="en-US" altLang="zh-CN"/>
              <a:t> Kirillov et al. </a:t>
            </a:r>
            <a:r>
              <a:rPr lang="zh-CN" altLang="en-US"/>
              <a:t>提出，目的是为了统一实例分割和语义分割。模型单纯地鉴别出一系列的图像部分，每个部分既有对应的二元掩膜，也有对应的类别标签。这些区分出来的部分，既可以是</a:t>
            </a:r>
            <a:r>
              <a:rPr lang="en-US" altLang="zh-CN"/>
              <a:t>“</a:t>
            </a:r>
            <a:r>
              <a:rPr lang="zh-CN" altLang="en-US"/>
              <a:t>东西</a:t>
            </a:r>
            <a:r>
              <a:rPr lang="en-US" altLang="zh-CN"/>
              <a:t>”</a:t>
            </a:r>
            <a:r>
              <a:rPr lang="zh-CN" altLang="en-US"/>
              <a:t>也可以是</a:t>
            </a:r>
            <a:r>
              <a:rPr lang="en-US" altLang="zh-CN"/>
              <a:t>“</a:t>
            </a:r>
            <a:r>
              <a:rPr lang="zh-CN" altLang="en-US"/>
              <a:t>实物</a:t>
            </a:r>
            <a:r>
              <a:rPr lang="en-US" altLang="zh-CN"/>
              <a:t>”</a:t>
            </a:r>
            <a:r>
              <a:rPr lang="zh-CN" altLang="en-US"/>
              <a:t>。</a:t>
            </a:r>
          </a:p>
          <a:p>
            <a:pPr indent="457200"/>
            <a:endParaRPr lang="zh-CN" altLang="en-US"/>
          </a:p>
        </p:txBody>
      </p:sp>
      <p:pic>
        <p:nvPicPr>
          <p:cNvPr id="7" name="图片 6"/>
          <p:cNvPicPr>
            <a:picLocks noChangeAspect="1"/>
          </p:cNvPicPr>
          <p:nvPr/>
        </p:nvPicPr>
        <p:blipFill>
          <a:blip r:embed="rId3"/>
          <a:stretch>
            <a:fillRect/>
          </a:stretch>
        </p:blipFill>
        <p:spPr>
          <a:xfrm>
            <a:off x="3667125" y="3634740"/>
            <a:ext cx="3430905" cy="24815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1487805" y="1628775"/>
            <a:ext cx="9507855" cy="1198880"/>
          </a:xfrm>
          <a:prstGeom prst="rect">
            <a:avLst/>
          </a:prstGeom>
          <a:noFill/>
        </p:spPr>
        <p:txBody>
          <a:bodyPr wrap="square" rtlCol="0">
            <a:spAutoFit/>
          </a:bodyPr>
          <a:lstStyle/>
          <a:p>
            <a:pPr indent="457200"/>
            <a:r>
              <a:rPr lang="en-US" altLang="zh-CN"/>
              <a:t>UNet</a:t>
            </a:r>
            <a:r>
              <a:rPr lang="zh-CN" altLang="en-US"/>
              <a:t>算法是一种用于图像分割的卷积神经网络（</a:t>
            </a:r>
            <a:r>
              <a:rPr lang="en-US" altLang="zh-CN"/>
              <a:t>CNN</a:t>
            </a:r>
            <a:r>
              <a:rPr lang="zh-CN" altLang="en-US"/>
              <a:t>）架构。它由</a:t>
            </a:r>
            <a:r>
              <a:rPr lang="en-US" altLang="zh-CN"/>
              <a:t>Olaf Ronneberger</a:t>
            </a:r>
            <a:r>
              <a:rPr lang="zh-CN" altLang="en-US"/>
              <a:t>等人在</a:t>
            </a:r>
            <a:r>
              <a:rPr lang="en-US" altLang="zh-CN"/>
              <a:t>2015</a:t>
            </a:r>
            <a:r>
              <a:rPr lang="zh-CN" altLang="en-US"/>
              <a:t>年提出，主要用于解决医学图像分割的问题。</a:t>
            </a:r>
            <a:r>
              <a:rPr lang="en-US" altLang="zh-CN"/>
              <a:t>UNet</a:t>
            </a:r>
            <a:r>
              <a:rPr lang="zh-CN" altLang="en-US"/>
              <a:t>算法的特点是采用了</a:t>
            </a:r>
            <a:r>
              <a:rPr lang="en-US" altLang="zh-CN"/>
              <a:t>U</a:t>
            </a:r>
            <a:r>
              <a:rPr lang="zh-CN" altLang="en-US"/>
              <a:t>型的网络结构，因此得名</a:t>
            </a:r>
            <a:r>
              <a:rPr lang="en-US" altLang="zh-CN"/>
              <a:t>UNet</a:t>
            </a:r>
            <a:r>
              <a:rPr lang="zh-CN" altLang="en-US"/>
              <a:t>。</a:t>
            </a:r>
          </a:p>
          <a:p>
            <a:pPr indent="457200"/>
            <a:endParaRPr lang="zh-CN" altLang="en-US"/>
          </a:p>
        </p:txBody>
      </p:sp>
      <p:pic>
        <p:nvPicPr>
          <p:cNvPr id="5" name="图片 4"/>
          <p:cNvPicPr/>
          <p:nvPr/>
        </p:nvPicPr>
        <p:blipFill>
          <a:blip r:embed="rId3"/>
          <a:stretch>
            <a:fillRect/>
          </a:stretch>
        </p:blipFill>
        <p:spPr>
          <a:xfrm>
            <a:off x="2423160" y="2564765"/>
            <a:ext cx="6858000" cy="34836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767080" y="1484630"/>
            <a:ext cx="10609580" cy="4523105"/>
          </a:xfrm>
          <a:prstGeom prst="rect">
            <a:avLst/>
          </a:prstGeom>
          <a:noFill/>
        </p:spPr>
        <p:txBody>
          <a:bodyPr wrap="square" rtlCol="0">
            <a:spAutoFit/>
          </a:bodyPr>
          <a:lstStyle/>
          <a:p>
            <a:r>
              <a:rPr lang="en-US" altLang="zh-CN"/>
              <a:t>UNet</a:t>
            </a:r>
            <a:r>
              <a:rPr lang="zh-CN" altLang="en-US"/>
              <a:t>算法作为一种图像分割算法，具有以下优点和缺点：</a:t>
            </a:r>
          </a:p>
          <a:p>
            <a:endParaRPr lang="zh-CN" altLang="en-US"/>
          </a:p>
          <a:p>
            <a:r>
              <a:rPr lang="zh-CN" altLang="en-US"/>
              <a:t>优点：</a:t>
            </a:r>
          </a:p>
          <a:p>
            <a:r>
              <a:rPr lang="en-US" altLang="zh-CN">
                <a:sym typeface="+mn-ea"/>
              </a:rPr>
              <a:t>•</a:t>
            </a:r>
            <a:r>
              <a:rPr lang="zh-CN" altLang="en-US"/>
              <a:t>强大的分割能力：</a:t>
            </a:r>
            <a:r>
              <a:rPr lang="en-US" altLang="zh-CN"/>
              <a:t>UNet</a:t>
            </a:r>
            <a:r>
              <a:rPr lang="zh-CN" altLang="en-US"/>
              <a:t>算法采用了</a:t>
            </a:r>
            <a:r>
              <a:rPr lang="en-US" altLang="zh-CN"/>
              <a:t>U</a:t>
            </a:r>
            <a:r>
              <a:rPr lang="zh-CN" altLang="en-US"/>
              <a:t>型的网络结构和跳跃连接机制，能够有效地捕获不同层次的特征信息。</a:t>
            </a:r>
          </a:p>
          <a:p>
            <a:r>
              <a:rPr lang="en-US" altLang="zh-CN">
                <a:sym typeface="+mn-ea"/>
              </a:rPr>
              <a:t>•</a:t>
            </a:r>
            <a:r>
              <a:rPr lang="zh-CN" altLang="en-US"/>
              <a:t>少样本学习：相比其他深度学习方法，</a:t>
            </a:r>
            <a:r>
              <a:rPr lang="en-US" altLang="zh-CN"/>
              <a:t>UNet</a:t>
            </a:r>
            <a:r>
              <a:rPr lang="zh-CN" altLang="en-US"/>
              <a:t>算法对于小样本情况表现出色</a:t>
            </a:r>
          </a:p>
          <a:p>
            <a:r>
              <a:rPr lang="en-US" altLang="zh-CN">
                <a:sym typeface="+mn-ea"/>
              </a:rPr>
              <a:t>•</a:t>
            </a:r>
            <a:r>
              <a:rPr lang="zh-CN" altLang="en-US"/>
              <a:t>可扩展性：</a:t>
            </a:r>
            <a:r>
              <a:rPr lang="en-US" altLang="zh-CN"/>
              <a:t>UNet</a:t>
            </a:r>
            <a:r>
              <a:rPr lang="zh-CN" altLang="en-US"/>
              <a:t>算法的网络结构简单明了，容易进行扩展和修改。</a:t>
            </a:r>
          </a:p>
          <a:p>
            <a:endParaRPr lang="zh-CN" altLang="en-US"/>
          </a:p>
          <a:p>
            <a:r>
              <a:rPr lang="zh-CN" altLang="en-US"/>
              <a:t>缺点：</a:t>
            </a:r>
          </a:p>
          <a:p>
            <a:r>
              <a:rPr lang="en-US" altLang="zh-CN">
                <a:sym typeface="+mn-ea"/>
              </a:rPr>
              <a:t>•</a:t>
            </a:r>
            <a:r>
              <a:rPr lang="zh-CN" altLang="en-US"/>
              <a:t>计算资源需求较高：由于</a:t>
            </a:r>
            <a:r>
              <a:rPr lang="en-US" altLang="zh-CN"/>
              <a:t>UNet</a:t>
            </a:r>
            <a:r>
              <a:rPr lang="zh-CN" altLang="en-US"/>
              <a:t>算法通常需要处理较大的图像输入和较深的网络结构，因此对计算资源的要求较高，包括显存和计算能力。</a:t>
            </a:r>
          </a:p>
          <a:p>
            <a:r>
              <a:rPr lang="en-US" altLang="zh-CN">
                <a:sym typeface="+mn-ea"/>
              </a:rPr>
              <a:t>•</a:t>
            </a:r>
            <a:r>
              <a:rPr lang="zh-CN" altLang="en-US"/>
              <a:t>数据不平衡问题：如果训练数据中存在类别不平衡的情况，这需要在数据预处理或损失函数设计上进行相应的处理。</a:t>
            </a:r>
          </a:p>
          <a:p>
            <a:r>
              <a:rPr lang="en-US" altLang="zh-CN">
                <a:sym typeface="+mn-ea"/>
              </a:rPr>
              <a:t>•</a:t>
            </a:r>
            <a:r>
              <a:rPr lang="zh-CN" altLang="en-US"/>
              <a:t>对于大尺寸图像的处理：由于</a:t>
            </a:r>
            <a:r>
              <a:rPr lang="en-US" altLang="zh-CN"/>
              <a:t>UNet</a:t>
            </a:r>
            <a:r>
              <a:rPr lang="zh-CN" altLang="en-US"/>
              <a:t>算法的网络结构和内存限制，对于大尺寸的图像，需要进行分块处理或采用其他策略来解决内存不足的问题。</a:t>
            </a:r>
          </a:p>
          <a:p>
            <a:endParaRPr lang="en-US" altLang="zh-CN"/>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839470" y="1484630"/>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911225" y="1988820"/>
            <a:ext cx="9507855" cy="3415030"/>
          </a:xfrm>
          <a:prstGeom prst="rect">
            <a:avLst/>
          </a:prstGeom>
          <a:noFill/>
        </p:spPr>
        <p:txBody>
          <a:bodyPr wrap="square" rtlCol="0">
            <a:spAutoFit/>
          </a:bodyPr>
          <a:lstStyle/>
          <a:p>
            <a:pPr indent="457200"/>
            <a:r>
              <a:rPr lang="zh-CN" altLang="en-US"/>
              <a:t>该网络结构具有编码器（</a:t>
            </a:r>
            <a:r>
              <a:rPr lang="en-US" altLang="zh-CN"/>
              <a:t>Encoder</a:t>
            </a:r>
            <a:r>
              <a:rPr lang="zh-CN" altLang="en-US"/>
              <a:t>）和解码器（</a:t>
            </a:r>
            <a:r>
              <a:rPr lang="en-US" altLang="zh-CN"/>
              <a:t>Decoder</a:t>
            </a:r>
            <a:r>
              <a:rPr lang="zh-CN" altLang="en-US"/>
              <a:t>）两个部分：</a:t>
            </a:r>
          </a:p>
          <a:p>
            <a:pPr indent="457200"/>
            <a:endParaRPr lang="zh-CN" altLang="en-US"/>
          </a:p>
          <a:p>
            <a:pPr indent="457200"/>
            <a:r>
              <a:rPr lang="en-US" altLang="zh-CN">
                <a:sym typeface="+mn-ea"/>
              </a:rPr>
              <a:t>•</a:t>
            </a:r>
            <a:r>
              <a:rPr lang="zh-CN" altLang="en-US">
                <a:sym typeface="+mn-ea"/>
              </a:rPr>
              <a:t>前半部分</a:t>
            </a:r>
            <a:r>
              <a:rPr lang="zh-CN" altLang="en-US"/>
              <a:t>编码器负责逐步提取输入图像的特征并降低空间分辨率。</a:t>
            </a:r>
          </a:p>
          <a:p>
            <a:pPr indent="457200"/>
            <a:endParaRPr lang="zh-CN" altLang="en-US"/>
          </a:p>
          <a:p>
            <a:pPr indent="457200"/>
            <a:r>
              <a:rPr lang="en-US" altLang="zh-CN">
                <a:sym typeface="+mn-ea"/>
              </a:rPr>
              <a:t>•</a:t>
            </a:r>
            <a:r>
              <a:rPr lang="zh-CN" altLang="en-US">
                <a:sym typeface="+mn-ea"/>
              </a:rPr>
              <a:t>后半部分</a:t>
            </a:r>
            <a:r>
              <a:rPr lang="zh-CN" altLang="en-US"/>
              <a:t>解码器则通过上采样操作将特征图恢复到原始输入图像的尺寸，并逐步生成分割结果</a:t>
            </a:r>
          </a:p>
          <a:p>
            <a:pPr indent="457200"/>
            <a:endParaRPr lang="en-US" altLang="zh-CN"/>
          </a:p>
          <a:p>
            <a:pPr indent="457200"/>
            <a:endParaRPr lang="en-US" altLang="zh-CN"/>
          </a:p>
          <a:p>
            <a:pPr indent="457200"/>
            <a:r>
              <a:rPr lang="en-US" altLang="zh-CN"/>
              <a:t>UNet</a:t>
            </a:r>
            <a:r>
              <a:rPr lang="zh-CN" altLang="en-US"/>
              <a:t>算法的关键创新是在解码器中引入了</a:t>
            </a:r>
            <a:r>
              <a:rPr lang="zh-CN" altLang="en-US">
                <a:solidFill>
                  <a:schemeClr val="accent1"/>
                </a:solidFill>
                <a:effectLst>
                  <a:outerShdw blurRad="38100" dist="25400" dir="5400000" algn="ctr" rotWithShape="0">
                    <a:srgbClr val="6E747A">
                      <a:alpha val="43000"/>
                    </a:srgbClr>
                  </a:outerShdw>
                </a:effectLst>
              </a:rPr>
              <a:t>跳跃连接（</a:t>
            </a:r>
            <a:r>
              <a:rPr lang="en-US" altLang="zh-CN">
                <a:solidFill>
                  <a:schemeClr val="accent1"/>
                </a:solidFill>
                <a:effectLst>
                  <a:outerShdw blurRad="38100" dist="25400" dir="5400000" algn="ctr" rotWithShape="0">
                    <a:srgbClr val="6E747A">
                      <a:alpha val="43000"/>
                    </a:srgbClr>
                  </a:outerShdw>
                </a:effectLst>
              </a:rPr>
              <a:t>Skip Connections</a:t>
            </a:r>
            <a:r>
              <a:rPr lang="zh-CN" altLang="en-US">
                <a:solidFill>
                  <a:schemeClr val="accent1"/>
                </a:solidFill>
                <a:effectLst>
                  <a:outerShdw blurRad="38100" dist="25400" dir="5400000" algn="ctr" rotWithShape="0">
                    <a:srgbClr val="6E747A">
                      <a:alpha val="43000"/>
                    </a:srgbClr>
                  </a:outerShdw>
                </a:effectLst>
              </a:rPr>
              <a:t>）</a:t>
            </a:r>
            <a:r>
              <a:rPr lang="zh-CN" altLang="en-US"/>
              <a:t>，即将编码器中的特征图与解码器中对应的特征图进行连接。这种跳跃连接可以帮助解码器更好地利用</a:t>
            </a:r>
            <a:r>
              <a:rPr lang="zh-CN" altLang="en-US">
                <a:solidFill>
                  <a:schemeClr val="accent1"/>
                </a:solidFill>
                <a:effectLst>
                  <a:outerShdw blurRad="38100" dist="25400" dir="5400000" algn="ctr" rotWithShape="0">
                    <a:srgbClr val="6E747A">
                      <a:alpha val="43000"/>
                    </a:srgbClr>
                  </a:outerShdw>
                </a:effectLst>
              </a:rPr>
              <a:t>不同层次的特征信息</a:t>
            </a:r>
            <a:r>
              <a:rPr lang="zh-CN" altLang="en-US"/>
              <a:t>，从而提高图像分割的准确性和细节保留能力。</a:t>
            </a:r>
          </a:p>
          <a:p>
            <a:pPr indent="457200"/>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838835" y="1628775"/>
            <a:ext cx="9507855" cy="1198880"/>
          </a:xfrm>
          <a:prstGeom prst="rect">
            <a:avLst/>
          </a:prstGeom>
          <a:noFill/>
        </p:spPr>
        <p:txBody>
          <a:bodyPr wrap="square" rtlCol="0">
            <a:spAutoFit/>
          </a:bodyPr>
          <a:lstStyle/>
          <a:p>
            <a:pPr indent="457200"/>
            <a:r>
              <a:rPr lang="en-US" altLang="zh-CN"/>
              <a:t>Unet</a:t>
            </a:r>
            <a:r>
              <a:rPr lang="zh-CN" altLang="en-US"/>
              <a:t>网络结构非常的简单，</a:t>
            </a:r>
            <a:r>
              <a:rPr lang="en-US" altLang="zh-CN"/>
              <a:t>Encoder</a:t>
            </a:r>
            <a:r>
              <a:rPr lang="zh-CN" altLang="en-US"/>
              <a:t>部分由两个</a:t>
            </a:r>
            <a:r>
              <a:rPr lang="en-US" altLang="zh-CN"/>
              <a:t>3x3</a:t>
            </a:r>
            <a:r>
              <a:rPr lang="zh-CN" altLang="en-US"/>
              <a:t>的卷积（无</a:t>
            </a:r>
            <a:r>
              <a:rPr lang="en-US" altLang="zh-CN"/>
              <a:t>padding</a:t>
            </a:r>
            <a:r>
              <a:rPr lang="zh-CN" altLang="en-US"/>
              <a:t>操作）构成。每个卷积层的后面跟随一个整流线性单元</a:t>
            </a:r>
            <a:r>
              <a:rPr lang="en-US" altLang="zh-CN"/>
              <a:t>ReLU</a:t>
            </a:r>
            <a:r>
              <a:rPr lang="zh-CN" altLang="en-US"/>
              <a:t>和一个</a:t>
            </a:r>
            <a:r>
              <a:rPr lang="en-US" altLang="zh-CN"/>
              <a:t>2x2</a:t>
            </a:r>
            <a:r>
              <a:rPr lang="zh-CN" altLang="en-US"/>
              <a:t>的最大池化操作，步幅为</a:t>
            </a:r>
            <a:r>
              <a:rPr lang="en-US" altLang="zh-CN"/>
              <a:t>2</a:t>
            </a:r>
            <a:r>
              <a:rPr lang="zh-CN" altLang="en-US"/>
              <a:t>，用于下采样，在每个下采样的过程中将特征通道数翻倍，通过下采样</a:t>
            </a:r>
            <a:r>
              <a:rPr lang="zh-CN" altLang="en-US">
                <a:sym typeface="+mn-ea"/>
              </a:rPr>
              <a:t>逐步提取输入图像的特征并降低空间分辨率</a:t>
            </a:r>
            <a:r>
              <a:rPr lang="zh-CN" altLang="en-US"/>
              <a:t>。</a:t>
            </a:r>
          </a:p>
        </p:txBody>
      </p:sp>
      <p:sp>
        <p:nvSpPr>
          <p:cNvPr id="5" name="文本框 4"/>
          <p:cNvSpPr txBox="1"/>
          <p:nvPr/>
        </p:nvSpPr>
        <p:spPr>
          <a:xfrm>
            <a:off x="2351405" y="2852420"/>
            <a:ext cx="6885305" cy="2861310"/>
          </a:xfrm>
          <a:prstGeom prst="rect">
            <a:avLst/>
          </a:prstGeom>
          <a:noFill/>
        </p:spPr>
        <p:txBody>
          <a:bodyPr wrap="square" rtlCol="0" anchor="t">
            <a:spAutoFit/>
          </a:bodyPr>
          <a:lstStyle/>
          <a:p>
            <a:r>
              <a:rPr lang="en-US" altLang="zh-CN"/>
              <a:t>x = Conv2D(64, (3, 3), padding='same',name='block1_conv1')(input)</a:t>
            </a:r>
          </a:p>
          <a:p>
            <a:r>
              <a:rPr lang="en-US" altLang="zh-CN"/>
              <a:t>x = BatchNormalization()(x)</a:t>
            </a:r>
          </a:p>
          <a:p>
            <a:r>
              <a:rPr lang="en-US" altLang="zh-CN"/>
              <a:t>x = Activation('relu')(x)</a:t>
            </a:r>
          </a:p>
          <a:p>
            <a:endParaRPr lang="en-US" altLang="zh-CN"/>
          </a:p>
          <a:p>
            <a:r>
              <a:rPr lang="en-US" altLang="zh-CN"/>
              <a:t>x = Conv2D(64, (3, 3), padding='same', name='block1_conv2')(x)</a:t>
            </a:r>
          </a:p>
          <a:p>
            <a:r>
              <a:rPr lang="en-US" altLang="zh-CN"/>
              <a:t>x = BatchNormalization()(x)</a:t>
            </a:r>
          </a:p>
          <a:p>
            <a:r>
              <a:rPr lang="en-US" altLang="zh-CN"/>
              <a:t>b1 = Activation('relu')(x)</a:t>
            </a:r>
          </a:p>
          <a:p>
            <a:endParaRPr lang="en-US" altLang="zh-CN"/>
          </a:p>
          <a:p>
            <a:r>
              <a:rPr lang="en-US" altLang="zh-CN"/>
              <a:t>x = MaxPooling2D()(b1)</a:t>
            </a:r>
          </a:p>
          <a:p>
            <a:endParaRPr lang="zh-CN" altLang="en-US"/>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
        <p:nvSpPr>
          <p:cNvPr id="8" name="矩形 7"/>
          <p:cNvSpPr/>
          <p:nvPr/>
        </p:nvSpPr>
        <p:spPr>
          <a:xfrm>
            <a:off x="2279015" y="2780665"/>
            <a:ext cx="6480810" cy="3168015"/>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9" name="文本框 8"/>
          <p:cNvSpPr txBox="1"/>
          <p:nvPr/>
        </p:nvSpPr>
        <p:spPr>
          <a:xfrm>
            <a:off x="3771900" y="6092825"/>
            <a:ext cx="4064000" cy="368300"/>
          </a:xfrm>
          <a:prstGeom prst="rect">
            <a:avLst/>
          </a:prstGeom>
          <a:noFill/>
        </p:spPr>
        <p:txBody>
          <a:bodyPr wrap="square" rtlCol="0">
            <a:spAutoFit/>
          </a:bodyPr>
          <a:lstStyle/>
          <a:p>
            <a:r>
              <a:rPr lang="zh-CN" altLang="en-US"/>
              <a:t>一个简单的下采样</a:t>
            </a:r>
            <a:r>
              <a:rPr lang="en-US" altLang="zh-CN"/>
              <a:t>block</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838835" y="1628775"/>
            <a:ext cx="9507855" cy="922020"/>
          </a:xfrm>
          <a:prstGeom prst="rect">
            <a:avLst/>
          </a:prstGeom>
          <a:noFill/>
        </p:spPr>
        <p:txBody>
          <a:bodyPr wrap="square" rtlCol="0">
            <a:spAutoFit/>
          </a:bodyPr>
          <a:lstStyle/>
          <a:p>
            <a:pPr indent="457200"/>
            <a:r>
              <a:rPr lang="zh-CN" altLang="en-US"/>
              <a:t>解码器（</a:t>
            </a:r>
            <a:r>
              <a:rPr lang="en-US" altLang="zh-CN"/>
              <a:t>Decoder</a:t>
            </a:r>
            <a:r>
              <a:rPr lang="zh-CN" altLang="en-US"/>
              <a:t>）部分首先通过一系列上采样操作（如反卷积或转置卷积）和卷积操作组成，用于逐渐增加特征图的尺寸和通道数，</a:t>
            </a:r>
            <a:r>
              <a:rPr lang="zh-CN" altLang="en-US">
                <a:sym typeface="+mn-ea"/>
              </a:rPr>
              <a:t>解码器（</a:t>
            </a:r>
            <a:r>
              <a:rPr lang="en-US" altLang="zh-CN">
                <a:sym typeface="+mn-ea"/>
              </a:rPr>
              <a:t>Decoder</a:t>
            </a:r>
            <a:r>
              <a:rPr lang="zh-CN" altLang="en-US">
                <a:sym typeface="+mn-ea"/>
              </a:rPr>
              <a:t>）部分</a:t>
            </a:r>
            <a:r>
              <a:rPr lang="zh-CN" altLang="en-US"/>
              <a:t>通常包含一个上采样模块、一个跳跃连接和一个融合操作。这样可以逐渐恢复分辨率并且保留更多的细节信息。</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14" name="图片 13"/>
          <p:cNvPicPr>
            <a:picLocks noChangeAspect="1"/>
          </p:cNvPicPr>
          <p:nvPr/>
        </p:nvPicPr>
        <p:blipFill>
          <a:blip r:embed="rId4"/>
          <a:stretch>
            <a:fillRect/>
          </a:stretch>
        </p:blipFill>
        <p:spPr>
          <a:xfrm>
            <a:off x="2667000" y="2743200"/>
            <a:ext cx="5521325" cy="3377565"/>
          </a:xfrm>
          <a:prstGeom prst="rect">
            <a:avLst/>
          </a:prstGeom>
        </p:spPr>
      </p:pic>
      <p:sp>
        <p:nvSpPr>
          <p:cNvPr id="15" name="文本框 14"/>
          <p:cNvSpPr txBox="1"/>
          <p:nvPr/>
        </p:nvSpPr>
        <p:spPr>
          <a:xfrm>
            <a:off x="3287395" y="6308725"/>
            <a:ext cx="4064000" cy="368300"/>
          </a:xfrm>
          <a:prstGeom prst="rect">
            <a:avLst/>
          </a:prstGeom>
          <a:noFill/>
        </p:spPr>
        <p:txBody>
          <a:bodyPr wrap="square" rtlCol="0">
            <a:spAutoFit/>
          </a:bodyPr>
          <a:lstStyle/>
          <a:p>
            <a:r>
              <a:rPr lang="zh-CN" altLang="en-US"/>
              <a:t>右半部分即为</a:t>
            </a:r>
            <a:r>
              <a:rPr lang="zh-CN" altLang="en-US">
                <a:sym typeface="+mn-ea"/>
              </a:rPr>
              <a:t>解码器（</a:t>
            </a:r>
            <a:r>
              <a:rPr lang="en-US" altLang="zh-CN">
                <a:sym typeface="+mn-ea"/>
              </a:rPr>
              <a:t>Decoder</a:t>
            </a:r>
            <a:r>
              <a:rPr lang="zh-CN" altLang="en-US">
                <a:sym typeface="+mn-ea"/>
              </a:rPr>
              <a:t>）部分</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838835" y="1628775"/>
            <a:ext cx="9507855" cy="2030095"/>
          </a:xfrm>
          <a:prstGeom prst="rect">
            <a:avLst/>
          </a:prstGeom>
          <a:noFill/>
        </p:spPr>
        <p:txBody>
          <a:bodyPr wrap="square" rtlCol="0">
            <a:spAutoFit/>
          </a:bodyPr>
          <a:lstStyle/>
          <a:p>
            <a:pPr indent="457200"/>
            <a:r>
              <a:rPr lang="zh-CN" altLang="en-US"/>
              <a:t>下采样过程其实就是简单的卷积层特征提取，输入图像经过前面下采样进行特征提取之后，需要把图像恢复至原来的尺寸以便进一步对像素进行分类（所谓的语义分割），那么这个过程也就是上采样。一般来说上采样方法常见的有：双线性差值（</a:t>
            </a:r>
            <a:r>
              <a:rPr lang="en-US" altLang="zh-CN"/>
              <a:t>bilinear</a:t>
            </a:r>
            <a:r>
              <a:rPr lang="zh-CN" altLang="en-US"/>
              <a:t>）</a:t>
            </a:r>
            <a:r>
              <a:rPr lang="en-US" altLang="zh-CN"/>
              <a:t>,</a:t>
            </a:r>
            <a:r>
              <a:rPr lang="zh-CN" altLang="en-US"/>
              <a:t>反卷积（</a:t>
            </a:r>
            <a:r>
              <a:rPr lang="en-US" altLang="zh-CN"/>
              <a:t>Transposed Convolution</a:t>
            </a:r>
            <a:r>
              <a:rPr lang="zh-CN" altLang="en-US"/>
              <a:t>），还有就是反池化（</a:t>
            </a:r>
            <a:r>
              <a:rPr lang="en-US" altLang="zh-CN"/>
              <a:t>Unpooling</a:t>
            </a:r>
            <a:r>
              <a:rPr lang="zh-CN" altLang="en-US"/>
              <a:t>），</a:t>
            </a:r>
            <a:r>
              <a:rPr lang="en-US" altLang="zh-CN"/>
              <a:t>Unet</a:t>
            </a:r>
            <a:r>
              <a:rPr lang="zh-CN" altLang="en-US"/>
              <a:t>的上采样就是通过反卷积实现的。</a:t>
            </a:r>
          </a:p>
          <a:p>
            <a:pPr indent="457200"/>
            <a:r>
              <a:rPr lang="zh-CN" altLang="en-US"/>
              <a:t>卷积的前向计算可以看做是参数矩阵和输入矩阵相乘，</a:t>
            </a:r>
            <a:r>
              <a:rPr lang="en-US" altLang="zh-CN"/>
              <a:t>Y</a:t>
            </a:r>
            <a:r>
              <a:rPr lang="zh-CN" altLang="en-US"/>
              <a:t>是输出，</a:t>
            </a:r>
            <a:r>
              <a:rPr lang="en-US" altLang="zh-CN"/>
              <a:t>C</a:t>
            </a:r>
            <a:r>
              <a:rPr lang="zh-CN" altLang="en-US"/>
              <a:t>是参数矩阵，</a:t>
            </a:r>
            <a:r>
              <a:rPr lang="en-US" altLang="zh-CN"/>
              <a:t>X</a:t>
            </a:r>
            <a:r>
              <a:rPr lang="zh-CN" altLang="en-US"/>
              <a:t>是输入矩阵</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8" name="图片 7"/>
          <p:cNvPicPr/>
          <p:nvPr/>
        </p:nvPicPr>
        <p:blipFill>
          <a:blip r:embed="rId4"/>
          <a:stretch>
            <a:fillRect/>
          </a:stretch>
        </p:blipFill>
        <p:spPr>
          <a:xfrm>
            <a:off x="3358833" y="3500438"/>
            <a:ext cx="3686175" cy="1095375"/>
          </a:xfrm>
          <a:prstGeom prst="rect">
            <a:avLst/>
          </a:prstGeom>
        </p:spPr>
      </p:pic>
      <p:sp>
        <p:nvSpPr>
          <p:cNvPr id="9" name="文本框 8"/>
          <p:cNvSpPr txBox="1"/>
          <p:nvPr/>
        </p:nvSpPr>
        <p:spPr>
          <a:xfrm>
            <a:off x="1559560" y="4911090"/>
            <a:ext cx="6764655" cy="368300"/>
          </a:xfrm>
          <a:prstGeom prst="rect">
            <a:avLst/>
          </a:prstGeom>
          <a:noFill/>
        </p:spPr>
        <p:txBody>
          <a:bodyPr wrap="square" rtlCol="0">
            <a:spAutoFit/>
          </a:bodyPr>
          <a:lstStyle/>
          <a:p>
            <a:r>
              <a:rPr lang="zh-CN" altLang="en-US"/>
              <a:t>那么反卷积其实类似该前向的逆运算写成：</a:t>
            </a:r>
          </a:p>
        </p:txBody>
      </p:sp>
      <p:pic>
        <p:nvPicPr>
          <p:cNvPr id="11" name="图片 10"/>
          <p:cNvPicPr/>
          <p:nvPr/>
        </p:nvPicPr>
        <p:blipFill>
          <a:blip r:embed="rId5"/>
          <a:stretch>
            <a:fillRect/>
          </a:stretch>
        </p:blipFill>
        <p:spPr>
          <a:xfrm>
            <a:off x="3359785" y="5301615"/>
            <a:ext cx="3638550" cy="1066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767715" y="1412875"/>
            <a:ext cx="9507855" cy="1753235"/>
          </a:xfrm>
          <a:prstGeom prst="rect">
            <a:avLst/>
          </a:prstGeom>
          <a:noFill/>
        </p:spPr>
        <p:txBody>
          <a:bodyPr wrap="square" rtlCol="0">
            <a:spAutoFit/>
          </a:bodyPr>
          <a:lstStyle/>
          <a:p>
            <a:pPr indent="457200"/>
            <a:r>
              <a:rPr lang="zh-CN" altLang="en-US"/>
              <a:t>这里注意的是，反卷积只是为了恢复图像</a:t>
            </a:r>
            <a:r>
              <a:rPr lang="en-US" altLang="zh-CN"/>
              <a:t>shape</a:t>
            </a:r>
            <a:r>
              <a:rPr lang="zh-CN" altLang="en-US"/>
              <a:t>，而不是为了恢复图像像素，所以并不是完全的逆运算，反卷积实质还是一种卷积。</a:t>
            </a:r>
          </a:p>
          <a:p>
            <a:pPr indent="457200"/>
            <a:r>
              <a:rPr lang="en-US" altLang="zh-CN"/>
              <a:t>Unet</a:t>
            </a:r>
            <a:r>
              <a:rPr lang="zh-CN" altLang="en-US"/>
              <a:t>中一个标准的上采样</a:t>
            </a:r>
            <a:r>
              <a:rPr lang="en-US" altLang="zh-CN"/>
              <a:t>block</a:t>
            </a:r>
            <a:r>
              <a:rPr lang="zh-CN" altLang="en-US"/>
              <a:t>，注意这里运用了一个跳连接把前面的特征图和上采样后的特征图</a:t>
            </a:r>
            <a:r>
              <a:rPr lang="en-US" altLang="zh-CN"/>
              <a:t>concat</a:t>
            </a:r>
            <a:r>
              <a:rPr lang="zh-CN" altLang="en-US"/>
              <a:t>到一起（类似</a:t>
            </a:r>
            <a:r>
              <a:rPr lang="en-US" altLang="zh-CN"/>
              <a:t>resnet</a:t>
            </a:r>
            <a:r>
              <a:rPr lang="zh-CN" altLang="en-US"/>
              <a:t>的思想），目的是使得上采样后的特征图具有更多的浅层语义信息，增强分割精度</a:t>
            </a:r>
          </a:p>
          <a:p>
            <a:pPr indent="457200"/>
            <a:endParaRPr lang="en-US" altLang="zh-CN"/>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
        <p:nvSpPr>
          <p:cNvPr id="9" name="文本框 8"/>
          <p:cNvSpPr txBox="1"/>
          <p:nvPr/>
        </p:nvSpPr>
        <p:spPr>
          <a:xfrm>
            <a:off x="1415415" y="2766695"/>
            <a:ext cx="8075930" cy="3692525"/>
          </a:xfrm>
          <a:prstGeom prst="rect">
            <a:avLst/>
          </a:prstGeom>
          <a:noFill/>
        </p:spPr>
        <p:txBody>
          <a:bodyPr wrap="square" rtlCol="0">
            <a:spAutoFit/>
          </a:bodyPr>
          <a:lstStyle/>
          <a:p>
            <a:r>
              <a:rPr lang="en-US" altLang="zh-CN"/>
              <a:t>x = Conv2DTranspose(256, (2, 2), strides=(2, 2), padding='same')(x)</a:t>
            </a:r>
          </a:p>
          <a:p>
            <a:r>
              <a:rPr lang="en-US" altLang="zh-CN"/>
              <a:t>x = BatchNormalization()(x)</a:t>
            </a:r>
          </a:p>
          <a:p>
            <a:r>
              <a:rPr lang="en-US" altLang="zh-CN"/>
              <a:t>x = Activation('relu')(x)</a:t>
            </a:r>
          </a:p>
          <a:p>
            <a:endParaRPr lang="en-US" altLang="zh-CN"/>
          </a:p>
          <a:p>
            <a:r>
              <a:rPr lang="en-US" altLang="zh-CN"/>
              <a:t>x = concatenate([x, b3])</a:t>
            </a:r>
          </a:p>
          <a:p>
            <a:r>
              <a:rPr lang="en-US" altLang="zh-CN"/>
              <a:t>x = Conv2D(256, (3, 3), padding='same')(x)</a:t>
            </a:r>
          </a:p>
          <a:p>
            <a:r>
              <a:rPr lang="en-US" altLang="zh-CN"/>
              <a:t>x = BatchNormalization()(x)</a:t>
            </a:r>
          </a:p>
          <a:p>
            <a:r>
              <a:rPr lang="en-US" altLang="zh-CN"/>
              <a:t>x = Activation('relu')(x)</a:t>
            </a:r>
          </a:p>
          <a:p>
            <a:endParaRPr lang="en-US" altLang="zh-CN"/>
          </a:p>
          <a:p>
            <a:r>
              <a:rPr lang="en-US" altLang="zh-CN"/>
              <a:t>x = Conv2D(256, (3, 3), padding='same')(x)</a:t>
            </a:r>
          </a:p>
          <a:p>
            <a:r>
              <a:rPr lang="en-US" altLang="zh-CN"/>
              <a:t>x = BatchNormalization()(x)</a:t>
            </a:r>
          </a:p>
          <a:p>
            <a:r>
              <a:rPr lang="en-US" altLang="zh-CN"/>
              <a:t>x = Activation('relu')(x)</a:t>
            </a:r>
          </a:p>
          <a:p>
            <a:endParaRPr lang="zh-CN" altLang="en-US"/>
          </a:p>
        </p:txBody>
      </p:sp>
      <p:sp>
        <p:nvSpPr>
          <p:cNvPr id="5" name="矩形 4"/>
          <p:cNvSpPr/>
          <p:nvPr/>
        </p:nvSpPr>
        <p:spPr>
          <a:xfrm>
            <a:off x="1415415" y="2847975"/>
            <a:ext cx="8136890" cy="3600450"/>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3071495" y="6459220"/>
            <a:ext cx="4064000" cy="645160"/>
          </a:xfrm>
          <a:prstGeom prst="rect">
            <a:avLst/>
          </a:prstGeom>
          <a:noFill/>
        </p:spPr>
        <p:txBody>
          <a:bodyPr wrap="square" rtlCol="0">
            <a:spAutoFit/>
          </a:bodyPr>
          <a:lstStyle/>
          <a:p>
            <a:r>
              <a:rPr lang="zh-CN" altLang="en-US">
                <a:sym typeface="+mn-ea"/>
              </a:rPr>
              <a:t>一个简单的上采样</a:t>
            </a:r>
            <a:r>
              <a:rPr lang="en-US" altLang="zh-CN">
                <a:sym typeface="+mn-ea"/>
              </a:rPr>
              <a:t>block</a:t>
            </a:r>
            <a:endParaRPr lang="en-US" altLang="zh-CN"/>
          </a:p>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767715" y="1412875"/>
            <a:ext cx="9507855" cy="922020"/>
          </a:xfrm>
          <a:prstGeom prst="rect">
            <a:avLst/>
          </a:prstGeom>
          <a:noFill/>
        </p:spPr>
        <p:txBody>
          <a:bodyPr wrap="square" rtlCol="0">
            <a:spAutoFit/>
          </a:bodyPr>
          <a:lstStyle/>
          <a:p>
            <a:pPr indent="457200"/>
            <a:r>
              <a:rPr lang="en-US" altLang="zh-CN"/>
              <a:t> </a:t>
            </a:r>
            <a:r>
              <a:rPr lang="zh-CN" altLang="en-US"/>
              <a:t>跳跃连接（</a:t>
            </a:r>
            <a:r>
              <a:rPr lang="en-US" altLang="zh-CN"/>
              <a:t>skip connections</a:t>
            </a:r>
            <a:r>
              <a:rPr lang="zh-CN" altLang="en-US"/>
              <a:t>）通过将编码器（特征提取）部分的特征图直接连接到解码器（图像重建）部分。这个连接的目的是将低层次的细节信息（例如边缘和纹理）带到上采样层，以便于高层次特征的精确重建。</a:t>
            </a:r>
            <a:endParaRPr lang="en-US" altLang="zh-CN"/>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8" name="图片 7"/>
          <p:cNvPicPr/>
          <p:nvPr/>
        </p:nvPicPr>
        <p:blipFill>
          <a:blip r:embed="rId4"/>
          <a:stretch>
            <a:fillRect/>
          </a:stretch>
        </p:blipFill>
        <p:spPr>
          <a:xfrm>
            <a:off x="1919605" y="2493010"/>
            <a:ext cx="7262495" cy="41414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UNet</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767715" y="1412875"/>
            <a:ext cx="9507855" cy="3415030"/>
          </a:xfrm>
          <a:prstGeom prst="rect">
            <a:avLst/>
          </a:prstGeom>
          <a:noFill/>
        </p:spPr>
        <p:txBody>
          <a:bodyPr wrap="square" rtlCol="0">
            <a:spAutoFit/>
          </a:bodyPr>
          <a:lstStyle/>
          <a:p>
            <a:pPr indent="457200"/>
            <a:r>
              <a:rPr lang="en-US" altLang="zh-CN"/>
              <a:t> </a:t>
            </a:r>
            <a:r>
              <a:rPr lang="zh-CN" altLang="en-US"/>
              <a:t>跳跃连接（</a:t>
            </a:r>
            <a:r>
              <a:rPr lang="en-US" altLang="zh-CN"/>
              <a:t>skip connections</a:t>
            </a:r>
            <a:r>
              <a:rPr lang="zh-CN" altLang="en-US"/>
              <a:t>）有什么作用？</a:t>
            </a:r>
          </a:p>
          <a:p>
            <a:pPr indent="457200"/>
            <a:endParaRPr lang="zh-CN" altLang="en-US"/>
          </a:p>
          <a:p>
            <a:pPr indent="457200"/>
            <a:r>
              <a:rPr lang="zh-CN" altLang="en-US"/>
              <a:t>低维度特征的</a:t>
            </a:r>
            <a:r>
              <a:rPr lang="en-US" altLang="zh-CN"/>
              <a:t>“</a:t>
            </a:r>
            <a:r>
              <a:rPr lang="zh-CN" altLang="en-US"/>
              <a:t>增强作用</a:t>
            </a:r>
            <a:r>
              <a:rPr lang="en-US" altLang="zh-CN"/>
              <a:t>”</a:t>
            </a:r>
            <a:r>
              <a:rPr lang="zh-CN" altLang="en-US"/>
              <a:t>：虽然低层特征的通道数通常较少（比如</a:t>
            </a:r>
            <a:r>
              <a:rPr lang="en-US" altLang="zh-CN"/>
              <a:t>16</a:t>
            </a:r>
            <a:r>
              <a:rPr lang="zh-CN" altLang="en-US"/>
              <a:t>、</a:t>
            </a:r>
            <a:r>
              <a:rPr lang="en-US" altLang="zh-CN"/>
              <a:t>32</a:t>
            </a:r>
            <a:r>
              <a:rPr lang="zh-CN" altLang="en-US"/>
              <a:t>、</a:t>
            </a:r>
            <a:r>
              <a:rPr lang="en-US" altLang="zh-CN"/>
              <a:t>64</a:t>
            </a:r>
            <a:r>
              <a:rPr lang="zh-CN" altLang="en-US"/>
              <a:t>等），但这些特征提供了</a:t>
            </a:r>
            <a:r>
              <a:rPr lang="zh-CN" altLang="en-US">
                <a:solidFill>
                  <a:schemeClr val="accent1"/>
                </a:solidFill>
                <a:effectLst>
                  <a:outerShdw blurRad="38100" dist="25400" dir="5400000" algn="ctr" rotWithShape="0">
                    <a:srgbClr val="6E747A">
                      <a:alpha val="43000"/>
                    </a:srgbClr>
                  </a:outerShdw>
                </a:effectLst>
              </a:rPr>
              <a:t>丰富的细节信息</a:t>
            </a:r>
            <a:r>
              <a:rPr lang="zh-CN" altLang="en-US"/>
              <a:t>。在解码器部分，解码层会通过反卷积或者上采样操作逐渐增大特征图的空间尺寸。这时，低层次的特征并不会因为空间尺寸的增加而</a:t>
            </a:r>
            <a:r>
              <a:rPr lang="en-US" altLang="zh-CN"/>
              <a:t>“</a:t>
            </a:r>
            <a:r>
              <a:rPr lang="zh-CN" altLang="en-US"/>
              <a:t>退化</a:t>
            </a:r>
            <a:r>
              <a:rPr lang="en-US" altLang="zh-CN"/>
              <a:t>”</a:t>
            </a:r>
            <a:r>
              <a:rPr lang="zh-CN" altLang="en-US"/>
              <a:t>，反而能提升模型在</a:t>
            </a:r>
            <a:r>
              <a:rPr lang="en-US" altLang="zh-CN"/>
              <a:t> </a:t>
            </a:r>
            <a:r>
              <a:rPr lang="zh-CN" altLang="en-US">
                <a:solidFill>
                  <a:schemeClr val="accent1"/>
                </a:solidFill>
                <a:effectLst>
                  <a:outerShdw blurRad="38100" dist="25400" dir="5400000" algn="ctr" rotWithShape="0">
                    <a:srgbClr val="6E747A">
                      <a:alpha val="43000"/>
                    </a:srgbClr>
                  </a:outerShdw>
                </a:effectLst>
              </a:rPr>
              <a:t>细节恢复</a:t>
            </a:r>
            <a:r>
              <a:rPr lang="en-US" altLang="zh-CN"/>
              <a:t> </a:t>
            </a:r>
            <a:r>
              <a:rPr lang="zh-CN" altLang="en-US"/>
              <a:t>上的能力。</a:t>
            </a:r>
          </a:p>
          <a:p>
            <a:pPr indent="457200"/>
            <a:endParaRPr lang="zh-CN" altLang="en-US"/>
          </a:p>
          <a:p>
            <a:pPr indent="457200"/>
            <a:r>
              <a:rPr lang="zh-CN" altLang="en-US"/>
              <a:t>避免丢失空间信息：低维度特征图虽然表示的信息少，但通过跳跃连接与高维度特征图结合，可以保持空间细节的同时，保持模型对</a:t>
            </a:r>
            <a:r>
              <a:rPr lang="zh-CN" altLang="en-US">
                <a:solidFill>
                  <a:schemeClr val="accent1"/>
                </a:solidFill>
                <a:effectLst>
                  <a:outerShdw blurRad="38100" dist="25400" dir="5400000" algn="ctr" rotWithShape="0">
                    <a:srgbClr val="6E747A">
                      <a:alpha val="43000"/>
                    </a:srgbClr>
                  </a:outerShdw>
                </a:effectLst>
              </a:rPr>
              <a:t>复杂背景和目标的精细恢复</a:t>
            </a:r>
            <a:r>
              <a:rPr lang="zh-CN" altLang="en-US"/>
              <a:t>，并且它们的结合方式是拼接没有融合到一起（如下图），正是因为这种方式，有了低维度的特征（图像简单的事物边缘轮廓），才实现的图像分割。</a:t>
            </a:r>
          </a:p>
          <a:p>
            <a:pPr indent="457200"/>
            <a:endParaRPr lang="zh-CN" altLang="en-US"/>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6" name="文本框 5"/>
          <p:cNvSpPr txBox="1"/>
          <p:nvPr/>
        </p:nvSpPr>
        <p:spPr>
          <a:xfrm>
            <a:off x="767715" y="1412875"/>
            <a:ext cx="9507855" cy="922020"/>
          </a:xfrm>
          <a:prstGeom prst="rect">
            <a:avLst/>
          </a:prstGeom>
          <a:noFill/>
        </p:spPr>
        <p:txBody>
          <a:bodyPr wrap="square" rtlCol="0">
            <a:spAutoFit/>
          </a:bodyPr>
          <a:lstStyle/>
          <a:p>
            <a:pPr indent="457200"/>
            <a:r>
              <a:rPr lang="en-US" altLang="zh-CN" dirty="0">
                <a:latin typeface="宋体" panose="02010600030101010101" pitchFamily="2" charset="-122"/>
                <a:sym typeface="+mn-ea"/>
              </a:rPr>
              <a:t>Mask2former</a:t>
            </a:r>
            <a:r>
              <a:rPr lang="zh-CN" altLang="en-US"/>
              <a:t>提出一个可以统一处理各种分割任务（全景分割、语义分割、实例分割）的网络，可以一次性处理上述几个分割任务，而不用向之前的网络，一个任务去处理特定的一种任务，并且效果显著。</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5" name="图片 4"/>
          <p:cNvPicPr/>
          <p:nvPr/>
        </p:nvPicPr>
        <p:blipFill>
          <a:blip r:embed="rId4"/>
          <a:stretch>
            <a:fillRect/>
          </a:stretch>
        </p:blipFill>
        <p:spPr>
          <a:xfrm>
            <a:off x="1991995" y="2334895"/>
            <a:ext cx="6790055" cy="3550920"/>
          </a:xfrm>
          <a:prstGeom prst="rect">
            <a:avLst/>
          </a:prstGeom>
        </p:spPr>
      </p:pic>
      <p:sp>
        <p:nvSpPr>
          <p:cNvPr id="11" name="文本框 10"/>
          <p:cNvSpPr txBox="1"/>
          <p:nvPr/>
        </p:nvSpPr>
        <p:spPr>
          <a:xfrm>
            <a:off x="3863975" y="6021705"/>
            <a:ext cx="4064000" cy="368300"/>
          </a:xfrm>
          <a:prstGeom prst="rect">
            <a:avLst/>
          </a:prstGeom>
          <a:noFill/>
        </p:spPr>
        <p:txBody>
          <a:bodyPr wrap="square" rtlCol="0">
            <a:spAutoFit/>
          </a:bodyPr>
          <a:lstStyle/>
          <a:p>
            <a:r>
              <a:rPr lang="zh-CN" altLang="en-US"/>
              <a:t>在各项任务的效果</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a:p>
            <a:pPr marL="457200" lvl="1" indent="457200" fontAlgn="auto">
              <a:spcAft>
                <a:spcPts val="0"/>
              </a:spcAft>
            </a:pPr>
            <a:r>
              <a:rPr lang="en-US" altLang="zh-CN" sz="2000" dirty="0">
                <a:latin typeface="宋体" panose="02010600030101010101" pitchFamily="2" charset="-122"/>
                <a:ea typeface="宋体" panose="02010600030101010101" pitchFamily="2" charset="-122"/>
                <a:sym typeface="+mn-ea"/>
              </a:rPr>
              <a:t>Mask2former</a:t>
            </a:r>
            <a:r>
              <a:rPr lang="zh-CN" altLang="en-US" sz="2000" dirty="0">
                <a:latin typeface="宋体" panose="02010600030101010101" pitchFamily="2" charset="-122"/>
                <a:ea typeface="宋体" panose="02010600030101010101" pitchFamily="2" charset="-122"/>
              </a:rPr>
              <a:t>由三部分组成，一个</a:t>
            </a:r>
            <a:r>
              <a:rPr lang="en-US" altLang="zh-CN" sz="2000" dirty="0">
                <a:latin typeface="宋体" panose="02010600030101010101" pitchFamily="2" charset="-122"/>
                <a:ea typeface="宋体" panose="02010600030101010101" pitchFamily="2" charset="-122"/>
              </a:rPr>
              <a:t>backbone</a:t>
            </a:r>
            <a:r>
              <a:rPr lang="zh-CN" altLang="en-US" sz="2000" dirty="0">
                <a:latin typeface="宋体" panose="02010600030101010101" pitchFamily="2" charset="-122"/>
                <a:ea typeface="宋体" panose="02010600030101010101" pitchFamily="2" charset="-122"/>
              </a:rPr>
              <a:t>用于提取图片的特征，一个</a:t>
            </a:r>
            <a:r>
              <a:rPr lang="en-US" altLang="zh-CN" sz="2000" dirty="0">
                <a:latin typeface="宋体" panose="02010600030101010101" pitchFamily="2" charset="-122"/>
                <a:ea typeface="宋体" panose="02010600030101010101" pitchFamily="2" charset="-122"/>
              </a:rPr>
              <a:t>pixel decoder</a:t>
            </a:r>
            <a:r>
              <a:rPr lang="zh-CN" altLang="en-US" sz="2000" dirty="0">
                <a:latin typeface="宋体" panose="02010600030101010101" pitchFamily="2" charset="-122"/>
                <a:ea typeface="宋体" panose="02010600030101010101" pitchFamily="2" charset="-122"/>
              </a:rPr>
              <a:t>用于将主干网络提前的特征进行上采样生成高分辨率的图像特征，一个</a:t>
            </a:r>
            <a:r>
              <a:rPr lang="en-US" altLang="zh-CN" sz="2000" dirty="0">
                <a:latin typeface="宋体" panose="02010600030101010101" pitchFamily="2" charset="-122"/>
                <a:ea typeface="宋体" panose="02010600030101010101" pitchFamily="2" charset="-122"/>
              </a:rPr>
              <a:t>transformer decoder</a:t>
            </a:r>
            <a:r>
              <a:rPr lang="zh-CN" altLang="en-US" sz="2000" dirty="0">
                <a:latin typeface="宋体" panose="02010600030101010101" pitchFamily="2" charset="-122"/>
                <a:ea typeface="宋体" panose="02010600030101010101" pitchFamily="2" charset="-122"/>
              </a:rPr>
              <a:t>用于根据图像特征来处理</a:t>
            </a:r>
            <a:r>
              <a:rPr lang="en-US" altLang="zh-CN" sz="2000" dirty="0">
                <a:latin typeface="宋体" panose="02010600030101010101" pitchFamily="2" charset="-122"/>
                <a:ea typeface="宋体" panose="02010600030101010101" pitchFamily="2" charset="-122"/>
              </a:rPr>
              <a:t>object queries</a:t>
            </a:r>
            <a:r>
              <a:rPr lang="zh-CN" altLang="en-US" sz="2000" dirty="0">
                <a:latin typeface="宋体" panose="02010600030101010101" pitchFamily="2" charset="-122"/>
                <a:ea typeface="宋体" panose="02010600030101010101" pitchFamily="2" charset="-122"/>
              </a:rPr>
              <a:t>。最终网络根据</a:t>
            </a:r>
            <a:r>
              <a:rPr lang="en-US" altLang="zh-CN" sz="2000" dirty="0">
                <a:latin typeface="宋体" panose="02010600030101010101" pitchFamily="2" charset="-122"/>
                <a:ea typeface="宋体" panose="02010600030101010101" pitchFamily="2" charset="-122"/>
              </a:rPr>
              <a:t>pixel decoder</a:t>
            </a:r>
            <a:r>
              <a:rPr lang="zh-CN" altLang="en-US" sz="2000" dirty="0">
                <a:latin typeface="宋体" panose="02010600030101010101" pitchFamily="2" charset="-122"/>
                <a:ea typeface="宋体" panose="02010600030101010101" pitchFamily="2" charset="-122"/>
              </a:rPr>
              <a:t>输出的高分辨率的图像特征和</a:t>
            </a:r>
            <a:r>
              <a:rPr lang="en-US" altLang="zh-CN" sz="2000" dirty="0">
                <a:latin typeface="宋体" panose="02010600030101010101" pitchFamily="2" charset="-122"/>
                <a:ea typeface="宋体" panose="02010600030101010101" pitchFamily="2" charset="-122"/>
              </a:rPr>
              <a:t>transformer decoder</a:t>
            </a:r>
            <a:r>
              <a:rPr lang="zh-CN" altLang="en-US" sz="2000" dirty="0">
                <a:latin typeface="宋体" panose="02010600030101010101" pitchFamily="2" charset="-122"/>
                <a:ea typeface="宋体" panose="02010600030101010101" pitchFamily="2" charset="-122"/>
              </a:rPr>
              <a:t>输出的</a:t>
            </a:r>
            <a:r>
              <a:rPr lang="en-US" altLang="zh-CN" sz="2000" dirty="0">
                <a:latin typeface="宋体" panose="02010600030101010101" pitchFamily="2" charset="-122"/>
                <a:ea typeface="宋体" panose="02010600030101010101" pitchFamily="2" charset="-122"/>
              </a:rPr>
              <a:t>object queries</a:t>
            </a:r>
            <a:r>
              <a:rPr lang="zh-CN" altLang="en-US" sz="2000" dirty="0">
                <a:latin typeface="宋体" panose="02010600030101010101" pitchFamily="2" charset="-122"/>
                <a:ea typeface="宋体" panose="02010600030101010101" pitchFamily="2" charset="-122"/>
              </a:rPr>
              <a:t>生成最终的预测</a:t>
            </a:r>
            <a:r>
              <a:rPr lang="en-US" altLang="zh-CN" sz="2000" dirty="0">
                <a:latin typeface="宋体" panose="02010600030101010101" pitchFamily="2" charset="-122"/>
                <a:ea typeface="宋体" panose="02010600030101010101" pitchFamily="2" charset="-122"/>
              </a:rPr>
              <a:t>mask</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indent="457200" fontAlgn="auto">
              <a:spcAft>
                <a:spcPts val="0"/>
              </a:spcAft>
            </a:pPr>
            <a:endParaRPr lang="en-US" altLang="zh-CN" sz="200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8" name="图片 7"/>
          <p:cNvPicPr/>
          <p:nvPr/>
        </p:nvPicPr>
        <p:blipFill>
          <a:blip r:embed="rId4"/>
          <a:stretch>
            <a:fillRect/>
          </a:stretch>
        </p:blipFill>
        <p:spPr>
          <a:xfrm>
            <a:off x="2792730" y="2637155"/>
            <a:ext cx="5586730" cy="3358515"/>
          </a:xfrm>
          <a:prstGeom prst="rect">
            <a:avLst/>
          </a:prstGeom>
        </p:spPr>
      </p:pic>
      <p:sp>
        <p:nvSpPr>
          <p:cNvPr id="9" name="文本框 8"/>
          <p:cNvSpPr txBox="1"/>
          <p:nvPr/>
        </p:nvSpPr>
        <p:spPr>
          <a:xfrm>
            <a:off x="3863975" y="6078220"/>
            <a:ext cx="4064000" cy="368300"/>
          </a:xfrm>
          <a:prstGeom prst="rect">
            <a:avLst/>
          </a:prstGeom>
          <a:noFill/>
        </p:spPr>
        <p:txBody>
          <a:bodyPr wrap="square" rtlCol="0">
            <a:spAutoFit/>
          </a:bodyPr>
          <a:lstStyle/>
          <a:p>
            <a:r>
              <a:rPr lang="zh-CN" altLang="en-US"/>
              <a:t>整体框架</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主干特征提取器（</a:t>
            </a:r>
            <a:r>
              <a:rPr lang="en-US" altLang="zh-CN" sz="2000" dirty="0">
                <a:latin typeface="宋体" panose="02010600030101010101" pitchFamily="2" charset="-122"/>
                <a:ea typeface="宋体" panose="02010600030101010101" pitchFamily="2" charset="-122"/>
              </a:rPr>
              <a:t>backbone</a:t>
            </a:r>
            <a:r>
              <a:rPr lang="zh-CN" altLang="en-US" sz="2000" dirty="0">
                <a:latin typeface="宋体" panose="02010600030101010101" pitchFamily="2" charset="-122"/>
                <a:ea typeface="宋体" panose="02010600030101010101" pitchFamily="2" charset="-122"/>
              </a:rPr>
              <a:t>）：负责从输入图像中提取低分辨率特征。在</a:t>
            </a:r>
            <a:r>
              <a:rPr lang="en-US" altLang="zh-CN" sz="2000" dirty="0">
                <a:latin typeface="宋体" panose="02010600030101010101" pitchFamily="2" charset="-122"/>
                <a:ea typeface="宋体" panose="02010600030101010101" pitchFamily="2" charset="-122"/>
              </a:rPr>
              <a:t>Mask2Former</a:t>
            </a:r>
            <a:r>
              <a:rPr lang="zh-CN" altLang="en-US" sz="2000" dirty="0">
                <a:latin typeface="宋体" panose="02010600030101010101" pitchFamily="2" charset="-122"/>
                <a:ea typeface="宋体" panose="02010600030101010101" pitchFamily="2" charset="-122"/>
              </a:rPr>
              <a:t>中，主干特征提取器通常是一个</a:t>
            </a:r>
            <a:r>
              <a:rPr lang="en-US" altLang="zh-CN" sz="2000" dirty="0">
                <a:latin typeface="宋体" panose="02010600030101010101" pitchFamily="2" charset="-122"/>
                <a:ea typeface="宋体" panose="02010600030101010101" pitchFamily="2" charset="-122"/>
              </a:rPr>
              <a:t>Transformer</a:t>
            </a:r>
            <a:r>
              <a:rPr lang="zh-CN" altLang="en-US" sz="2000" dirty="0">
                <a:latin typeface="宋体" panose="02010600030101010101" pitchFamily="2" charset="-122"/>
                <a:ea typeface="宋体" panose="02010600030101010101" pitchFamily="2" charset="-122"/>
              </a:rPr>
              <a:t>模型，如</a:t>
            </a:r>
            <a:r>
              <a:rPr lang="en-US" altLang="zh-CN" sz="2000" dirty="0">
                <a:latin typeface="宋体" panose="02010600030101010101" pitchFamily="2" charset="-122"/>
                <a:ea typeface="宋体" panose="02010600030101010101" pitchFamily="2" charset="-122"/>
              </a:rPr>
              <a:t>ViT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Swin Transformer</a:t>
            </a:r>
            <a:r>
              <a:rPr lang="zh-CN" altLang="en-US" sz="2000" dirty="0">
                <a:latin typeface="宋体" panose="02010600030101010101" pitchFamily="2" charset="-122"/>
                <a:ea typeface="宋体" panose="02010600030101010101" pitchFamily="2" charset="-122"/>
              </a:rPr>
              <a:t>等，这些模型利用</a:t>
            </a:r>
            <a:r>
              <a:rPr lang="en-US" altLang="zh-CN" sz="2000" dirty="0">
                <a:latin typeface="宋体" panose="02010600030101010101" pitchFamily="2" charset="-122"/>
                <a:ea typeface="宋体" panose="02010600030101010101" pitchFamily="2" charset="-122"/>
              </a:rPr>
              <a:t>self-attention</a:t>
            </a:r>
            <a:r>
              <a:rPr lang="zh-CN" altLang="en-US" sz="2000" dirty="0">
                <a:latin typeface="宋体" panose="02010600030101010101" pitchFamily="2" charset="-122"/>
                <a:ea typeface="宋体" panose="02010600030101010101" pitchFamily="2" charset="-122"/>
              </a:rPr>
              <a:t>机制来捕捉</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全局的空间关</a:t>
            </a:r>
            <a:r>
              <a:rPr lang="zh-CN" altLang="en-US" sz="2000" dirty="0">
                <a:latin typeface="宋体" panose="02010600030101010101" pitchFamily="2" charset="-122"/>
                <a:ea typeface="宋体" panose="02010600030101010101" pitchFamily="2" charset="-122"/>
              </a:rPr>
              <a:t>系，从而更好地提取图像特征</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避免了传统卷积神经网络（</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）在处理大量像素时出现的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信息丢失问题</a:t>
            </a:r>
            <a:r>
              <a:rPr lang="zh-CN" altLang="en-US" sz="2000" dirty="0">
                <a:latin typeface="宋体" panose="02010600030101010101" pitchFamily="2" charset="-122"/>
                <a:ea typeface="宋体" panose="02010600030101010101" pitchFamily="2" charset="-122"/>
              </a:rPr>
              <a:t>。</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提取低分辨率特征是指从输入数据中提取出具有代表性的特征，以便进行后续的分类、识别、检测等任务。在图像处理中，通常使用卷</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积神经网络（</a:t>
            </a:r>
            <a:r>
              <a:rPr lang="en-US" altLang="zh-CN"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CNN</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）来提取图像特征</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通过卷积、池化等操作，逐渐将图像特征从原始图像中提取出来。这些特征图具有较低的分辨率，但包含了图像的一些基本信息，例如</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边缘、纹理</a:t>
            </a:r>
            <a:r>
              <a:rPr lang="zh-CN" altLang="en-US" sz="2000" dirty="0">
                <a:latin typeface="宋体" panose="02010600030101010101" pitchFamily="2" charset="-122"/>
                <a:ea typeface="宋体" panose="02010600030101010101" pitchFamily="2" charset="-122"/>
              </a:rPr>
              <a:t>等。这些低分辨率特征可以作为更高层次的特征提取的输入，以便更好地识别、分类、检测等任务。</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a:p>
            <a:pPr marL="457200" lvl="1" indent="457200" fontAlgn="auto">
              <a:spcAft>
                <a:spcPts val="0"/>
              </a:spcAft>
            </a:pPr>
            <a:r>
              <a:rPr lang="en-US" altLang="zh-CN" sz="2000" dirty="0">
                <a:latin typeface="宋体" panose="02010600030101010101" pitchFamily="2" charset="-122"/>
                <a:ea typeface="宋体" panose="02010600030101010101" pitchFamily="2" charset="-122"/>
              </a:rPr>
              <a:t>Pixel Decoder</a:t>
            </a:r>
            <a:r>
              <a:rPr lang="zh-CN" altLang="en-US" sz="2000" dirty="0">
                <a:latin typeface="宋体" panose="02010600030101010101" pitchFamily="2" charset="-122"/>
                <a:ea typeface="宋体" panose="02010600030101010101" pitchFamily="2" charset="-122"/>
              </a:rPr>
              <a:t>：是一个用于</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增强特征图分辨率</a:t>
            </a:r>
            <a:r>
              <a:rPr lang="zh-CN" altLang="en-US" sz="2000" dirty="0">
                <a:latin typeface="宋体" panose="02010600030101010101" pitchFamily="2" charset="-122"/>
                <a:ea typeface="宋体" panose="02010600030101010101" pitchFamily="2" charset="-122"/>
              </a:rPr>
              <a:t>的模块。通过将</a:t>
            </a:r>
            <a:r>
              <a:rPr lang="en-US" altLang="zh-CN" sz="2000" dirty="0">
                <a:latin typeface="宋体" panose="02010600030101010101" pitchFamily="2" charset="-122"/>
                <a:ea typeface="宋体" panose="02010600030101010101" pitchFamily="2" charset="-122"/>
              </a:rPr>
              <a:t>Backbone</a:t>
            </a:r>
            <a:r>
              <a:rPr lang="zh-CN" altLang="en-US" sz="2000" dirty="0">
                <a:latin typeface="宋体" panose="02010600030101010101" pitchFamily="2" charset="-122"/>
                <a:ea typeface="宋体" panose="02010600030101010101" pitchFamily="2" charset="-122"/>
              </a:rPr>
              <a:t>输出的低分辨率特征图进行上采样并</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融合高层级特征</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Pixel Decoder</a:t>
            </a:r>
            <a:r>
              <a:rPr lang="zh-CN" altLang="en-US" sz="2000" dirty="0">
                <a:latin typeface="宋体" panose="02010600030101010101" pitchFamily="2" charset="-122"/>
                <a:ea typeface="宋体" panose="02010600030101010101" pitchFamily="2" charset="-122"/>
              </a:rPr>
              <a:t>能够生成高分辨率的特征图，从而更好地捕捉目标区域的</a:t>
            </a:r>
            <a:r>
              <a:rPr lang="zh-CN" altLang="en-US" sz="20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细节信息</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Pixel Decoder </a:t>
            </a:r>
            <a:r>
              <a:rPr lang="zh-CN" altLang="en-US" sz="2000" dirty="0">
                <a:latin typeface="宋体" panose="02010600030101010101" pitchFamily="2" charset="-122"/>
                <a:ea typeface="宋体" panose="02010600030101010101" pitchFamily="2" charset="-122"/>
              </a:rPr>
              <a:t>通过特定操作将这些多尺度特征融合，比如采用</a:t>
            </a:r>
            <a:r>
              <a:rPr lang="en-US" altLang="zh-CN" sz="2000" dirty="0">
                <a:latin typeface="宋体" panose="02010600030101010101" pitchFamily="2" charset="-122"/>
                <a:ea typeface="宋体" panose="02010600030101010101" pitchFamily="2" charset="-122"/>
              </a:rPr>
              <a:t> multi-scale deformable attention</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MSDeformAttn</a:t>
            </a:r>
            <a:r>
              <a:rPr lang="zh-CN" altLang="en-US" sz="2000" dirty="0">
                <a:latin typeface="宋体" panose="02010600030101010101" pitchFamily="2" charset="-122"/>
                <a:ea typeface="宋体" panose="02010600030101010101" pitchFamily="2" charset="-122"/>
              </a:rPr>
              <a:t>，多尺度可变形注意力</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）等机制，处理不同尺度（如</a:t>
            </a:r>
            <a:r>
              <a:rPr lang="en-US" altLang="zh-CN" sz="2000" dirty="0">
                <a:latin typeface="宋体" panose="02010600030101010101" pitchFamily="2" charset="-122"/>
                <a:ea typeface="宋体" panose="02010600030101010101" pitchFamily="2" charset="-122"/>
              </a:rPr>
              <a:t>1/8</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1/16</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1/32</a:t>
            </a:r>
            <a:r>
              <a:rPr lang="zh-CN" altLang="en-US" sz="2000" dirty="0">
                <a:latin typeface="宋体" panose="02010600030101010101" pitchFamily="2" charset="-122"/>
                <a:ea typeface="宋体" panose="02010600030101010101" pitchFamily="2" charset="-122"/>
              </a:rPr>
              <a:t>大小）的图片特征。</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a:p>
            <a:pPr marL="457200" lvl="1" indent="457200" fontAlgn="auto">
              <a:spcAft>
                <a:spcPts val="0"/>
              </a:spcAft>
            </a:pPr>
            <a:r>
              <a:rPr lang="en-US" altLang="zh-CN" sz="2000" dirty="0">
                <a:latin typeface="宋体" panose="02010600030101010101" pitchFamily="2" charset="-122"/>
                <a:ea typeface="宋体" panose="02010600030101010101" pitchFamily="2" charset="-122"/>
              </a:rPr>
              <a:t>Transformer </a:t>
            </a:r>
            <a:r>
              <a:rPr lang="zh-CN" altLang="en-US" sz="2000" dirty="0">
                <a:latin typeface="宋体" panose="02010600030101010101" pitchFamily="2" charset="-122"/>
                <a:ea typeface="宋体" panose="02010600030101010101" pitchFamily="2" charset="-122"/>
              </a:rPr>
              <a:t>解码器：对图像特征进行操作以处理对象查询。最终的二元掩码预测是从带有对象查询的每像素嵌入中解码的。通过将交叉注意力限制在每个查询的预测掩码的前景区域内来提取局部特征，而不是关注完整的特征图。</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rPr>
              <a:t>标准交叉注意（带有残差路径）计算公式如下</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pic>
        <p:nvPicPr>
          <p:cNvPr id="5" name="图片 4"/>
          <p:cNvPicPr>
            <a:picLocks noChangeAspect="1"/>
          </p:cNvPicPr>
          <p:nvPr/>
        </p:nvPicPr>
        <p:blipFill>
          <a:blip r:embed="rId4"/>
          <a:stretch>
            <a:fillRect/>
          </a:stretch>
        </p:blipFill>
        <p:spPr>
          <a:xfrm>
            <a:off x="2927985" y="2637155"/>
            <a:ext cx="4705350" cy="828675"/>
          </a:xfrm>
          <a:prstGeom prst="rect">
            <a:avLst/>
          </a:prstGeom>
        </p:spPr>
      </p:pic>
      <p:sp>
        <p:nvSpPr>
          <p:cNvPr id="6" name="文本框 5"/>
          <p:cNvSpPr txBox="1"/>
          <p:nvPr/>
        </p:nvSpPr>
        <p:spPr>
          <a:xfrm>
            <a:off x="1631950" y="3573145"/>
            <a:ext cx="7839075" cy="368300"/>
          </a:xfrm>
          <a:prstGeom prst="rect">
            <a:avLst/>
          </a:prstGeom>
          <a:noFill/>
        </p:spPr>
        <p:txBody>
          <a:bodyPr wrap="square" rtlCol="0">
            <a:spAutoFit/>
          </a:bodyPr>
          <a:lstStyle/>
          <a:p>
            <a:r>
              <a:rPr lang="zh-CN" altLang="en-US"/>
              <a:t>掩码注意力通过添加掩码值调节注意力矩阵</a:t>
            </a:r>
          </a:p>
        </p:txBody>
      </p:sp>
      <p:pic>
        <p:nvPicPr>
          <p:cNvPr id="8" name="图片 7"/>
          <p:cNvPicPr>
            <a:picLocks noChangeAspect="1"/>
          </p:cNvPicPr>
          <p:nvPr/>
        </p:nvPicPr>
        <p:blipFill>
          <a:blip r:embed="rId5"/>
          <a:stretch>
            <a:fillRect/>
          </a:stretch>
        </p:blipFill>
        <p:spPr>
          <a:xfrm>
            <a:off x="2279650" y="3933190"/>
            <a:ext cx="5514975" cy="23336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图像分割</a:t>
            </a:r>
          </a:p>
        </p:txBody>
      </p:sp>
      <p:sp>
        <p:nvSpPr>
          <p:cNvPr id="4" name="Title 1"/>
          <p:cNvSpPr txBox="1"/>
          <p:nvPr/>
        </p:nvSpPr>
        <p:spPr>
          <a:xfrm>
            <a:off x="542925" y="1052195"/>
            <a:ext cx="105213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rPr>
              <a:t>Mask2former</a:t>
            </a:r>
          </a:p>
          <a:p>
            <a:pPr marL="457200" lvl="1" indent="457200" fontAlgn="auto">
              <a:spcAft>
                <a:spcPts val="0"/>
              </a:spcAft>
            </a:pPr>
            <a:r>
              <a:rPr lang="en-US" altLang="zh-CN" sz="2000" dirty="0">
                <a:latin typeface="宋体" panose="02010600030101010101" pitchFamily="2" charset="-122"/>
                <a:ea typeface="宋体" panose="02010600030101010101" pitchFamily="2" charset="-122"/>
              </a:rPr>
              <a:t>mask attention</a:t>
            </a:r>
            <a:r>
              <a:rPr lang="zh-CN" altLang="en-US" sz="2000" dirty="0">
                <a:latin typeface="宋体" panose="02010600030101010101" pitchFamily="2" charset="-122"/>
                <a:ea typeface="宋体" panose="02010600030101010101" pitchFamily="2" charset="-122"/>
              </a:rPr>
              <a:t>有什么用？</a:t>
            </a:r>
          </a:p>
        </p:txBody>
      </p:sp>
      <p:pic>
        <p:nvPicPr>
          <p:cNvPr id="7" name="图片 6"/>
          <p:cNvPicPr>
            <a:picLocks noChangeAspect="1"/>
          </p:cNvPicPr>
          <p:nvPr/>
        </p:nvPicPr>
        <p:blipFill>
          <a:blip r:embed="rId3"/>
          <a:stretch>
            <a:fillRect/>
          </a:stretch>
        </p:blipFill>
        <p:spPr>
          <a:xfrm>
            <a:off x="6086475" y="3423920"/>
            <a:ext cx="19050" cy="9525"/>
          </a:xfrm>
          <a:prstGeom prst="rect">
            <a:avLst/>
          </a:prstGeom>
        </p:spPr>
      </p:pic>
      <p:sp>
        <p:nvSpPr>
          <p:cNvPr id="9" name="文本框 8"/>
          <p:cNvSpPr txBox="1"/>
          <p:nvPr/>
        </p:nvSpPr>
        <p:spPr>
          <a:xfrm>
            <a:off x="1127760" y="1845310"/>
            <a:ext cx="10429240" cy="3138170"/>
          </a:xfrm>
          <a:prstGeom prst="rect">
            <a:avLst/>
          </a:prstGeom>
          <a:noFill/>
        </p:spPr>
        <p:txBody>
          <a:bodyPr wrap="square" rtlCol="0">
            <a:spAutoFit/>
          </a:bodyPr>
          <a:lstStyle/>
          <a:p>
            <a:r>
              <a:rPr lang="en-US" altLang="zh-CN">
                <a:sym typeface="+mn-ea"/>
              </a:rPr>
              <a:t>•</a:t>
            </a:r>
            <a:r>
              <a:rPr lang="zh-CN" altLang="en-US"/>
              <a:t>精准特征交互：将注意力计算限制在预测掩膜区域内，也就是局部前景特征中，而不像传统交叉注意力那样计算每个像素与整张图像的关系。这样能让模型更专注于目标所在的前景区域，提取更精准的局部特征</a:t>
            </a:r>
            <a:r>
              <a:rPr lang="en-US" altLang="zh-CN"/>
              <a:t> </a:t>
            </a:r>
            <a:r>
              <a:rPr lang="zh-CN" altLang="en-US"/>
              <a:t>。</a:t>
            </a:r>
          </a:p>
          <a:p>
            <a:endParaRPr lang="zh-CN" altLang="en-US"/>
          </a:p>
          <a:p>
            <a:r>
              <a:rPr lang="en-US" altLang="zh-CN">
                <a:sym typeface="+mn-ea"/>
              </a:rPr>
              <a:t>•</a:t>
            </a:r>
            <a:r>
              <a:rPr lang="zh-CN" altLang="en-US"/>
              <a:t>获取有效上下文：通过自注意力机制，局部前景特征能获取有保证的上下文信息。</a:t>
            </a:r>
          </a:p>
          <a:p>
            <a:endParaRPr lang="zh-CN" altLang="en-US"/>
          </a:p>
          <a:p>
            <a:r>
              <a:rPr lang="en-US" altLang="zh-CN">
                <a:sym typeface="+mn-ea"/>
              </a:rPr>
              <a:t>•</a:t>
            </a:r>
            <a:r>
              <a:rPr lang="zh-CN" altLang="en-US"/>
              <a:t>降低计算负担：由于只在预测掩膜区域内计算注意力，相比对整个图像进行注意力计算，大大减少了计算量</a:t>
            </a:r>
            <a:r>
              <a:rPr lang="en-US" altLang="zh-CN"/>
              <a:t> </a:t>
            </a:r>
            <a:r>
              <a:rPr lang="zh-CN" altLang="en-US"/>
              <a:t>。</a:t>
            </a:r>
          </a:p>
          <a:p>
            <a:endParaRPr lang="zh-CN" altLang="en-US"/>
          </a:p>
          <a:p>
            <a:r>
              <a:rPr lang="en-US" altLang="zh-CN">
                <a:sym typeface="+mn-ea"/>
              </a:rPr>
              <a:t>•</a:t>
            </a:r>
            <a:r>
              <a:rPr lang="zh-CN" altLang="en-US"/>
              <a:t>加速模型训练：</a:t>
            </a:r>
            <a:r>
              <a:rPr lang="en-US" altLang="zh-CN"/>
              <a:t>Mask Attention </a:t>
            </a:r>
            <a:r>
              <a:rPr lang="zh-CN" altLang="en-US"/>
              <a:t>能让模型更快收敛。因为它减少了无关信息干扰，使模型在训练过程中更快找到优化方向，减少训练所需的迭代次数，缩短训练时间</a:t>
            </a:r>
            <a:r>
              <a:rPr lang="en-US" altLang="zh-CN"/>
              <a:t> </a:t>
            </a:r>
            <a:r>
              <a:rPr lang="zh-CN" altLang="en-US"/>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00076,50000077]}"/>
  <p:tag name="COMMONDATA" val="eyJoZGlkIjoiYWRhNmU4ZTM4OTM4Nzk2OGExZTZhNDQ2MGU2ZmQwOWUifQ=="/>
</p:tagLst>
</file>

<file path=ppt/theme/theme1.xml><?xml version="1.0" encoding="utf-8"?>
<a:theme xmlns:a="http://schemas.openxmlformats.org/drawingml/2006/main" name="Office Theme">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自定义 1">
      <a:majorFont>
        <a:latin typeface="Arial Black"/>
        <a:ea typeface="微软雅黑"/>
        <a:cs typeface=""/>
      </a:majorFont>
      <a:minorFont>
        <a:latin typeface="Microsoft YaHei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8637</Words>
  <Application>Microsoft Office PowerPoint</Application>
  <PresentationFormat>宽屏</PresentationFormat>
  <Paragraphs>513</Paragraphs>
  <Slides>91</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91</vt:i4>
      </vt:variant>
    </vt:vector>
  </HeadingPairs>
  <TitlesOfParts>
    <vt:vector size="102" baseType="lpstr">
      <vt:lpstr>-apple-system</vt:lpstr>
      <vt:lpstr>Microsoft YaHei UI</vt:lpstr>
      <vt:lpstr>宋体</vt:lpstr>
      <vt:lpstr>微软雅黑</vt:lpstr>
      <vt:lpstr>Arial</vt:lpstr>
      <vt:lpstr>Arial Black</vt:lpstr>
      <vt:lpstr>Calibri</vt:lpstr>
      <vt:lpstr>Times New Roman</vt:lpstr>
      <vt:lpstr>Wingdings</vt:lpstr>
      <vt:lpstr>Office Theme</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2017岗位竞聘报告PPT-01</dc:title>
  <dc:creator>kingpub</dc:creator>
  <cp:lastModifiedBy>世成 王</cp:lastModifiedBy>
  <cp:revision>1847</cp:revision>
  <dcterms:created xsi:type="dcterms:W3CDTF">2020-03-03T14:52:00Z</dcterms:created>
  <dcterms:modified xsi:type="dcterms:W3CDTF">2025-04-22T11:36:31Z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FEDD84E5FE514527AA51467D5AB936F7_12</vt:lpwstr>
  </property>
  <property fmtid="{D5CDD505-2E9C-101B-9397-08002B2CF9AE}" pid="4" name="MSIP_Label_51a6c3db-1667-4f49-995a-8b9973972958_Enabled">
    <vt:lpwstr>true</vt:lpwstr>
  </property>
  <property fmtid="{D5CDD505-2E9C-101B-9397-08002B2CF9AE}" pid="5" name="MSIP_Label_51a6c3db-1667-4f49-995a-8b9973972958_SetDate">
    <vt:lpwstr>2024-09-29T02:19:31Z</vt:lpwstr>
  </property>
  <property fmtid="{D5CDD505-2E9C-101B-9397-08002B2CF9AE}" pid="6" name="MSIP_Label_51a6c3db-1667-4f49-995a-8b9973972958_Method">
    <vt:lpwstr>Standard</vt:lpwstr>
  </property>
  <property fmtid="{D5CDD505-2E9C-101B-9397-08002B2CF9AE}" pid="7" name="MSIP_Label_51a6c3db-1667-4f49-995a-8b9973972958_Name">
    <vt:lpwstr>UTS-Internal</vt:lpwstr>
  </property>
  <property fmtid="{D5CDD505-2E9C-101B-9397-08002B2CF9AE}" pid="8" name="MSIP_Label_51a6c3db-1667-4f49-995a-8b9973972958_SiteId">
    <vt:lpwstr>e8911c26-cf9f-4a9c-878e-527807be8791</vt:lpwstr>
  </property>
  <property fmtid="{D5CDD505-2E9C-101B-9397-08002B2CF9AE}" pid="9" name="MSIP_Label_51a6c3db-1667-4f49-995a-8b9973972958_ActionId">
    <vt:lpwstr>c9311723-dda3-4b19-be18-3c92c94464d8</vt:lpwstr>
  </property>
  <property fmtid="{D5CDD505-2E9C-101B-9397-08002B2CF9AE}" pid="10" name="MSIP_Label_51a6c3db-1667-4f49-995a-8b9973972958_ContentBits">
    <vt:lpwstr>0</vt:lpwstr>
  </property>
</Properties>
</file>